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660" r:id="rId3"/>
    <p:sldId id="403" r:id="rId4"/>
    <p:sldId id="319" r:id="rId5"/>
    <p:sldId id="347" r:id="rId6"/>
    <p:sldId id="334" r:id="rId7"/>
    <p:sldId id="404" r:id="rId8"/>
    <p:sldId id="363" r:id="rId9"/>
    <p:sldId id="618" r:id="rId10"/>
    <p:sldId id="379" r:id="rId11"/>
    <p:sldId id="402" r:id="rId12"/>
    <p:sldId id="406" r:id="rId13"/>
    <p:sldId id="619" r:id="rId14"/>
    <p:sldId id="472" r:id="rId15"/>
    <p:sldId id="469" r:id="rId16"/>
    <p:sldId id="479" r:id="rId17"/>
    <p:sldId id="486" r:id="rId18"/>
    <p:sldId id="613" r:id="rId19"/>
    <p:sldId id="612" r:id="rId20"/>
    <p:sldId id="564" r:id="rId21"/>
    <p:sldId id="572" r:id="rId22"/>
    <p:sldId id="566" r:id="rId23"/>
    <p:sldId id="601" r:id="rId24"/>
    <p:sldId id="571" r:id="rId25"/>
    <p:sldId id="584" r:id="rId26"/>
    <p:sldId id="615" r:id="rId27"/>
    <p:sldId id="580" r:id="rId28"/>
    <p:sldId id="525" r:id="rId29"/>
    <p:sldId id="746" r:id="rId30"/>
    <p:sldId id="749" r:id="rId31"/>
    <p:sldId id="750" r:id="rId32"/>
    <p:sldId id="638" r:id="rId33"/>
    <p:sldId id="647" r:id="rId34"/>
    <p:sldId id="651" r:id="rId35"/>
    <p:sldId id="653" r:id="rId36"/>
    <p:sldId id="655" r:id="rId37"/>
    <p:sldId id="706" r:id="rId38"/>
    <p:sldId id="707" r:id="rId39"/>
    <p:sldId id="708" r:id="rId40"/>
    <p:sldId id="709" r:id="rId41"/>
    <p:sldId id="710" r:id="rId42"/>
    <p:sldId id="711" r:id="rId43"/>
    <p:sldId id="712" r:id="rId44"/>
    <p:sldId id="714" r:id="rId45"/>
    <p:sldId id="724" r:id="rId46"/>
    <p:sldId id="727" r:id="rId47"/>
    <p:sldId id="717" r:id="rId48"/>
    <p:sldId id="718" r:id="rId49"/>
    <p:sldId id="723" r:id="rId50"/>
    <p:sldId id="729" r:id="rId51"/>
    <p:sldId id="754" r:id="rId52"/>
    <p:sldId id="755" r:id="rId53"/>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F5F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65" autoAdjust="0"/>
    <p:restoredTop sz="78571" autoAdjust="0"/>
  </p:normalViewPr>
  <p:slideViewPr>
    <p:cSldViewPr snapToGrid="0" snapToObjects="1">
      <p:cViewPr varScale="1">
        <p:scale>
          <a:sx n="54" d="100"/>
          <a:sy n="54" d="100"/>
        </p:scale>
        <p:origin x="1032" y="72"/>
      </p:cViewPr>
      <p:guideLst>
        <p:guide orient="horz" pos="2160"/>
        <p:guide pos="2880"/>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8821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FontTx/>
              <a:buNone/>
            </a:pP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fr-FR" b="1" dirty="0"/>
              <a:t>Contexte</a:t>
            </a:r>
          </a:p>
          <a:p>
            <a:pPr marL="228600" indent="-228600">
              <a:buFont typeface="Arial"/>
              <a:buChar char="•"/>
            </a:pPr>
            <a:r>
              <a:rPr lang="fr-FR" dirty="0"/>
              <a:t>~28 % d'abandon en L1 : 1 479 sur 5 200</a:t>
            </a:r>
          </a:p>
          <a:p>
            <a:pPr marL="228600" indent="-228600">
              <a:buFont typeface="Arial"/>
              <a:buChar char="•"/>
            </a:pPr>
            <a:r>
              <a:rPr lang="fr-FR" dirty="0"/>
              <a:t>Constaté en fin de semestre — trop tard pour agir</a:t>
            </a:r>
          </a:p>
          <a:p>
            <a:pPr marL="228600" indent="-228600">
              <a:buFont typeface="Arial"/>
              <a:buChar char="•"/>
            </a:pPr>
            <a:r>
              <a:rPr lang="fr-FR" dirty="0"/>
              <a:t>Enjeux déduits du contexte, pas explicités par l'énoncé</a:t>
            </a:r>
          </a:p>
          <a:p>
            <a:endParaRPr lang="fr-FR" dirty="0"/>
          </a:p>
          <a:p>
            <a:pPr marL="0" indent="0">
              <a:buNone/>
            </a:pPr>
            <a:r>
              <a:rPr lang="fr-FR" b="1" dirty="0"/>
              <a:t>Humain</a:t>
            </a:r>
          </a:p>
          <a:p>
            <a:pPr marL="228600" indent="-228600">
              <a:buFont typeface="Arial"/>
              <a:buChar char="•"/>
            </a:pPr>
            <a:r>
              <a:rPr lang="fr-FR" dirty="0"/>
              <a:t>Trace psychologique : échec, perte de confiance</a:t>
            </a:r>
          </a:p>
          <a:p>
            <a:pPr marL="228600" indent="-228600">
              <a:buFont typeface="Arial"/>
              <a:buChar char="•"/>
            </a:pPr>
            <a:r>
              <a:rPr lang="fr-FR" dirty="0"/>
              <a:t>Trace professionnelle : employabilité, entrée retardée</a:t>
            </a:r>
          </a:p>
          <a:p>
            <a:pPr marL="228600" indent="-228600">
              <a:buFont typeface="Arial"/>
              <a:buChar char="•"/>
            </a:pPr>
            <a:r>
              <a:rPr lang="fr-FR" dirty="0"/>
              <a:t>Réversible si repéré tôt → d'où l'horizon mi-S1</a:t>
            </a:r>
          </a:p>
          <a:p>
            <a:endParaRPr lang="fr-FR" dirty="0"/>
          </a:p>
          <a:p>
            <a:pPr marL="0" indent="0">
              <a:buNone/>
            </a:pPr>
            <a:r>
              <a:rPr lang="fr-FR" b="1" dirty="0"/>
              <a:t>Institutionnel</a:t>
            </a:r>
          </a:p>
          <a:p>
            <a:pPr marL="228600" indent="-228600">
              <a:buFont typeface="Arial"/>
              <a:buChar char="•"/>
            </a:pPr>
            <a:r>
              <a:rPr lang="fr-FR" dirty="0"/>
              <a:t>Tutorat, soutien, aide sociale : capacité limitée</a:t>
            </a:r>
          </a:p>
          <a:p>
            <a:pPr marL="228600" indent="-228600">
              <a:buFont typeface="Arial"/>
              <a:buChar char="•"/>
            </a:pPr>
            <a:r>
              <a:rPr lang="fr-FR" dirty="0"/>
              <a:t>Il faut cibler → cible secondaire moyenne_finale pour prioriser</a:t>
            </a:r>
          </a:p>
          <a:p>
            <a:pPr marL="228600" indent="-228600">
              <a:buFont typeface="Arial"/>
              <a:buChar char="•"/>
            </a:pPr>
            <a:r>
              <a:rPr lang="fr-FR" dirty="0"/>
              <a:t>Explicabilité → désigner les leviers d'action</a:t>
            </a:r>
          </a:p>
          <a:p>
            <a:endParaRPr lang="fr-FR" dirty="0"/>
          </a:p>
          <a:p>
            <a:pPr marL="0" indent="0">
              <a:buNone/>
            </a:pPr>
            <a:r>
              <a:rPr lang="fr-FR" b="1" dirty="0"/>
              <a:t>Économique</a:t>
            </a:r>
          </a:p>
          <a:p>
            <a:pPr marL="228600" indent="-228600">
              <a:buFont typeface="Arial"/>
              <a:buChar char="•"/>
            </a:pPr>
            <a:r>
              <a:rPr lang="fr-FR" dirty="0"/>
              <a:t>Perte en cascade : étudiant (année), institution (moyens publics), société (un diplômé de moins)</a:t>
            </a:r>
          </a:p>
          <a:p>
            <a:pPr marL="228600" indent="-228600">
              <a:buFont typeface="Arial"/>
              <a:buChar char="•"/>
            </a:pPr>
            <a:r>
              <a:rPr lang="fr-FR" dirty="0"/>
              <a:t>Aucun montant dans les données → pas de chiffrage en euros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fr-FR" b="1" dirty="0"/>
              <a:t>Le rythme : une seule campagne par an</a:t>
            </a:r>
          </a:p>
          <a:p>
            <a:pPr marL="171450" indent="-171450">
              <a:buFont typeface="Arial"/>
              <a:buChar char="•"/>
            </a:pPr>
            <a:r>
              <a:rPr lang="fr-FR" dirty="0"/>
              <a:t>Le scoring s'exécute une fois par an, à mi-S1, sur toute la promotion en cours : aucun besoin temps réel. C'est ce rythme qui structure toute la frise.</a:t>
            </a:r>
          </a:p>
          <a:p>
            <a:pPr marL="0" indent="0">
              <a:buNone/>
            </a:pPr>
            <a:endParaRPr lang="fr-FR" dirty="0"/>
          </a:p>
          <a:p>
            <a:pPr marL="0" indent="0">
              <a:buNone/>
            </a:pPr>
            <a:r>
              <a:rPr lang="fr-FR" b="1" dirty="0"/>
              <a:t>En amont — DPO / référent éthique</a:t>
            </a:r>
          </a:p>
          <a:p>
            <a:pPr marL="171450" indent="-171450">
              <a:buFont typeface="Arial"/>
              <a:buChar char="•"/>
            </a:pPr>
            <a:r>
              <a:rPr lang="fr-FR" dirty="0"/>
              <a:t>Rien ne démarre sans les actes de conformité : AIPD (art. 35, le profilage d'un public étudiant en fait un traitement à risque), base légale confirmée par le DPO, information des étudiants (art. 13-14), minimisation (art. 5.1.c).</a:t>
            </a:r>
          </a:p>
          <a:p>
            <a:pPr marL="171450" indent="-171450">
              <a:buFont typeface="Arial"/>
              <a:buChar char="•"/>
            </a:pPr>
            <a:r>
              <a:rPr lang="fr-FR" dirty="0"/>
              <a:t>La déployabilité est conditionnée à ces actes du responsable de traitement : c'est une limite assumée du projet, pas un détail administratif.</a:t>
            </a:r>
          </a:p>
          <a:p>
            <a:pPr marL="0" indent="0">
              <a:buNone/>
            </a:pPr>
            <a:endParaRPr lang="fr-FR" dirty="0"/>
          </a:p>
          <a:p>
            <a:pPr marL="0" indent="0">
              <a:buNone/>
            </a:pPr>
            <a:r>
              <a:rPr lang="fr-FR" b="1" dirty="0"/>
              <a:t>Sept-oct — SI scolarité / LMS</a:t>
            </a:r>
          </a:p>
          <a:p>
            <a:pPr marL="171450" indent="-171450">
              <a:buFont typeface="Arial"/>
              <a:buChar char="•"/>
            </a:pPr>
            <a:r>
              <a:rPr lang="fr-FR" dirty="0"/>
              <a:t>Le SI scolarité extrait la cohorte à mi-S1 et la soumet au service : c'est la proposition d'intégration technique qu'on lui doit.</a:t>
            </a:r>
          </a:p>
          <a:p>
            <a:pPr marL="171450" indent="-171450">
              <a:buFont typeface="Arial"/>
              <a:buChar char="•"/>
            </a:pPr>
            <a:r>
              <a:rPr lang="fr-FR" dirty="0"/>
              <a:t>Contrainte forte à cette étape : seules les variables connues à mi-parcours sont admises. Les données consolidées en fin de S1 (moyenne des partiels, UE validées, commentaire du tuteur) sont écartées, sinon fuite temporelle et modèle inexploitable en production.</a:t>
            </a:r>
          </a:p>
          <a:p>
            <a:pPr marL="0" indent="0">
              <a:buNone/>
            </a:pPr>
            <a:endParaRPr lang="fr-FR" dirty="0"/>
          </a:p>
          <a:p>
            <a:pPr marL="0" indent="0">
              <a:buNone/>
            </a:pPr>
            <a:r>
              <a:rPr lang="fr-FR" b="1" dirty="0"/>
              <a:t>Mi-S1 — le point fixe, et le seul périmètre de la solution</a:t>
            </a:r>
          </a:p>
          <a:p>
            <a:pPr marL="171450" indent="-171450">
              <a:buFont typeface="Arial"/>
              <a:buChar char="•"/>
            </a:pPr>
            <a:r>
              <a:rPr lang="fr-FR" dirty="0"/>
              <a:t>Deux prédictions complémentaires : la probabilité d'abandon (classification) déclenche l'action, la moyenne finale /20 (régression) la module.</a:t>
            </a:r>
          </a:p>
          <a:p>
            <a:pPr marL="171450" indent="-171450">
              <a:buFont typeface="Arial"/>
              <a:buChar char="•"/>
            </a:pPr>
            <a:r>
              <a:rPr lang="fr-FR" dirty="0"/>
              <a:t>Et l'explication : des contributions signées par variable, calculées analytiquement en production, SHAP servant de confirmation dans le notebook.</a:t>
            </a:r>
          </a:p>
          <a:p>
            <a:pPr marL="171450" indent="-171450">
              <a:buFont typeface="Arial"/>
              <a:buChar char="•"/>
            </a:pPr>
            <a:r>
              <a:rPr lang="fr-FR" dirty="0"/>
              <a:t>Le livrable est un service qui score toute la promotion en une passe et rend, pour chaque étudiant, sa probabilité, sa note prévue et les facteurs qui pèsent le plus. C'est tout le périmètre — d'où le cadre sur cette colonne.</a:t>
            </a:r>
          </a:p>
          <a:p>
            <a:pPr marL="0" indent="0">
              <a:buNone/>
            </a:pPr>
            <a:endParaRPr lang="fr-FR" dirty="0"/>
          </a:p>
          <a:p>
            <a:pPr marL="0" indent="0">
              <a:buNone/>
            </a:pPr>
            <a:r>
              <a:rPr lang="fr-FR" b="1" dirty="0"/>
              <a:t>Décision &amp; accompagnement — tuteurs / responsables pédagogiques</a:t>
            </a:r>
          </a:p>
          <a:p>
            <a:pPr marL="171450" indent="-171450">
              <a:buFont typeface="Arial"/>
              <a:buChar char="•"/>
            </a:pPr>
            <a:r>
              <a:rPr lang="fr-FR" dirty="0"/>
              <a:t>Le service assiste la décision mais ne tranche pas (art. 22) : l'équipe pédagogique lit la probabilité et les facteurs, et décide l'accompagnement. Par défaut, probabilité seule ; l'indicateur « signalé » n'est activable que par le responsable de traitement.</a:t>
            </a:r>
          </a:p>
          <a:p>
            <a:pPr marL="171450" indent="-171450">
              <a:buFont typeface="Arial"/>
              <a:buChar char="•"/>
            </a:pPr>
            <a:r>
              <a:rPr lang="fr-FR" dirty="0"/>
              <a:t>La priorisation est nécessaire parce que la capacité est limitée (heures de tutorat, aides) : la note prévue calibre l'intensité, et un mode capacité permet de ne remonter que les N dossiers les plus à risque.</a:t>
            </a:r>
          </a:p>
          <a:p>
            <a:pPr marL="171450" indent="-171450">
              <a:buFont typeface="Arial"/>
              <a:buChar char="•"/>
            </a:pPr>
            <a:r>
              <a:rPr lang="fr-FR" dirty="0"/>
              <a:t>Le seuil traduit l'asymétrie des coûts : un décrochage manqué (FN) pèse bien plus qu'un signalement à tort (FP), sans que le FP soit anodin — il consomme une ressource rare et pose une étiquette.</a:t>
            </a:r>
          </a:p>
          <a:p>
            <a:pPr marL="0" indent="0">
              <a:buNone/>
            </a:pPr>
            <a:endParaRPr lang="fr-FR" dirty="0"/>
          </a:p>
          <a:p>
            <a:pPr marL="0" indent="0">
              <a:buNone/>
            </a:pPr>
            <a:r>
              <a:rPr lang="fr-FR" b="1" dirty="0"/>
              <a:t>Fin d'année — l'étudiant</a:t>
            </a:r>
          </a:p>
          <a:p>
            <a:pPr marL="171450" indent="-171450">
              <a:buFont typeface="Arial"/>
              <a:buChar char="•"/>
            </a:pPr>
            <a:r>
              <a:rPr lang="fr-FR" dirty="0"/>
              <a:t>L'effet visé : aujourd'hui environ 28 % des L1 abandonnent (1 479 sur 5 200) et l'abandon ne se constate qu'en fin de semestre, trop tard pour agir.</a:t>
            </a:r>
          </a:p>
          <a:p>
            <a:pPr marL="171450" indent="-171450">
              <a:buFont typeface="Arial"/>
              <a:buChar char="•"/>
            </a:pPr>
            <a:r>
              <a:rPr lang="fr-FR" dirty="0"/>
              <a:t>L'étudiant est à la fois sujet des données et bénéficiaire : minimisation des données, vigilance sur les biais et sur l'effet stigmatisant du marquage.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buNone/>
            </a:pPr>
            <a:r>
              <a:rPr lang="fr-FR" b="1" dirty="0"/>
              <a:t>Le choix</a:t>
            </a:r>
          </a:p>
          <a:p>
            <a:pPr marL="228600" indent="-228600">
              <a:buFont typeface="Arial"/>
              <a:buChar char="•"/>
            </a:pPr>
            <a:r>
              <a:rPr lang="fr-FR" dirty="0"/>
              <a:t>Claude Code utilisé pour m'assister : temps limité, méta actuelle du développement — ne pas l'utiliser serait une erreur</a:t>
            </a:r>
          </a:p>
          <a:p>
            <a:pPr marL="228600" indent="-228600">
              <a:buFont typeface="Arial"/>
              <a:buChar char="•"/>
            </a:pPr>
            <a:r>
              <a:rPr lang="fr-FR" dirty="0"/>
              <a:t>Mais projet de certification : je dois démontrer mes compétences → usage encadré, et l'encadrement est écrit (D02)</a:t>
            </a:r>
          </a:p>
          <a:p>
            <a:endParaRPr lang="fr-FR" dirty="0"/>
          </a:p>
          <a:p>
            <a:pPr marL="0" indent="0">
              <a:buNone/>
            </a:pPr>
            <a:r>
              <a:rPr lang="fr-FR" b="1" dirty="0"/>
              <a:t>Trois agents consultants, en lecture seule</a:t>
            </a:r>
          </a:p>
          <a:p>
            <a:pPr marL="228600" indent="-228600">
              <a:buFont typeface="Arial"/>
              <a:buChar char="•"/>
            </a:pPr>
            <a:r>
              <a:rPr lang="fr-FR" dirty="0"/>
              <a:t>Consultant ML — challenge modélisation, métriques, validation</a:t>
            </a:r>
          </a:p>
          <a:p>
            <a:pPr marL="228600" indent="-228600">
              <a:buFont typeface="Arial"/>
              <a:buChar char="•"/>
            </a:pPr>
            <a:r>
              <a:rPr lang="fr-FR" dirty="0"/>
              <a:t>Consultant RGPD — licéité, minimisation, proportionnalité des données</a:t>
            </a:r>
          </a:p>
          <a:p>
            <a:pPr marL="228600" indent="-228600">
              <a:buFont typeface="Arial"/>
              <a:buChar char="•"/>
            </a:pPr>
            <a:r>
              <a:rPr lang="fr-FR" dirty="0"/>
              <a:t>Gardien du cas d'usage — ramène chaque choix au besoin métier (mi-S1, agir à temps)</a:t>
            </a:r>
          </a:p>
          <a:p>
            <a:pPr marL="228600" indent="-228600">
              <a:buFont typeface="Arial"/>
              <a:buChar char="•"/>
            </a:pPr>
            <a:r>
              <a:rPr lang="fr-FR" dirty="0"/>
              <a:t>Rôle double : ils m'éclairent avant l'arbitrage, ils contrôlent mon travail après</a:t>
            </a:r>
          </a:p>
          <a:p>
            <a:pPr marL="228600" indent="-228600">
              <a:buFont typeface="Arial"/>
              <a:buChar char="•"/>
            </a:pPr>
            <a:r>
              <a:rPr lang="fr-FR" dirty="0"/>
              <a:t>Ils challengent, ils ne tranchent jamais — la décision reste la mienne</a:t>
            </a:r>
          </a:p>
          <a:p>
            <a:endParaRPr lang="fr-FR" dirty="0"/>
          </a:p>
          <a:p>
            <a:pPr marL="0" indent="0">
              <a:buNone/>
            </a:pPr>
            <a:r>
              <a:rPr lang="fr-FR" b="1" dirty="0"/>
              <a:t>Écriture du notebook</a:t>
            </a:r>
          </a:p>
          <a:p>
            <a:pPr marL="228600" indent="-228600">
              <a:buFont typeface="Arial"/>
              <a:buChar char="•"/>
            </a:pPr>
            <a:r>
              <a:rPr lang="fr-FR" dirty="0"/>
              <a:t>Cellules de code : écrites par l'IA sous mes directives, relues par moi</a:t>
            </a:r>
          </a:p>
          <a:p>
            <a:pPr marL="228600" indent="-228600">
              <a:buFont typeface="Arial"/>
              <a:buChar char="•"/>
            </a:pPr>
            <a:r>
              <a:rPr lang="fr-FR" dirty="0"/>
              <a:t>Cellules markdown : rédigées à partir de mes notes, relues et corrigées par l'IA</a:t>
            </a:r>
          </a:p>
          <a:p>
            <a:pPr marL="228600" indent="-228600">
              <a:buFont typeface="Arial"/>
              <a:buChar char="•"/>
            </a:pPr>
            <a:r>
              <a:rPr lang="fr-FR" dirty="0"/>
              <a:t>Relecture de validation systématique de ma part avant intégration</a:t>
            </a:r>
          </a:p>
          <a:p>
            <a:endParaRPr lang="fr-FR" dirty="0"/>
          </a:p>
          <a:p>
            <a:pPr marL="0" indent="0">
              <a:buNone/>
            </a:pPr>
            <a:r>
              <a:rPr lang="fr-FR" b="1" dirty="0"/>
              <a:t>Le journal de décision</a:t>
            </a:r>
          </a:p>
          <a:p>
            <a:pPr marL="228600" indent="-228600">
              <a:buFont typeface="Arial"/>
              <a:buChar char="•"/>
            </a:pPr>
            <a:r>
              <a:rPr lang="fr-FR" dirty="0"/>
              <a:t>Un choix assumé : tracer chaque décision au fil du projet, du cadrage à la mise en production</a:t>
            </a:r>
          </a:p>
          <a:p>
            <a:pPr marL="228600" indent="-228600">
              <a:buFont typeface="Arial"/>
              <a:buChar char="•"/>
            </a:pPr>
            <a:r>
              <a:rPr lang="fr-FR" dirty="0"/>
              <a:t>Pour chacune : la question, ce que j'ai regardé, la décision, le pourquoi, l'alternative écartée</a:t>
            </a:r>
          </a:p>
          <a:p>
            <a:pPr marL="228600" indent="-228600">
              <a:buFont typeface="Arial"/>
              <a:buChar char="•"/>
            </a:pPr>
            <a:r>
              <a:rPr lang="fr-FR" dirty="0"/>
              <a:t>Écrite une seule fois, à l'endroit de la mesure qui la fonde — pas de doublon, pas de reconstruction a posteriori</a:t>
            </a:r>
          </a:p>
          <a:p>
            <a:pPr marL="228600" indent="-228600">
              <a:buFont typeface="Arial"/>
              <a:buChar char="•"/>
            </a:pPr>
            <a:r>
              <a:rPr lang="fr-FR" dirty="0"/>
              <a:t>Décisions numérotées (D01, D02…) et rappelées dans les sections concernées</a:t>
            </a:r>
          </a:p>
          <a:p>
            <a:endParaRPr lang="fr-FR" dirty="0"/>
          </a:p>
          <a:p>
            <a:pPr marL="0" indent="0">
              <a:buNone/>
            </a:pPr>
            <a:r>
              <a:rPr lang="fr-FR" b="1" dirty="0"/>
              <a:t>Ce que ça garantit</a:t>
            </a:r>
          </a:p>
          <a:p>
            <a:pPr marL="228600" indent="-228600">
              <a:buFont typeface="Arial"/>
              <a:buChar char="•"/>
            </a:pPr>
            <a:r>
              <a:rPr lang="fr-FR" dirty="0"/>
              <a:t>Traçabilité de bout en bout : rien ne passe sans arbitrage écrit</a:t>
            </a:r>
          </a:p>
          <a:p>
            <a:pPr marL="228600" indent="-228600">
              <a:buFont typeface="Arial"/>
              <a:buChar char="•"/>
            </a:pPr>
            <a:r>
              <a:rPr lang="fr-FR" dirty="0"/>
              <a:t>Meilleur contrôle de l'IA générative : son périmètre est déclaré, pas implicite</a:t>
            </a:r>
          </a:p>
          <a:p>
            <a:pPr marL="228600" indent="-228600">
              <a:buFont typeface="Arial"/>
              <a:buChar char="•"/>
            </a:pPr>
            <a:r>
              <a:rPr lang="fr-FR" dirty="0"/>
              <a:t>Si on me demande « l'IA a-t-elle décidé ? » — non : D02 acte l'encadrement, et chaque arbitrage porte mon nom au journal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fr-FR" b="1" dirty="0"/>
              <a:t>PROFILAGE</a:t>
            </a:r>
          </a:p>
          <a:p>
            <a:pPr marL="228600" indent="-228600">
              <a:buFont typeface="Arial"/>
              <a:buChar char="•"/>
            </a:pPr>
            <a:r>
              <a:rPr lang="fr-FR" dirty="0"/>
              <a:t>Types sémantiques, motifs d’écriture, bornes, manquants et modalités relevés colonne par colonne</a:t>
            </a:r>
          </a:p>
          <a:p>
            <a:pPr marL="228600" indent="-228600">
              <a:buFont typeface="Arial"/>
              <a:buChar char="•"/>
            </a:pPr>
            <a:r>
              <a:rPr lang="fr-FR" dirty="0"/>
              <a:t>Dédoublonnage, normalisation, recodage appliqués</a:t>
            </a:r>
          </a:p>
          <a:p>
            <a:pPr marL="228600" indent="-228600">
              <a:buFont typeface="Arial"/>
              <a:buChar char="•"/>
            </a:pPr>
            <a:r>
              <a:rPr lang="fr-FR" dirty="0"/>
              <a:t>Six contrôles croisés passés : 0 anomalie</a:t>
            </a:r>
          </a:p>
          <a:p>
            <a:pPr marL="0" indent="0">
              <a:buNone/>
            </a:pPr>
            <a:endParaRPr lang="fr-FR" dirty="0"/>
          </a:p>
          <a:p>
            <a:pPr marL="0" indent="0">
              <a:buNone/>
            </a:pPr>
            <a:r>
              <a:rPr lang="fr-FR" b="1" dirty="0"/>
              <a:t>CONFORMATION &amp; EDA</a:t>
            </a:r>
          </a:p>
          <a:p>
            <a:pPr marL="228600" indent="-228600">
              <a:buFont typeface="Arial"/>
              <a:buChar char="•"/>
            </a:pPr>
            <a:r>
              <a:rPr lang="fr-FR" dirty="0"/>
              <a:t>Distributions et échelles profilées sur le jeu conformé</a:t>
            </a:r>
          </a:p>
          <a:p>
            <a:pPr marL="228600" indent="-228600">
              <a:buFont typeface="Arial"/>
              <a:buChar char="•"/>
            </a:pPr>
            <a:r>
              <a:rPr lang="fr-FR" dirty="0"/>
              <a:t>Valeurs aberrantes testées (Tukey) : conservées</a:t>
            </a:r>
          </a:p>
          <a:p>
            <a:pPr marL="228600" indent="-228600">
              <a:buFont typeface="Arial"/>
              <a:buChar char="•"/>
            </a:pPr>
            <a:r>
              <a:rPr lang="fr-FR" dirty="0"/>
              <a:t>Manquants diagnostiqués : ni suppression, ni indicateur</a:t>
            </a:r>
          </a:p>
          <a:p>
            <a:pPr marL="228600" indent="-228600">
              <a:buFont typeface="Arial"/>
              <a:buChar char="•"/>
            </a:pPr>
            <a:r>
              <a:rPr lang="fr-FR" dirty="0"/>
              <a:t>Liens entre variables mesurés : trio LMS redondant, proxies et leurres sous le bruit</a:t>
            </a:r>
          </a:p>
          <a:p>
            <a:pPr marL="0" indent="0">
              <a:buNone/>
            </a:pPr>
            <a:endParaRPr lang="fr-FR" dirty="0"/>
          </a:p>
          <a:p>
            <a:pPr marL="0" indent="0">
              <a:buNone/>
            </a:pPr>
            <a:r>
              <a:rPr lang="fr-FR" b="1" dirty="0"/>
              <a:t>BRONZE → SILVER → GOLD</a:t>
            </a:r>
          </a:p>
          <a:p>
            <a:pPr marL="228600" indent="-228600">
              <a:buFont typeface="Arial"/>
              <a:buChar char="•"/>
            </a:pPr>
            <a:r>
              <a:rPr lang="fr-FR" dirty="0"/>
              <a:t>Bronze : copie immuable des fichiers reçus</a:t>
            </a:r>
          </a:p>
          <a:p>
            <a:pPr marL="228600" indent="-228600">
              <a:buFont typeface="Arial"/>
              <a:buChar char="•"/>
            </a:pPr>
            <a:r>
              <a:rPr lang="fr-FR" dirty="0"/>
              <a:t>Silver : règles de conformation rejouées depuis la source</a:t>
            </a:r>
          </a:p>
          <a:p>
            <a:pPr marL="228600" indent="-228600">
              <a:buFont typeface="Arial"/>
              <a:buChar char="•"/>
            </a:pPr>
            <a:r>
              <a:rPr lang="fr-FR" dirty="0"/>
              <a:t>Gold : 6 colonnes retirées, 2 variables dérivées créées</a:t>
            </a:r>
          </a:p>
          <a:p>
            <a:pPr marL="0" indent="0">
              <a:buNone/>
            </a:pPr>
            <a:endParaRPr lang="fr-FR" dirty="0"/>
          </a:p>
          <a:p>
            <a:pPr marL="0" indent="0">
              <a:buNone/>
            </a:pPr>
            <a:r>
              <a:rPr lang="fr-FR" b="1" dirty="0"/>
              <a:t>VOLUMÉTRIE</a:t>
            </a:r>
          </a:p>
          <a:p>
            <a:pPr marL="228600" indent="-228600">
              <a:buFont typeface="Arial"/>
              <a:buChar char="•"/>
            </a:pPr>
            <a:r>
              <a:rPr lang="fr-FR" dirty="0"/>
              <a:t>Entrée : 5 240 × 33 (+ catalogue de 8 filières)</a:t>
            </a:r>
          </a:p>
          <a:p>
            <a:pPr marL="228600" indent="-228600">
              <a:buFont typeface="Arial"/>
              <a:buChar char="•"/>
            </a:pPr>
            <a:r>
              <a:rPr lang="fr-FR" dirty="0"/>
              <a:t>Conformé : 5 200 × 33</a:t>
            </a:r>
          </a:p>
          <a:p>
            <a:pPr marL="228600" indent="-228600">
              <a:buFont typeface="Arial"/>
              <a:buChar char="•"/>
            </a:pPr>
            <a:r>
              <a:rPr lang="fr-FR" dirty="0"/>
              <a:t>Gold : 5 200 × 29</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fr-FR" b="1" dirty="0"/>
              <a:t>DÉDOUBLONNAGE</a:t>
            </a:r>
          </a:p>
          <a:p>
            <a:pPr marL="228600" indent="-228600">
              <a:buFont typeface="Arial"/>
              <a:buChar char="•"/>
            </a:pPr>
            <a:r>
              <a:rPr lang="fr-FR" dirty="0"/>
              <a:t>40 lignes strictement identiques sur les 33 colonnes, retirées après conformation : 5 240 → 5 200 lignes</a:t>
            </a:r>
          </a:p>
          <a:p>
            <a:pPr marL="0" indent="0">
              <a:buNone/>
            </a:pPr>
            <a:endParaRPr lang="fr-FR" dirty="0"/>
          </a:p>
          <a:p>
            <a:pPr marL="0" indent="0">
              <a:buNone/>
            </a:pPr>
            <a:r>
              <a:rPr lang="fr-FR" b="1" dirty="0"/>
              <a:t>NORMALISATION</a:t>
            </a:r>
          </a:p>
          <a:p>
            <a:pPr marL="228600" indent="-228600">
              <a:buFont typeface="Arial"/>
              <a:buChar char="•"/>
            </a:pPr>
            <a:r>
              <a:rPr lang="fr-FR" dirty="0"/>
              <a:t>date_inscription : 3 formats (%Y-%m-%d, %d/%m/%Y, %d %b %Y) → date typée</a:t>
            </a:r>
          </a:p>
          <a:p>
            <a:pPr marL="228600" indent="-228600">
              <a:buFont typeface="Arial"/>
              <a:buChar char="•"/>
            </a:pPr>
            <a:r>
              <a:rPr lang="fr-FR" dirty="0"/>
              <a:t>taux_presence_pct : unité « % » collée + virgule décimale → décimal</a:t>
            </a:r>
          </a:p>
          <a:p>
            <a:pPr marL="228600" indent="-228600">
              <a:buFont typeface="Arial"/>
              <a:buChar char="•"/>
            </a:pPr>
            <a:r>
              <a:rPr lang="fr-FR" dirty="0"/>
              <a:t>distance_domicile_km : unité « km » collée + virgule décimale → décimal</a:t>
            </a:r>
          </a:p>
          <a:p>
            <a:pPr marL="228600" indent="-228600">
              <a:buFont typeface="Arial"/>
              <a:buChar char="•"/>
            </a:pPr>
            <a:r>
              <a:rPr lang="fr-FR" dirty="0"/>
              <a:t>moyenne_partiels_s1 : virgule décimale → décimal</a:t>
            </a:r>
          </a:p>
          <a:p>
            <a:pPr marL="228600" indent="-228600">
              <a:buFont typeface="Arial"/>
              <a:buChar char="•"/>
            </a:pPr>
            <a:r>
              <a:rPr lang="fr-FR" dirty="0"/>
              <a:t>Catégorielles : casse, accents, espaces réduits — filiere 31 → 8 écritures</a:t>
            </a:r>
          </a:p>
          <a:p>
            <a:pPr marL="0" indent="0">
              <a:buNone/>
            </a:pPr>
            <a:endParaRPr lang="fr-FR" dirty="0"/>
          </a:p>
          <a:p>
            <a:pPr marL="0" indent="0">
              <a:buNone/>
            </a:pPr>
            <a:r>
              <a:rPr lang="fr-FR" b="1" dirty="0"/>
              <a:t>RECODAGE</a:t>
            </a:r>
          </a:p>
          <a:p>
            <a:pPr marL="228600" indent="-228600">
              <a:buFont typeface="Arial"/>
              <a:buChar char="•"/>
            </a:pPr>
            <a:r>
              <a:rPr lang="fr-FR" dirty="0"/>
              <a:t>sexe : f/femme → femme, h/m/homme → homme, nb/autre → autre, nr → non renseigné (11 → 4)</a:t>
            </a:r>
          </a:p>
          <a:p>
            <a:pPr marL="228600" indent="-228600">
              <a:buFont typeface="Arial"/>
              <a:buChar char="•"/>
            </a:pPr>
            <a:r>
              <a:rPr lang="fr-FR" dirty="0"/>
              <a:t>bac_type : gen/general/generale → general, techno → technologique, pro → professionnel (12 → 3)</a:t>
            </a:r>
          </a:p>
          <a:p>
            <a:pPr marL="228600" indent="-228600">
              <a:buFont typeface="Arial"/>
              <a:buChar char="•"/>
            </a:pPr>
            <a:r>
              <a:rPr lang="fr-FR" dirty="0"/>
              <a:t>mention_bac : p → passable, ab → assez bien, b → bien, tb → tres bien (11 → 4)</a:t>
            </a:r>
          </a:p>
          <a:p>
            <a:pPr marL="228600" indent="-228600">
              <a:buFont typeface="Arial"/>
              <a:buChar char="•"/>
            </a:pPr>
            <a:r>
              <a:rPr lang="fr-FR" dirty="0"/>
              <a:t>boursier : non/n/0 → non, oui/o/1 → oui (8 → 2)</a:t>
            </a:r>
          </a:p>
          <a:p>
            <a:pPr marL="0" indent="0">
              <a:buNone/>
            </a:pPr>
            <a:endParaRPr lang="fr-FR" dirty="0"/>
          </a:p>
          <a:p>
            <a:pPr marL="0" indent="0">
              <a:buNone/>
            </a:pPr>
            <a:r>
              <a:rPr lang="fr-FR" b="1" dirty="0"/>
              <a:t>CONTRÔLE DE COHÉRENCE</a:t>
            </a:r>
          </a:p>
          <a:p>
            <a:pPr marL="228600" indent="-228600">
              <a:buFont typeface="Arial"/>
              <a:buChar char="•"/>
            </a:pPr>
            <a:r>
              <a:rPr lang="fr-FR" dirty="0"/>
              <a:t>student_id unique : 0 doublon</a:t>
            </a:r>
          </a:p>
          <a:p>
            <a:pPr marL="228600" indent="-228600">
              <a:buFont typeface="Arial"/>
              <a:buChar char="•"/>
            </a:pPr>
            <a:r>
              <a:rPr lang="fr-FR" dirty="0"/>
              <a:t>id_dossier unique : 0 doublon</a:t>
            </a:r>
          </a:p>
          <a:p>
            <a:pPr marL="228600" indent="-228600">
              <a:buFont typeface="Arial"/>
              <a:buChar char="•"/>
            </a:pPr>
            <a:r>
              <a:rPr lang="fr-FR" dirty="0"/>
              <a:t>filiere présente au catalogue : 0 filière hors catalogue</a:t>
            </a:r>
          </a:p>
          <a:p>
            <a:pPr marL="228600" indent="-228600">
              <a:buFont typeface="Arial"/>
              <a:buChar char="•"/>
            </a:pPr>
            <a:r>
              <a:rPr lang="fr-FR" dirty="0"/>
              <a:t>nb_devoirs_rendus ≤ nb_devoirs_total : 0 ligne en échec</a:t>
            </a:r>
          </a:p>
          <a:p>
            <a:pPr marL="228600" indent="-228600">
              <a:buFont typeface="Arial"/>
              <a:buChar char="•"/>
            </a:pPr>
            <a:r>
              <a:rPr lang="fr-FR" dirty="0"/>
              <a:t>nb_ue_validees_s1 ≤ nb_ue_total : 0 ligne en échec</a:t>
            </a:r>
          </a:p>
          <a:p>
            <a:pPr marL="228600" indent="-228600">
              <a:buFont typeface="Arial"/>
              <a:buChar char="•"/>
            </a:pPr>
            <a:r>
              <a:rPr lang="fr-FR" dirty="0"/>
              <a:t>retards_rendus ≤ nb_devoirs_rendus : 0 ligne en échec</a:t>
            </a:r>
          </a:p>
          <a:p>
            <a:pPr marL="0" indent="0">
              <a:buNone/>
            </a:pPr>
            <a:endParaRPr lang="fr-FR" dirty="0"/>
          </a:p>
          <a:p>
            <a:pPr marL="0" indent="0">
              <a:buNone/>
            </a:pPr>
            <a:r>
              <a:rPr lang="fr-FR" b="1" dirty="0"/>
              <a:t>BORNES MÉTIER</a:t>
            </a:r>
          </a:p>
          <a:p>
            <a:pPr marL="228600" indent="-228600">
              <a:buFont typeface="Arial"/>
              <a:buChar char="•"/>
            </a:pPr>
            <a:r>
              <a:rPr lang="fr-FR" dirty="0"/>
              <a:t>Contrôle des bornes passé sur toutes les colonnes : aucune valeur hors domaine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fr-FR" b="1" dirty="0"/>
              <a:t>CIBLE</a:t>
            </a:r>
          </a:p>
          <a:p>
            <a:pPr marL="228600" indent="-228600">
              <a:buFont typeface="Arial"/>
              <a:buChar char="•"/>
            </a:pPr>
            <a:r>
              <a:rPr lang="fr-FR" dirty="0"/>
              <a:t>Prévalence de l’abandon mesurée : 28,4 % (1 479 / 5 200), rapport 2,5:1 — pas de ré-échantillonnage</a:t>
            </a:r>
          </a:p>
          <a:p>
            <a:pPr marL="228600" indent="-228600">
              <a:buFont typeface="Arial"/>
              <a:buChar char="•"/>
            </a:pPr>
            <a:r>
              <a:rPr lang="fr-FR" dirty="0"/>
              <a:t>Lien entre les deux cibles vérifié : abandon = moyenne_finale seuillée à 10/20 (9,92 vs 10,03) — moyenne_finale exclue des explicatives</a:t>
            </a:r>
          </a:p>
          <a:p>
            <a:pPr marL="0" indent="0">
              <a:buNone/>
            </a:pPr>
            <a:endParaRPr lang="fr-FR" dirty="0"/>
          </a:p>
          <a:p>
            <a:pPr marL="0" indent="0">
              <a:buNone/>
            </a:pPr>
            <a:r>
              <a:rPr lang="fr-FR" b="1" dirty="0"/>
              <a:t>DISTRIBUTIONS (15 numériques, 10 catégorielles)</a:t>
            </a:r>
          </a:p>
          <a:p>
            <a:pPr marL="228600" indent="-228600">
              <a:buFont typeface="Arial"/>
              <a:buChar char="•"/>
            </a:pPr>
            <a:r>
              <a:rPr lang="fr-FR" dirty="0"/>
              <a:t>Asymétrie : distance_domicile_km 1,94, seule marquée</a:t>
            </a:r>
          </a:p>
          <a:p>
            <a:pPr marL="228600" indent="-228600">
              <a:buFont typeface="Arial"/>
              <a:buChar char="•"/>
            </a:pPr>
            <a:r>
              <a:rPr lang="fr-FR" dirty="0"/>
              <a:t>Échelles : de 1-5 à 0-222 — standardisation renvoyée au pipeline</a:t>
            </a:r>
          </a:p>
          <a:p>
            <a:pPr marL="228600" indent="-228600">
              <a:buFont typeface="Arial"/>
              <a:buChar char="•"/>
            </a:pPr>
            <a:r>
              <a:rPr lang="fr-FR" dirty="0"/>
              <a:t>Variance nulle : annee_universitaire écartée</a:t>
            </a:r>
          </a:p>
          <a:p>
            <a:pPr marL="228600" indent="-228600">
              <a:buFont typeface="Arial"/>
              <a:buChar char="•"/>
            </a:pPr>
            <a:r>
              <a:rPr lang="fr-FR" dirty="0"/>
              <a:t>Modalités rares (&lt; 5 %) : sexe « autre » 1,29 %, sexe « non renseigné » 0,60 %, etablissement_origine « autre » 4,17 %</a:t>
            </a:r>
          </a:p>
          <a:p>
            <a:pPr marL="0" indent="0">
              <a:buNone/>
            </a:pPr>
            <a:endParaRPr lang="fr-FR" dirty="0"/>
          </a:p>
          <a:p>
            <a:pPr marL="0" indent="0">
              <a:buNone/>
            </a:pPr>
            <a:r>
              <a:rPr lang="fr-FR" b="1" dirty="0"/>
              <a:t>VALEURS MANQUANTES (8 colonnes, de 4 % à 12 %)</a:t>
            </a:r>
          </a:p>
          <a:p>
            <a:pPr marL="228600" indent="-228600">
              <a:buFont typeface="Arial"/>
              <a:buChar char="•"/>
            </a:pPr>
            <a:r>
              <a:rPr lang="fr-FR" dirty="0"/>
              <a:t>Structure testée : aucune corrélation de nullité, aucune concentration par dossier — aucune ligne supprimée</a:t>
            </a:r>
          </a:p>
          <a:p>
            <a:pPr marL="228600" indent="-228600">
              <a:buFont typeface="Arial"/>
              <a:buChar char="•"/>
            </a:pPr>
            <a:r>
              <a:rPr lang="fr-FR" dirty="0"/>
              <a:t>Signal testé : écart max +2,83 pt pour un bruit de 3,7, p ≥ 0,15 — aucun indicateur x_manquant</a:t>
            </a:r>
          </a:p>
          <a:p>
            <a:pPr marL="228600" indent="-228600">
              <a:buFont typeface="Arial"/>
              <a:buChar char="•"/>
            </a:pPr>
            <a:r>
              <a:rPr lang="fr-FR" dirty="0"/>
              <a:t>Imputation renvoyée au pipeline, ajustée sur le train seul</a:t>
            </a:r>
          </a:p>
          <a:p>
            <a:pPr marL="0" indent="0">
              <a:buNone/>
            </a:pPr>
            <a:endParaRPr lang="fr-FR" dirty="0"/>
          </a:p>
          <a:p>
            <a:pPr marL="0" indent="0">
              <a:buNone/>
            </a:pPr>
            <a:r>
              <a:rPr lang="fr-FR" b="1" dirty="0"/>
              <a:t>VALEURS ABERRANTES (règle de Tukey)</a:t>
            </a:r>
          </a:p>
          <a:p>
            <a:pPr marL="228600" indent="-228600">
              <a:buFont typeface="Arial"/>
              <a:buChar char="•"/>
            </a:pPr>
            <a:r>
              <a:rPr lang="fr-FR" dirty="0"/>
              <a:t>419 lignes hors IQR sur 5 200 — distance_domicile_km 4,81 %, heures_lms_total 1,48 %, ressources_consultees 0,94 %</a:t>
            </a:r>
          </a:p>
          <a:p>
            <a:pPr marL="228600" indent="-228600">
              <a:buFont typeface="Arial"/>
              <a:buChar char="•"/>
            </a:pPr>
            <a:r>
              <a:rPr lang="fr-FR" dirty="0"/>
              <a:t>Queues à droite uniquement, toutes dans le domaine métier — ni écrêtage ni retrait</a:t>
            </a:r>
          </a:p>
          <a:p>
            <a:pPr marL="0" indent="0">
              <a:buNone/>
            </a:pPr>
            <a:endParaRPr lang="fr-FR" dirty="0"/>
          </a:p>
          <a:p>
            <a:pPr marL="0" indent="0">
              <a:buNone/>
            </a:pPr>
            <a:r>
              <a:rPr lang="fr-FR" b="1" dirty="0"/>
              <a:t>ASSOCIATIONS ENTRE VARIABLES</a:t>
            </a:r>
          </a:p>
          <a:p>
            <a:pPr marL="228600" indent="-228600">
              <a:buFont typeface="Arial"/>
              <a:buChar char="•"/>
            </a:pPr>
            <a:r>
              <a:rPr lang="fr-FR" dirty="0"/>
              <a:t>Trio LMS redondant : connexions_lms_30j ↔ ressources_consultees ρ 0,920, ↔ heures_lms_total ρ 0,869</a:t>
            </a:r>
          </a:p>
          <a:p>
            <a:pPr marL="228600" indent="-228600">
              <a:buFont typeface="Arial"/>
              <a:buChar char="•"/>
            </a:pPr>
            <a:r>
              <a:rPr lang="fr-FR" dirty="0"/>
              <a:t>Catégorielles indépendantes entre elles et des numériques</a:t>
            </a:r>
          </a:p>
          <a:p>
            <a:pPr marL="228600" indent="-228600">
              <a:buFont typeface="Arial"/>
              <a:buChar char="•"/>
            </a:pPr>
            <a:r>
              <a:rPr lang="fr-FR" dirty="0"/>
              <a:t>Isolées : age, distance_domicile_km, heures_travail_remunere_sem, nb_ue_total</a:t>
            </a:r>
          </a:p>
          <a:p>
            <a:pPr marL="228600" indent="-228600">
              <a:buFont typeface="Arial"/>
              <a:buChar char="•"/>
            </a:pPr>
            <a:r>
              <a:rPr lang="fr-FR" dirty="0"/>
              <a:t>Aucun retrait ici — décidé par ablation</a:t>
            </a:r>
          </a:p>
          <a:p>
            <a:pPr marL="0" indent="0">
              <a:buNone/>
            </a:pPr>
            <a:endParaRPr lang="fr-FR" dirty="0"/>
          </a:p>
          <a:p>
            <a:pPr marL="0" indent="0">
              <a:buNone/>
            </a:pPr>
            <a:r>
              <a:rPr lang="fr-FR" b="1" dirty="0"/>
              <a:t>PROXIES vs boursier</a:t>
            </a:r>
          </a:p>
          <a:p>
            <a:pPr marL="228600" indent="-228600">
              <a:buFont typeface="Arial"/>
              <a:buChar char="•"/>
            </a:pPr>
            <a:r>
              <a:rPr lang="fr-FR" dirty="0"/>
              <a:t>etablissement_origine : V de Cramér 0,027 &lt; bruit 0,044</a:t>
            </a:r>
          </a:p>
          <a:p>
            <a:pPr marL="228600" indent="-228600">
              <a:buFont typeface="Arial"/>
              <a:buChar char="•"/>
            </a:pPr>
            <a:r>
              <a:rPr lang="fr-FR" dirty="0"/>
              <a:t>distance_domicile_km : η 0,007 &lt; bruit 0,027</a:t>
            </a:r>
          </a:p>
          <a:p>
            <a:pPr marL="228600" indent="-228600">
              <a:buFont typeface="Arial"/>
              <a:buChar char="•"/>
            </a:pPr>
            <a:r>
              <a:rPr lang="fr-FR" dirty="0"/>
              <a:t>heures_travail_remunere_sem : η 0,003 &lt; bruit 0,031</a:t>
            </a:r>
          </a:p>
          <a:p>
            <a:pPr marL="0" indent="0">
              <a:buNone/>
            </a:pPr>
            <a:endParaRPr lang="fr-FR" dirty="0"/>
          </a:p>
          <a:p>
            <a:pPr marL="0" indent="0">
              <a:buNone/>
            </a:pPr>
            <a:r>
              <a:rPr lang="fr-FR" b="1" dirty="0"/>
              <a:t>LEURRES</a:t>
            </a:r>
          </a:p>
          <a:p>
            <a:pPr marL="228600" indent="-228600">
              <a:buFont typeface="Arial"/>
              <a:buChar char="•"/>
            </a:pPr>
            <a:r>
              <a:rPr lang="fr-FR" dirty="0"/>
              <a:t>jour_inscription : recalculé intégralement depuis date_inscription</a:t>
            </a:r>
          </a:p>
          <a:p>
            <a:pPr marL="228600" indent="-228600">
              <a:buFont typeface="Arial"/>
              <a:buChar char="•"/>
            </a:pPr>
            <a:r>
              <a:rPr lang="fr-FR" dirty="0"/>
              <a:t>groupe_td V 0,033 et jour_inscription V 0,039 : dans le bruit</a:t>
            </a:r>
          </a:p>
          <a:p>
            <a:pPr marL="228600" indent="-228600">
              <a:buFont typeface="Arial"/>
              <a:buChar char="•"/>
            </a:pPr>
            <a:r>
              <a:rPr lang="fr-FR" dirty="0"/>
              <a:t>couleur_carte_etudiante V 0,045 &gt; bruit 0,041 (p 0,03) : magnitude négligeable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fr-FR" b="1" dirty="0"/>
              <a:t>BRONZE</a:t>
            </a:r>
          </a:p>
          <a:p>
            <a:pPr marL="228600" indent="-228600">
              <a:buFont typeface="Arial"/>
              <a:buChar char="•"/>
            </a:pPr>
            <a:r>
              <a:rPr lang="fr-FR" dirty="0"/>
              <a:t>Copie exacte des fichiers reçus dans raw/, immuable, écrite sur disque : 2 fichiers, 5 240 × 33</a:t>
            </a:r>
          </a:p>
          <a:p>
            <a:pPr marL="0" indent="0">
              <a:buNone/>
            </a:pPr>
            <a:endParaRPr lang="fr-FR" dirty="0"/>
          </a:p>
          <a:p>
            <a:pPr marL="0" indent="0">
              <a:buNone/>
            </a:pPr>
            <a:r>
              <a:rPr lang="fr-FR" b="1" dirty="0"/>
              <a:t>SILVER</a:t>
            </a:r>
          </a:p>
          <a:p>
            <a:pPr marL="228600" indent="-228600">
              <a:buFont typeface="Arial"/>
              <a:buChar char="•"/>
            </a:pPr>
            <a:r>
              <a:rPr lang="fr-FR" dirty="0"/>
              <a:t>Règles de §5 rejouées par le même code : typage des nombres et des dates</a:t>
            </a:r>
          </a:p>
          <a:p>
            <a:pPr marL="228600" indent="-228600">
              <a:buFont typeface="Arial"/>
              <a:buChar char="•"/>
            </a:pPr>
            <a:r>
              <a:rPr lang="fr-FR" dirty="0"/>
              <a:t>Recodage du vocabulaire en formes canoniques</a:t>
            </a:r>
          </a:p>
          <a:p>
            <a:pPr marL="228600" indent="-228600">
              <a:buFont typeface="Arial"/>
              <a:buChar char="•"/>
            </a:pPr>
            <a:r>
              <a:rPr lang="fr-FR" dirty="0"/>
              <a:t>Dédoublonnage : 40 lignes retirées — 5 240 → 5 200 lignes, 33 colonnes conservées</a:t>
            </a:r>
          </a:p>
          <a:p>
            <a:pPr marL="0" indent="0">
              <a:buNone/>
            </a:pPr>
            <a:endParaRPr lang="fr-FR" dirty="0"/>
          </a:p>
          <a:p>
            <a:pPr marL="0" indent="0">
              <a:buNone/>
            </a:pPr>
            <a:r>
              <a:rPr lang="fr-FR" b="1" dirty="0"/>
              <a:t>GOLD — EXCLUSIONS (6 colonnes)</a:t>
            </a:r>
          </a:p>
          <a:p>
            <a:pPr marL="228600" indent="-228600">
              <a:buFont typeface="Arial"/>
              <a:buChar char="•"/>
            </a:pPr>
            <a:r>
              <a:rPr lang="fr-FR" dirty="0"/>
              <a:t>Identifiants : student_id, id_dossier</a:t>
            </a:r>
          </a:p>
          <a:p>
            <a:pPr marL="228600" indent="-228600">
              <a:buFont typeface="Arial"/>
              <a:buChar char="•"/>
            </a:pPr>
            <a:r>
              <a:rPr lang="fr-FR" dirty="0"/>
              <a:t>Résultats de fin de S1 : moyenne_partiels_s1, nb_ue_validees_s1, commentaire_tuteur</a:t>
            </a:r>
          </a:p>
          <a:p>
            <a:pPr marL="228600" indent="-228600">
              <a:buFont typeface="Arial"/>
              <a:buChar char="•"/>
            </a:pPr>
            <a:r>
              <a:rPr lang="fr-FR" dirty="0"/>
              <a:t>Constante : annee_universitaire</a:t>
            </a:r>
          </a:p>
          <a:p>
            <a:pPr marL="0" indent="0">
              <a:buNone/>
            </a:pPr>
            <a:endParaRPr lang="fr-FR" dirty="0"/>
          </a:p>
          <a:p>
            <a:pPr marL="0" indent="0">
              <a:buNone/>
            </a:pPr>
            <a:r>
              <a:rPr lang="fr-FR" b="1" dirty="0"/>
              <a:t>GOLD — VARIABLES DÉRIVÉES (2)</a:t>
            </a:r>
          </a:p>
          <a:p>
            <a:pPr marL="228600" indent="-228600">
              <a:buFont typeface="Arial"/>
              <a:buChar char="•"/>
            </a:pPr>
            <a:r>
              <a:rPr lang="fr-FR" dirty="0"/>
              <a:t>taux_rendu = nb_devoirs_rendus / nb_devoirs_total (moyenne 0,811)</a:t>
            </a:r>
          </a:p>
          <a:p>
            <a:pPr marL="228600" indent="-228600">
              <a:buFont typeface="Arial"/>
              <a:buChar char="•"/>
            </a:pPr>
            <a:r>
              <a:rPr lang="fr-FR" dirty="0"/>
              <a:t>ratio_retards = retards_rendus / nb_devoirs_total (moyenne 0,365)</a:t>
            </a:r>
          </a:p>
          <a:p>
            <a:pPr marL="228600" indent="-228600">
              <a:buFont typeface="Arial"/>
              <a:buChar char="•"/>
            </a:pPr>
            <a:r>
              <a:rPr lang="fr-FR" dirty="0"/>
              <a:t>Dénominateur = total attendu, pour rester comparable d’un étudiant à l’autre</a:t>
            </a:r>
          </a:p>
          <a:p>
            <a:pPr marL="228600" indent="-228600">
              <a:buFont typeface="Arial"/>
              <a:buChar char="•"/>
            </a:pPr>
            <a:r>
              <a:rPr lang="fr-FR" dirty="0"/>
              <a:t>Forme finale : 5 200 × 29</a:t>
            </a:r>
          </a:p>
          <a:p>
            <a:pPr marL="0" indent="0">
              <a:buNone/>
            </a:pPr>
            <a:endParaRPr lang="fr-FR" dirty="0"/>
          </a:p>
          <a:p>
            <a:pPr marL="0" indent="0">
              <a:buNone/>
            </a:pPr>
            <a:r>
              <a:rPr lang="fr-FR" b="1" dirty="0"/>
              <a:t>NON FAIT À CE PALIER</a:t>
            </a:r>
          </a:p>
          <a:p>
            <a:pPr marL="228600" indent="-228600">
              <a:buFont typeface="Arial"/>
              <a:buChar char="•"/>
            </a:pPr>
            <a:r>
              <a:rPr lang="fr-FR" dirty="0"/>
              <a:t>Aucune imputation, aucun encodage, aucune mise à l’échelle — renvoyés au pipeline, train seul</a:t>
            </a:r>
          </a:p>
          <a:p>
            <a:pPr marL="228600" indent="-228600">
              <a:buFont typeface="Arial"/>
              <a:buChar char="•"/>
            </a:pPr>
            <a:r>
              <a:rPr lang="fr-FR" dirty="0"/>
              <a:t>Leurres, proxies et trio LMS conservés jusqu’au verdict d’ablation</a:t>
            </a:r>
          </a:p>
          <a:p>
            <a:pPr marL="228600" indent="-228600">
              <a:buFont typeface="Arial"/>
              <a:buChar char="•"/>
            </a:pPr>
            <a:r>
              <a:rPr lang="fr-FR" dirty="0"/>
              <a:t>Cibles conservées : le split X/y vient ensuite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fr-FR" sz="1200" b="1" dirty="0"/>
              <a:t>ÉTAPES RÉALISÉES</a:t>
            </a:r>
          </a:p>
          <a:p>
            <a:pPr marL="171450" indent="-171450">
              <a:buFont typeface="Arial"/>
              <a:buChar char="•"/>
            </a:pPr>
            <a:r>
              <a:rPr lang="fr-FR" sz="1200" dirty="0"/>
              <a:t>Split 80/20 stratifié, seed 42, test scellé mis de côté</a:t>
            </a:r>
          </a:p>
          <a:p>
            <a:pPr marL="171450" indent="-171450">
              <a:buFont typeface="Arial"/>
              <a:buChar char="•"/>
            </a:pPr>
            <a:r>
              <a:rPr lang="fr-FR" sz="1200" dirty="0"/>
              <a:t>Validation croisée 5 folds sur le train</a:t>
            </a:r>
          </a:p>
          <a:p>
            <a:pPr marL="171450" indent="-171450">
              <a:buFont typeface="Arial"/>
              <a:buChar char="•"/>
            </a:pPr>
            <a:r>
              <a:rPr lang="fr-FR" sz="1200" dirty="0"/>
              <a:t>Imputation et encodage placés dans le pipeline</a:t>
            </a:r>
          </a:p>
          <a:p>
            <a:pPr marL="171450" indent="-171450">
              <a:buFont typeface="Arial"/>
              <a:buChar char="•"/>
            </a:pPr>
            <a:r>
              <a:rPr lang="fr-FR" sz="1200" dirty="0"/>
              <a:t>Baseline puis comparaison de familles sur les deux cibles</a:t>
            </a:r>
          </a:p>
          <a:p>
            <a:pPr marL="171450" indent="-171450">
              <a:buFont typeface="Arial"/>
              <a:buChar char="•"/>
            </a:pPr>
            <a:r>
              <a:rPr lang="fr-FR" sz="1200" dirty="0"/>
              <a:t>Ablation bloc par bloc, jeu minimisé à 16 variables</a:t>
            </a:r>
          </a:p>
          <a:p>
            <a:pPr marL="171450" indent="-171450">
              <a:buFont typeface="Arial"/>
              <a:buChar char="•"/>
            </a:pPr>
            <a:r>
              <a:rPr lang="fr-FR" sz="1200" dirty="0"/>
              <a:t>Choix des modèles : logistique (abandon), gradient boosting (note)</a:t>
            </a:r>
          </a:p>
          <a:p>
            <a:pPr marL="171450" indent="-171450">
              <a:buFont typeface="Arial"/>
              <a:buChar char="•"/>
            </a:pPr>
            <a:r>
              <a:rPr lang="fr-FR" sz="1200" dirty="0"/>
              <a:t>Réglage borné sur le train, trois refus tracés</a:t>
            </a:r>
          </a:p>
          <a:p>
            <a:pPr marL="171450" indent="-171450">
              <a:buFont typeface="Arial"/>
              <a:buChar char="•"/>
            </a:pPr>
            <a:r>
              <a:rPr lang="fr-FR" sz="1200" dirty="0"/>
              <a:t>Seuil fixé par plancher de rappel 80 % → 0,42</a:t>
            </a:r>
          </a:p>
          <a:p>
            <a:pPr marL="171450" indent="-171450">
              <a:buFont typeface="Arial"/>
              <a:buChar char="•"/>
            </a:pPr>
            <a:r>
              <a:rPr lang="fr-FR" sz="1200" dirty="0"/>
              <a:t>Test scellé ouvert une seule fois pour la mesure finale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fr-FR" sz="1200" b="1" dirty="0"/>
              <a:t>PARTITION</a:t>
            </a:r>
          </a:p>
          <a:p>
            <a:pPr marL="171450" indent="-171450">
              <a:buFont typeface="Arial"/>
              <a:buChar char="•"/>
            </a:pPr>
            <a:r>
              <a:rPr lang="fr-FR" sz="1200" dirty="0"/>
              <a:t>Split stratifié 80/20 sur le gold, seed 42 — 4 160 / 1 040 lignes</a:t>
            </a:r>
          </a:p>
          <a:p>
            <a:pPr marL="171450" indent="-171450">
              <a:buFont typeface="Arial"/>
              <a:buChar char="•"/>
            </a:pPr>
            <a:r>
              <a:rPr lang="fr-FR" sz="1200" dirty="0"/>
              <a:t>Test scellé, isolé jusqu'à la mesure finale</a:t>
            </a:r>
          </a:p>
          <a:p>
            <a:pPr marL="0" indent="0">
              <a:buNone/>
            </a:pPr>
            <a:r>
              <a:rPr lang="fr-FR" sz="1200" b="1" dirty="0"/>
              <a:t>VALIDATION CROISÉE</a:t>
            </a:r>
          </a:p>
          <a:p>
            <a:pPr marL="171450" indent="-171450">
              <a:buFont typeface="Arial"/>
              <a:buChar char="•"/>
            </a:pPr>
            <a:r>
              <a:rPr lang="fr-FR" sz="1200" dirty="0"/>
              <a:t>5 folds stratifiés sur les 80 %, protocole identique pour toutes les familles</a:t>
            </a:r>
          </a:p>
          <a:p>
            <a:pPr marL="171450" indent="-171450">
              <a:buFont typeface="Arial"/>
              <a:buChar char="•"/>
            </a:pPr>
            <a:r>
              <a:rPr lang="fr-FR" sz="1200" dirty="0"/>
              <a:t>Pipeline (imputation, encodage, mise à l'échelle) ré-appris à chaque pli — pas de fuite</a:t>
            </a:r>
          </a:p>
          <a:p>
            <a:pPr marL="0" indent="0">
              <a:buNone/>
            </a:pPr>
            <a:r>
              <a:rPr lang="fr-FR" sz="1200" b="1" dirty="0"/>
              <a:t>IMPUTATION</a:t>
            </a:r>
          </a:p>
          <a:p>
            <a:pPr marL="171450" indent="-171450">
              <a:buFont typeface="Arial"/>
              <a:buChar char="•"/>
            </a:pPr>
            <a:r>
              <a:rPr lang="fr-FR" sz="1200" dirty="0"/>
              <a:t>Médiane sur les 17 numériques : valeur centrale robuste aux extrêmes</a:t>
            </a:r>
          </a:p>
          <a:p>
            <a:pPr marL="171450" indent="-171450">
              <a:buFont typeface="Arial"/>
              <a:buChar char="•"/>
            </a:pPr>
            <a:r>
              <a:rPr lang="fr-FR" sz="1200" dirty="0"/>
              <a:t>Absence ≠ 0 : ne pas avoir renseigné ses heures de travail n'est pas « 0 heure »</a:t>
            </a:r>
          </a:p>
          <a:p>
            <a:pPr marL="171450" indent="-171450">
              <a:buFont typeface="Arial"/>
              <a:buChar char="•"/>
            </a:pPr>
            <a:r>
              <a:rPr lang="fr-FR" sz="1200" dirty="0"/>
              <a:t>Médiane aussi pour mention_bac : une modalité « inconnu » ne s'ordonnerait pas dans l'échelle</a:t>
            </a:r>
          </a:p>
          <a:p>
            <a:pPr marL="0" indent="0">
              <a:buNone/>
            </a:pPr>
            <a:r>
              <a:rPr lang="fr-FR" sz="1200" b="1" dirty="0"/>
              <a:t>ENCODAGE</a:t>
            </a:r>
          </a:p>
          <a:p>
            <a:pPr marL="171450" indent="-171450">
              <a:buFont typeface="Arial"/>
              <a:buChar char="•"/>
            </a:pPr>
            <a:r>
              <a:rPr lang="fr-FR" sz="1200" dirty="0"/>
              <a:t>Ordinal pour mention_bac : l'ordre passable &lt; assez bien &lt; bien &lt; très bien porte l'information</a:t>
            </a:r>
          </a:p>
          <a:p>
            <a:pPr marL="171450" indent="-171450">
              <a:buFont typeface="Arial"/>
              <a:buChar char="•"/>
            </a:pPr>
            <a:r>
              <a:rPr lang="fr-FR" sz="1200" dirty="0"/>
              <a:t>One-hot pour les 6 nominales, vocabulaire déclaré d'avance dans preparation (pas déduit du train)</a:t>
            </a:r>
          </a:p>
          <a:p>
            <a:pPr marL="171450" indent="-171450">
              <a:buFont typeface="Arial"/>
              <a:buChar char="•"/>
            </a:pPr>
            <a:r>
              <a:rPr lang="fr-FR" sz="1200" dirty="0"/>
              <a:t>etablissement_origine absent codé en modalité « inconnu » — l'absence est un renseignement (D09)</a:t>
            </a:r>
          </a:p>
          <a:p>
            <a:pPr marL="0" indent="0">
              <a:buNone/>
            </a:pPr>
            <a:r>
              <a:rPr lang="fr-FR" sz="1200" b="1" dirty="0"/>
              <a:t>MISE À L'ÉCHELLE</a:t>
            </a:r>
          </a:p>
          <a:p>
            <a:pPr marL="171450" indent="-171450">
              <a:buFont typeface="Arial"/>
              <a:buChar char="•"/>
            </a:pPr>
            <a:r>
              <a:rPr lang="fr-FR" sz="1200" dirty="0"/>
              <a:t>Appliquée pour les modèles linéaires uniquement, inutile aux arbres</a:t>
            </a:r>
          </a:p>
          <a:p>
            <a:pPr marL="0" indent="0">
              <a:buNone/>
            </a:pPr>
            <a:r>
              <a:rPr lang="fr-FR" sz="1200" b="1" dirty="0"/>
              <a:t>RETRAITS DE LA MATRICE</a:t>
            </a:r>
          </a:p>
          <a:p>
            <a:pPr marL="171450" indent="-171450">
              <a:buFont typeface="Arial"/>
              <a:buChar char="•"/>
            </a:pPr>
            <a:r>
              <a:rPr lang="fr-FR" sz="1200" dirty="0"/>
              <a:t>abandon et moyenne_finale : cibles</a:t>
            </a:r>
          </a:p>
          <a:p>
            <a:pPr marL="171450" indent="-171450">
              <a:buFont typeface="Arial"/>
              <a:buChar char="•"/>
            </a:pPr>
            <a:r>
              <a:rPr lang="fr-FR" sz="1200" dirty="0"/>
              <a:t>sexe et boursier : variables protégées, hors modèle par principe (D13)</a:t>
            </a:r>
          </a:p>
          <a:p>
            <a:pPr marL="171450" indent="-171450">
              <a:buFont typeface="Arial"/>
              <a:buChar char="•"/>
            </a:pPr>
            <a:r>
              <a:rPr lang="fr-FR" sz="1200" dirty="0"/>
              <a:t>date_inscription : date brute inexploitable telle quelle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fr-FR" sz="1200" b="1" dirty="0"/>
              <a:t>ACTIONS RÉALISÉES</a:t>
            </a:r>
          </a:p>
          <a:p>
            <a:pPr marL="171450" indent="-171450">
              <a:buFont typeface="Arial"/>
              <a:buChar char="•"/>
            </a:pPr>
            <a:r>
              <a:rPr lang="fr-FR" sz="1200" dirty="0"/>
              <a:t>Entraînement de la baseline logistique sur le jeu complet (24 variables)</a:t>
            </a:r>
          </a:p>
          <a:p>
            <a:pPr marL="171450" indent="-171450">
              <a:buFont typeface="Arial"/>
              <a:buChar char="•"/>
            </a:pPr>
            <a:r>
              <a:rPr lang="fr-FR" sz="1200" dirty="0"/>
              <a:t>Comparaison forêt aléatoire et XGBoost aux mêmes plis</a:t>
            </a:r>
          </a:p>
          <a:p>
            <a:pPr marL="171450" indent="-171450">
              <a:buFont typeface="Arial"/>
              <a:buChar char="•"/>
            </a:pPr>
            <a:r>
              <a:rPr lang="fr-FR" sz="1200" dirty="0"/>
              <a:t>Lecture ROC-AUC et PR-AUC en moyenne par pli et en OOF regroupé</a:t>
            </a:r>
          </a:p>
          <a:p>
            <a:pPr marL="171450" indent="-171450">
              <a:buFont typeface="Arial"/>
              <a:buChar char="•"/>
            </a:pPr>
            <a:r>
              <a:rPr lang="fr-FR" sz="1200" dirty="0"/>
              <a:t>Contrôle de l'écart train / OOF pour chaque famille</a:t>
            </a:r>
          </a:p>
          <a:p>
            <a:pPr marL="171450" indent="-171450">
              <a:buFont typeface="Arial"/>
              <a:buChar char="•"/>
            </a:pPr>
            <a:r>
              <a:rPr lang="fr-FR" sz="1200" dirty="0"/>
              <a:t>Entraînement de la baseline Ridge sur la note finale</a:t>
            </a:r>
          </a:p>
          <a:p>
            <a:pPr marL="171450" indent="-171450">
              <a:buFont typeface="Arial"/>
              <a:buChar char="•"/>
            </a:pPr>
            <a:r>
              <a:rPr lang="fr-FR" sz="1200" dirty="0"/>
              <a:t>Comparaison forêt aléatoire et gradient boosting sur MAE, RMSE, R²</a:t>
            </a:r>
          </a:p>
          <a:p>
            <a:pPr marL="171450" indent="-171450">
              <a:buFont typeface="Arial"/>
              <a:buChar char="•"/>
            </a:pPr>
            <a:r>
              <a:rPr lang="fr-FR" sz="1200" dirty="0"/>
              <a:t>Bornage des prédictions de note à l'intervalle [0, 20]</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fr-FR" sz="1200" b="1" dirty="0"/>
              <a:t>ACTIONS RÉALISÉES</a:t>
            </a:r>
          </a:p>
          <a:p>
            <a:pPr marL="171450" indent="-171450">
              <a:buFont typeface="Arial"/>
              <a:buChar char="•"/>
            </a:pPr>
            <a:r>
              <a:rPr lang="fr-FR" sz="1200" dirty="0"/>
              <a:t>Définition des trois blocs : leurres, proxies, LMS redondantes</a:t>
            </a:r>
          </a:p>
          <a:p>
            <a:pPr marL="171450" indent="-171450">
              <a:buFont typeface="Arial"/>
              <a:buChar char="•"/>
            </a:pPr>
            <a:r>
              <a:rPr lang="fr-FR" sz="1200" dirty="0"/>
              <a:t>Ré-entraînement sans chaque bloc, aux mêmes plis</a:t>
            </a:r>
          </a:p>
          <a:p>
            <a:pPr marL="171450" indent="-171450">
              <a:buFont typeface="Arial"/>
              <a:buChar char="•"/>
            </a:pPr>
            <a:r>
              <a:rPr lang="fr-FR" sz="1200" dirty="0"/>
              <a:t>Mesure du coût de retrait en Δ ROC-AUC (abandon)</a:t>
            </a:r>
          </a:p>
          <a:p>
            <a:pPr marL="171450" indent="-171450">
              <a:buFont typeface="Arial"/>
              <a:buChar char="•"/>
            </a:pPr>
            <a:r>
              <a:rPr lang="fr-FR" sz="1200" dirty="0"/>
              <a:t>Mesure du coût de retrait en Δ MAE et Δ RMSE (note)</a:t>
            </a:r>
          </a:p>
          <a:p>
            <a:pPr marL="171450" indent="-171450">
              <a:buFont typeface="Arial"/>
              <a:buChar char="•"/>
            </a:pPr>
            <a:r>
              <a:rPr lang="fr-FR" sz="1200" dirty="0"/>
              <a:t>Ré-entraînement du scénario minimisé à 16 variables</a:t>
            </a:r>
          </a:p>
          <a:p>
            <a:pPr marL="171450" indent="-171450">
              <a:buFont typeface="Arial"/>
              <a:buChar char="•"/>
            </a:pPr>
            <a:r>
              <a:rPr lang="fr-FR" sz="1200" dirty="0"/>
              <a:t>Retenue du jeu minimisé pour les deux cibles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fr-FR" sz="1200" b="1" dirty="0"/>
              <a:t>ACTIONS RÉALISÉES</a:t>
            </a:r>
          </a:p>
          <a:p>
            <a:pPr marL="171450" indent="-171450">
              <a:buFont typeface="Arial"/>
              <a:buChar char="•"/>
            </a:pPr>
            <a:r>
              <a:rPr lang="fr-FR" sz="1200" dirty="0"/>
              <a:t>Balayage des seuils de 0,05 à 0,95 sur les probabilités OOF</a:t>
            </a:r>
          </a:p>
          <a:p>
            <a:pPr marL="171450" indent="-171450">
              <a:buFont typeface="Arial"/>
              <a:buChar char="•"/>
            </a:pPr>
            <a:r>
              <a:rPr lang="fr-FR" sz="1200" dirty="0"/>
              <a:t>Calcul rappel, précision, F2, volume d'alertes par seuil</a:t>
            </a:r>
          </a:p>
          <a:p>
            <a:pPr marL="171450" indent="-171450">
              <a:buFont typeface="Arial"/>
              <a:buChar char="•"/>
            </a:pPr>
            <a:r>
              <a:rPr lang="fr-FR" sz="1200" dirty="0"/>
              <a:t>Localisation des trois planchers de rappel : 80 %, 90 %, 95 %</a:t>
            </a:r>
          </a:p>
          <a:p>
            <a:pPr marL="171450" indent="-171450">
              <a:buFont typeface="Arial"/>
              <a:buChar char="•"/>
            </a:pPr>
            <a:r>
              <a:rPr lang="fr-FR" sz="1200" dirty="0"/>
              <a:t>Retenue du plancher 80 % → seuil 0,42</a:t>
            </a:r>
          </a:p>
          <a:p>
            <a:pPr marL="171450" indent="-171450">
              <a:buFont typeface="Arial"/>
              <a:buChar char="•"/>
            </a:pPr>
            <a:r>
              <a:rPr lang="fr-FR" sz="1200" dirty="0"/>
              <a:t>Contrôle du volume : 29,0 % de la promotion signalée</a:t>
            </a:r>
          </a:p>
          <a:p>
            <a:pPr marL="171450" indent="-171450">
              <a:buFont typeface="Arial"/>
              <a:buChar char="•"/>
            </a:pPr>
            <a:r>
              <a:rPr lang="fr-FR" sz="1200" dirty="0"/>
              <a:t>Tracé des matrices de confusion aux trois seuils</a:t>
            </a:r>
          </a:p>
          <a:p>
            <a:pPr marL="171450" indent="-171450">
              <a:buFont typeface="Arial"/>
              <a:buChar char="•"/>
            </a:pPr>
            <a:r>
              <a:rPr lang="fr-FR" sz="1200" dirty="0"/>
              <a:t>Inscription du seuil dans la fiche du modèle, surchargeable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r>
              <a:rPr lang="fr-FR" sz="1200" b="1" dirty="0"/>
              <a:t>ACTIONS RÉALISÉES</a:t>
            </a:r>
          </a:p>
          <a:p>
            <a:pPr marL="171450" indent="-171450">
              <a:buFont typeface="Arial"/>
              <a:buChar char="•"/>
            </a:pPr>
            <a:r>
              <a:rPr lang="fr-FR" sz="1200" dirty="0"/>
              <a:t>Ouverture du test scellé en une seule passe, sur l'artefact déployable</a:t>
            </a:r>
          </a:p>
          <a:p>
            <a:pPr marL="171450" indent="-171450">
              <a:buFont typeface="Arial"/>
              <a:buChar char="•"/>
            </a:pPr>
            <a:r>
              <a:rPr lang="fr-FR" sz="1200" dirty="0"/>
              <a:t>Contrôle d'égalité artefact / modèle entraîné avant mesure</a:t>
            </a:r>
          </a:p>
          <a:p>
            <a:pPr marL="171450" indent="-171450">
              <a:buFont typeface="Arial"/>
              <a:buChar char="•"/>
            </a:pPr>
            <a:r>
              <a:rPr lang="fr-FR" sz="1200" dirty="0"/>
              <a:t>Mesure ROC-AUC et PR-AUC sur le test, tracé des courbes</a:t>
            </a:r>
          </a:p>
          <a:p>
            <a:pPr marL="171450" indent="-171450">
              <a:buFont typeface="Arial"/>
              <a:buChar char="•"/>
            </a:pPr>
            <a:r>
              <a:rPr lang="fr-FR" sz="1200" dirty="0"/>
              <a:t>Mesure du Brier et tracé de la courbe de calibration</a:t>
            </a:r>
          </a:p>
          <a:p>
            <a:pPr marL="171450" indent="-171450">
              <a:buFont typeface="Arial"/>
              <a:buChar char="•"/>
            </a:pPr>
            <a:r>
              <a:rPr lang="fr-FR" sz="1200" dirty="0"/>
              <a:t>Application du seuil 0,42 fixé sur l'OOF, sans recalage</a:t>
            </a:r>
          </a:p>
          <a:p>
            <a:pPr marL="171450" indent="-171450">
              <a:buFont typeface="Arial"/>
              <a:buChar char="•"/>
            </a:pPr>
            <a:r>
              <a:rPr lang="fr-FR" sz="1200" dirty="0"/>
              <a:t>Calcul du point de fonctionnement : rappel, précision, F1, F2, volumes</a:t>
            </a:r>
          </a:p>
          <a:p>
            <a:pPr marL="171450" indent="-171450">
              <a:buFont typeface="Arial"/>
              <a:buChar char="•"/>
            </a:pPr>
            <a:r>
              <a:rPr lang="fr-FR" sz="1200" dirty="0"/>
              <a:t>Mesure de la note finale sur le test : MAE, RMSE, R²</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endParaRPr lang="fr-FR" sz="12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marL="0" indent="0">
              <a:buNone/>
            </a:pPr>
            <a:endParaRPr lang="fr-FR" sz="12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indent="0" algn="l">
              <a:buNone/>
            </a:pPr>
            <a:r>
              <a:rPr lang="fr-FR" sz="1400" b="1" dirty="0"/>
              <a:t>MESSAGE — TROIS CHOSES À RETENIR</a:t>
            </a:r>
          </a:p>
          <a:p>
            <a:pPr marL="228600" indent="-228600" algn="l">
              <a:buFont typeface="Arial"/>
              <a:buChar char="•"/>
            </a:pPr>
            <a:r>
              <a:rPr lang="fr-FR" sz="1400" dirty="0"/>
              <a:t>Le service ne conserve rien</a:t>
            </a:r>
          </a:p>
          <a:p>
            <a:pPr marL="228600" indent="-228600" algn="l">
              <a:buFont typeface="Arial"/>
              <a:buChar char="•"/>
            </a:pPr>
            <a:r>
              <a:rPr lang="fr-FR" sz="1400" dirty="0"/>
              <a:t>Il ne tranche pas : la décision reste humaine</a:t>
            </a:r>
          </a:p>
          <a:p>
            <a:pPr marL="228600" indent="-228600" algn="l">
              <a:buFont typeface="Arial"/>
              <a:buChar char="•"/>
            </a:pPr>
            <a:r>
              <a:rPr lang="fr-FR" sz="1400" dirty="0"/>
              <a:t>Il se règle sans ré-entraînement en cours de campagne</a:t>
            </a:r>
          </a:p>
          <a:p>
            <a:pPr marL="0" indent="0">
              <a:buNone/>
            </a:pPr>
            <a:endParaRPr lang="fr-FR" sz="1400" dirty="0"/>
          </a:p>
          <a:p>
            <a:pPr marL="0" indent="0" algn="l">
              <a:buNone/>
            </a:pPr>
            <a:r>
              <a:rPr lang="fr-FR" sz="1400" b="1" dirty="0"/>
              <a:t>LIVRÉ V1 — CE QUI FAIT AUTORITÉ</a:t>
            </a:r>
          </a:p>
          <a:p>
            <a:pPr marL="228600" indent="-228600" algn="l">
              <a:buFont typeface="Arial"/>
              <a:buChar char="•"/>
            </a:pPr>
            <a:r>
              <a:rPr lang="fr-FR" sz="1400" dirty="0"/>
              <a:t>API d'inférence FastAPI, POST /v1/predict-cohorte, authentification par X-API-Key</a:t>
            </a:r>
          </a:p>
          <a:p>
            <a:pPr marL="228600" indent="-228600" algn="l">
              <a:buFont typeface="Arial"/>
              <a:buChar char="•"/>
            </a:pPr>
            <a:r>
              <a:rPr lang="fr-FR" sz="1400" dirty="0"/>
              <a:t>Réponse : probabilité, note, top facteurs, indicateurs de dérive PSI/KS</a:t>
            </a:r>
          </a:p>
          <a:p>
            <a:pPr marL="228600" indent="-228600" algn="l">
              <a:buFont typeface="Arial"/>
              <a:buChar char="•"/>
            </a:pPr>
            <a:r>
              <a:rPr lang="fr-FR" sz="1400" dirty="0"/>
              <a:t>Artefacts modèle montés en lecture seule : classifieur, régresseur, fiche (§10)</a:t>
            </a:r>
          </a:p>
          <a:p>
            <a:pPr marL="228600" indent="-228600" algn="l">
              <a:buFont typeface="Arial"/>
              <a:buChar char="•"/>
            </a:pPr>
            <a:r>
              <a:rPr lang="fr-FR" sz="1400" dirty="0"/>
              <a:t>7 règles d'alerte définies dans regles.yml</a:t>
            </a:r>
          </a:p>
          <a:p>
            <a:pPr marL="228600" indent="-228600" algn="l">
              <a:buFont typeface="Arial"/>
              <a:buChar char="•"/>
            </a:pPr>
            <a:r>
              <a:rPr lang="fr-FR" sz="1400" dirty="0"/>
              <a:t>Supervision : prometheus scrape /metrics toutes les 15 s, rétention TSDB 15 jours</a:t>
            </a:r>
          </a:p>
          <a:p>
            <a:pPr marL="228600" indent="-228600" algn="l">
              <a:buFont typeface="Arial"/>
              <a:buChar char="•"/>
            </a:pPr>
            <a:r>
              <a:rPr lang="fr-FR" sz="1400" dirty="0"/>
              <a:t>grafana : datasource et dashboards provisionnés</a:t>
            </a:r>
          </a:p>
          <a:p>
            <a:pPr marL="0" indent="0">
              <a:buNone/>
            </a:pPr>
            <a:endParaRPr lang="fr-FR" sz="1400" dirty="0"/>
          </a:p>
          <a:p>
            <a:pPr marL="0" indent="0" algn="l">
              <a:buNone/>
            </a:pPr>
            <a:r>
              <a:rPr lang="fr-FR" sz="1400" b="1" dirty="0"/>
              <a:t>À CÂBLER — HORS PÉRIMÈTRE LIVRÉ (§14.3)</a:t>
            </a:r>
          </a:p>
          <a:p>
            <a:pPr marL="228600" indent="-228600" algn="l">
              <a:buFont typeface="Arial"/>
              <a:buChar char="•"/>
            </a:pPr>
            <a:r>
              <a:rPr lang="fr-FR" sz="1400" dirty="0"/>
              <a:t>Connecteur SI / mapping vers le contrat PredictEtudiantForm — point dur : le mapping des colonnes, pas le transport</a:t>
            </a:r>
          </a:p>
          <a:p>
            <a:pPr marL="228600" indent="-228600" algn="l">
              <a:buFont typeface="Arial"/>
              <a:buChar char="•"/>
            </a:pPr>
            <a:r>
              <a:rPr lang="fr-FR" sz="1400" dirty="0"/>
              <a:t>Gateway + TLS : entrée unique chiffrée devant l'API</a:t>
            </a:r>
          </a:p>
          <a:p>
            <a:pPr marL="228600" indent="-228600" algn="l">
              <a:buFont typeface="Arial"/>
              <a:buChar char="•"/>
            </a:pPr>
            <a:r>
              <a:rPr lang="fr-FR" sz="1400" dirty="0"/>
              <a:t>IAM : OAuth2 client-credentials ou mTLS pour le SI, OIDC/SSO pour l'accès humain — X-API-Key reste le repli V1</a:t>
            </a:r>
          </a:p>
          <a:p>
            <a:pPr marL="228600" indent="-228600" algn="l">
              <a:buFont typeface="Arial"/>
              <a:buChar char="•"/>
            </a:pPr>
            <a:r>
              <a:rPr lang="fr-FR" sz="1400" dirty="0"/>
              <a:t>Alertmanager : routage des 7 règles vers mail / Teams / webhook — choix d'établissement (D37)</a:t>
            </a:r>
          </a:p>
          <a:p>
            <a:pPr marL="0" indent="0">
              <a:buNone/>
            </a:pPr>
            <a:endParaRPr lang="fr-FR" sz="1400" dirty="0"/>
          </a:p>
          <a:p>
            <a:pPr marL="0" indent="0" algn="l">
              <a:buNone/>
            </a:pPr>
            <a:r>
              <a:rPr lang="fr-FR" sz="1400" b="1" dirty="0"/>
              <a:t>À DIRE</a:t>
            </a:r>
          </a:p>
          <a:p>
            <a:pPr marL="228600" indent="-228600" algn="l">
              <a:buFont typeface="Arial"/>
              <a:buChar char="•"/>
            </a:pPr>
            <a:r>
              <a:rPr lang="fr-FR" sz="1400" dirty="0"/>
              <a:t>Un export batch annuel suffit : une seule campagne en mi-S1, pas de temps réel</a:t>
            </a:r>
          </a:p>
          <a:p>
            <a:pPr marL="228600" indent="-228600" algn="l">
              <a:buFont typeface="Arial"/>
              <a:buChar char="•"/>
            </a:pPr>
            <a:r>
              <a:rPr lang="fr-FR" sz="1400" dirty="0"/>
              <a:t>La décision d'accompagnement reste humaine (art. 22)</a:t>
            </a:r>
          </a:p>
          <a:p>
            <a:pPr marL="228600" indent="-228600" algn="l">
              <a:buFont typeface="Arial"/>
              <a:buChar char="•"/>
            </a:pPr>
            <a:r>
              <a:rPr lang="fr-FR" sz="1400" dirty="0"/>
              <a:t>Ces quatre briques ne figurent pas dans le notebook : ce sont des propositions, d'où l'ambre pointillé</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Espace réservé des notes 2"/>
          <p:cNvSpPr>
            <a:spLocks noGrp="1"/>
          </p:cNvSpPr>
          <p:nvPr>
            <p:ph type="body" idx="1"/>
          </p:nvPr>
        </p:nvSpPr>
        <p:spPr>
          <a:xfrm>
            <a:off x="685800" y="4400550"/>
            <a:ext cx="5486400" cy="3600450"/>
          </a:xfrm>
          <a:prstGeom prst="rect">
            <a:avLst/>
          </a:prstGeom>
        </p:spPr>
        <p:txBody>
          <a:bodyPr/>
          <a:lstStyle/>
          <a:p>
            <a:endParaRPr lang="fr-FR" dirty="0"/>
          </a:p>
        </p:txBody>
      </p:sp>
    </p:spTree>
    <p:extLst>
      <p:ext uri="{BB962C8B-B14F-4D97-AF65-F5344CB8AC3E}">
        <p14:creationId xmlns:p14="http://schemas.microsoft.com/office/powerpoint/2010/main" val="35873502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Espace réservé des notes 2"/>
          <p:cNvSpPr>
            <a:spLocks noGrp="1"/>
          </p:cNvSpPr>
          <p:nvPr>
            <p:ph type="body" idx="1"/>
          </p:nvPr>
        </p:nvSpPr>
        <p:spPr>
          <a:xfrm>
            <a:off x="685800" y="4400550"/>
            <a:ext cx="5486400" cy="3600450"/>
          </a:xfrm>
          <a:prstGeom prst="rect">
            <a:avLst/>
          </a:prstGeom>
        </p:spPr>
        <p:txBody>
          <a:bodyPr/>
          <a:lstStyle/>
          <a:p>
            <a:endParaRPr lang="fr-FR" dirty="0"/>
          </a:p>
        </p:txBody>
      </p:sp>
    </p:spTree>
    <p:extLst>
      <p:ext uri="{BB962C8B-B14F-4D97-AF65-F5344CB8AC3E}">
        <p14:creationId xmlns:p14="http://schemas.microsoft.com/office/powerpoint/2010/main" val="35091612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Espace réservé des notes 2"/>
          <p:cNvSpPr>
            <a:spLocks noGrp="1"/>
          </p:cNvSpPr>
          <p:nvPr>
            <p:ph type="body" idx="1"/>
          </p:nvPr>
        </p:nvSpPr>
        <p:spPr>
          <a:xfrm>
            <a:off x="685800" y="4400550"/>
            <a:ext cx="5486400" cy="3600450"/>
          </a:xfrm>
          <a:prstGeom prst="rect">
            <a:avLst/>
          </a:prstGeom>
        </p:spPr>
        <p:txBody>
          <a:bodyPr/>
          <a:lstStyle/>
          <a:p>
            <a:endParaRPr lang="fr-FR" dirty="0"/>
          </a:p>
        </p:txBody>
      </p:sp>
    </p:spTree>
    <p:extLst>
      <p:ext uri="{BB962C8B-B14F-4D97-AF65-F5344CB8AC3E}">
        <p14:creationId xmlns:p14="http://schemas.microsoft.com/office/powerpoint/2010/main" val="35873502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87F41-0B83-4910-7B83-B0B46611564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0BAA41-26DC-301F-D229-52E4AAAA28C0}"/>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Espace réservé des notes 2">
            <a:extLst>
              <a:ext uri="{FF2B5EF4-FFF2-40B4-BE49-F238E27FC236}">
                <a16:creationId xmlns:a16="http://schemas.microsoft.com/office/drawing/2014/main" id="{0E8FA0E9-E19A-D695-19DA-2C51B6F8E8DB}"/>
              </a:ext>
            </a:extLst>
          </p:cNvPr>
          <p:cNvSpPr>
            <a:spLocks noGrp="1"/>
          </p:cNvSpPr>
          <p:nvPr>
            <p:ph type="body" idx="1"/>
          </p:nvPr>
        </p:nvSpPr>
        <p:spPr>
          <a:xfrm>
            <a:off x="685800" y="4400550"/>
            <a:ext cx="5486400" cy="3600450"/>
          </a:xfrm>
          <a:prstGeom prst="rect">
            <a:avLst/>
          </a:prstGeom>
        </p:spPr>
        <p:txBody>
          <a:bodyPr/>
          <a:lstStyle/>
          <a:p>
            <a:endParaRPr lang="fr-FR" dirty="0"/>
          </a:p>
        </p:txBody>
      </p:sp>
    </p:spTree>
    <p:extLst>
      <p:ext uri="{BB962C8B-B14F-4D97-AF65-F5344CB8AC3E}">
        <p14:creationId xmlns:p14="http://schemas.microsoft.com/office/powerpoint/2010/main" val="2402123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slide" Target="slide17.xml"/><Relationship Id="rId4" Type="http://schemas.openxmlformats.org/officeDocument/2006/relationships/slide" Target="slide16.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slide" Target="slide14.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slide" Target="slide14.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slide" Target="slide25.xml"/><Relationship Id="rId3" Type="http://schemas.openxmlformats.org/officeDocument/2006/relationships/slide" Target="slide20.xml"/><Relationship Id="rId7" Type="http://schemas.openxmlformats.org/officeDocument/2006/relationships/slide" Target="slide24.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slide" Target="slide23.xml"/><Relationship Id="rId5" Type="http://schemas.openxmlformats.org/officeDocument/2006/relationships/slide" Target="slide22.xml"/><Relationship Id="rId4" Type="http://schemas.openxmlformats.org/officeDocument/2006/relationships/slide" Target="slide21.xml"/><Relationship Id="rId9" Type="http://schemas.openxmlformats.org/officeDocument/2006/relationships/image" Target="../media/image7.svg"/></Relationships>
</file>

<file path=ppt/slides/_rels/slide20.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slide" Target="slide19.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slide" Target="slide19.xml"/></Relationships>
</file>

<file path=ppt/slides/_rels/slide23.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slide" Target="slide19.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slide" Target="slide19.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slide" Target="slide19.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2001500" y="0"/>
            <a:ext cx="6286500" cy="1028700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3" name="Oval 2"/>
          <p:cNvSpPr/>
          <p:nvPr/>
        </p:nvSpPr>
        <p:spPr>
          <a:xfrm>
            <a:off x="10477500" y="7772400"/>
            <a:ext cx="4038600" cy="4038600"/>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pic>
        <p:nvPicPr>
          <p:cNvPr id="4" name="Picture 3" descr="logo-white.png"/>
          <p:cNvPicPr>
            <a:picLocks noChangeAspect="1"/>
          </p:cNvPicPr>
          <p:nvPr/>
        </p:nvPicPr>
        <p:blipFill>
          <a:blip r:embed="rId3"/>
          <a:stretch>
            <a:fillRect/>
          </a:stretch>
        </p:blipFill>
        <p:spPr>
          <a:xfrm>
            <a:off x="13716000" y="3714750"/>
            <a:ext cx="2857500" cy="2857500"/>
          </a:xfrm>
          <a:prstGeom prst="rect">
            <a:avLst/>
          </a:prstGeom>
        </p:spPr>
      </p:pic>
      <p:pic>
        <p:nvPicPr>
          <p:cNvPr id="5" name="Picture 4" descr="logo-teal.png"/>
          <p:cNvPicPr>
            <a:picLocks noChangeAspect="1"/>
          </p:cNvPicPr>
          <p:nvPr/>
        </p:nvPicPr>
        <p:blipFill>
          <a:blip r:embed="rId4"/>
          <a:stretch>
            <a:fillRect/>
          </a:stretch>
        </p:blipFill>
        <p:spPr>
          <a:xfrm>
            <a:off x="1047750" y="1047750"/>
            <a:ext cx="381000" cy="381000"/>
          </a:xfrm>
          <a:prstGeom prst="rect">
            <a:avLst/>
          </a:prstGeom>
        </p:spPr>
      </p:pic>
      <p:sp>
        <p:nvSpPr>
          <p:cNvPr id="6" name="TextBox 5"/>
          <p:cNvSpPr txBox="1"/>
          <p:nvPr/>
        </p:nvSpPr>
        <p:spPr>
          <a:xfrm>
            <a:off x="1619249" y="1104900"/>
            <a:ext cx="8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SOUTENANCE DE CERTIFICATION CISIA</a:t>
            </a:r>
          </a:p>
        </p:txBody>
      </p:sp>
      <p:sp>
        <p:nvSpPr>
          <p:cNvPr id="7" name="Rectangle 6"/>
          <p:cNvSpPr/>
          <p:nvPr/>
        </p:nvSpPr>
        <p:spPr>
          <a:xfrm>
            <a:off x="1047750" y="2343150"/>
            <a:ext cx="1143000" cy="28575"/>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8" name="TextBox 7"/>
          <p:cNvSpPr txBox="1"/>
          <p:nvPr/>
        </p:nvSpPr>
        <p:spPr>
          <a:xfrm>
            <a:off x="1047750" y="2752725"/>
            <a:ext cx="10006965" cy="2058888"/>
          </a:xfrm>
          <a:prstGeom prst="rect">
            <a:avLst/>
          </a:prstGeom>
          <a:noFill/>
        </p:spPr>
        <p:txBody>
          <a:bodyPr wrap="square" lIns="27432" tIns="27432" rIns="27432" bIns="27432" anchor="t">
            <a:noAutofit/>
          </a:bodyPr>
          <a:lstStyle/>
          <a:p>
            <a:pPr algn="l">
              <a:lnSpc>
                <a:spcPct val="72660"/>
              </a:lnSpc>
            </a:pPr>
            <a:r>
              <a:rPr lang="fr-FR" sz="7800" b="1" spc="-117" noProof="0" dirty="0">
                <a:solidFill>
                  <a:srgbClr val="000000"/>
                </a:solidFill>
                <a:latin typeface="Arial"/>
              </a:rPr>
              <a:t>Détection précoce du décrochage en L1</a:t>
            </a:r>
          </a:p>
        </p:txBody>
      </p:sp>
      <p:sp>
        <p:nvSpPr>
          <p:cNvPr id="9" name="TextBox 8"/>
          <p:cNvSpPr txBox="1"/>
          <p:nvPr/>
        </p:nvSpPr>
        <p:spPr>
          <a:xfrm>
            <a:off x="1047750" y="5154513"/>
            <a:ext cx="8829675" cy="1084976"/>
          </a:xfrm>
          <a:prstGeom prst="rect">
            <a:avLst/>
          </a:prstGeom>
          <a:noFill/>
        </p:spPr>
        <p:txBody>
          <a:bodyPr wrap="square" lIns="27432" tIns="27432" rIns="27432" bIns="27432" anchor="t">
            <a:noAutofit/>
          </a:bodyPr>
          <a:lstStyle/>
          <a:p>
            <a:pPr algn="l">
              <a:lnSpc>
                <a:spcPct val="130770"/>
              </a:lnSpc>
            </a:pPr>
            <a:r>
              <a:rPr lang="fr-FR" sz="2550" b="0" noProof="0" dirty="0">
                <a:solidFill>
                  <a:srgbClr val="4A4A4A"/>
                </a:solidFill>
                <a:latin typeface="Arial"/>
              </a:rPr>
              <a:t>Concevoir et implémenter une solution d'intelligence artificielle — compétences C1 à C9.</a:t>
            </a:r>
          </a:p>
        </p:txBody>
      </p:sp>
      <p:sp>
        <p:nvSpPr>
          <p:cNvPr id="10" name="Rectangle 9"/>
          <p:cNvSpPr/>
          <p:nvPr/>
        </p:nvSpPr>
        <p:spPr>
          <a:xfrm>
            <a:off x="1047750" y="8524875"/>
            <a:ext cx="10096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1" name="TextBox 10"/>
          <p:cNvSpPr txBox="1"/>
          <p:nvPr/>
        </p:nvSpPr>
        <p:spPr>
          <a:xfrm>
            <a:off x="1047750" y="8915400"/>
            <a:ext cx="3600000" cy="304800"/>
          </a:xfrm>
          <a:prstGeom prst="rect">
            <a:avLst/>
          </a:prstGeom>
          <a:noFill/>
        </p:spPr>
        <p:txBody>
          <a:bodyPr wrap="square" lIns="27432" tIns="27432" rIns="27432" bIns="27432" anchor="t">
            <a:noAutofit/>
          </a:bodyPr>
          <a:lstStyle/>
          <a:p>
            <a:pPr algn="l"/>
            <a:r>
              <a:rPr lang="fr-FR" sz="1800" b="1" spc="162" noProof="0" dirty="0">
                <a:solidFill>
                  <a:srgbClr val="878787"/>
                </a:solidFill>
                <a:latin typeface="Arial"/>
              </a:rPr>
              <a:t>CANDIDAT</a:t>
            </a:r>
          </a:p>
        </p:txBody>
      </p:sp>
      <p:sp>
        <p:nvSpPr>
          <p:cNvPr id="12" name="TextBox 11"/>
          <p:cNvSpPr txBox="1"/>
          <p:nvPr/>
        </p:nvSpPr>
        <p:spPr>
          <a:xfrm>
            <a:off x="1047750" y="9277350"/>
            <a:ext cx="3600000" cy="361950"/>
          </a:xfrm>
          <a:prstGeom prst="rect">
            <a:avLst/>
          </a:prstGeom>
          <a:noFill/>
        </p:spPr>
        <p:txBody>
          <a:bodyPr wrap="square" lIns="27432" tIns="27432" rIns="27432" bIns="27432" anchor="t">
            <a:noAutofit/>
          </a:bodyPr>
          <a:lstStyle/>
          <a:p>
            <a:pPr algn="l"/>
            <a:r>
              <a:rPr lang="fr-FR" sz="2250" b="1" noProof="0" dirty="0">
                <a:solidFill>
                  <a:srgbClr val="000000"/>
                </a:solidFill>
                <a:latin typeface="Arial"/>
              </a:rPr>
              <a:t>ALBURQUERQUE Julien</a:t>
            </a:r>
          </a:p>
        </p:txBody>
      </p:sp>
      <p:sp>
        <p:nvSpPr>
          <p:cNvPr id="13" name="TextBox 12"/>
          <p:cNvSpPr txBox="1"/>
          <p:nvPr/>
        </p:nvSpPr>
        <p:spPr>
          <a:xfrm>
            <a:off x="4647750" y="8915400"/>
            <a:ext cx="3600000" cy="304800"/>
          </a:xfrm>
          <a:prstGeom prst="rect">
            <a:avLst/>
          </a:prstGeom>
          <a:noFill/>
        </p:spPr>
        <p:txBody>
          <a:bodyPr wrap="square" lIns="27432" tIns="27432" rIns="27432" bIns="27432" anchor="t">
            <a:noAutofit/>
          </a:bodyPr>
          <a:lstStyle/>
          <a:p>
            <a:pPr algn="l"/>
            <a:r>
              <a:rPr lang="fr-FR" sz="1800" b="1" spc="162" noProof="0" dirty="0">
                <a:solidFill>
                  <a:srgbClr val="878787"/>
                </a:solidFill>
                <a:latin typeface="Arial"/>
              </a:rPr>
              <a:t>SOUTENANCE</a:t>
            </a:r>
          </a:p>
        </p:txBody>
      </p:sp>
      <p:sp>
        <p:nvSpPr>
          <p:cNvPr id="14" name="TextBox 13"/>
          <p:cNvSpPr txBox="1"/>
          <p:nvPr/>
        </p:nvSpPr>
        <p:spPr>
          <a:xfrm>
            <a:off x="4647750" y="9277350"/>
            <a:ext cx="3600000" cy="361950"/>
          </a:xfrm>
          <a:prstGeom prst="rect">
            <a:avLst/>
          </a:prstGeom>
          <a:noFill/>
        </p:spPr>
        <p:txBody>
          <a:bodyPr wrap="square" lIns="27432" tIns="27432" rIns="27432" bIns="27432" anchor="t">
            <a:noAutofit/>
          </a:bodyPr>
          <a:lstStyle/>
          <a:p>
            <a:pPr algn="l"/>
            <a:r>
              <a:rPr lang="fr-FR" sz="2250" b="1" noProof="0" dirty="0">
                <a:solidFill>
                  <a:srgbClr val="000000"/>
                </a:solidFill>
                <a:latin typeface="Arial"/>
              </a:rPr>
              <a:t>1er septembre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teal.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PROGRAMME DE LA PRÉSENTATION</a:t>
            </a:r>
          </a:p>
        </p:txBody>
      </p:sp>
      <p:sp>
        <p:nvSpPr>
          <p:cNvPr id="4" name="TextBox 3"/>
          <p:cNvSpPr txBox="1"/>
          <p:nvPr/>
        </p:nvSpPr>
        <p:spPr>
          <a:xfrm>
            <a:off x="1047750" y="1619250"/>
            <a:ext cx="16192500" cy="760000"/>
          </a:xfrm>
          <a:prstGeom prst="rect">
            <a:avLst/>
          </a:prstGeom>
          <a:noFill/>
        </p:spPr>
        <p:txBody>
          <a:bodyPr wrap="square" lIns="27432" tIns="27432" rIns="27432" bIns="27432" anchor="t">
            <a:noAutofit/>
          </a:bodyPr>
          <a:lstStyle/>
          <a:p>
            <a:pPr algn="l">
              <a:lnSpc>
                <a:spcPct val="100000"/>
              </a:lnSpc>
            </a:pPr>
            <a:r>
              <a:rPr lang="fr-FR" sz="4500" b="1" spc="-45" noProof="0" dirty="0">
                <a:solidFill>
                  <a:srgbClr val="000000"/>
                </a:solidFill>
                <a:latin typeface="Arial"/>
              </a:rPr>
              <a:t>Sommaire</a:t>
            </a:r>
          </a:p>
        </p:txBody>
      </p:sp>
      <p:sp>
        <p:nvSpPr>
          <p:cNvPr id="5" name="Rectangle 4"/>
          <p:cNvSpPr/>
          <p:nvPr/>
        </p:nvSpPr>
        <p:spPr>
          <a:xfrm>
            <a:off x="1047750" y="2843213"/>
            <a:ext cx="78581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6" name="TextBox 5"/>
          <p:cNvSpPr txBox="1"/>
          <p:nvPr/>
        </p:nvSpPr>
        <p:spPr>
          <a:xfrm>
            <a:off x="1047750" y="3090863"/>
            <a:ext cx="700000" cy="419100"/>
          </a:xfrm>
          <a:prstGeom prst="rect">
            <a:avLst/>
          </a:prstGeom>
          <a:noFill/>
        </p:spPr>
        <p:txBody>
          <a:bodyPr wrap="square" lIns="27432" tIns="27432" rIns="27432" bIns="27432" anchor="t">
            <a:noAutofit/>
          </a:bodyPr>
          <a:lstStyle/>
          <a:p>
            <a:pPr algn="l"/>
            <a:r>
              <a:rPr lang="fr-FR" sz="2550" b="1" noProof="0" dirty="0">
                <a:solidFill>
                  <a:srgbClr val="56B9CA"/>
                </a:solidFill>
                <a:latin typeface="Arial"/>
              </a:rPr>
              <a:t>01</a:t>
            </a:r>
          </a:p>
        </p:txBody>
      </p:sp>
      <p:sp>
        <p:nvSpPr>
          <p:cNvPr id="7" name="TextBox 6"/>
          <p:cNvSpPr txBox="1"/>
          <p:nvPr/>
        </p:nvSpPr>
        <p:spPr>
          <a:xfrm>
            <a:off x="1790700" y="3090863"/>
            <a:ext cx="7115175" cy="419100"/>
          </a:xfrm>
          <a:prstGeom prst="rect">
            <a:avLst/>
          </a:prstGeom>
          <a:noFill/>
        </p:spPr>
        <p:txBody>
          <a:bodyPr wrap="square" lIns="27432" tIns="27432" rIns="27432" bIns="27432" anchor="t">
            <a:noAutofit/>
          </a:bodyPr>
          <a:lstStyle/>
          <a:p>
            <a:pPr algn="l"/>
            <a:r>
              <a:rPr lang="fr-FR" sz="2550" b="1" noProof="0" dirty="0">
                <a:solidFill>
                  <a:srgbClr val="000000"/>
                </a:solidFill>
                <a:latin typeface="Arial"/>
              </a:rPr>
              <a:t>Le besoin métier</a:t>
            </a:r>
          </a:p>
        </p:txBody>
      </p:sp>
      <p:sp>
        <p:nvSpPr>
          <p:cNvPr id="8" name="TextBox 7"/>
          <p:cNvSpPr txBox="1"/>
          <p:nvPr/>
        </p:nvSpPr>
        <p:spPr>
          <a:xfrm>
            <a:off x="1790700" y="3519488"/>
            <a:ext cx="7115175" cy="371475"/>
          </a:xfrm>
          <a:prstGeom prst="rect">
            <a:avLst/>
          </a:prstGeom>
          <a:noFill/>
        </p:spPr>
        <p:txBody>
          <a:bodyPr wrap="square" lIns="27432" tIns="27432" rIns="27432" bIns="27432" anchor="t">
            <a:noAutofit/>
          </a:bodyPr>
          <a:lstStyle>
            <a:defPPr>
              <a:defRPr lang="en-US"/>
            </a:defPPr>
            <a:lvl1pPr>
              <a:defRPr b="0">
                <a:solidFill>
                  <a:srgbClr val="6F6F6F"/>
                </a:solidFill>
                <a:latin typeface="Arial"/>
              </a:defRPr>
            </a:lvl1pPr>
          </a:lstStyle>
          <a:p>
            <a:r>
              <a:rPr lang="fr-FR" dirty="0"/>
              <a:t>Problème, enjeux, boucle de valeur</a:t>
            </a:r>
          </a:p>
        </p:txBody>
      </p:sp>
      <p:sp>
        <p:nvSpPr>
          <p:cNvPr id="9" name="Rectangle 8"/>
          <p:cNvSpPr/>
          <p:nvPr/>
        </p:nvSpPr>
        <p:spPr>
          <a:xfrm>
            <a:off x="1047750" y="4149726"/>
            <a:ext cx="78581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0" name="TextBox 9"/>
          <p:cNvSpPr txBox="1"/>
          <p:nvPr/>
        </p:nvSpPr>
        <p:spPr>
          <a:xfrm>
            <a:off x="1047750" y="4397376"/>
            <a:ext cx="700000" cy="419100"/>
          </a:xfrm>
          <a:prstGeom prst="rect">
            <a:avLst/>
          </a:prstGeom>
          <a:noFill/>
        </p:spPr>
        <p:txBody>
          <a:bodyPr wrap="square" lIns="27432" tIns="27432" rIns="27432" bIns="27432" anchor="t">
            <a:noAutofit/>
          </a:bodyPr>
          <a:lstStyle/>
          <a:p>
            <a:pPr algn="l"/>
            <a:r>
              <a:rPr lang="fr-FR" sz="2550" b="1" noProof="0" dirty="0">
                <a:solidFill>
                  <a:srgbClr val="56B9CA"/>
                </a:solidFill>
                <a:latin typeface="Arial"/>
              </a:rPr>
              <a:t>02</a:t>
            </a:r>
          </a:p>
        </p:txBody>
      </p:sp>
      <p:sp>
        <p:nvSpPr>
          <p:cNvPr id="11" name="TextBox 10"/>
          <p:cNvSpPr txBox="1"/>
          <p:nvPr/>
        </p:nvSpPr>
        <p:spPr>
          <a:xfrm>
            <a:off x="1790700" y="4397376"/>
            <a:ext cx="7115175" cy="419100"/>
          </a:xfrm>
          <a:prstGeom prst="rect">
            <a:avLst/>
          </a:prstGeom>
          <a:noFill/>
        </p:spPr>
        <p:txBody>
          <a:bodyPr wrap="square" lIns="27432" tIns="27432" rIns="27432" bIns="27432" anchor="t">
            <a:noAutofit/>
          </a:bodyPr>
          <a:lstStyle/>
          <a:p>
            <a:pPr algn="l"/>
            <a:r>
              <a:rPr lang="fr-FR" sz="2550" b="1" noProof="0" dirty="0">
                <a:solidFill>
                  <a:srgbClr val="000000"/>
                </a:solidFill>
                <a:latin typeface="Arial"/>
              </a:rPr>
              <a:t>Ma méthode</a:t>
            </a:r>
          </a:p>
        </p:txBody>
      </p:sp>
      <p:sp>
        <p:nvSpPr>
          <p:cNvPr id="12" name="TextBox 11"/>
          <p:cNvSpPr txBox="1"/>
          <p:nvPr/>
        </p:nvSpPr>
        <p:spPr>
          <a:xfrm>
            <a:off x="1790700" y="4826001"/>
            <a:ext cx="7115175" cy="371475"/>
          </a:xfrm>
          <a:prstGeom prst="rect">
            <a:avLst/>
          </a:prstGeom>
          <a:noFill/>
        </p:spPr>
        <p:txBody>
          <a:bodyPr wrap="square" lIns="27432" tIns="27432" rIns="27432" bIns="27432" anchor="t">
            <a:noAutofit/>
          </a:bodyPr>
          <a:lstStyle/>
          <a:p>
            <a:r>
              <a:rPr lang="fr-FR" dirty="0">
                <a:solidFill>
                  <a:srgbClr val="6F6F6F"/>
                </a:solidFill>
                <a:latin typeface="Arial"/>
              </a:rPr>
              <a:t>IA générative encadrée, Journal de décision</a:t>
            </a:r>
            <a:endParaRPr lang="fr-FR" sz="1800" b="0" noProof="0" dirty="0">
              <a:solidFill>
                <a:srgbClr val="6F6F6F"/>
              </a:solidFill>
              <a:latin typeface="Arial"/>
            </a:endParaRPr>
          </a:p>
        </p:txBody>
      </p:sp>
      <p:sp>
        <p:nvSpPr>
          <p:cNvPr id="13" name="Rectangle 12"/>
          <p:cNvSpPr/>
          <p:nvPr/>
        </p:nvSpPr>
        <p:spPr>
          <a:xfrm>
            <a:off x="1047750" y="5456239"/>
            <a:ext cx="78581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4" name="TextBox 13"/>
          <p:cNvSpPr txBox="1"/>
          <p:nvPr/>
        </p:nvSpPr>
        <p:spPr>
          <a:xfrm>
            <a:off x="1047750" y="5703889"/>
            <a:ext cx="700000" cy="419100"/>
          </a:xfrm>
          <a:prstGeom prst="rect">
            <a:avLst/>
          </a:prstGeom>
          <a:noFill/>
        </p:spPr>
        <p:txBody>
          <a:bodyPr wrap="square" lIns="27432" tIns="27432" rIns="27432" bIns="27432" anchor="t">
            <a:noAutofit/>
          </a:bodyPr>
          <a:lstStyle/>
          <a:p>
            <a:pPr algn="l"/>
            <a:r>
              <a:rPr lang="fr-FR" sz="2550" b="1" noProof="0" dirty="0">
                <a:solidFill>
                  <a:srgbClr val="56B9CA"/>
                </a:solidFill>
                <a:latin typeface="Arial"/>
              </a:rPr>
              <a:t>03</a:t>
            </a:r>
          </a:p>
        </p:txBody>
      </p:sp>
      <p:sp>
        <p:nvSpPr>
          <p:cNvPr id="15" name="TextBox 14"/>
          <p:cNvSpPr txBox="1"/>
          <p:nvPr/>
        </p:nvSpPr>
        <p:spPr>
          <a:xfrm>
            <a:off x="1790700" y="5703889"/>
            <a:ext cx="7115175" cy="419100"/>
          </a:xfrm>
          <a:prstGeom prst="rect">
            <a:avLst/>
          </a:prstGeom>
          <a:noFill/>
        </p:spPr>
        <p:txBody>
          <a:bodyPr wrap="square" lIns="27432" tIns="27432" rIns="27432" bIns="27432" anchor="t">
            <a:noAutofit/>
          </a:bodyPr>
          <a:lstStyle/>
          <a:p>
            <a:pPr algn="l"/>
            <a:r>
              <a:rPr lang="fr-FR" sz="2550" b="1" dirty="0">
                <a:solidFill>
                  <a:srgbClr val="000000"/>
                </a:solidFill>
                <a:latin typeface="Arial"/>
              </a:rPr>
              <a:t>Poser le</a:t>
            </a:r>
            <a:r>
              <a:rPr lang="fr-FR" sz="2550" b="1" noProof="0" dirty="0">
                <a:solidFill>
                  <a:srgbClr val="000000"/>
                </a:solidFill>
                <a:latin typeface="Arial"/>
              </a:rPr>
              <a:t> cadre</a:t>
            </a:r>
          </a:p>
        </p:txBody>
      </p:sp>
      <p:sp>
        <p:nvSpPr>
          <p:cNvPr id="16" name="TextBox 15"/>
          <p:cNvSpPr txBox="1"/>
          <p:nvPr/>
        </p:nvSpPr>
        <p:spPr>
          <a:xfrm>
            <a:off x="1790700" y="6132514"/>
            <a:ext cx="7115175" cy="371475"/>
          </a:xfrm>
          <a:prstGeom prst="rect">
            <a:avLst/>
          </a:prstGeom>
          <a:noFill/>
        </p:spPr>
        <p:txBody>
          <a:bodyPr wrap="square" lIns="27432" tIns="27432" rIns="27432" bIns="27432" anchor="t">
            <a:noAutofit/>
          </a:bodyPr>
          <a:lstStyle/>
          <a:p>
            <a:pPr algn="l"/>
            <a:r>
              <a:rPr lang="fr-FR" sz="1800" b="0" noProof="0" dirty="0">
                <a:solidFill>
                  <a:srgbClr val="6F6F6F"/>
                </a:solidFill>
                <a:latin typeface="Arial"/>
              </a:rPr>
              <a:t>Coût d’erreur, éthique et RGPD, périmètre des données</a:t>
            </a:r>
          </a:p>
        </p:txBody>
      </p:sp>
      <p:sp>
        <p:nvSpPr>
          <p:cNvPr id="17" name="Rectangle 16"/>
          <p:cNvSpPr/>
          <p:nvPr/>
        </p:nvSpPr>
        <p:spPr>
          <a:xfrm>
            <a:off x="1047750" y="6762752"/>
            <a:ext cx="78581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8" name="TextBox 17"/>
          <p:cNvSpPr txBox="1"/>
          <p:nvPr/>
        </p:nvSpPr>
        <p:spPr>
          <a:xfrm>
            <a:off x="1047750" y="7010402"/>
            <a:ext cx="700000" cy="419100"/>
          </a:xfrm>
          <a:prstGeom prst="rect">
            <a:avLst/>
          </a:prstGeom>
          <a:noFill/>
        </p:spPr>
        <p:txBody>
          <a:bodyPr wrap="square" lIns="27432" tIns="27432" rIns="27432" bIns="27432" anchor="t">
            <a:noAutofit/>
          </a:bodyPr>
          <a:lstStyle/>
          <a:p>
            <a:pPr algn="l"/>
            <a:r>
              <a:rPr lang="fr-FR" sz="2550" b="1" noProof="0" dirty="0">
                <a:solidFill>
                  <a:srgbClr val="56B9CA"/>
                </a:solidFill>
                <a:latin typeface="Arial"/>
              </a:rPr>
              <a:t>04</a:t>
            </a:r>
          </a:p>
        </p:txBody>
      </p:sp>
      <p:sp>
        <p:nvSpPr>
          <p:cNvPr id="19" name="TextBox 18"/>
          <p:cNvSpPr txBox="1"/>
          <p:nvPr/>
        </p:nvSpPr>
        <p:spPr>
          <a:xfrm>
            <a:off x="1790700" y="7010402"/>
            <a:ext cx="7115175" cy="419100"/>
          </a:xfrm>
          <a:prstGeom prst="rect">
            <a:avLst/>
          </a:prstGeom>
          <a:noFill/>
        </p:spPr>
        <p:txBody>
          <a:bodyPr wrap="square" lIns="27432" tIns="27432" rIns="27432" bIns="27432" anchor="t">
            <a:noAutofit/>
          </a:bodyPr>
          <a:lstStyle/>
          <a:p>
            <a:pPr algn="l"/>
            <a:r>
              <a:rPr lang="fr-FR" sz="2550" b="1" noProof="0" dirty="0">
                <a:solidFill>
                  <a:srgbClr val="000000"/>
                </a:solidFill>
                <a:latin typeface="Arial"/>
              </a:rPr>
              <a:t>Fiabiliser la donnée</a:t>
            </a:r>
          </a:p>
        </p:txBody>
      </p:sp>
      <p:sp>
        <p:nvSpPr>
          <p:cNvPr id="20" name="TextBox 19"/>
          <p:cNvSpPr txBox="1"/>
          <p:nvPr/>
        </p:nvSpPr>
        <p:spPr>
          <a:xfrm>
            <a:off x="1790700" y="7439027"/>
            <a:ext cx="7115175" cy="371475"/>
          </a:xfrm>
          <a:prstGeom prst="rect">
            <a:avLst/>
          </a:prstGeom>
          <a:noFill/>
        </p:spPr>
        <p:txBody>
          <a:bodyPr wrap="square" lIns="27432" tIns="27432" rIns="27432" bIns="27432" anchor="t">
            <a:noAutofit/>
          </a:bodyPr>
          <a:lstStyle/>
          <a:p>
            <a:pPr algn="l"/>
            <a:r>
              <a:rPr lang="fr-FR" sz="1800" b="0" noProof="0" dirty="0">
                <a:solidFill>
                  <a:srgbClr val="6F6F6F"/>
                </a:solidFill>
                <a:latin typeface="Arial"/>
              </a:rPr>
              <a:t>Profilage, analyse exploratoire, préparation des données</a:t>
            </a:r>
          </a:p>
        </p:txBody>
      </p:sp>
      <p:sp>
        <p:nvSpPr>
          <p:cNvPr id="25" name="Rectangle 24"/>
          <p:cNvSpPr/>
          <p:nvPr/>
        </p:nvSpPr>
        <p:spPr>
          <a:xfrm>
            <a:off x="9382125" y="2843213"/>
            <a:ext cx="78581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26" name="TextBox 25"/>
          <p:cNvSpPr txBox="1"/>
          <p:nvPr/>
        </p:nvSpPr>
        <p:spPr>
          <a:xfrm>
            <a:off x="9382125" y="3090863"/>
            <a:ext cx="700000" cy="419100"/>
          </a:xfrm>
          <a:prstGeom prst="rect">
            <a:avLst/>
          </a:prstGeom>
          <a:noFill/>
        </p:spPr>
        <p:txBody>
          <a:bodyPr wrap="square" lIns="27432" tIns="27432" rIns="27432" bIns="27432" anchor="t">
            <a:noAutofit/>
          </a:bodyPr>
          <a:lstStyle/>
          <a:p>
            <a:pPr algn="l"/>
            <a:r>
              <a:rPr lang="fr-FR" sz="2550" b="1" noProof="0" dirty="0">
                <a:solidFill>
                  <a:srgbClr val="56B9CA"/>
                </a:solidFill>
                <a:latin typeface="Arial"/>
              </a:rPr>
              <a:t>05</a:t>
            </a:r>
          </a:p>
        </p:txBody>
      </p:sp>
      <p:sp>
        <p:nvSpPr>
          <p:cNvPr id="27" name="TextBox 26"/>
          <p:cNvSpPr txBox="1"/>
          <p:nvPr/>
        </p:nvSpPr>
        <p:spPr>
          <a:xfrm>
            <a:off x="10125075" y="3090863"/>
            <a:ext cx="7115175" cy="419100"/>
          </a:xfrm>
          <a:prstGeom prst="rect">
            <a:avLst/>
          </a:prstGeom>
          <a:noFill/>
        </p:spPr>
        <p:txBody>
          <a:bodyPr wrap="square" lIns="27432" tIns="27432" rIns="27432" bIns="27432" anchor="t">
            <a:noAutofit/>
          </a:bodyPr>
          <a:lstStyle/>
          <a:p>
            <a:pPr algn="l"/>
            <a:r>
              <a:rPr lang="fr-FR" sz="2550" b="1" noProof="0" dirty="0">
                <a:solidFill>
                  <a:srgbClr val="000000"/>
                </a:solidFill>
                <a:latin typeface="Arial"/>
              </a:rPr>
              <a:t>Construire le modèle</a:t>
            </a:r>
          </a:p>
        </p:txBody>
      </p:sp>
      <p:sp>
        <p:nvSpPr>
          <p:cNvPr id="28" name="TextBox 27"/>
          <p:cNvSpPr txBox="1"/>
          <p:nvPr/>
        </p:nvSpPr>
        <p:spPr>
          <a:xfrm>
            <a:off x="10125075" y="3519488"/>
            <a:ext cx="7115175" cy="371475"/>
          </a:xfrm>
          <a:prstGeom prst="rect">
            <a:avLst/>
          </a:prstGeom>
          <a:noFill/>
        </p:spPr>
        <p:txBody>
          <a:bodyPr wrap="square" lIns="27432" tIns="27432" rIns="27432" bIns="27432" anchor="t">
            <a:noAutofit/>
          </a:bodyPr>
          <a:lstStyle/>
          <a:p>
            <a:pPr algn="l"/>
            <a:r>
              <a:rPr lang="fr-FR" sz="1800" b="0" noProof="0" dirty="0">
                <a:solidFill>
                  <a:srgbClr val="6F6F6F"/>
                </a:solidFill>
                <a:latin typeface="Arial"/>
              </a:rPr>
              <a:t>Protocole, sélection, seuil</a:t>
            </a:r>
          </a:p>
        </p:txBody>
      </p:sp>
      <p:sp>
        <p:nvSpPr>
          <p:cNvPr id="29" name="Rectangle 28"/>
          <p:cNvSpPr/>
          <p:nvPr/>
        </p:nvSpPr>
        <p:spPr>
          <a:xfrm>
            <a:off x="9382125" y="4149726"/>
            <a:ext cx="78581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30" name="TextBox 29"/>
          <p:cNvSpPr txBox="1"/>
          <p:nvPr/>
        </p:nvSpPr>
        <p:spPr>
          <a:xfrm>
            <a:off x="9382125" y="4397376"/>
            <a:ext cx="700000" cy="419100"/>
          </a:xfrm>
          <a:prstGeom prst="rect">
            <a:avLst/>
          </a:prstGeom>
          <a:noFill/>
        </p:spPr>
        <p:txBody>
          <a:bodyPr wrap="square" lIns="27432" tIns="27432" rIns="27432" bIns="27432" anchor="t">
            <a:noAutofit/>
          </a:bodyPr>
          <a:lstStyle/>
          <a:p>
            <a:pPr algn="l"/>
            <a:r>
              <a:rPr lang="fr-FR" sz="2550" b="1" noProof="0" dirty="0">
                <a:solidFill>
                  <a:srgbClr val="56B9CA"/>
                </a:solidFill>
                <a:latin typeface="Arial"/>
              </a:rPr>
              <a:t>06</a:t>
            </a:r>
          </a:p>
        </p:txBody>
      </p:sp>
      <p:sp>
        <p:nvSpPr>
          <p:cNvPr id="31" name="TextBox 30"/>
          <p:cNvSpPr txBox="1"/>
          <p:nvPr/>
        </p:nvSpPr>
        <p:spPr>
          <a:xfrm>
            <a:off x="10125075" y="4397376"/>
            <a:ext cx="7115175" cy="419100"/>
          </a:xfrm>
          <a:prstGeom prst="rect">
            <a:avLst/>
          </a:prstGeom>
          <a:noFill/>
        </p:spPr>
        <p:txBody>
          <a:bodyPr wrap="square" lIns="27432" tIns="27432" rIns="27432" bIns="27432" anchor="t">
            <a:noAutofit/>
          </a:bodyPr>
          <a:lstStyle/>
          <a:p>
            <a:pPr algn="l"/>
            <a:r>
              <a:rPr lang="fr-FR" sz="2550" b="1" noProof="0" dirty="0">
                <a:solidFill>
                  <a:srgbClr val="000000"/>
                </a:solidFill>
                <a:latin typeface="Arial"/>
              </a:rPr>
              <a:t>Industrialiser</a:t>
            </a:r>
          </a:p>
        </p:txBody>
      </p:sp>
      <p:sp>
        <p:nvSpPr>
          <p:cNvPr id="32" name="TextBox 31"/>
          <p:cNvSpPr txBox="1"/>
          <p:nvPr/>
        </p:nvSpPr>
        <p:spPr>
          <a:xfrm>
            <a:off x="10125075" y="4826001"/>
            <a:ext cx="7115175" cy="371475"/>
          </a:xfrm>
          <a:prstGeom prst="rect">
            <a:avLst/>
          </a:prstGeom>
          <a:noFill/>
        </p:spPr>
        <p:txBody>
          <a:bodyPr wrap="square" lIns="27432" tIns="27432" rIns="27432" bIns="27432" anchor="t">
            <a:noAutofit/>
          </a:bodyPr>
          <a:lstStyle/>
          <a:p>
            <a:pPr algn="l"/>
            <a:r>
              <a:rPr lang="fr-FR" sz="1800" b="0" noProof="0" dirty="0">
                <a:solidFill>
                  <a:srgbClr val="6F6F6F"/>
                </a:solidFill>
                <a:latin typeface="Arial"/>
              </a:rPr>
              <a:t>Architecture cible, démonstration, dérive</a:t>
            </a:r>
          </a:p>
        </p:txBody>
      </p:sp>
      <p:sp>
        <p:nvSpPr>
          <p:cNvPr id="33" name="Rectangle 32"/>
          <p:cNvSpPr/>
          <p:nvPr/>
        </p:nvSpPr>
        <p:spPr>
          <a:xfrm>
            <a:off x="9382125" y="5456239"/>
            <a:ext cx="78581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34" name="TextBox 33"/>
          <p:cNvSpPr txBox="1"/>
          <p:nvPr/>
        </p:nvSpPr>
        <p:spPr>
          <a:xfrm>
            <a:off x="9382125" y="5703889"/>
            <a:ext cx="700000" cy="419100"/>
          </a:xfrm>
          <a:prstGeom prst="rect">
            <a:avLst/>
          </a:prstGeom>
          <a:noFill/>
        </p:spPr>
        <p:txBody>
          <a:bodyPr wrap="square" lIns="27432" tIns="27432" rIns="27432" bIns="27432" anchor="t">
            <a:noAutofit/>
          </a:bodyPr>
          <a:lstStyle/>
          <a:p>
            <a:pPr algn="l"/>
            <a:r>
              <a:rPr lang="fr-FR" sz="2550" b="1" noProof="0" dirty="0">
                <a:solidFill>
                  <a:srgbClr val="56B9CA"/>
                </a:solidFill>
                <a:latin typeface="Arial"/>
              </a:rPr>
              <a:t>07</a:t>
            </a:r>
          </a:p>
        </p:txBody>
      </p:sp>
      <p:sp>
        <p:nvSpPr>
          <p:cNvPr id="35" name="TextBox 34"/>
          <p:cNvSpPr txBox="1"/>
          <p:nvPr/>
        </p:nvSpPr>
        <p:spPr>
          <a:xfrm>
            <a:off x="10125075" y="5703889"/>
            <a:ext cx="7115175" cy="419100"/>
          </a:xfrm>
          <a:prstGeom prst="rect">
            <a:avLst/>
          </a:prstGeom>
          <a:noFill/>
        </p:spPr>
        <p:txBody>
          <a:bodyPr wrap="square" lIns="27432" tIns="27432" rIns="27432" bIns="27432" anchor="t">
            <a:noAutofit/>
          </a:bodyPr>
          <a:lstStyle/>
          <a:p>
            <a:pPr algn="l"/>
            <a:r>
              <a:rPr lang="fr-FR" sz="2550" b="1" noProof="0" dirty="0">
                <a:solidFill>
                  <a:srgbClr val="000000"/>
                </a:solidFill>
                <a:latin typeface="Arial"/>
              </a:rPr>
              <a:t>Conclure</a:t>
            </a:r>
          </a:p>
        </p:txBody>
      </p:sp>
      <p:sp>
        <p:nvSpPr>
          <p:cNvPr id="36" name="TextBox 35"/>
          <p:cNvSpPr txBox="1"/>
          <p:nvPr/>
        </p:nvSpPr>
        <p:spPr>
          <a:xfrm>
            <a:off x="10125075" y="6132514"/>
            <a:ext cx="7115175" cy="371475"/>
          </a:xfrm>
          <a:prstGeom prst="rect">
            <a:avLst/>
          </a:prstGeom>
          <a:noFill/>
        </p:spPr>
        <p:txBody>
          <a:bodyPr wrap="square" lIns="27432" tIns="27432" rIns="27432" bIns="27432" anchor="t">
            <a:noAutofit/>
          </a:bodyPr>
          <a:lstStyle/>
          <a:p>
            <a:pPr algn="l"/>
            <a:r>
              <a:rPr lang="fr-FR" sz="1800" b="0" noProof="0" dirty="0">
                <a:solidFill>
                  <a:srgbClr val="6F6F6F"/>
                </a:solidFill>
                <a:latin typeface="Arial"/>
              </a:rPr>
              <a:t>Usage</a:t>
            </a:r>
            <a:r>
              <a:rPr lang="fr-FR" dirty="0">
                <a:solidFill>
                  <a:srgbClr val="6F6F6F"/>
                </a:solidFill>
                <a:latin typeface="Arial"/>
              </a:rPr>
              <a:t>,</a:t>
            </a:r>
            <a:r>
              <a:rPr lang="fr-FR" sz="1800" b="0" noProof="0" dirty="0">
                <a:solidFill>
                  <a:srgbClr val="6F6F6F"/>
                </a:solidFill>
                <a:latin typeface="Arial"/>
              </a:rPr>
              <a:t> limites et recommandations, aller plus loin</a:t>
            </a:r>
          </a:p>
        </p:txBody>
      </p:sp>
      <p:sp>
        <p:nvSpPr>
          <p:cNvPr id="41" name="TextBox 40"/>
          <p:cNvSpPr txBox="1"/>
          <p:nvPr/>
        </p:nvSpPr>
        <p:spPr>
          <a:xfrm>
            <a:off x="1047750" y="9286875"/>
            <a:ext cx="11000000" cy="352425"/>
          </a:xfrm>
          <a:prstGeom prst="rect">
            <a:avLst/>
          </a:prstGeom>
          <a:noFill/>
        </p:spPr>
        <p:txBody>
          <a:bodyPr wrap="square" lIns="27432" tIns="27432" rIns="27432" bIns="27432" anchor="t">
            <a:noAutofit/>
          </a:bodyPr>
          <a:lstStyle/>
          <a:p>
            <a:pPr algn="l"/>
            <a:endParaRPr lang="fr-FR" noProof="0" dirty="0"/>
          </a:p>
        </p:txBody>
      </p:sp>
      <p:sp>
        <p:nvSpPr>
          <p:cNvPr id="42" name="TextBox 41"/>
          <p:cNvSpPr txBox="1"/>
          <p:nvPr/>
        </p:nvSpPr>
        <p:spPr>
          <a:xfrm>
            <a:off x="17147743" y="9309100"/>
            <a:ext cx="175056"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2</a:t>
            </a:r>
            <a:endParaRPr lang="fr-FR" sz="1400" b="1" noProof="0" dirty="0">
              <a:solidFill>
                <a:srgbClr val="56B9CA"/>
              </a:solidFill>
              <a:latin typeface="Arial"/>
              <a:cs typeface="Arial"/>
            </a:endParaRPr>
          </a:p>
        </p:txBody>
      </p:sp>
      <p:sp>
        <p:nvSpPr>
          <p:cNvPr id="43" name="Sommaire08_33"/>
          <p:cNvSpPr/>
          <p:nvPr/>
        </p:nvSpPr>
        <p:spPr>
          <a:xfrm>
            <a:off x="9382125" y="6764339"/>
            <a:ext cx="78581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44" name="Sommaire08_34"/>
          <p:cNvSpPr txBox="1"/>
          <p:nvPr/>
        </p:nvSpPr>
        <p:spPr>
          <a:xfrm>
            <a:off x="9382125" y="7011989"/>
            <a:ext cx="700000" cy="419100"/>
          </a:xfrm>
          <a:prstGeom prst="rect">
            <a:avLst/>
          </a:prstGeom>
          <a:noFill/>
        </p:spPr>
        <p:txBody>
          <a:bodyPr wrap="square" lIns="27432" tIns="27432" rIns="27432" bIns="27432" anchor="t">
            <a:noAutofit/>
          </a:bodyPr>
          <a:lstStyle/>
          <a:p>
            <a:pPr algn="l"/>
            <a:r>
              <a:rPr lang="fr-FR" sz="2550" b="1" noProof="0" dirty="0">
                <a:solidFill>
                  <a:srgbClr val="56B9CA"/>
                </a:solidFill>
                <a:latin typeface="Arial"/>
              </a:rPr>
              <a:t>08</a:t>
            </a:r>
          </a:p>
        </p:txBody>
      </p:sp>
      <p:sp>
        <p:nvSpPr>
          <p:cNvPr id="45" name="Sommaire08_35"/>
          <p:cNvSpPr txBox="1"/>
          <p:nvPr/>
        </p:nvSpPr>
        <p:spPr>
          <a:xfrm>
            <a:off x="10125075" y="7011989"/>
            <a:ext cx="7115175" cy="419100"/>
          </a:xfrm>
          <a:prstGeom prst="rect">
            <a:avLst/>
          </a:prstGeom>
          <a:noFill/>
        </p:spPr>
        <p:txBody>
          <a:bodyPr wrap="square" lIns="27432" tIns="27432" rIns="27432" bIns="27432" anchor="t">
            <a:noAutofit/>
          </a:bodyPr>
          <a:lstStyle/>
          <a:p>
            <a:pPr algn="l"/>
            <a:r>
              <a:rPr lang="fr-FR" sz="2550" b="1" noProof="0" dirty="0">
                <a:solidFill>
                  <a:srgbClr val="000000"/>
                </a:solidFill>
                <a:latin typeface="Arial"/>
              </a:rPr>
              <a:t>Annexes</a:t>
            </a:r>
          </a:p>
        </p:txBody>
      </p:sp>
      <p:sp>
        <p:nvSpPr>
          <p:cNvPr id="46" name="Sommaire08_36"/>
          <p:cNvSpPr txBox="1"/>
          <p:nvPr/>
        </p:nvSpPr>
        <p:spPr>
          <a:xfrm>
            <a:off x="10125075" y="7440614"/>
            <a:ext cx="7115175" cy="371475"/>
          </a:xfrm>
          <a:prstGeom prst="rect">
            <a:avLst/>
          </a:prstGeom>
          <a:noFill/>
        </p:spPr>
        <p:txBody>
          <a:bodyPr wrap="square" lIns="27432" tIns="27432" rIns="27432" bIns="27432" anchor="t">
            <a:noAutofit/>
          </a:bodyPr>
          <a:lstStyle/>
          <a:p>
            <a:pPr algn="l"/>
            <a:r>
              <a:rPr lang="fr-FR" sz="1800" b="0" noProof="0" dirty="0">
                <a:solidFill>
                  <a:srgbClr val="6F6F6F"/>
                </a:solidFill>
                <a:latin typeface="Arial"/>
              </a:rPr>
              <a:t>Détails techniques et compléments</a:t>
            </a:r>
          </a:p>
        </p:txBody>
      </p:sp>
    </p:spTree>
    <p:extLst>
      <p:ext uri="{BB962C8B-B14F-4D97-AF65-F5344CB8AC3E}">
        <p14:creationId xmlns:p14="http://schemas.microsoft.com/office/powerpoint/2010/main" val="394273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56B9CA"/>
        </a:solidFill>
        <a:effectLst/>
      </p:bgPr>
    </p:bg>
    <p:spTree>
      <p:nvGrpSpPr>
        <p:cNvPr id="1" name=""/>
        <p:cNvGrpSpPr/>
        <p:nvPr/>
      </p:nvGrpSpPr>
      <p:grpSpPr>
        <a:xfrm>
          <a:off x="0" y="0"/>
          <a:ext cx="0" cy="0"/>
          <a:chOff x="0" y="0"/>
          <a:chExt cx="0" cy="0"/>
        </a:xfrm>
      </p:grpSpPr>
      <p:sp>
        <p:nvSpPr>
          <p:cNvPr id="2" name="TextBox 1"/>
          <p:cNvSpPr txBox="1"/>
          <p:nvPr/>
        </p:nvSpPr>
        <p:spPr>
          <a:xfrm>
            <a:off x="13076188" y="723900"/>
            <a:ext cx="4894793" cy="4038600"/>
          </a:xfrm>
          <a:prstGeom prst="rect">
            <a:avLst/>
          </a:prstGeom>
          <a:noFill/>
        </p:spPr>
        <p:txBody>
          <a:bodyPr wrap="square" lIns="27432" tIns="27432" rIns="27432" bIns="27432" anchor="t">
            <a:noAutofit/>
          </a:bodyPr>
          <a:lstStyle/>
          <a:p>
            <a:pPr algn="l">
              <a:lnSpc>
                <a:spcPct val="70950"/>
              </a:lnSpc>
            </a:pPr>
            <a:r>
              <a:rPr lang="fr-FR" sz="31500" b="1" noProof="0" dirty="0">
                <a:solidFill>
                  <a:srgbClr val="FFFFFF"/>
                </a:solidFill>
                <a:latin typeface="Arial"/>
              </a:rPr>
              <a:t>01</a:t>
            </a:r>
          </a:p>
        </p:txBody>
      </p:sp>
      <p:sp>
        <p:nvSpPr>
          <p:cNvPr id="3" name="TextBox 2"/>
          <p:cNvSpPr txBox="1"/>
          <p:nvPr/>
        </p:nvSpPr>
        <p:spPr>
          <a:xfrm>
            <a:off x="1047750" y="1047750"/>
            <a:ext cx="3000000" cy="333375"/>
          </a:xfrm>
          <a:prstGeom prst="rect">
            <a:avLst/>
          </a:prstGeom>
          <a:noFill/>
        </p:spPr>
        <p:txBody>
          <a:bodyPr wrap="square" lIns="27432" tIns="27432" rIns="27432" bIns="27432" anchor="t">
            <a:noAutofit/>
          </a:bodyPr>
          <a:lstStyle/>
          <a:p>
            <a:pPr algn="l"/>
            <a:r>
              <a:rPr lang="fr-FR" sz="1950" b="1" spc="273" noProof="0" dirty="0">
                <a:solidFill>
                  <a:srgbClr val="FFFFFF"/>
                </a:solidFill>
                <a:latin typeface="Arial"/>
              </a:rPr>
              <a:t>Acte 01</a:t>
            </a:r>
          </a:p>
        </p:txBody>
      </p:sp>
      <p:sp>
        <p:nvSpPr>
          <p:cNvPr id="4" name="TextBox 3"/>
          <p:cNvSpPr txBox="1"/>
          <p:nvPr/>
        </p:nvSpPr>
        <p:spPr>
          <a:xfrm>
            <a:off x="1047750" y="1609725"/>
            <a:ext cx="11582400" cy="1005519"/>
          </a:xfrm>
          <a:prstGeom prst="rect">
            <a:avLst/>
          </a:prstGeom>
          <a:noFill/>
        </p:spPr>
        <p:txBody>
          <a:bodyPr wrap="square" lIns="27432" tIns="27432" rIns="27432" bIns="27432" anchor="t">
            <a:noAutofit/>
          </a:bodyPr>
          <a:lstStyle/>
          <a:p>
            <a:pPr algn="l">
              <a:lnSpc>
                <a:spcPct val="74520"/>
              </a:lnSpc>
            </a:pPr>
            <a:r>
              <a:rPr lang="fr-FR" sz="8250" b="1" spc="-124" noProof="0" dirty="0">
                <a:solidFill>
                  <a:srgbClr val="FFFFFF"/>
                </a:solidFill>
                <a:latin typeface="Arial"/>
              </a:rPr>
              <a:t>Le besoin métier</a:t>
            </a:r>
          </a:p>
        </p:txBody>
      </p:sp>
      <p:sp>
        <p:nvSpPr>
          <p:cNvPr id="5" name="TextBox 4"/>
          <p:cNvSpPr txBox="1"/>
          <p:nvPr/>
        </p:nvSpPr>
        <p:spPr>
          <a:xfrm>
            <a:off x="1047750" y="3014663"/>
            <a:ext cx="10200000" cy="625143"/>
          </a:xfrm>
          <a:prstGeom prst="rect">
            <a:avLst/>
          </a:prstGeom>
          <a:noFill/>
        </p:spPr>
        <p:txBody>
          <a:bodyPr wrap="square" lIns="27432" tIns="27432" rIns="27432" bIns="27432" anchor="t">
            <a:noAutofit/>
          </a:bodyPr>
          <a:lstStyle/>
          <a:p>
            <a:pPr algn="l">
              <a:lnSpc>
                <a:spcPct val="128140"/>
              </a:lnSpc>
            </a:pPr>
            <a:r>
              <a:rPr lang="fr-FR" sz="2850" b="0" noProof="0" dirty="0">
                <a:solidFill>
                  <a:srgbClr val="FFFFFF"/>
                </a:solidFill>
                <a:latin typeface="Arial"/>
              </a:rPr>
              <a:t>Problème, enjeux, boucle de valeur</a:t>
            </a:r>
          </a:p>
        </p:txBody>
      </p:sp>
      <p:sp>
        <p:nvSpPr>
          <p:cNvPr id="6" name="TextBox 5"/>
          <p:cNvSpPr txBox="1"/>
          <p:nvPr/>
        </p:nvSpPr>
        <p:spPr>
          <a:xfrm>
            <a:off x="17147743" y="9309100"/>
            <a:ext cx="175056" cy="304800"/>
          </a:xfrm>
          <a:prstGeom prst="rect">
            <a:avLst/>
          </a:prstGeom>
          <a:noFill/>
        </p:spPr>
        <p:txBody>
          <a:bodyPr wrap="none" lIns="27432" tIns="27432" rIns="27432" bIns="27432" anchor="ctr" anchorCtr="0">
            <a:noAutofit/>
          </a:bodyPr>
          <a:lstStyle/>
          <a:p>
            <a:pPr algn="l"/>
            <a:r>
              <a:rPr lang="fr-FR" sz="1400" b="1" noProof="0">
                <a:solidFill>
                  <a:srgbClr val="FFFFFF"/>
                </a:solidFill>
                <a:latin typeface="Arial"/>
                <a:cs typeface="Arial"/>
              </a:rPr>
              <a:t>3</a:t>
            </a:r>
            <a:endParaRPr lang="fr-FR" sz="1400" b="1" noProof="0" dirty="0">
              <a:solidFill>
                <a:srgbClr val="FFFFFF"/>
              </a:solidFill>
              <a:latin typeface="Arial"/>
              <a:cs typeface="Arial"/>
            </a:endParaRPr>
          </a:p>
        </p:txBody>
      </p:sp>
    </p:spTree>
    <p:extLst>
      <p:ext uri="{BB962C8B-B14F-4D97-AF65-F5344CB8AC3E}">
        <p14:creationId xmlns:p14="http://schemas.microsoft.com/office/powerpoint/2010/main" val="1160887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Panneau attendu"/>
          <p:cNvSpPr/>
          <p:nvPr/>
        </p:nvSpPr>
        <p:spPr>
          <a:xfrm>
            <a:off x="9398000" y="3048000"/>
            <a:ext cx="7835900" cy="5969000"/>
          </a:xfrm>
          <a:prstGeom prst="rect">
            <a:avLst/>
          </a:prstGeom>
          <a:solidFill>
            <a:srgbClr val="1A6A77"/>
          </a:solidFill>
          <a:ln>
            <a:noFill/>
          </a:ln>
        </p:spPr>
        <p:txBody>
          <a:bodyPr/>
          <a:lstStyle/>
          <a:p>
            <a:endParaRPr lang="fr-FR" noProof="0" dirty="0"/>
          </a:p>
        </p:txBody>
      </p:sp>
      <p:sp>
        <p:nvSpPr>
          <p:cNvPr id="100" name="Panneau probleme"/>
          <p:cNvSpPr/>
          <p:nvPr/>
        </p:nvSpPr>
        <p:spPr>
          <a:xfrm>
            <a:off x="1054100" y="3048000"/>
            <a:ext cx="7835900" cy="5969000"/>
          </a:xfrm>
          <a:prstGeom prst="rect">
            <a:avLst/>
          </a:prstGeom>
          <a:solidFill>
            <a:srgbClr val="F2F7F8"/>
          </a:solidFill>
          <a:ln>
            <a:noFill/>
          </a:ln>
        </p:spPr>
        <p:txBody>
          <a:bodyPr/>
          <a:lstStyle/>
          <a:p>
            <a:endParaRPr lang="fr-FR" noProof="0" dirty="0"/>
          </a:p>
        </p:txBody>
      </p:sp>
      <p:pic>
        <p:nvPicPr>
          <p:cNvPr id="2" name="Picture 1" descr="logo-teal.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ACTE 01 · LE PROBLÈME</a:t>
            </a:r>
          </a:p>
        </p:txBody>
      </p:sp>
      <p:sp>
        <p:nvSpPr>
          <p:cNvPr id="4" name="TextBox 3"/>
          <p:cNvSpPr txBox="1"/>
          <p:nvPr/>
        </p:nvSpPr>
        <p:spPr>
          <a:xfrm>
            <a:off x="1047750" y="1619250"/>
            <a:ext cx="16192500" cy="736600"/>
          </a:xfrm>
          <a:prstGeom prst="rect">
            <a:avLst/>
          </a:prstGeom>
          <a:noFill/>
        </p:spPr>
        <p:txBody>
          <a:bodyPr wrap="square" lIns="27432" tIns="27432" rIns="27432" bIns="27432" anchor="t">
            <a:noAutofit/>
          </a:bodyPr>
          <a:lstStyle/>
          <a:p>
            <a:pPr algn="l">
              <a:lnSpc>
                <a:spcPct val="100000"/>
              </a:lnSpc>
            </a:pPr>
            <a:r>
              <a:rPr lang="fr-FR" sz="4500" b="1" spc="-45" noProof="0" dirty="0">
                <a:solidFill>
                  <a:srgbClr val="000000"/>
                </a:solidFill>
                <a:latin typeface="Arial"/>
              </a:rPr>
              <a:t>Le décrochage en L1 n'est pas anticipé</a:t>
            </a:r>
          </a:p>
        </p:txBody>
      </p:sp>
      <p:sp>
        <p:nvSpPr>
          <p:cNvPr id="5" name="Rectangle 4"/>
          <p:cNvSpPr/>
          <p:nvPr/>
        </p:nvSpPr>
        <p:spPr>
          <a:xfrm>
            <a:off x="1047750" y="2514600"/>
            <a:ext cx="1143000" cy="1905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7" name="TextBox 6"/>
          <p:cNvSpPr txBox="1"/>
          <p:nvPr/>
        </p:nvSpPr>
        <p:spPr>
          <a:xfrm>
            <a:off x="17147743" y="9309100"/>
            <a:ext cx="175056"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4</a:t>
            </a:r>
            <a:endParaRPr lang="fr-FR" sz="1400" b="1" noProof="0" dirty="0">
              <a:solidFill>
                <a:srgbClr val="56B9CA"/>
              </a:solidFill>
              <a:latin typeface="Arial"/>
              <a:cs typeface="Arial"/>
            </a:endParaRPr>
          </a:p>
        </p:txBody>
      </p:sp>
      <p:sp>
        <p:nvSpPr>
          <p:cNvPr id="110" name="Label probleme"/>
          <p:cNvSpPr txBox="1"/>
          <p:nvPr/>
        </p:nvSpPr>
        <p:spPr>
          <a:xfrm>
            <a:off x="1562100" y="3429000"/>
            <a:ext cx="5080000" cy="355600"/>
          </a:xfrm>
          <a:prstGeom prst="rect">
            <a:avLst/>
          </a:prstGeom>
          <a:noFill/>
          <a:ln>
            <a:noFill/>
          </a:ln>
        </p:spPr>
        <p:txBody>
          <a:bodyPr wrap="square" lIns="0" tIns="0" rIns="0" bIns="0" anchor="t">
            <a:noAutofit/>
          </a:bodyPr>
          <a:lstStyle/>
          <a:p>
            <a:pPr algn="l">
              <a:buNone/>
            </a:pPr>
            <a:r>
              <a:rPr lang="fr-FR" sz="1700" b="1" spc="162" noProof="0" dirty="0">
                <a:solidFill>
                  <a:srgbClr val="1A6A77"/>
                </a:solidFill>
                <a:latin typeface="Arial"/>
              </a:rPr>
              <a:t>LE PROBLÈME</a:t>
            </a:r>
          </a:p>
        </p:txBody>
      </p:sp>
      <p:sp>
        <p:nvSpPr>
          <p:cNvPr id="111" name="Enonce"/>
          <p:cNvSpPr txBox="1"/>
          <p:nvPr/>
        </p:nvSpPr>
        <p:spPr>
          <a:xfrm>
            <a:off x="1562100" y="3886200"/>
            <a:ext cx="6819900" cy="1727200"/>
          </a:xfrm>
          <a:prstGeom prst="rect">
            <a:avLst/>
          </a:prstGeom>
          <a:noFill/>
          <a:ln>
            <a:noFill/>
          </a:ln>
        </p:spPr>
        <p:txBody>
          <a:bodyPr wrap="square" lIns="0" tIns="0" rIns="0" bIns="0" anchor="t">
            <a:noAutofit/>
          </a:bodyPr>
          <a:lstStyle/>
          <a:p>
            <a:pPr algn="l">
              <a:lnSpc>
                <a:spcPct val="132000"/>
              </a:lnSpc>
              <a:buNone/>
            </a:pPr>
            <a:r>
              <a:rPr lang="fr-FR" sz="2000" b="0" noProof="0" dirty="0">
                <a:solidFill>
                  <a:srgbClr val="4A4A4A"/>
                </a:solidFill>
                <a:latin typeface="Arial"/>
              </a:rPr>
              <a:t>Une université pluridisciplinaire constate un </a:t>
            </a:r>
            <a:r>
              <a:rPr lang="fr-FR" sz="2000" b="1" noProof="0" dirty="0">
                <a:solidFill>
                  <a:srgbClr val="0F2E33"/>
                </a:solidFill>
                <a:latin typeface="Arial"/>
              </a:rPr>
              <a:t>taux d'abandon élevé en première année de licence</a:t>
            </a:r>
            <a:r>
              <a:rPr lang="fr-FR" sz="2000" b="0" noProof="0" dirty="0">
                <a:solidFill>
                  <a:srgbClr val="4A4A4A"/>
                </a:solidFill>
                <a:latin typeface="Arial"/>
              </a:rPr>
              <a:t> : les étudiants à risque ne sont pas identifiés en cours de semestre.</a:t>
            </a:r>
          </a:p>
        </p:txBody>
      </p:sp>
      <p:sp>
        <p:nvSpPr>
          <p:cNvPr id="120" name="Stat 1"/>
          <p:cNvSpPr txBox="1"/>
          <p:nvPr/>
        </p:nvSpPr>
        <p:spPr>
          <a:xfrm>
            <a:off x="1562100" y="5867400"/>
            <a:ext cx="6819900" cy="711200"/>
          </a:xfrm>
          <a:prstGeom prst="rect">
            <a:avLst/>
          </a:prstGeom>
          <a:noFill/>
          <a:ln>
            <a:noFill/>
          </a:ln>
        </p:spPr>
        <p:txBody>
          <a:bodyPr wrap="square" lIns="0" tIns="0" rIns="0" bIns="0" anchor="t">
            <a:noAutofit/>
          </a:bodyPr>
          <a:lstStyle/>
          <a:p>
            <a:pPr algn="l">
              <a:lnSpc>
                <a:spcPct val="100000"/>
              </a:lnSpc>
              <a:buNone/>
            </a:pPr>
            <a:r>
              <a:rPr lang="fr-FR" sz="3800" b="1" noProof="0" dirty="0">
                <a:solidFill>
                  <a:srgbClr val="1A6A77"/>
                </a:solidFill>
                <a:latin typeface="Arial"/>
              </a:rPr>
              <a:t>1 479   </a:t>
            </a:r>
            <a:r>
              <a:rPr lang="fr-FR" sz="1800" b="0" noProof="0" dirty="0">
                <a:solidFill>
                  <a:srgbClr val="4A4A4A"/>
                </a:solidFill>
                <a:latin typeface="Arial"/>
              </a:rPr>
              <a:t>étudiants abandonnent</a:t>
            </a:r>
          </a:p>
        </p:txBody>
      </p:sp>
      <p:sp>
        <p:nvSpPr>
          <p:cNvPr id="130" name="Filet 1"/>
          <p:cNvSpPr/>
          <p:nvPr/>
        </p:nvSpPr>
        <p:spPr>
          <a:xfrm>
            <a:off x="1562100" y="6629400"/>
            <a:ext cx="6819900" cy="12700"/>
          </a:xfrm>
          <a:prstGeom prst="rect">
            <a:avLst/>
          </a:prstGeom>
          <a:solidFill>
            <a:srgbClr val="A8CCD3"/>
          </a:solidFill>
          <a:ln>
            <a:noFill/>
          </a:ln>
        </p:spPr>
        <p:txBody>
          <a:bodyPr/>
          <a:lstStyle/>
          <a:p>
            <a:endParaRPr lang="fr-FR" noProof="0" dirty="0"/>
          </a:p>
        </p:txBody>
      </p:sp>
      <p:sp>
        <p:nvSpPr>
          <p:cNvPr id="121" name="Stat 2"/>
          <p:cNvSpPr txBox="1"/>
          <p:nvPr/>
        </p:nvSpPr>
        <p:spPr>
          <a:xfrm>
            <a:off x="1562100" y="6756400"/>
            <a:ext cx="6819900" cy="711200"/>
          </a:xfrm>
          <a:prstGeom prst="rect">
            <a:avLst/>
          </a:prstGeom>
          <a:noFill/>
          <a:ln>
            <a:noFill/>
          </a:ln>
        </p:spPr>
        <p:txBody>
          <a:bodyPr wrap="square" lIns="0" tIns="0" rIns="0" bIns="0" anchor="t">
            <a:noAutofit/>
          </a:bodyPr>
          <a:lstStyle/>
          <a:p>
            <a:pPr algn="l">
              <a:lnSpc>
                <a:spcPct val="100000"/>
              </a:lnSpc>
              <a:buNone/>
            </a:pPr>
            <a:r>
              <a:rPr lang="fr-FR" sz="3800" b="1" noProof="0" dirty="0">
                <a:solidFill>
                  <a:srgbClr val="1A6A77"/>
                </a:solidFill>
                <a:latin typeface="Arial"/>
              </a:rPr>
              <a:t>5 200   </a:t>
            </a:r>
            <a:r>
              <a:rPr lang="fr-FR" sz="1800" b="0" noProof="0" dirty="0">
                <a:solidFill>
                  <a:srgbClr val="4A4A4A"/>
                </a:solidFill>
                <a:latin typeface="Arial"/>
              </a:rPr>
              <a:t>étudiants dans la cohorte</a:t>
            </a:r>
          </a:p>
        </p:txBody>
      </p:sp>
      <p:sp>
        <p:nvSpPr>
          <p:cNvPr id="131" name="Filet 2"/>
          <p:cNvSpPr/>
          <p:nvPr/>
        </p:nvSpPr>
        <p:spPr>
          <a:xfrm>
            <a:off x="1562100" y="7518400"/>
            <a:ext cx="6819900" cy="12700"/>
          </a:xfrm>
          <a:prstGeom prst="rect">
            <a:avLst/>
          </a:prstGeom>
          <a:solidFill>
            <a:srgbClr val="A8CCD3"/>
          </a:solidFill>
          <a:ln>
            <a:noFill/>
          </a:ln>
        </p:spPr>
        <p:txBody>
          <a:bodyPr/>
          <a:lstStyle/>
          <a:p>
            <a:endParaRPr lang="fr-FR" noProof="0" dirty="0"/>
          </a:p>
        </p:txBody>
      </p:sp>
      <p:sp>
        <p:nvSpPr>
          <p:cNvPr id="122" name="Stat 3"/>
          <p:cNvSpPr txBox="1"/>
          <p:nvPr/>
        </p:nvSpPr>
        <p:spPr>
          <a:xfrm>
            <a:off x="1562100" y="7645400"/>
            <a:ext cx="6819900" cy="711200"/>
          </a:xfrm>
          <a:prstGeom prst="rect">
            <a:avLst/>
          </a:prstGeom>
          <a:noFill/>
          <a:ln>
            <a:noFill/>
          </a:ln>
        </p:spPr>
        <p:txBody>
          <a:bodyPr wrap="square" lIns="0" tIns="0" rIns="0" bIns="0" anchor="t">
            <a:noAutofit/>
          </a:bodyPr>
          <a:lstStyle/>
          <a:p>
            <a:pPr algn="l">
              <a:lnSpc>
                <a:spcPct val="100000"/>
              </a:lnSpc>
              <a:buNone/>
            </a:pPr>
            <a:r>
              <a:rPr lang="fr-FR" sz="3800" b="1" noProof="0" dirty="0">
                <a:solidFill>
                  <a:srgbClr val="1A6A77"/>
                </a:solidFill>
                <a:latin typeface="Arial"/>
              </a:rPr>
              <a:t>28 %   </a:t>
            </a:r>
            <a:r>
              <a:rPr lang="fr-FR" sz="1800" b="0" noProof="0" dirty="0">
                <a:solidFill>
                  <a:srgbClr val="4A4A4A"/>
                </a:solidFill>
                <a:latin typeface="Arial"/>
              </a:rPr>
              <a:t>taux de décrochage</a:t>
            </a:r>
          </a:p>
        </p:txBody>
      </p:sp>
      <p:sp>
        <p:nvSpPr>
          <p:cNvPr id="140" name="Label attendu"/>
          <p:cNvSpPr txBox="1"/>
          <p:nvPr/>
        </p:nvSpPr>
        <p:spPr>
          <a:xfrm>
            <a:off x="9906000" y="3429000"/>
            <a:ext cx="5842000" cy="355600"/>
          </a:xfrm>
          <a:prstGeom prst="rect">
            <a:avLst/>
          </a:prstGeom>
          <a:noFill/>
          <a:ln>
            <a:noFill/>
          </a:ln>
        </p:spPr>
        <p:txBody>
          <a:bodyPr wrap="square" lIns="0" tIns="0" rIns="0" bIns="0" anchor="t">
            <a:noAutofit/>
          </a:bodyPr>
          <a:lstStyle/>
          <a:p>
            <a:pPr algn="l">
              <a:buNone/>
            </a:pPr>
            <a:r>
              <a:rPr lang="fr-FR" sz="1700" b="1" spc="162" noProof="0" dirty="0">
                <a:solidFill>
                  <a:srgbClr val="D7EBEF"/>
                </a:solidFill>
                <a:latin typeface="Arial"/>
              </a:rPr>
              <a:t>CE QUI EST ATTENDU</a:t>
            </a:r>
          </a:p>
        </p:txBody>
      </p:sp>
      <p:sp>
        <p:nvSpPr>
          <p:cNvPr id="141" name="Objectif"/>
          <p:cNvSpPr txBox="1"/>
          <p:nvPr/>
        </p:nvSpPr>
        <p:spPr>
          <a:xfrm>
            <a:off x="9906000" y="3886200"/>
            <a:ext cx="6819900" cy="1727200"/>
          </a:xfrm>
          <a:prstGeom prst="rect">
            <a:avLst/>
          </a:prstGeom>
          <a:noFill/>
          <a:ln>
            <a:noFill/>
          </a:ln>
        </p:spPr>
        <p:txBody>
          <a:bodyPr wrap="square" lIns="0" tIns="0" rIns="0" bIns="0" anchor="t">
            <a:noAutofit/>
          </a:bodyPr>
          <a:lstStyle/>
          <a:p>
            <a:pPr algn="l">
              <a:lnSpc>
                <a:spcPct val="132000"/>
              </a:lnSpc>
              <a:buNone/>
            </a:pPr>
            <a:r>
              <a:rPr lang="fr-FR" sz="2000" b="0" noProof="0" dirty="0">
                <a:solidFill>
                  <a:srgbClr val="FFFFFF"/>
                </a:solidFill>
                <a:latin typeface="Arial"/>
              </a:rPr>
              <a:t>Concevoir une solution d'IA capable de prédire, </a:t>
            </a:r>
            <a:r>
              <a:rPr lang="fr-FR" sz="2000" b="1" noProof="0" dirty="0">
                <a:solidFill>
                  <a:srgbClr val="0F2E33"/>
                </a:solidFill>
                <a:highlight>
                  <a:srgbClr val="FFFFFF"/>
                </a:highlight>
                <a:latin typeface="Arial"/>
              </a:rPr>
              <a:t> à mi-S1 </a:t>
            </a:r>
            <a:r>
              <a:rPr lang="fr-FR" sz="2000" b="0" noProof="0" dirty="0">
                <a:solidFill>
                  <a:srgbClr val="FFFFFF"/>
                </a:solidFill>
                <a:latin typeface="Arial"/>
              </a:rPr>
              <a:t>, le risque de décrochage, afin de proposer un accompagnement au bon moment.</a:t>
            </a:r>
          </a:p>
        </p:txBody>
      </p:sp>
      <p:sp>
        <p:nvSpPr>
          <p:cNvPr id="150" name="Filet cible 1"/>
          <p:cNvSpPr/>
          <p:nvPr/>
        </p:nvSpPr>
        <p:spPr>
          <a:xfrm>
            <a:off x="9906000" y="5816600"/>
            <a:ext cx="6819900" cy="12700"/>
          </a:xfrm>
          <a:prstGeom prst="rect">
            <a:avLst/>
          </a:prstGeom>
          <a:solidFill>
            <a:srgbClr val="6BAAB4"/>
          </a:solidFill>
          <a:ln>
            <a:noFill/>
          </a:ln>
        </p:spPr>
        <p:txBody>
          <a:bodyPr/>
          <a:lstStyle/>
          <a:p>
            <a:endParaRPr lang="fr-FR" noProof="0" dirty="0"/>
          </a:p>
        </p:txBody>
      </p:sp>
      <p:sp>
        <p:nvSpPr>
          <p:cNvPr id="151" name="Badge 1"/>
          <p:cNvSpPr txBox="1"/>
          <p:nvPr/>
        </p:nvSpPr>
        <p:spPr>
          <a:xfrm>
            <a:off x="9906000" y="6096000"/>
            <a:ext cx="711200" cy="711200"/>
          </a:xfrm>
          <a:prstGeom prst="ellipse">
            <a:avLst/>
          </a:prstGeom>
          <a:solidFill>
            <a:srgbClr val="FFFFFF"/>
          </a:solidFill>
          <a:ln>
            <a:noFill/>
          </a:ln>
        </p:spPr>
        <p:txBody>
          <a:bodyPr wrap="square" lIns="25400" tIns="25400" rIns="25400" bIns="25400" anchor="ctr">
            <a:noAutofit/>
          </a:bodyPr>
          <a:lstStyle/>
          <a:p>
            <a:pPr algn="ctr">
              <a:lnSpc>
                <a:spcPct val="100000"/>
              </a:lnSpc>
              <a:buNone/>
            </a:pPr>
            <a:r>
              <a:rPr lang="fr-FR" sz="2000" b="1" noProof="0" dirty="0">
                <a:solidFill>
                  <a:srgbClr val="1A6A77"/>
                </a:solidFill>
                <a:latin typeface="Arial"/>
              </a:rPr>
              <a:t>01</a:t>
            </a:r>
          </a:p>
        </p:txBody>
      </p:sp>
      <p:sp>
        <p:nvSpPr>
          <p:cNvPr id="152" name="Cible 1"/>
          <p:cNvSpPr txBox="1"/>
          <p:nvPr/>
        </p:nvSpPr>
        <p:spPr>
          <a:xfrm>
            <a:off x="10820400" y="6070600"/>
            <a:ext cx="5905500" cy="1066800"/>
          </a:xfrm>
          <a:prstGeom prst="rect">
            <a:avLst/>
          </a:prstGeom>
          <a:noFill/>
          <a:ln>
            <a:noFill/>
          </a:ln>
        </p:spPr>
        <p:txBody>
          <a:bodyPr wrap="square" lIns="0" tIns="0" rIns="0" bIns="0" anchor="t">
            <a:noAutofit/>
          </a:bodyPr>
          <a:lstStyle/>
          <a:p>
            <a:pPr algn="l">
              <a:lnSpc>
                <a:spcPct val="100000"/>
              </a:lnSpc>
              <a:buNone/>
            </a:pPr>
            <a:r>
              <a:rPr lang="fr-FR" sz="2200" b="1" noProof="0" dirty="0">
                <a:solidFill>
                  <a:srgbClr val="FFFFFF"/>
                </a:solidFill>
                <a:latin typeface="Arial"/>
              </a:rPr>
              <a:t>Risque d'abandon</a:t>
            </a:r>
          </a:p>
          <a:p>
            <a:pPr algn="l">
              <a:lnSpc>
                <a:spcPct val="124000"/>
              </a:lnSpc>
              <a:spcBef>
                <a:spcPts val="500"/>
              </a:spcBef>
              <a:buNone/>
            </a:pPr>
            <a:r>
              <a:rPr lang="fr-FR" sz="1800" b="0" noProof="0" dirty="0">
                <a:solidFill>
                  <a:srgbClr val="D7EBEF"/>
                </a:solidFill>
                <a:latin typeface="Arial"/>
              </a:rPr>
              <a:t>Classification — score de risque : faut-il accompagner ?</a:t>
            </a:r>
          </a:p>
        </p:txBody>
      </p:sp>
      <p:sp>
        <p:nvSpPr>
          <p:cNvPr id="153" name="Filet cible 2"/>
          <p:cNvSpPr/>
          <p:nvPr/>
        </p:nvSpPr>
        <p:spPr>
          <a:xfrm>
            <a:off x="9906000" y="7315200"/>
            <a:ext cx="6819900" cy="12700"/>
          </a:xfrm>
          <a:prstGeom prst="rect">
            <a:avLst/>
          </a:prstGeom>
          <a:solidFill>
            <a:srgbClr val="6BAAB4"/>
          </a:solidFill>
          <a:ln>
            <a:noFill/>
          </a:ln>
        </p:spPr>
        <p:txBody>
          <a:bodyPr/>
          <a:lstStyle/>
          <a:p>
            <a:endParaRPr lang="fr-FR" noProof="0" dirty="0"/>
          </a:p>
        </p:txBody>
      </p:sp>
      <p:sp>
        <p:nvSpPr>
          <p:cNvPr id="154" name="Badge 2"/>
          <p:cNvSpPr txBox="1"/>
          <p:nvPr/>
        </p:nvSpPr>
        <p:spPr>
          <a:xfrm>
            <a:off x="9906000" y="7594600"/>
            <a:ext cx="711200" cy="711200"/>
          </a:xfrm>
          <a:prstGeom prst="ellipse">
            <a:avLst/>
          </a:prstGeom>
          <a:solidFill>
            <a:srgbClr val="FFFFFF"/>
          </a:solidFill>
          <a:ln>
            <a:noFill/>
          </a:ln>
        </p:spPr>
        <p:txBody>
          <a:bodyPr wrap="square" lIns="25400" tIns="25400" rIns="25400" bIns="25400" anchor="ctr">
            <a:noAutofit/>
          </a:bodyPr>
          <a:lstStyle/>
          <a:p>
            <a:pPr algn="ctr">
              <a:lnSpc>
                <a:spcPct val="100000"/>
              </a:lnSpc>
              <a:buNone/>
            </a:pPr>
            <a:r>
              <a:rPr lang="fr-FR" sz="2000" b="1" noProof="0" dirty="0">
                <a:solidFill>
                  <a:srgbClr val="1A6A77"/>
                </a:solidFill>
                <a:latin typeface="Arial"/>
              </a:rPr>
              <a:t>02</a:t>
            </a:r>
          </a:p>
        </p:txBody>
      </p:sp>
      <p:sp>
        <p:nvSpPr>
          <p:cNvPr id="155" name="Cible 2"/>
          <p:cNvSpPr txBox="1"/>
          <p:nvPr/>
        </p:nvSpPr>
        <p:spPr>
          <a:xfrm>
            <a:off x="10820400" y="7569200"/>
            <a:ext cx="5905500" cy="1066800"/>
          </a:xfrm>
          <a:prstGeom prst="rect">
            <a:avLst/>
          </a:prstGeom>
          <a:noFill/>
          <a:ln>
            <a:noFill/>
          </a:ln>
        </p:spPr>
        <p:txBody>
          <a:bodyPr wrap="square" lIns="0" tIns="0" rIns="0" bIns="0" anchor="t">
            <a:noAutofit/>
          </a:bodyPr>
          <a:lstStyle/>
          <a:p>
            <a:pPr algn="l">
              <a:lnSpc>
                <a:spcPct val="100000"/>
              </a:lnSpc>
              <a:buNone/>
            </a:pPr>
            <a:r>
              <a:rPr lang="fr-FR" sz="2200" b="1" noProof="0" dirty="0">
                <a:solidFill>
                  <a:srgbClr val="FFFFFF"/>
                </a:solidFill>
                <a:latin typeface="Arial"/>
              </a:rPr>
              <a:t>Moyenne finale (/20)</a:t>
            </a:r>
          </a:p>
          <a:p>
            <a:pPr algn="l">
              <a:lnSpc>
                <a:spcPct val="124000"/>
              </a:lnSpc>
              <a:spcBef>
                <a:spcPts val="500"/>
              </a:spcBef>
              <a:buNone/>
            </a:pPr>
            <a:r>
              <a:rPr lang="fr-FR" sz="1800" b="0" noProof="0" dirty="0">
                <a:solidFill>
                  <a:srgbClr val="D7EBEF"/>
                </a:solidFill>
                <a:latin typeface="Arial"/>
              </a:rPr>
              <a:t>Régression — calibrer l'intensité de l'accompagnement.</a:t>
            </a:r>
          </a:p>
        </p:txBody>
      </p:sp>
    </p:spTree>
    <p:extLst>
      <p:ext uri="{BB962C8B-B14F-4D97-AF65-F5344CB8AC3E}">
        <p14:creationId xmlns:p14="http://schemas.microsoft.com/office/powerpoint/2010/main" val="2017137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teal.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ACTE 01 · LES ENJEUX</a:t>
            </a:r>
          </a:p>
        </p:txBody>
      </p:sp>
      <p:sp>
        <p:nvSpPr>
          <p:cNvPr id="4" name="TextBox 3"/>
          <p:cNvSpPr txBox="1"/>
          <p:nvPr/>
        </p:nvSpPr>
        <p:spPr>
          <a:xfrm>
            <a:off x="1047750" y="1619250"/>
            <a:ext cx="16192500" cy="914400"/>
          </a:xfrm>
          <a:prstGeom prst="rect">
            <a:avLst/>
          </a:prstGeom>
          <a:noFill/>
        </p:spPr>
        <p:txBody>
          <a:bodyPr wrap="square" lIns="27432" tIns="27432" rIns="27432" bIns="27432" anchor="t">
            <a:noAutofit/>
          </a:bodyPr>
          <a:lstStyle/>
          <a:p>
            <a:pPr algn="l">
              <a:lnSpc>
                <a:spcPct val="100000"/>
              </a:lnSpc>
            </a:pPr>
            <a:r>
              <a:rPr lang="fr-FR" sz="4000" b="1" spc="-45" noProof="0" dirty="0">
                <a:solidFill>
                  <a:srgbClr val="000000"/>
                </a:solidFill>
                <a:latin typeface="Arial"/>
              </a:rPr>
              <a:t>Trois enjeux métier : humain, institutionnel, économique</a:t>
            </a:r>
          </a:p>
        </p:txBody>
      </p:sp>
      <p:sp>
        <p:nvSpPr>
          <p:cNvPr id="5" name="Rectangle 4"/>
          <p:cNvSpPr/>
          <p:nvPr/>
        </p:nvSpPr>
        <p:spPr>
          <a:xfrm>
            <a:off x="1047750" y="2641600"/>
            <a:ext cx="2032000" cy="1905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7" name="TextBox 6"/>
          <p:cNvSpPr txBox="1"/>
          <p:nvPr/>
        </p:nvSpPr>
        <p:spPr>
          <a:xfrm>
            <a:off x="17147743" y="9309100"/>
            <a:ext cx="175056"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5</a:t>
            </a:r>
            <a:endParaRPr lang="fr-FR" sz="1400" b="1" noProof="0" dirty="0">
              <a:solidFill>
                <a:srgbClr val="56B9CA"/>
              </a:solidFill>
              <a:latin typeface="Arial"/>
              <a:cs typeface="Arial"/>
            </a:endParaRPr>
          </a:p>
        </p:txBody>
      </p:sp>
      <p:sp>
        <p:nvSpPr>
          <p:cNvPr id="8" name="Rounded Rectangle 7"/>
          <p:cNvSpPr/>
          <p:nvPr/>
        </p:nvSpPr>
        <p:spPr>
          <a:xfrm>
            <a:off x="1047750" y="3619500"/>
            <a:ext cx="5080000" cy="4800600"/>
          </a:xfrm>
          <a:prstGeom prst="roundRect">
            <a:avLst>
              <a:gd name="adj" fmla="val 4000"/>
            </a:avLst>
          </a:prstGeom>
          <a:solidFill>
            <a:srgbClr val="E4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9" name="TextBox 8"/>
          <p:cNvSpPr txBox="1"/>
          <p:nvPr/>
        </p:nvSpPr>
        <p:spPr>
          <a:xfrm>
            <a:off x="1428750" y="4076700"/>
            <a:ext cx="4318000" cy="304800"/>
          </a:xfrm>
          <a:prstGeom prst="rect">
            <a:avLst/>
          </a:prstGeom>
          <a:noFill/>
        </p:spPr>
        <p:txBody>
          <a:bodyPr wrap="square" lIns="27432" tIns="27432" rIns="27432" bIns="27432" anchor="t">
            <a:noAutofit/>
          </a:bodyPr>
          <a:lstStyle/>
          <a:p>
            <a:pPr algn="l"/>
            <a:r>
              <a:rPr lang="fr-FR" sz="2000" b="1" spc="162" noProof="0" dirty="0">
                <a:solidFill>
                  <a:srgbClr val="1A6A77"/>
                </a:solidFill>
                <a:latin typeface="Arial"/>
              </a:rPr>
              <a:t>HUMAIN</a:t>
            </a:r>
          </a:p>
        </p:txBody>
      </p:sp>
      <p:sp>
        <p:nvSpPr>
          <p:cNvPr id="10" name="TextBox 9"/>
          <p:cNvSpPr txBox="1"/>
          <p:nvPr/>
        </p:nvSpPr>
        <p:spPr>
          <a:xfrm>
            <a:off x="1428750" y="4686300"/>
            <a:ext cx="4318000" cy="3556000"/>
          </a:xfrm>
          <a:prstGeom prst="rect">
            <a:avLst/>
          </a:prstGeom>
          <a:noFill/>
        </p:spPr>
        <p:txBody>
          <a:bodyPr wrap="square" lIns="27432" tIns="27432" rIns="27432" bIns="27432" anchor="t">
            <a:noAutofit/>
          </a:bodyPr>
          <a:lstStyle/>
          <a:p>
            <a:pPr algn="l">
              <a:lnSpc>
                <a:spcPct val="128000"/>
              </a:lnSpc>
              <a:spcAft>
                <a:spcPts val="800"/>
              </a:spcAft>
            </a:pPr>
            <a:r>
              <a:rPr lang="fr-FR" sz="2400" b="0" dirty="0">
                <a:solidFill>
                  <a:srgbClr val="4A4A4A"/>
                </a:solidFill>
                <a:latin typeface="Arial"/>
              </a:rPr>
              <a:t>Repéré tôt, un décrochage est souvent réversible ; sinon, démotivation et insertion professionnelle pénalisée.</a:t>
            </a:r>
          </a:p>
          <a:p>
            <a:pPr algn="l">
              <a:lnSpc>
                <a:spcPct val="128000"/>
              </a:lnSpc>
              <a:spcAft>
                <a:spcPts val="800"/>
              </a:spcAft>
            </a:pPr>
            <a:r>
              <a:rPr lang="fr-FR" sz="2400" b="1" dirty="0">
                <a:solidFill>
                  <a:srgbClr val="1A6A77"/>
                </a:solidFill>
                <a:latin typeface="Arial"/>
              </a:rPr>
              <a:t>➔ D'où la détection à mi-S1, quand la trajectoire peut encore s'inverser.</a:t>
            </a:r>
          </a:p>
        </p:txBody>
      </p:sp>
      <p:sp>
        <p:nvSpPr>
          <p:cNvPr id="11" name="Rounded Rectangle 10"/>
          <p:cNvSpPr/>
          <p:nvPr/>
        </p:nvSpPr>
        <p:spPr>
          <a:xfrm>
            <a:off x="6604000" y="3619500"/>
            <a:ext cx="5080000" cy="4800600"/>
          </a:xfrm>
          <a:prstGeom prst="roundRect">
            <a:avLst>
              <a:gd name="adj" fmla="val 4000"/>
            </a:avLst>
          </a:prstGeom>
          <a:solidFill>
            <a:srgbClr val="E4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2" name="TextBox 11"/>
          <p:cNvSpPr txBox="1"/>
          <p:nvPr/>
        </p:nvSpPr>
        <p:spPr>
          <a:xfrm>
            <a:off x="6985000" y="4076700"/>
            <a:ext cx="4318000" cy="304800"/>
          </a:xfrm>
          <a:prstGeom prst="rect">
            <a:avLst/>
          </a:prstGeom>
          <a:noFill/>
        </p:spPr>
        <p:txBody>
          <a:bodyPr wrap="square" lIns="27432" tIns="27432" rIns="27432" bIns="27432" anchor="t">
            <a:noAutofit/>
          </a:bodyPr>
          <a:lstStyle/>
          <a:p>
            <a:pPr algn="l"/>
            <a:r>
              <a:rPr lang="fr-FR" sz="2000" b="1" spc="162" noProof="0" dirty="0">
                <a:solidFill>
                  <a:srgbClr val="1A6A77"/>
                </a:solidFill>
                <a:latin typeface="Arial"/>
              </a:rPr>
              <a:t>INSTITUTIONNEL</a:t>
            </a:r>
          </a:p>
        </p:txBody>
      </p:sp>
      <p:sp>
        <p:nvSpPr>
          <p:cNvPr id="13" name="TextBox 12"/>
          <p:cNvSpPr txBox="1"/>
          <p:nvPr/>
        </p:nvSpPr>
        <p:spPr>
          <a:xfrm>
            <a:off x="6985000" y="4686300"/>
            <a:ext cx="4318000" cy="3556000"/>
          </a:xfrm>
          <a:prstGeom prst="rect">
            <a:avLst/>
          </a:prstGeom>
          <a:noFill/>
        </p:spPr>
        <p:txBody>
          <a:bodyPr wrap="square" lIns="27432" tIns="27432" rIns="27432" bIns="27432" anchor="t">
            <a:noAutofit/>
          </a:bodyPr>
          <a:lstStyle/>
          <a:p>
            <a:pPr algn="l">
              <a:lnSpc>
                <a:spcPct val="128000"/>
              </a:lnSpc>
              <a:spcAft>
                <a:spcPts val="800"/>
              </a:spcAft>
            </a:pPr>
            <a:r>
              <a:rPr lang="fr-FR" sz="2400" b="0" dirty="0">
                <a:solidFill>
                  <a:srgbClr val="4A4A4A"/>
                </a:solidFill>
                <a:latin typeface="Arial"/>
              </a:rPr>
              <a:t>Les ressources d'accompagnement — tutorat, soutien, aide sociale — sont limitées : il faut les cibler.</a:t>
            </a:r>
          </a:p>
          <a:p>
            <a:pPr algn="l">
              <a:lnSpc>
                <a:spcPct val="128000"/>
              </a:lnSpc>
              <a:spcAft>
                <a:spcPts val="800"/>
              </a:spcAft>
            </a:pPr>
            <a:r>
              <a:rPr lang="fr-FR" sz="2400" b="1" dirty="0">
                <a:solidFill>
                  <a:srgbClr val="1A6A77"/>
                </a:solidFill>
                <a:latin typeface="Arial"/>
              </a:rPr>
              <a:t>➔ D'où la cible secondaire pour prioriser, et l'explicabilité pour agir.</a:t>
            </a:r>
          </a:p>
        </p:txBody>
      </p:sp>
      <p:sp>
        <p:nvSpPr>
          <p:cNvPr id="14" name="Rounded Rectangle 13"/>
          <p:cNvSpPr/>
          <p:nvPr/>
        </p:nvSpPr>
        <p:spPr>
          <a:xfrm>
            <a:off x="12160250" y="3619500"/>
            <a:ext cx="5080000" cy="4800600"/>
          </a:xfrm>
          <a:prstGeom prst="roundRect">
            <a:avLst>
              <a:gd name="adj" fmla="val 4000"/>
            </a:avLst>
          </a:prstGeom>
          <a:solidFill>
            <a:srgbClr val="E4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5" name="TextBox 14"/>
          <p:cNvSpPr txBox="1"/>
          <p:nvPr/>
        </p:nvSpPr>
        <p:spPr>
          <a:xfrm>
            <a:off x="12541250" y="4076700"/>
            <a:ext cx="4318000" cy="304800"/>
          </a:xfrm>
          <a:prstGeom prst="rect">
            <a:avLst/>
          </a:prstGeom>
          <a:noFill/>
        </p:spPr>
        <p:txBody>
          <a:bodyPr wrap="square" lIns="27432" tIns="27432" rIns="27432" bIns="27432" anchor="t">
            <a:noAutofit/>
          </a:bodyPr>
          <a:lstStyle/>
          <a:p>
            <a:pPr algn="l"/>
            <a:r>
              <a:rPr lang="fr-FR" sz="2000" b="1" spc="162" noProof="0" dirty="0">
                <a:solidFill>
                  <a:srgbClr val="1A6A77"/>
                </a:solidFill>
                <a:latin typeface="Arial"/>
              </a:rPr>
              <a:t>ÉCONOMIQUE</a:t>
            </a:r>
          </a:p>
        </p:txBody>
      </p:sp>
      <p:sp>
        <p:nvSpPr>
          <p:cNvPr id="16" name="TextBox 15"/>
          <p:cNvSpPr txBox="1"/>
          <p:nvPr/>
        </p:nvSpPr>
        <p:spPr>
          <a:xfrm>
            <a:off x="12541250" y="4686300"/>
            <a:ext cx="4318000" cy="3556000"/>
          </a:xfrm>
          <a:prstGeom prst="rect">
            <a:avLst/>
          </a:prstGeom>
          <a:noFill/>
        </p:spPr>
        <p:txBody>
          <a:bodyPr wrap="square" lIns="27432" tIns="27432" rIns="27432" bIns="27432" anchor="t">
            <a:noAutofit/>
          </a:bodyPr>
          <a:lstStyle/>
          <a:p>
            <a:pPr algn="l">
              <a:lnSpc>
                <a:spcPct val="128000"/>
              </a:lnSpc>
              <a:spcAft>
                <a:spcPts val="800"/>
              </a:spcAft>
            </a:pPr>
            <a:r>
              <a:rPr lang="fr-FR" sz="2400" b="0" dirty="0">
                <a:solidFill>
                  <a:srgbClr val="4A4A4A"/>
                </a:solidFill>
                <a:latin typeface="Arial"/>
              </a:rPr>
              <a:t>Un abandon gaspille un investissement : l'étudiant perd l'année, l'institution ses moyens, la société un diplômé.</a:t>
            </a:r>
          </a:p>
          <a:p>
            <a:pPr algn="l">
              <a:lnSpc>
                <a:spcPct val="128000"/>
              </a:lnSpc>
              <a:spcAft>
                <a:spcPts val="800"/>
              </a:spcAft>
            </a:pPr>
            <a:r>
              <a:rPr lang="fr-FR" sz="2400" b="1" dirty="0">
                <a:solidFill>
                  <a:srgbClr val="1A6A77"/>
                </a:solidFill>
                <a:latin typeface="Arial"/>
              </a:rPr>
              <a:t>➔ Agir à mi-parcours, c'est protéger un investissement déjà engagé.</a:t>
            </a:r>
          </a:p>
        </p:txBody>
      </p:sp>
    </p:spTree>
    <p:extLst>
      <p:ext uri="{BB962C8B-B14F-4D97-AF65-F5344CB8AC3E}">
        <p14:creationId xmlns:p14="http://schemas.microsoft.com/office/powerpoint/2010/main" val="3422887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0" name="TL 300"/>
          <p:cNvSpPr/>
          <p:nvPr/>
        </p:nvSpPr>
        <p:spPr>
          <a:xfrm>
            <a:off x="1054100" y="2819400"/>
            <a:ext cx="16192500" cy="4064000"/>
          </a:xfrm>
          <a:prstGeom prst="rect">
            <a:avLst/>
          </a:prstGeom>
          <a:solidFill>
            <a:schemeClr val="bg1"/>
          </a:solidFill>
          <a:ln>
            <a:noFill/>
          </a:ln>
        </p:spPr>
        <p:txBody>
          <a:bodyPr wrap="square" lIns="0" tIns="0" rIns="0" bIns="0" anchor="ctr"/>
          <a:lstStyle/>
          <a:p>
            <a:endParaRPr lang="fr-FR" noProof="0" dirty="0"/>
          </a:p>
        </p:txBody>
      </p:sp>
      <p:sp>
        <p:nvSpPr>
          <p:cNvPr id="600" name="TL scope bg"/>
          <p:cNvSpPr/>
          <p:nvPr/>
        </p:nvSpPr>
        <p:spPr>
          <a:xfrm>
            <a:off x="7569200" y="2819400"/>
            <a:ext cx="3149600" cy="4089400"/>
          </a:xfrm>
          <a:prstGeom prst="rect">
            <a:avLst/>
          </a:prstGeom>
          <a:solidFill>
            <a:srgbClr val="FFFFFF"/>
          </a:solidFill>
          <a:ln>
            <a:noFill/>
          </a:ln>
        </p:spPr>
        <p:txBody>
          <a:bodyPr wrap="square" lIns="0" tIns="0" rIns="0" bIns="0" anchor="ctr"/>
          <a:lstStyle/>
          <a:p>
            <a:endParaRPr lang="fr-FR" noProof="0" dirty="0"/>
          </a:p>
        </p:txBody>
      </p:sp>
      <p:pic>
        <p:nvPicPr>
          <p:cNvPr id="2" name="Picture 1" descr="logo-teal.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ACTE 01 · LA BOUCLE DE VALEUR</a:t>
            </a:r>
          </a:p>
        </p:txBody>
      </p:sp>
      <p:sp>
        <p:nvSpPr>
          <p:cNvPr id="4" name="TextBox 3"/>
          <p:cNvSpPr txBox="1"/>
          <p:nvPr/>
        </p:nvSpPr>
        <p:spPr>
          <a:xfrm>
            <a:off x="1047750" y="1619250"/>
            <a:ext cx="16192500" cy="754380"/>
          </a:xfrm>
          <a:prstGeom prst="rect">
            <a:avLst/>
          </a:prstGeom>
          <a:noFill/>
        </p:spPr>
        <p:txBody>
          <a:bodyPr wrap="square" lIns="27432" tIns="27432" rIns="27432" bIns="27432" anchor="t">
            <a:noAutofit/>
          </a:bodyPr>
          <a:lstStyle/>
          <a:p>
            <a:pPr algn="l">
              <a:lnSpc>
                <a:spcPct val="100000"/>
              </a:lnSpc>
            </a:pPr>
            <a:r>
              <a:rPr lang="fr-FR" sz="4500" b="1" spc="-45" noProof="0" dirty="0">
                <a:solidFill>
                  <a:srgbClr val="000000"/>
                </a:solidFill>
                <a:latin typeface="Arial"/>
              </a:rPr>
              <a:t>Acteurs et jalons sur une année</a:t>
            </a:r>
          </a:p>
        </p:txBody>
      </p:sp>
      <p:sp>
        <p:nvSpPr>
          <p:cNvPr id="5" name="Rectangle 4"/>
          <p:cNvSpPr/>
          <p:nvPr/>
        </p:nvSpPr>
        <p:spPr>
          <a:xfrm>
            <a:off x="1047750" y="2526030"/>
            <a:ext cx="1143000" cy="1905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8" name="TextBox 7"/>
          <p:cNvSpPr txBox="1"/>
          <p:nvPr/>
        </p:nvSpPr>
        <p:spPr>
          <a:xfrm>
            <a:off x="17147743" y="9309100"/>
            <a:ext cx="175056"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6</a:t>
            </a:r>
            <a:endParaRPr lang="fr-FR" sz="1400" b="1" noProof="0" dirty="0">
              <a:solidFill>
                <a:srgbClr val="56B9CA"/>
              </a:solidFill>
              <a:latin typeface="Arial"/>
              <a:cs typeface="Arial"/>
            </a:endParaRPr>
          </a:p>
        </p:txBody>
      </p:sp>
      <p:sp>
        <p:nvSpPr>
          <p:cNvPr id="13" name="TextBox 12"/>
          <p:cNvSpPr txBox="1"/>
          <p:nvPr/>
        </p:nvSpPr>
        <p:spPr>
          <a:xfrm>
            <a:off x="1054100" y="2946400"/>
            <a:ext cx="3048000" cy="482600"/>
          </a:xfrm>
          <a:prstGeom prst="rect">
            <a:avLst/>
          </a:prstGeom>
          <a:noFill/>
        </p:spPr>
        <p:txBody>
          <a:bodyPr wrap="square" lIns="27432" tIns="27432" rIns="27432" bIns="27432" anchor="t">
            <a:noAutofit/>
          </a:bodyPr>
          <a:lstStyle/>
          <a:p>
            <a:pPr algn="ctr">
              <a:buNone/>
            </a:pPr>
            <a:r>
              <a:rPr lang="fr-FR" sz="2100" b="1" spc="150" noProof="0" dirty="0">
                <a:solidFill>
                  <a:srgbClr val="3596A8"/>
                </a:solidFill>
                <a:latin typeface="Arial"/>
              </a:rPr>
              <a:t>EN AMONT</a:t>
            </a:r>
          </a:p>
        </p:txBody>
      </p:sp>
      <p:sp>
        <p:nvSpPr>
          <p:cNvPr id="14" name="TextBox 13"/>
          <p:cNvSpPr txBox="1"/>
          <p:nvPr/>
        </p:nvSpPr>
        <p:spPr>
          <a:xfrm>
            <a:off x="1054100" y="4445000"/>
            <a:ext cx="3048000" cy="812800"/>
          </a:xfrm>
          <a:prstGeom prst="rect">
            <a:avLst/>
          </a:prstGeom>
          <a:noFill/>
        </p:spPr>
        <p:txBody>
          <a:bodyPr wrap="square" lIns="27432" tIns="27432" rIns="27432" bIns="27432" anchor="t">
            <a:noAutofit/>
          </a:bodyPr>
          <a:lstStyle/>
          <a:p>
            <a:pPr algn="ctr">
              <a:lnSpc>
                <a:spcPct val="100000"/>
              </a:lnSpc>
              <a:buNone/>
            </a:pPr>
            <a:r>
              <a:rPr lang="fr-FR" sz="2100" b="1" noProof="0" dirty="0">
                <a:solidFill>
                  <a:srgbClr val="000000"/>
                </a:solidFill>
                <a:latin typeface="Arial"/>
              </a:rPr>
              <a:t>Cadrage &amp; conformité</a:t>
            </a:r>
          </a:p>
        </p:txBody>
      </p:sp>
      <p:sp>
        <p:nvSpPr>
          <p:cNvPr id="15" name="TextBox 14"/>
          <p:cNvSpPr txBox="1"/>
          <p:nvPr/>
        </p:nvSpPr>
        <p:spPr>
          <a:xfrm>
            <a:off x="1054100" y="5308600"/>
            <a:ext cx="3048000" cy="1270000"/>
          </a:xfrm>
          <a:prstGeom prst="rect">
            <a:avLst/>
          </a:prstGeom>
          <a:noFill/>
        </p:spPr>
        <p:txBody>
          <a:bodyPr wrap="square" lIns="27432" tIns="27432" rIns="27432" bIns="27432" anchor="t">
            <a:noAutofit/>
          </a:bodyPr>
          <a:lstStyle/>
          <a:p>
            <a:pPr algn="ctr">
              <a:lnSpc>
                <a:spcPct val="115000"/>
              </a:lnSpc>
              <a:buNone/>
            </a:pPr>
            <a:r>
              <a:rPr lang="fr-FR" sz="1800" b="0" noProof="0" dirty="0">
                <a:solidFill>
                  <a:srgbClr val="5A5A5A"/>
                </a:solidFill>
                <a:latin typeface="Arial"/>
              </a:rPr>
              <a:t>Base légale · minimisation · durées de conservation</a:t>
            </a:r>
          </a:p>
        </p:txBody>
      </p:sp>
      <p:sp>
        <p:nvSpPr>
          <p:cNvPr id="20" name="TextBox 19"/>
          <p:cNvSpPr txBox="1"/>
          <p:nvPr/>
        </p:nvSpPr>
        <p:spPr>
          <a:xfrm>
            <a:off x="4330700" y="2946400"/>
            <a:ext cx="3048000" cy="482600"/>
          </a:xfrm>
          <a:prstGeom prst="rect">
            <a:avLst/>
          </a:prstGeom>
          <a:noFill/>
        </p:spPr>
        <p:txBody>
          <a:bodyPr wrap="square" lIns="27432" tIns="27432" rIns="27432" bIns="27432" anchor="t">
            <a:noAutofit/>
          </a:bodyPr>
          <a:lstStyle/>
          <a:p>
            <a:pPr algn="ctr">
              <a:buNone/>
            </a:pPr>
            <a:r>
              <a:rPr lang="fr-FR" sz="2100" b="1" spc="150" noProof="0" dirty="0">
                <a:solidFill>
                  <a:srgbClr val="3596A8"/>
                </a:solidFill>
                <a:latin typeface="Arial"/>
              </a:rPr>
              <a:t>SEPT · OCT — S1</a:t>
            </a:r>
          </a:p>
        </p:txBody>
      </p:sp>
      <p:sp>
        <p:nvSpPr>
          <p:cNvPr id="21" name="TextBox 20"/>
          <p:cNvSpPr txBox="1"/>
          <p:nvPr/>
        </p:nvSpPr>
        <p:spPr>
          <a:xfrm>
            <a:off x="4330700" y="4445000"/>
            <a:ext cx="3048000" cy="812800"/>
          </a:xfrm>
          <a:prstGeom prst="rect">
            <a:avLst/>
          </a:prstGeom>
          <a:noFill/>
        </p:spPr>
        <p:txBody>
          <a:bodyPr wrap="square" lIns="27432" tIns="27432" rIns="27432" bIns="27432" anchor="t">
            <a:noAutofit/>
          </a:bodyPr>
          <a:lstStyle/>
          <a:p>
            <a:pPr algn="ctr">
              <a:lnSpc>
                <a:spcPct val="100000"/>
              </a:lnSpc>
              <a:buNone/>
            </a:pPr>
            <a:r>
              <a:rPr lang="fr-FR" sz="2100" b="1" noProof="0" dirty="0">
                <a:solidFill>
                  <a:srgbClr val="000000"/>
                </a:solidFill>
                <a:latin typeface="Arial"/>
              </a:rPr>
              <a:t>Collecte des données</a:t>
            </a:r>
          </a:p>
        </p:txBody>
      </p:sp>
      <p:sp>
        <p:nvSpPr>
          <p:cNvPr id="22" name="TextBox 21"/>
          <p:cNvSpPr txBox="1"/>
          <p:nvPr/>
        </p:nvSpPr>
        <p:spPr>
          <a:xfrm>
            <a:off x="4330700" y="5308600"/>
            <a:ext cx="3048000" cy="1270000"/>
          </a:xfrm>
          <a:prstGeom prst="rect">
            <a:avLst/>
          </a:prstGeom>
          <a:noFill/>
        </p:spPr>
        <p:txBody>
          <a:bodyPr wrap="square" lIns="27432" tIns="27432" rIns="27432" bIns="27432" anchor="t">
            <a:noAutofit/>
          </a:bodyPr>
          <a:lstStyle/>
          <a:p>
            <a:pPr algn="ctr">
              <a:lnSpc>
                <a:spcPct val="115000"/>
              </a:lnSpc>
              <a:buNone/>
            </a:pPr>
            <a:r>
              <a:rPr lang="fr-FR" sz="1800" b="0" noProof="0" dirty="0">
                <a:solidFill>
                  <a:srgbClr val="5A5A5A"/>
                </a:solidFill>
                <a:latin typeface="Arial"/>
              </a:rPr>
              <a:t>Assiduité · engagement LMS · devoirs · ressenti déclaré</a:t>
            </a:r>
          </a:p>
        </p:txBody>
      </p:sp>
      <p:sp>
        <p:nvSpPr>
          <p:cNvPr id="27" name="TextBox 26"/>
          <p:cNvSpPr txBox="1"/>
          <p:nvPr/>
        </p:nvSpPr>
        <p:spPr>
          <a:xfrm>
            <a:off x="7620000" y="2946400"/>
            <a:ext cx="3048000" cy="482600"/>
          </a:xfrm>
          <a:prstGeom prst="rect">
            <a:avLst/>
          </a:prstGeom>
          <a:noFill/>
        </p:spPr>
        <p:txBody>
          <a:bodyPr wrap="square" lIns="27432" tIns="27432" rIns="27432" bIns="27432" anchor="t">
            <a:noAutofit/>
          </a:bodyPr>
          <a:lstStyle/>
          <a:p>
            <a:pPr algn="ctr">
              <a:buNone/>
            </a:pPr>
            <a:r>
              <a:rPr lang="fr-FR" sz="2100" b="1" spc="150" noProof="0" dirty="0">
                <a:solidFill>
                  <a:srgbClr val="3596A8"/>
                </a:solidFill>
                <a:latin typeface="Arial"/>
              </a:rPr>
              <a:t>MI-S1 · POINT FIXE</a:t>
            </a:r>
          </a:p>
        </p:txBody>
      </p:sp>
      <p:sp>
        <p:nvSpPr>
          <p:cNvPr id="28" name="TextBox 27"/>
          <p:cNvSpPr txBox="1"/>
          <p:nvPr/>
        </p:nvSpPr>
        <p:spPr>
          <a:xfrm>
            <a:off x="7620000" y="4445000"/>
            <a:ext cx="3048000" cy="812800"/>
          </a:xfrm>
          <a:prstGeom prst="rect">
            <a:avLst/>
          </a:prstGeom>
          <a:noFill/>
        </p:spPr>
        <p:txBody>
          <a:bodyPr wrap="square" lIns="27432" tIns="27432" rIns="27432" bIns="27432" anchor="t">
            <a:noAutofit/>
          </a:bodyPr>
          <a:lstStyle/>
          <a:p>
            <a:pPr algn="ctr">
              <a:lnSpc>
                <a:spcPct val="100000"/>
              </a:lnSpc>
              <a:buNone/>
            </a:pPr>
            <a:r>
              <a:rPr lang="fr-FR" sz="2100" b="1" noProof="0" dirty="0">
                <a:solidFill>
                  <a:srgbClr val="000000"/>
                </a:solidFill>
                <a:latin typeface="Arial"/>
              </a:rPr>
              <a:t>Score de risque expliqué</a:t>
            </a:r>
          </a:p>
        </p:txBody>
      </p:sp>
      <p:sp>
        <p:nvSpPr>
          <p:cNvPr id="29" name="TextBox 28"/>
          <p:cNvSpPr txBox="1"/>
          <p:nvPr/>
        </p:nvSpPr>
        <p:spPr>
          <a:xfrm>
            <a:off x="7620000" y="5308600"/>
            <a:ext cx="3048000" cy="1270000"/>
          </a:xfrm>
          <a:prstGeom prst="rect">
            <a:avLst/>
          </a:prstGeom>
          <a:noFill/>
        </p:spPr>
        <p:txBody>
          <a:bodyPr wrap="square" lIns="27432" tIns="27432" rIns="27432" bIns="27432" anchor="t">
            <a:noAutofit/>
          </a:bodyPr>
          <a:lstStyle/>
          <a:p>
            <a:pPr algn="ctr">
              <a:lnSpc>
                <a:spcPct val="115000"/>
              </a:lnSpc>
              <a:buNone/>
            </a:pPr>
            <a:r>
              <a:rPr lang="fr-FR" sz="1800" b="0" noProof="0" dirty="0">
                <a:solidFill>
                  <a:srgbClr val="5A5A5A"/>
                </a:solidFill>
                <a:latin typeface="Arial"/>
              </a:rPr>
              <a:t>Probabilité d'abandon + moyenne finale estimée</a:t>
            </a:r>
          </a:p>
        </p:txBody>
      </p:sp>
      <p:sp>
        <p:nvSpPr>
          <p:cNvPr id="34" name="TextBox 33"/>
          <p:cNvSpPr txBox="1"/>
          <p:nvPr/>
        </p:nvSpPr>
        <p:spPr>
          <a:xfrm>
            <a:off x="10909300" y="2946400"/>
            <a:ext cx="3048000" cy="482600"/>
          </a:xfrm>
          <a:prstGeom prst="rect">
            <a:avLst/>
          </a:prstGeom>
          <a:noFill/>
        </p:spPr>
        <p:txBody>
          <a:bodyPr wrap="square" lIns="27432" tIns="27432" rIns="27432" bIns="27432" anchor="t">
            <a:noAutofit/>
          </a:bodyPr>
          <a:lstStyle/>
          <a:p>
            <a:pPr algn="ctr">
              <a:buNone/>
            </a:pPr>
            <a:r>
              <a:rPr lang="fr-FR" sz="2100" b="1" spc="150" noProof="0" dirty="0">
                <a:solidFill>
                  <a:srgbClr val="3596A8"/>
                </a:solidFill>
                <a:latin typeface="Arial"/>
              </a:rPr>
              <a:t>MI-S1 + X jrs</a:t>
            </a:r>
          </a:p>
        </p:txBody>
      </p:sp>
      <p:sp>
        <p:nvSpPr>
          <p:cNvPr id="35" name="TextBox 34"/>
          <p:cNvSpPr txBox="1"/>
          <p:nvPr/>
        </p:nvSpPr>
        <p:spPr>
          <a:xfrm>
            <a:off x="10909300" y="4445000"/>
            <a:ext cx="3048000" cy="812800"/>
          </a:xfrm>
          <a:prstGeom prst="rect">
            <a:avLst/>
          </a:prstGeom>
          <a:noFill/>
        </p:spPr>
        <p:txBody>
          <a:bodyPr wrap="square" lIns="27432" tIns="27432" rIns="27432" bIns="27432" anchor="t">
            <a:noAutofit/>
          </a:bodyPr>
          <a:lstStyle/>
          <a:p>
            <a:pPr algn="ctr">
              <a:lnSpc>
                <a:spcPct val="100000"/>
              </a:lnSpc>
              <a:buNone/>
            </a:pPr>
            <a:r>
              <a:rPr lang="fr-FR" sz="2100" b="1" noProof="0" dirty="0">
                <a:solidFill>
                  <a:srgbClr val="000000"/>
                </a:solidFill>
                <a:latin typeface="Arial"/>
              </a:rPr>
              <a:t>Décision &amp; accompagnement</a:t>
            </a:r>
          </a:p>
        </p:txBody>
      </p:sp>
      <p:sp>
        <p:nvSpPr>
          <p:cNvPr id="36" name="TextBox 35"/>
          <p:cNvSpPr txBox="1"/>
          <p:nvPr/>
        </p:nvSpPr>
        <p:spPr>
          <a:xfrm>
            <a:off x="10909300" y="5308600"/>
            <a:ext cx="3048000" cy="1270000"/>
          </a:xfrm>
          <a:prstGeom prst="rect">
            <a:avLst/>
          </a:prstGeom>
          <a:noFill/>
        </p:spPr>
        <p:txBody>
          <a:bodyPr wrap="square" lIns="27432" tIns="27432" rIns="27432" bIns="27432" anchor="t">
            <a:noAutofit/>
          </a:bodyPr>
          <a:lstStyle/>
          <a:p>
            <a:pPr algn="ctr">
              <a:lnSpc>
                <a:spcPct val="115000"/>
              </a:lnSpc>
              <a:buNone/>
            </a:pPr>
            <a:r>
              <a:rPr lang="fr-FR" sz="1800" b="0" noProof="0" dirty="0">
                <a:solidFill>
                  <a:srgbClr val="5A5A5A"/>
                </a:solidFill>
                <a:latin typeface="Arial"/>
              </a:rPr>
              <a:t>Qui d'abord, à quelle intensité · tutorat, méthodo, aide</a:t>
            </a:r>
          </a:p>
        </p:txBody>
      </p:sp>
      <p:sp>
        <p:nvSpPr>
          <p:cNvPr id="41" name="TextBox 40"/>
          <p:cNvSpPr txBox="1"/>
          <p:nvPr/>
        </p:nvSpPr>
        <p:spPr>
          <a:xfrm>
            <a:off x="14198600" y="2946400"/>
            <a:ext cx="3048000" cy="482600"/>
          </a:xfrm>
          <a:prstGeom prst="rect">
            <a:avLst/>
          </a:prstGeom>
          <a:noFill/>
        </p:spPr>
        <p:txBody>
          <a:bodyPr wrap="square" lIns="27432" tIns="27432" rIns="27432" bIns="27432" anchor="t">
            <a:noAutofit/>
          </a:bodyPr>
          <a:lstStyle/>
          <a:p>
            <a:pPr algn="ctr">
              <a:buNone/>
            </a:pPr>
            <a:r>
              <a:rPr lang="fr-FR" sz="2100" b="1" spc="150" noProof="0" dirty="0">
                <a:solidFill>
                  <a:srgbClr val="3596A8"/>
                </a:solidFill>
                <a:latin typeface="Arial"/>
              </a:rPr>
              <a:t>FIN D'ANNÉE</a:t>
            </a:r>
          </a:p>
        </p:txBody>
      </p:sp>
      <p:sp>
        <p:nvSpPr>
          <p:cNvPr id="42" name="TextBox 41"/>
          <p:cNvSpPr txBox="1"/>
          <p:nvPr/>
        </p:nvSpPr>
        <p:spPr>
          <a:xfrm>
            <a:off x="14198600" y="4445000"/>
            <a:ext cx="3048000" cy="812800"/>
          </a:xfrm>
          <a:prstGeom prst="rect">
            <a:avLst/>
          </a:prstGeom>
          <a:noFill/>
        </p:spPr>
        <p:txBody>
          <a:bodyPr wrap="square" lIns="27432" tIns="27432" rIns="27432" bIns="27432" anchor="t">
            <a:noAutofit/>
          </a:bodyPr>
          <a:lstStyle/>
          <a:p>
            <a:pPr algn="ctr">
              <a:lnSpc>
                <a:spcPct val="100000"/>
              </a:lnSpc>
              <a:buNone/>
            </a:pPr>
            <a:r>
              <a:rPr lang="fr-FR" sz="2100" b="1" noProof="0" dirty="0">
                <a:solidFill>
                  <a:srgbClr val="000000"/>
                </a:solidFill>
                <a:latin typeface="Arial"/>
              </a:rPr>
              <a:t>Décrochage en baisse</a:t>
            </a:r>
          </a:p>
        </p:txBody>
      </p:sp>
      <p:sp>
        <p:nvSpPr>
          <p:cNvPr id="43" name="TextBox 42"/>
          <p:cNvSpPr txBox="1"/>
          <p:nvPr/>
        </p:nvSpPr>
        <p:spPr>
          <a:xfrm>
            <a:off x="14198600" y="5308600"/>
            <a:ext cx="3048000" cy="1270000"/>
          </a:xfrm>
          <a:prstGeom prst="rect">
            <a:avLst/>
          </a:prstGeom>
          <a:noFill/>
        </p:spPr>
        <p:txBody>
          <a:bodyPr wrap="square" lIns="27432" tIns="27432" rIns="27432" bIns="27432" anchor="t">
            <a:noAutofit/>
          </a:bodyPr>
          <a:lstStyle/>
          <a:p>
            <a:pPr algn="ctr">
              <a:lnSpc>
                <a:spcPct val="115000"/>
              </a:lnSpc>
              <a:buNone/>
            </a:pPr>
            <a:r>
              <a:rPr lang="fr-FR" sz="1800" b="0" noProof="0" dirty="0">
                <a:solidFill>
                  <a:srgbClr val="5A5A5A"/>
                </a:solidFill>
                <a:latin typeface="Arial"/>
              </a:rPr>
              <a:t>L'effet visé, mesuré en fin d'année</a:t>
            </a:r>
          </a:p>
        </p:txBody>
      </p:sp>
      <p:sp>
        <p:nvSpPr>
          <p:cNvPr id="302" name="TL 302"/>
          <p:cNvSpPr/>
          <p:nvPr/>
        </p:nvSpPr>
        <p:spPr>
          <a:xfrm>
            <a:off x="1054100" y="3962400"/>
            <a:ext cx="15900400" cy="25400"/>
          </a:xfrm>
          <a:prstGeom prst="rect">
            <a:avLst/>
          </a:prstGeom>
          <a:solidFill>
            <a:srgbClr val="DDE3E6"/>
          </a:solidFill>
          <a:ln>
            <a:noFill/>
          </a:ln>
        </p:spPr>
        <p:txBody>
          <a:bodyPr wrap="square" lIns="0" tIns="0" rIns="0" bIns="0" anchor="ctr"/>
          <a:lstStyle/>
          <a:p>
            <a:endParaRPr lang="fr-FR" noProof="0" dirty="0"/>
          </a:p>
        </p:txBody>
      </p:sp>
      <p:sp>
        <p:nvSpPr>
          <p:cNvPr id="303" name="TL 303"/>
          <p:cNvSpPr/>
          <p:nvPr/>
        </p:nvSpPr>
        <p:spPr>
          <a:xfrm>
            <a:off x="2463800" y="3860800"/>
            <a:ext cx="228600" cy="228600"/>
          </a:xfrm>
          <a:prstGeom prst="ellipse">
            <a:avLst/>
          </a:prstGeom>
          <a:solidFill>
            <a:srgbClr val="FFFFFF"/>
          </a:solidFill>
          <a:ln w="25400">
            <a:solidFill>
              <a:srgbClr val="56B9CA"/>
            </a:solidFill>
          </a:ln>
        </p:spPr>
        <p:txBody>
          <a:bodyPr wrap="square" lIns="0" tIns="0" rIns="0" bIns="0" anchor="ctr"/>
          <a:lstStyle/>
          <a:p>
            <a:endParaRPr lang="fr-FR" noProof="0" dirty="0"/>
          </a:p>
        </p:txBody>
      </p:sp>
      <p:sp>
        <p:nvSpPr>
          <p:cNvPr id="304" name="TL 304"/>
          <p:cNvSpPr/>
          <p:nvPr/>
        </p:nvSpPr>
        <p:spPr>
          <a:xfrm>
            <a:off x="5740400" y="3860800"/>
            <a:ext cx="228600" cy="228600"/>
          </a:xfrm>
          <a:prstGeom prst="ellipse">
            <a:avLst/>
          </a:prstGeom>
          <a:solidFill>
            <a:srgbClr val="FFFFFF"/>
          </a:solidFill>
          <a:ln w="25400">
            <a:solidFill>
              <a:srgbClr val="56B9CA"/>
            </a:solidFill>
          </a:ln>
        </p:spPr>
        <p:txBody>
          <a:bodyPr wrap="square" lIns="0" tIns="0" rIns="0" bIns="0" anchor="ctr"/>
          <a:lstStyle/>
          <a:p>
            <a:endParaRPr lang="fr-FR" noProof="0" dirty="0"/>
          </a:p>
        </p:txBody>
      </p:sp>
      <p:sp>
        <p:nvSpPr>
          <p:cNvPr id="305" name="TL 305"/>
          <p:cNvSpPr/>
          <p:nvPr/>
        </p:nvSpPr>
        <p:spPr>
          <a:xfrm>
            <a:off x="12319000" y="3860800"/>
            <a:ext cx="228600" cy="228600"/>
          </a:xfrm>
          <a:prstGeom prst="ellipse">
            <a:avLst/>
          </a:prstGeom>
          <a:solidFill>
            <a:srgbClr val="FFFFFF"/>
          </a:solidFill>
          <a:ln w="25400">
            <a:solidFill>
              <a:srgbClr val="56B9CA"/>
            </a:solidFill>
          </a:ln>
        </p:spPr>
        <p:txBody>
          <a:bodyPr wrap="square" lIns="0" tIns="0" rIns="0" bIns="0" anchor="ctr"/>
          <a:lstStyle/>
          <a:p>
            <a:endParaRPr lang="fr-FR" noProof="0" dirty="0"/>
          </a:p>
        </p:txBody>
      </p:sp>
      <p:sp>
        <p:nvSpPr>
          <p:cNvPr id="306" name="TL 306"/>
          <p:cNvSpPr/>
          <p:nvPr/>
        </p:nvSpPr>
        <p:spPr>
          <a:xfrm>
            <a:off x="15608300" y="3860800"/>
            <a:ext cx="228600" cy="228600"/>
          </a:xfrm>
          <a:prstGeom prst="ellipse">
            <a:avLst/>
          </a:prstGeom>
          <a:solidFill>
            <a:srgbClr val="FFFFFF"/>
          </a:solidFill>
          <a:ln w="25400">
            <a:solidFill>
              <a:srgbClr val="56B9CA"/>
            </a:solidFill>
          </a:ln>
        </p:spPr>
        <p:txBody>
          <a:bodyPr wrap="square" lIns="0" tIns="0" rIns="0" bIns="0" anchor="ctr"/>
          <a:lstStyle/>
          <a:p>
            <a:endParaRPr lang="fr-FR" noProof="0" dirty="0"/>
          </a:p>
        </p:txBody>
      </p:sp>
      <p:sp>
        <p:nvSpPr>
          <p:cNvPr id="307" name="TL 307"/>
          <p:cNvSpPr/>
          <p:nvPr/>
        </p:nvSpPr>
        <p:spPr>
          <a:xfrm>
            <a:off x="8928100" y="3759200"/>
            <a:ext cx="431800" cy="431800"/>
          </a:xfrm>
          <a:prstGeom prst="ellipse">
            <a:avLst/>
          </a:prstGeom>
          <a:solidFill>
            <a:srgbClr val="56B9CA"/>
          </a:solidFill>
          <a:ln>
            <a:noFill/>
          </a:ln>
        </p:spPr>
        <p:txBody>
          <a:bodyPr wrap="square" lIns="0" tIns="0" rIns="0" bIns="0" anchor="ctr"/>
          <a:lstStyle/>
          <a:p>
            <a:endParaRPr lang="fr-FR" noProof="0" dirty="0"/>
          </a:p>
        </p:txBody>
      </p:sp>
      <p:sp>
        <p:nvSpPr>
          <p:cNvPr id="350" name="TL 350"/>
          <p:cNvSpPr/>
          <p:nvPr/>
        </p:nvSpPr>
        <p:spPr>
          <a:xfrm>
            <a:off x="8813800" y="3644900"/>
            <a:ext cx="660400" cy="660400"/>
          </a:xfrm>
          <a:prstGeom prst="ellipse">
            <a:avLst/>
          </a:prstGeom>
          <a:noFill/>
          <a:ln w="19050">
            <a:solidFill>
              <a:srgbClr val="BFE3EA"/>
            </a:solidFill>
          </a:ln>
        </p:spPr>
        <p:txBody>
          <a:bodyPr lIns="0" tIns="0" rIns="0" bIns="0"/>
          <a:lstStyle/>
          <a:p>
            <a:endParaRPr lang="fr-FR" noProof="0" dirty="0"/>
          </a:p>
        </p:txBody>
      </p:sp>
      <p:sp>
        <p:nvSpPr>
          <p:cNvPr id="400" name="TL 400"/>
          <p:cNvSpPr/>
          <p:nvPr/>
        </p:nvSpPr>
        <p:spPr>
          <a:xfrm rot="5400000">
            <a:off x="16954500" y="3848100"/>
            <a:ext cx="254000" cy="254000"/>
          </a:xfrm>
          <a:prstGeom prst="triangle">
            <a:avLst/>
          </a:prstGeom>
          <a:solidFill>
            <a:srgbClr val="56B9CA"/>
          </a:solidFill>
          <a:ln>
            <a:noFill/>
          </a:ln>
        </p:spPr>
        <p:txBody>
          <a:bodyPr wrap="square" lIns="0" tIns="0" rIns="0" bIns="0" anchor="ctr"/>
          <a:lstStyle/>
          <a:p>
            <a:endParaRPr lang="fr-FR" noProof="0" dirty="0"/>
          </a:p>
        </p:txBody>
      </p:sp>
      <p:sp>
        <p:nvSpPr>
          <p:cNvPr id="401" name="TL 401"/>
          <p:cNvSpPr/>
          <p:nvPr/>
        </p:nvSpPr>
        <p:spPr>
          <a:xfrm>
            <a:off x="1054100" y="7188200"/>
            <a:ext cx="3048000" cy="1524000"/>
          </a:xfrm>
          <a:prstGeom prst="rect">
            <a:avLst/>
          </a:prstGeom>
          <a:solidFill>
            <a:srgbClr val="EDF6F8"/>
          </a:solidFill>
          <a:ln>
            <a:noFill/>
          </a:ln>
        </p:spPr>
        <p:txBody>
          <a:bodyPr wrap="square" lIns="152400" tIns="101600" rIns="152400" bIns="101600" anchor="ctr"/>
          <a:lstStyle/>
          <a:p>
            <a:pPr algn="l">
              <a:lnSpc>
                <a:spcPct val="100000"/>
              </a:lnSpc>
              <a:buNone/>
            </a:pPr>
            <a:r>
              <a:rPr lang="fr-FR" sz="1700" b="1" noProof="0" dirty="0">
                <a:solidFill>
                  <a:srgbClr val="1A5A66"/>
                </a:solidFill>
                <a:latin typeface="Arial"/>
              </a:rPr>
              <a:t>DPO / référent éthique</a:t>
            </a:r>
          </a:p>
          <a:p>
            <a:pPr algn="l">
              <a:lnSpc>
                <a:spcPct val="110000"/>
              </a:lnSpc>
              <a:spcBef>
                <a:spcPts val="300"/>
              </a:spcBef>
              <a:buNone/>
            </a:pPr>
            <a:r>
              <a:rPr lang="fr-FR" sz="1600" b="0" noProof="0" dirty="0">
                <a:solidFill>
                  <a:srgbClr val="5A5A5A"/>
                </a:solidFill>
                <a:latin typeface="Arial"/>
              </a:rPr>
              <a:t>Garant de la conformité</a:t>
            </a:r>
          </a:p>
        </p:txBody>
      </p:sp>
      <p:sp>
        <p:nvSpPr>
          <p:cNvPr id="402" name="TL 402"/>
          <p:cNvSpPr/>
          <p:nvPr/>
        </p:nvSpPr>
        <p:spPr>
          <a:xfrm>
            <a:off x="1054100" y="7188200"/>
            <a:ext cx="38100" cy="1524000"/>
          </a:xfrm>
          <a:prstGeom prst="rect">
            <a:avLst/>
          </a:prstGeom>
          <a:solidFill>
            <a:srgbClr val="56B9CA"/>
          </a:solidFill>
          <a:ln>
            <a:noFill/>
          </a:ln>
        </p:spPr>
        <p:txBody>
          <a:bodyPr wrap="square" lIns="0" tIns="0" rIns="0" bIns="0" anchor="ctr"/>
          <a:lstStyle/>
          <a:p>
            <a:endParaRPr lang="fr-FR" noProof="0" dirty="0"/>
          </a:p>
        </p:txBody>
      </p:sp>
      <p:sp>
        <p:nvSpPr>
          <p:cNvPr id="403" name="TL 403"/>
          <p:cNvSpPr/>
          <p:nvPr/>
        </p:nvSpPr>
        <p:spPr>
          <a:xfrm>
            <a:off x="4330700" y="7188200"/>
            <a:ext cx="3048000" cy="1524000"/>
          </a:xfrm>
          <a:prstGeom prst="rect">
            <a:avLst/>
          </a:prstGeom>
          <a:solidFill>
            <a:srgbClr val="EDF6F8"/>
          </a:solidFill>
          <a:ln>
            <a:noFill/>
          </a:ln>
        </p:spPr>
        <p:txBody>
          <a:bodyPr wrap="square" lIns="152400" tIns="101600" rIns="152400" bIns="101600" anchor="ctr"/>
          <a:lstStyle/>
          <a:p>
            <a:pPr algn="l">
              <a:lnSpc>
                <a:spcPct val="100000"/>
              </a:lnSpc>
              <a:buNone/>
            </a:pPr>
            <a:r>
              <a:rPr lang="fr-FR" sz="1700" b="1" noProof="0" dirty="0">
                <a:solidFill>
                  <a:srgbClr val="1A5A66"/>
                </a:solidFill>
                <a:latin typeface="Arial"/>
              </a:rPr>
              <a:t>SI scolarité / LMS</a:t>
            </a:r>
          </a:p>
          <a:p>
            <a:pPr algn="l">
              <a:lnSpc>
                <a:spcPct val="110000"/>
              </a:lnSpc>
              <a:spcBef>
                <a:spcPts val="300"/>
              </a:spcBef>
              <a:buNone/>
            </a:pPr>
            <a:r>
              <a:rPr lang="fr-FR" sz="1600" b="0" noProof="0" dirty="0">
                <a:solidFill>
                  <a:srgbClr val="5A5A5A"/>
                </a:solidFill>
                <a:latin typeface="Arial"/>
              </a:rPr>
              <a:t>Fournisseur des données</a:t>
            </a:r>
          </a:p>
        </p:txBody>
      </p:sp>
      <p:sp>
        <p:nvSpPr>
          <p:cNvPr id="404" name="TL 404"/>
          <p:cNvSpPr/>
          <p:nvPr/>
        </p:nvSpPr>
        <p:spPr>
          <a:xfrm>
            <a:off x="4330700" y="7188200"/>
            <a:ext cx="38100" cy="1524000"/>
          </a:xfrm>
          <a:prstGeom prst="rect">
            <a:avLst/>
          </a:prstGeom>
          <a:solidFill>
            <a:srgbClr val="56B9CA"/>
          </a:solidFill>
          <a:ln>
            <a:noFill/>
          </a:ln>
        </p:spPr>
        <p:txBody>
          <a:bodyPr wrap="square" lIns="0" tIns="0" rIns="0" bIns="0" anchor="ctr"/>
          <a:lstStyle/>
          <a:p>
            <a:endParaRPr lang="fr-FR" noProof="0" dirty="0"/>
          </a:p>
        </p:txBody>
      </p:sp>
      <p:sp>
        <p:nvSpPr>
          <p:cNvPr id="405" name="TL 405"/>
          <p:cNvSpPr/>
          <p:nvPr/>
        </p:nvSpPr>
        <p:spPr>
          <a:xfrm>
            <a:off x="7620000" y="7188200"/>
            <a:ext cx="3048000" cy="1524000"/>
          </a:xfrm>
          <a:prstGeom prst="rect">
            <a:avLst/>
          </a:prstGeom>
          <a:solidFill>
            <a:srgbClr val="EDF6F8"/>
          </a:solidFill>
          <a:ln>
            <a:noFill/>
          </a:ln>
        </p:spPr>
        <p:txBody>
          <a:bodyPr wrap="square" lIns="152400" tIns="101600" rIns="152400" bIns="101600" anchor="ctr"/>
          <a:lstStyle/>
          <a:p>
            <a:pPr algn="l">
              <a:lnSpc>
                <a:spcPct val="100000"/>
              </a:lnSpc>
              <a:buNone/>
            </a:pPr>
            <a:r>
              <a:rPr lang="fr-FR" sz="1700" b="1" noProof="0" dirty="0">
                <a:solidFill>
                  <a:srgbClr val="1A5A66"/>
                </a:solidFill>
                <a:latin typeface="Arial"/>
              </a:rPr>
              <a:t>Direction réussite étudiante</a:t>
            </a:r>
          </a:p>
          <a:p>
            <a:pPr algn="l">
              <a:lnSpc>
                <a:spcPct val="110000"/>
              </a:lnSpc>
              <a:spcBef>
                <a:spcPts val="300"/>
              </a:spcBef>
              <a:buNone/>
            </a:pPr>
            <a:r>
              <a:rPr lang="fr-FR" sz="1600" b="0" noProof="0" dirty="0">
                <a:solidFill>
                  <a:srgbClr val="5A5A5A"/>
                </a:solidFill>
                <a:latin typeface="Arial"/>
              </a:rPr>
              <a:t>Commanditaire de la solution</a:t>
            </a:r>
          </a:p>
        </p:txBody>
      </p:sp>
      <p:sp>
        <p:nvSpPr>
          <p:cNvPr id="406" name="TL 406"/>
          <p:cNvSpPr/>
          <p:nvPr/>
        </p:nvSpPr>
        <p:spPr>
          <a:xfrm>
            <a:off x="7620000" y="7188200"/>
            <a:ext cx="38100" cy="1524000"/>
          </a:xfrm>
          <a:prstGeom prst="rect">
            <a:avLst/>
          </a:prstGeom>
          <a:solidFill>
            <a:srgbClr val="56B9CA"/>
          </a:solidFill>
          <a:ln>
            <a:noFill/>
          </a:ln>
        </p:spPr>
        <p:txBody>
          <a:bodyPr wrap="square" lIns="0" tIns="0" rIns="0" bIns="0" anchor="ctr"/>
          <a:lstStyle/>
          <a:p>
            <a:endParaRPr lang="fr-FR" noProof="0" dirty="0"/>
          </a:p>
        </p:txBody>
      </p:sp>
      <p:sp>
        <p:nvSpPr>
          <p:cNvPr id="407" name="TL 407"/>
          <p:cNvSpPr/>
          <p:nvPr/>
        </p:nvSpPr>
        <p:spPr>
          <a:xfrm>
            <a:off x="10909300" y="7188200"/>
            <a:ext cx="3048000" cy="1524000"/>
          </a:xfrm>
          <a:prstGeom prst="rect">
            <a:avLst/>
          </a:prstGeom>
          <a:solidFill>
            <a:srgbClr val="EDF6F8"/>
          </a:solidFill>
          <a:ln>
            <a:noFill/>
          </a:ln>
        </p:spPr>
        <p:txBody>
          <a:bodyPr wrap="square" lIns="152400" tIns="101600" rIns="152400" bIns="101600" anchor="ctr"/>
          <a:lstStyle/>
          <a:p>
            <a:pPr algn="l">
              <a:lnSpc>
                <a:spcPct val="100000"/>
              </a:lnSpc>
              <a:buNone/>
            </a:pPr>
            <a:r>
              <a:rPr lang="fr-FR" sz="1700" b="1" noProof="0" dirty="0">
                <a:solidFill>
                  <a:srgbClr val="1A5A66"/>
                </a:solidFill>
                <a:latin typeface="Arial"/>
              </a:rPr>
              <a:t>Tuteurs / resp. pédagogiques</a:t>
            </a:r>
          </a:p>
          <a:p>
            <a:pPr algn="l">
              <a:lnSpc>
                <a:spcPct val="110000"/>
              </a:lnSpc>
              <a:spcBef>
                <a:spcPts val="300"/>
              </a:spcBef>
              <a:buNone/>
            </a:pPr>
            <a:r>
              <a:rPr lang="fr-FR" sz="1600" b="0" noProof="0" dirty="0">
                <a:solidFill>
                  <a:srgbClr val="5A5A5A"/>
                </a:solidFill>
                <a:latin typeface="Arial"/>
              </a:rPr>
              <a:t>Décident, priorisent, accompagnent</a:t>
            </a:r>
          </a:p>
        </p:txBody>
      </p:sp>
      <p:sp>
        <p:nvSpPr>
          <p:cNvPr id="408" name="TL 408"/>
          <p:cNvSpPr/>
          <p:nvPr/>
        </p:nvSpPr>
        <p:spPr>
          <a:xfrm>
            <a:off x="10909300" y="7188200"/>
            <a:ext cx="38100" cy="1524000"/>
          </a:xfrm>
          <a:prstGeom prst="rect">
            <a:avLst/>
          </a:prstGeom>
          <a:solidFill>
            <a:srgbClr val="56B9CA"/>
          </a:solidFill>
          <a:ln>
            <a:noFill/>
          </a:ln>
        </p:spPr>
        <p:txBody>
          <a:bodyPr wrap="square" lIns="0" tIns="0" rIns="0" bIns="0" anchor="ctr"/>
          <a:lstStyle/>
          <a:p>
            <a:endParaRPr lang="fr-FR" noProof="0" dirty="0"/>
          </a:p>
        </p:txBody>
      </p:sp>
      <p:sp>
        <p:nvSpPr>
          <p:cNvPr id="409" name="TL 409"/>
          <p:cNvSpPr/>
          <p:nvPr/>
        </p:nvSpPr>
        <p:spPr>
          <a:xfrm>
            <a:off x="14198600" y="7188200"/>
            <a:ext cx="3048000" cy="1524000"/>
          </a:xfrm>
          <a:prstGeom prst="rect">
            <a:avLst/>
          </a:prstGeom>
          <a:solidFill>
            <a:srgbClr val="EDF6F8"/>
          </a:solidFill>
          <a:ln>
            <a:noFill/>
          </a:ln>
        </p:spPr>
        <p:txBody>
          <a:bodyPr wrap="square" lIns="152400" tIns="101600" rIns="152400" bIns="101600" anchor="ctr"/>
          <a:lstStyle/>
          <a:p>
            <a:pPr algn="l">
              <a:lnSpc>
                <a:spcPct val="100000"/>
              </a:lnSpc>
              <a:buNone/>
            </a:pPr>
            <a:r>
              <a:rPr lang="fr-FR" sz="1700" b="1" noProof="0" dirty="0">
                <a:solidFill>
                  <a:srgbClr val="1A5A66"/>
                </a:solidFill>
                <a:latin typeface="Arial"/>
              </a:rPr>
              <a:t>Étudiant</a:t>
            </a:r>
          </a:p>
          <a:p>
            <a:pPr algn="l">
              <a:lnSpc>
                <a:spcPct val="110000"/>
              </a:lnSpc>
              <a:spcBef>
                <a:spcPts val="300"/>
              </a:spcBef>
              <a:buNone/>
            </a:pPr>
            <a:r>
              <a:rPr lang="fr-FR" sz="1600" b="0" noProof="0" dirty="0">
                <a:solidFill>
                  <a:srgbClr val="5A5A5A"/>
                </a:solidFill>
                <a:latin typeface="Arial"/>
              </a:rPr>
              <a:t>Bénéficiaire final</a:t>
            </a:r>
          </a:p>
        </p:txBody>
      </p:sp>
      <p:sp>
        <p:nvSpPr>
          <p:cNvPr id="410" name="TL 410"/>
          <p:cNvSpPr/>
          <p:nvPr/>
        </p:nvSpPr>
        <p:spPr>
          <a:xfrm>
            <a:off x="14198600" y="7188200"/>
            <a:ext cx="38100" cy="1524000"/>
          </a:xfrm>
          <a:prstGeom prst="rect">
            <a:avLst/>
          </a:prstGeom>
          <a:solidFill>
            <a:srgbClr val="56B9CA"/>
          </a:solidFill>
          <a:ln>
            <a:noFill/>
          </a:ln>
        </p:spPr>
        <p:txBody>
          <a:bodyPr wrap="square" lIns="0" tIns="0" rIns="0" bIns="0" anchor="ctr"/>
          <a:lstStyle/>
          <a:p>
            <a:endParaRPr lang="fr-FR" noProof="0" dirty="0"/>
          </a:p>
        </p:txBody>
      </p:sp>
      <p:sp>
        <p:nvSpPr>
          <p:cNvPr id="601" name="TL scope frame"/>
          <p:cNvSpPr/>
          <p:nvPr/>
        </p:nvSpPr>
        <p:spPr>
          <a:xfrm>
            <a:off x="7569200" y="2819400"/>
            <a:ext cx="3149600" cy="4089400"/>
          </a:xfrm>
          <a:prstGeom prst="rect">
            <a:avLst/>
          </a:prstGeom>
          <a:noFill/>
          <a:ln w="25400">
            <a:solidFill>
              <a:srgbClr val="56B9CA"/>
            </a:solidFill>
          </a:ln>
        </p:spPr>
        <p:txBody>
          <a:bodyPr wrap="square" lIns="0" tIns="0" rIns="0" bIns="0" anchor="ctr"/>
          <a:lstStyle/>
          <a:p>
            <a:endParaRPr lang="fr-FR" noProof="0" dirty="0"/>
          </a:p>
        </p:txBody>
      </p:sp>
      <p:sp>
        <p:nvSpPr>
          <p:cNvPr id="602" name="TL scope badge"/>
          <p:cNvSpPr/>
          <p:nvPr/>
        </p:nvSpPr>
        <p:spPr>
          <a:xfrm>
            <a:off x="7569200" y="6527800"/>
            <a:ext cx="3149600" cy="381000"/>
          </a:xfrm>
          <a:prstGeom prst="rect">
            <a:avLst/>
          </a:prstGeom>
          <a:solidFill>
            <a:srgbClr val="56B9CA"/>
          </a:solidFill>
          <a:ln>
            <a:noFill/>
          </a:ln>
        </p:spPr>
        <p:txBody>
          <a:bodyPr wrap="square" lIns="76200" tIns="0" rIns="76200" bIns="0" anchor="ctr"/>
          <a:lstStyle/>
          <a:p>
            <a:pPr algn="ctr">
              <a:buNone/>
            </a:pPr>
            <a:r>
              <a:rPr lang="fr-FR" sz="1500" b="1" i="0" spc="120" noProof="0" dirty="0">
                <a:solidFill>
                  <a:srgbClr val="FFFFFF"/>
                </a:solidFill>
                <a:latin typeface="Arial"/>
              </a:rPr>
              <a:t>SOLUTION ATTENDUE</a:t>
            </a:r>
          </a:p>
        </p:txBody>
      </p:sp>
    </p:spTree>
    <p:extLst>
      <p:ext uri="{BB962C8B-B14F-4D97-AF65-F5344CB8AC3E}">
        <p14:creationId xmlns:p14="http://schemas.microsoft.com/office/powerpoint/2010/main" val="2421057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56B9CA"/>
        </a:solidFill>
        <a:effectLst/>
      </p:bgPr>
    </p:bg>
    <p:spTree>
      <p:nvGrpSpPr>
        <p:cNvPr id="1" name=""/>
        <p:cNvGrpSpPr/>
        <p:nvPr/>
      </p:nvGrpSpPr>
      <p:grpSpPr>
        <a:xfrm>
          <a:off x="0" y="0"/>
          <a:ext cx="0" cy="0"/>
          <a:chOff x="0" y="0"/>
          <a:chExt cx="0" cy="0"/>
        </a:xfrm>
      </p:grpSpPr>
      <p:sp>
        <p:nvSpPr>
          <p:cNvPr id="2" name="TextBox 1"/>
          <p:cNvSpPr txBox="1"/>
          <p:nvPr/>
        </p:nvSpPr>
        <p:spPr>
          <a:xfrm>
            <a:off x="13076188" y="723900"/>
            <a:ext cx="4894793" cy="4038600"/>
          </a:xfrm>
          <a:prstGeom prst="rect">
            <a:avLst/>
          </a:prstGeom>
          <a:noFill/>
        </p:spPr>
        <p:txBody>
          <a:bodyPr wrap="square" lIns="27432" tIns="27432" rIns="27432" bIns="27432" anchor="t">
            <a:noAutofit/>
          </a:bodyPr>
          <a:lstStyle/>
          <a:p>
            <a:pPr algn="l">
              <a:lnSpc>
                <a:spcPct val="70950"/>
              </a:lnSpc>
            </a:pPr>
            <a:r>
              <a:rPr lang="fr-FR" sz="31500" b="1" noProof="0" dirty="0">
                <a:solidFill>
                  <a:srgbClr val="FFFFFF"/>
                </a:solidFill>
                <a:latin typeface="Arial"/>
              </a:rPr>
              <a:t>02</a:t>
            </a:r>
          </a:p>
        </p:txBody>
      </p:sp>
      <p:sp>
        <p:nvSpPr>
          <p:cNvPr id="3" name="TextBox 2"/>
          <p:cNvSpPr txBox="1"/>
          <p:nvPr/>
        </p:nvSpPr>
        <p:spPr>
          <a:xfrm>
            <a:off x="1047750" y="1047750"/>
            <a:ext cx="3000000" cy="333375"/>
          </a:xfrm>
          <a:prstGeom prst="rect">
            <a:avLst/>
          </a:prstGeom>
          <a:noFill/>
        </p:spPr>
        <p:txBody>
          <a:bodyPr wrap="square" lIns="27432" tIns="27432" rIns="27432" bIns="27432" anchor="t">
            <a:noAutofit/>
          </a:bodyPr>
          <a:lstStyle/>
          <a:p>
            <a:pPr algn="l"/>
            <a:r>
              <a:rPr lang="fr-FR" sz="1950" b="1" spc="273" noProof="0" dirty="0">
                <a:solidFill>
                  <a:srgbClr val="FFFFFF"/>
                </a:solidFill>
                <a:latin typeface="Arial"/>
              </a:rPr>
              <a:t>Acte 02</a:t>
            </a:r>
          </a:p>
        </p:txBody>
      </p:sp>
      <p:sp>
        <p:nvSpPr>
          <p:cNvPr id="4" name="TextBox 3"/>
          <p:cNvSpPr txBox="1"/>
          <p:nvPr/>
        </p:nvSpPr>
        <p:spPr>
          <a:xfrm>
            <a:off x="1047750" y="1609725"/>
            <a:ext cx="11582400" cy="1005519"/>
          </a:xfrm>
          <a:prstGeom prst="rect">
            <a:avLst/>
          </a:prstGeom>
          <a:noFill/>
        </p:spPr>
        <p:txBody>
          <a:bodyPr wrap="square" lIns="27432" tIns="27432" rIns="27432" bIns="27432" anchor="t">
            <a:noAutofit/>
          </a:bodyPr>
          <a:lstStyle/>
          <a:p>
            <a:pPr algn="l">
              <a:lnSpc>
                <a:spcPct val="74520"/>
              </a:lnSpc>
            </a:pPr>
            <a:r>
              <a:rPr lang="fr-FR" sz="8250" b="1" spc="-124" noProof="0" dirty="0">
                <a:solidFill>
                  <a:srgbClr val="FFFFFF"/>
                </a:solidFill>
                <a:latin typeface="Arial"/>
              </a:rPr>
              <a:t>Ma méthode</a:t>
            </a:r>
          </a:p>
        </p:txBody>
      </p:sp>
      <p:sp>
        <p:nvSpPr>
          <p:cNvPr id="5" name="TextBox 4"/>
          <p:cNvSpPr txBox="1"/>
          <p:nvPr/>
        </p:nvSpPr>
        <p:spPr>
          <a:xfrm>
            <a:off x="1047750" y="3014663"/>
            <a:ext cx="10200000" cy="625143"/>
          </a:xfrm>
          <a:prstGeom prst="rect">
            <a:avLst/>
          </a:prstGeom>
          <a:noFill/>
        </p:spPr>
        <p:txBody>
          <a:bodyPr wrap="square" lIns="27432" tIns="27432" rIns="27432" bIns="27432" anchor="t">
            <a:noAutofit/>
          </a:bodyPr>
          <a:lstStyle/>
          <a:p>
            <a:pPr algn="l">
              <a:lnSpc>
                <a:spcPct val="128140"/>
              </a:lnSpc>
            </a:pPr>
            <a:r>
              <a:rPr lang="fr-FR" sz="2850" b="0" noProof="0" dirty="0">
                <a:solidFill>
                  <a:srgbClr val="FFFFFF"/>
                </a:solidFill>
                <a:latin typeface="Arial"/>
              </a:rPr>
              <a:t>IA générative encadrée, Journal de décision</a:t>
            </a:r>
          </a:p>
        </p:txBody>
      </p:sp>
      <p:sp>
        <p:nvSpPr>
          <p:cNvPr id="6" name="TextBox 5"/>
          <p:cNvSpPr txBox="1"/>
          <p:nvPr/>
        </p:nvSpPr>
        <p:spPr>
          <a:xfrm>
            <a:off x="17147743" y="9309100"/>
            <a:ext cx="175056" cy="304800"/>
          </a:xfrm>
          <a:prstGeom prst="rect">
            <a:avLst/>
          </a:prstGeom>
          <a:noFill/>
        </p:spPr>
        <p:txBody>
          <a:bodyPr wrap="none" lIns="27432" tIns="27432" rIns="27432" bIns="27432" anchor="ctr" anchorCtr="0">
            <a:noAutofit/>
          </a:bodyPr>
          <a:lstStyle/>
          <a:p>
            <a:pPr algn="l"/>
            <a:r>
              <a:rPr lang="fr-FR" sz="1400" b="1" noProof="0">
                <a:solidFill>
                  <a:srgbClr val="FFFFFF"/>
                </a:solidFill>
                <a:latin typeface="Arial"/>
                <a:cs typeface="Arial"/>
              </a:rPr>
              <a:t>7</a:t>
            </a:r>
            <a:endParaRPr lang="fr-FR" sz="1400" b="1" noProof="0" dirty="0">
              <a:solidFill>
                <a:srgbClr val="FFFFFF"/>
              </a:solidFill>
              <a:latin typeface="Arial"/>
              <a:cs typeface="Arial"/>
            </a:endParaRPr>
          </a:p>
        </p:txBody>
      </p:sp>
    </p:spTree>
    <p:extLst>
      <p:ext uri="{BB962C8B-B14F-4D97-AF65-F5344CB8AC3E}">
        <p14:creationId xmlns:p14="http://schemas.microsoft.com/office/powerpoint/2010/main" val="694460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teal.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ACTE 02 · IA GÉNÉRATIVE ENCADRÉE ET DÉCISIONS TRACÉES</a:t>
            </a:r>
          </a:p>
        </p:txBody>
      </p:sp>
      <p:sp>
        <p:nvSpPr>
          <p:cNvPr id="4" name="TextBox 3"/>
          <p:cNvSpPr txBox="1"/>
          <p:nvPr/>
        </p:nvSpPr>
        <p:spPr>
          <a:xfrm>
            <a:off x="1047750" y="1619250"/>
            <a:ext cx="16192500" cy="1440180"/>
          </a:xfrm>
          <a:prstGeom prst="rect">
            <a:avLst/>
          </a:prstGeom>
          <a:noFill/>
        </p:spPr>
        <p:txBody>
          <a:bodyPr wrap="square" lIns="27432" tIns="27432" rIns="27432" bIns="27432" anchor="t">
            <a:noAutofit/>
          </a:bodyPr>
          <a:lstStyle/>
          <a:p>
            <a:pPr algn="l">
              <a:lnSpc>
                <a:spcPct val="100000"/>
              </a:lnSpc>
            </a:pPr>
            <a:r>
              <a:rPr lang="fr-FR" sz="4500" b="1" spc="-45" noProof="0" dirty="0">
                <a:solidFill>
                  <a:srgbClr val="000000"/>
                </a:solidFill>
                <a:latin typeface="Arial"/>
              </a:rPr>
              <a:t>L'IA exécute et me relit, c'est moi qui tranche</a:t>
            </a:r>
          </a:p>
        </p:txBody>
      </p:sp>
      <p:sp>
        <p:nvSpPr>
          <p:cNvPr id="5" name="Rectangle 4"/>
          <p:cNvSpPr/>
          <p:nvPr/>
        </p:nvSpPr>
        <p:spPr>
          <a:xfrm>
            <a:off x="1054100" y="2514600"/>
            <a:ext cx="1143000" cy="2540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7" name="TextBox 6"/>
          <p:cNvSpPr txBox="1"/>
          <p:nvPr/>
        </p:nvSpPr>
        <p:spPr>
          <a:xfrm>
            <a:off x="17147743" y="9309100"/>
            <a:ext cx="175056"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8</a:t>
            </a:r>
            <a:endParaRPr lang="fr-FR" sz="1400" b="1" noProof="0" dirty="0">
              <a:solidFill>
                <a:srgbClr val="56B9CA"/>
              </a:solidFill>
              <a:latin typeface="Arial"/>
              <a:cs typeface="Arial"/>
            </a:endParaRPr>
          </a:p>
        </p:txBody>
      </p:sp>
      <p:sp>
        <p:nvSpPr>
          <p:cNvPr id="8" name="Rounded Rectangle 7"/>
          <p:cNvSpPr/>
          <p:nvPr/>
        </p:nvSpPr>
        <p:spPr>
          <a:xfrm>
            <a:off x="9245600" y="3175000"/>
            <a:ext cx="8001000" cy="5270500"/>
          </a:xfrm>
          <a:prstGeom prst="roundRect">
            <a:avLst>
              <a:gd name="adj" fmla="val 4000"/>
            </a:avLst>
          </a:prstGeom>
          <a:solidFill>
            <a:srgbClr val="E4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9" name="TextBox 8"/>
          <p:cNvSpPr txBox="1"/>
          <p:nvPr/>
        </p:nvSpPr>
        <p:spPr>
          <a:xfrm>
            <a:off x="9652000" y="3606800"/>
            <a:ext cx="7188200" cy="4064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LE JOURNAL DE DÉCISION</a:t>
            </a:r>
          </a:p>
        </p:txBody>
      </p:sp>
      <p:sp>
        <p:nvSpPr>
          <p:cNvPr id="10" name="TextBox 9"/>
          <p:cNvSpPr txBox="1"/>
          <p:nvPr/>
        </p:nvSpPr>
        <p:spPr>
          <a:xfrm>
            <a:off x="9652000" y="4318000"/>
            <a:ext cx="7188200" cy="4064000"/>
          </a:xfrm>
          <a:prstGeom prst="rect">
            <a:avLst/>
          </a:prstGeom>
          <a:noFill/>
        </p:spPr>
        <p:txBody>
          <a:bodyPr wrap="square" lIns="27432" tIns="27432" rIns="27432" bIns="27432" anchor="t">
            <a:noAutofit/>
          </a:bodyPr>
          <a:lstStyle/>
          <a:p>
            <a:pPr marL="381000" indent="-381000" algn="l">
              <a:lnSpc>
                <a:spcPct val="124000"/>
              </a:lnSpc>
              <a:spcAft>
                <a:spcPts val="3200"/>
              </a:spcAft>
              <a:buFont typeface="Arial"/>
              <a:buAutoNum type="arabicPeriod"/>
            </a:pPr>
            <a:r>
              <a:rPr lang="fr-FR" sz="2200" b="0" noProof="0" dirty="0">
                <a:solidFill>
                  <a:srgbClr val="4A4A4A"/>
                </a:solidFill>
                <a:latin typeface="Arial"/>
              </a:rPr>
              <a:t>Un choix : tracer chaque décision au fil du projet, du cadrage à la mise en production.</a:t>
            </a:r>
          </a:p>
          <a:p>
            <a:pPr marL="381000" indent="-381000" algn="l">
              <a:lnSpc>
                <a:spcPct val="124000"/>
              </a:lnSpc>
              <a:spcAft>
                <a:spcPts val="3200"/>
              </a:spcAft>
              <a:buFont typeface="Arial"/>
              <a:buAutoNum type="arabicPeriod" startAt="2"/>
            </a:pPr>
            <a:r>
              <a:rPr lang="fr-FR" sz="2200" b="0" noProof="0" dirty="0">
                <a:solidFill>
                  <a:srgbClr val="4A4A4A"/>
                </a:solidFill>
                <a:latin typeface="Arial"/>
              </a:rPr>
              <a:t>Une décision écrite une seule fois, à l'endroit de la mesure qui la fonde.</a:t>
            </a:r>
          </a:p>
          <a:p>
            <a:pPr marL="381000" indent="-381000" algn="l">
              <a:lnSpc>
                <a:spcPct val="124000"/>
              </a:lnSpc>
              <a:spcAft>
                <a:spcPts val="900"/>
              </a:spcAft>
              <a:buFont typeface="Arial"/>
              <a:buAutoNum type="arabicPeriod" startAt="3"/>
            </a:pPr>
            <a:r>
              <a:rPr lang="fr-FR" sz="2200" b="1" noProof="0" dirty="0">
                <a:solidFill>
                  <a:srgbClr val="1A6A77"/>
                </a:solidFill>
                <a:latin typeface="Arial"/>
              </a:rPr>
              <a:t>Et surtout : un meilleur contrôle de l'IA générative — rien ne passe sans arbitrage écrit.</a:t>
            </a:r>
          </a:p>
        </p:txBody>
      </p:sp>
      <p:sp>
        <p:nvSpPr>
          <p:cNvPr id="17" name="Rounded Rectangle 16"/>
          <p:cNvSpPr/>
          <p:nvPr/>
        </p:nvSpPr>
        <p:spPr>
          <a:xfrm>
            <a:off x="1054100" y="3175000"/>
            <a:ext cx="8001000" cy="5270500"/>
          </a:xfrm>
          <a:prstGeom prst="roundRect">
            <a:avLst>
              <a:gd name="adj" fmla="val 4000"/>
            </a:avLst>
          </a:prstGeom>
          <a:solidFill>
            <a:srgbClr val="1A6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8" name="TextBox 17"/>
          <p:cNvSpPr txBox="1"/>
          <p:nvPr/>
        </p:nvSpPr>
        <p:spPr>
          <a:xfrm>
            <a:off x="1460500" y="4318000"/>
            <a:ext cx="7188200" cy="4064000"/>
          </a:xfrm>
          <a:prstGeom prst="rect">
            <a:avLst/>
          </a:prstGeom>
          <a:noFill/>
        </p:spPr>
        <p:txBody>
          <a:bodyPr wrap="square" lIns="27432" tIns="27432" rIns="27432" bIns="27432" anchor="t">
            <a:noAutofit/>
          </a:bodyPr>
          <a:lstStyle/>
          <a:p>
            <a:pPr marL="368300" indent="-368300" algn="l">
              <a:lnSpc>
                <a:spcPct val="122000"/>
              </a:lnSpc>
              <a:spcAft>
                <a:spcPts val="700"/>
              </a:spcAft>
              <a:buFont typeface="Arial"/>
              <a:buAutoNum type="arabicPeriod"/>
            </a:pPr>
            <a:r>
              <a:rPr lang="fr-FR" sz="2100" b="0" noProof="0" dirty="0">
                <a:solidFill>
                  <a:srgbClr val="FFFFFF"/>
                </a:solidFill>
                <a:latin typeface="Arial"/>
              </a:rPr>
              <a:t>Trois agents consultants, en lecture seule :</a:t>
            </a:r>
          </a:p>
          <a:p>
            <a:pPr marL="628650" indent="-241300" algn="l">
              <a:lnSpc>
                <a:spcPct val="118000"/>
              </a:lnSpc>
              <a:spcAft>
                <a:spcPts val="200"/>
              </a:spcAft>
              <a:buFont typeface="Arial"/>
              <a:buChar char="•"/>
            </a:pPr>
            <a:r>
              <a:rPr lang="fr-FR" sz="1900" b="0" noProof="0" dirty="0">
                <a:solidFill>
                  <a:srgbClr val="CDEAF0"/>
                </a:solidFill>
                <a:latin typeface="Arial"/>
              </a:rPr>
              <a:t>Consultant ML — modélisation, métriques, validation.</a:t>
            </a:r>
          </a:p>
          <a:p>
            <a:pPr marL="628650" indent="-241300" algn="l">
              <a:lnSpc>
                <a:spcPct val="118000"/>
              </a:lnSpc>
              <a:spcAft>
                <a:spcPts val="200"/>
              </a:spcAft>
              <a:buFont typeface="Arial"/>
              <a:buChar char="•"/>
            </a:pPr>
            <a:r>
              <a:rPr lang="fr-FR" sz="1900" b="0" noProof="0" dirty="0">
                <a:solidFill>
                  <a:srgbClr val="CDEAF0"/>
                </a:solidFill>
                <a:latin typeface="Arial"/>
              </a:rPr>
              <a:t>Consultant RGPD — licéité, minimisation, proportionnalité.</a:t>
            </a:r>
          </a:p>
          <a:p>
            <a:pPr marL="628650" indent="-241300" algn="l">
              <a:lnSpc>
                <a:spcPct val="118000"/>
              </a:lnSpc>
              <a:spcAft>
                <a:spcPts val="200"/>
              </a:spcAft>
              <a:buFont typeface="Arial"/>
              <a:buChar char="•"/>
            </a:pPr>
            <a:r>
              <a:rPr lang="fr-FR" sz="1900" b="0" noProof="0" dirty="0">
                <a:solidFill>
                  <a:srgbClr val="CDEAF0"/>
                </a:solidFill>
                <a:latin typeface="Arial"/>
              </a:rPr>
              <a:t>Gardien du cas d'usage — retour au besoin métier.</a:t>
            </a:r>
          </a:p>
          <a:p>
            <a:pPr marL="368300" indent="-368300" algn="l">
              <a:lnSpc>
                <a:spcPct val="122000"/>
              </a:lnSpc>
              <a:spcAft>
                <a:spcPts val="700"/>
              </a:spcAft>
              <a:buFont typeface="Arial"/>
              <a:buAutoNum type="arabicPeriod" startAt="2"/>
            </a:pPr>
            <a:r>
              <a:rPr lang="fr-FR" sz="2100" b="0" noProof="0" dirty="0">
                <a:solidFill>
                  <a:srgbClr val="FFFFFF"/>
                </a:solidFill>
                <a:latin typeface="Arial"/>
              </a:rPr>
              <a:t>Un rôle double : ils m'éclairent avant l'arbitrage, ils contrôlent mon travail après.</a:t>
            </a:r>
          </a:p>
          <a:p>
            <a:pPr marL="368300" indent="-368300" algn="l">
              <a:lnSpc>
                <a:spcPct val="122000"/>
              </a:lnSpc>
              <a:spcAft>
                <a:spcPts val="700"/>
              </a:spcAft>
              <a:buFont typeface="Arial"/>
              <a:buAutoNum type="arabicPeriod" startAt="3"/>
            </a:pPr>
            <a:r>
              <a:rPr lang="fr-FR" sz="2100" b="0" noProof="0" dirty="0">
                <a:solidFill>
                  <a:srgbClr val="FFFFFF"/>
                </a:solidFill>
                <a:latin typeface="Arial"/>
              </a:rPr>
              <a:t>Écriture du notebook : l'IA code sous mes directives et rédige le markdown à partir de mes notes.</a:t>
            </a:r>
          </a:p>
          <a:p>
            <a:pPr marL="368300" indent="-368300" algn="l">
              <a:lnSpc>
                <a:spcPct val="122000"/>
              </a:lnSpc>
              <a:spcAft>
                <a:spcPts val="700"/>
              </a:spcAft>
              <a:buFont typeface="Arial"/>
              <a:buAutoNum type="arabicPeriod" startAt="4"/>
            </a:pPr>
            <a:r>
              <a:rPr lang="fr-FR" sz="2100" b="1" noProof="0" dirty="0">
                <a:solidFill>
                  <a:srgbClr val="CDEAF0"/>
                </a:solidFill>
                <a:latin typeface="Arial"/>
              </a:rPr>
              <a:t>Ils challengent, ils ne tranchent jamais.</a:t>
            </a:r>
          </a:p>
        </p:txBody>
      </p:sp>
      <p:sp>
        <p:nvSpPr>
          <p:cNvPr id="20" name="TextBox 19"/>
          <p:cNvSpPr txBox="1"/>
          <p:nvPr/>
        </p:nvSpPr>
        <p:spPr>
          <a:xfrm>
            <a:off x="1460500" y="3606800"/>
            <a:ext cx="7188200" cy="406400"/>
          </a:xfrm>
          <a:prstGeom prst="rect">
            <a:avLst/>
          </a:prstGeom>
          <a:noFill/>
        </p:spPr>
        <p:txBody>
          <a:bodyPr wrap="square" lIns="27432" tIns="27432" rIns="27432" bIns="27432" anchor="t">
            <a:noAutofit/>
          </a:bodyPr>
          <a:lstStyle/>
          <a:p>
            <a:pPr algn="l"/>
            <a:r>
              <a:rPr lang="fr-FR" sz="1800" b="1" spc="162" noProof="0" dirty="0">
                <a:solidFill>
                  <a:srgbClr val="CDEAF0"/>
                </a:solidFill>
                <a:latin typeface="Arial"/>
              </a:rPr>
              <a:t>L'IA GÉNÉRATIVE, ENCADRÉE ET DÉCLARÉE</a:t>
            </a:r>
          </a:p>
        </p:txBody>
      </p:sp>
    </p:spTree>
    <p:extLst>
      <p:ext uri="{BB962C8B-B14F-4D97-AF65-F5344CB8AC3E}">
        <p14:creationId xmlns:p14="http://schemas.microsoft.com/office/powerpoint/2010/main" val="390421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56B9CA"/>
        </a:solidFill>
        <a:effectLst/>
      </p:bgPr>
    </p:bg>
    <p:spTree>
      <p:nvGrpSpPr>
        <p:cNvPr id="1" name=""/>
        <p:cNvGrpSpPr/>
        <p:nvPr/>
      </p:nvGrpSpPr>
      <p:grpSpPr>
        <a:xfrm>
          <a:off x="0" y="0"/>
          <a:ext cx="0" cy="0"/>
          <a:chOff x="0" y="0"/>
          <a:chExt cx="0" cy="0"/>
        </a:xfrm>
      </p:grpSpPr>
      <p:sp>
        <p:nvSpPr>
          <p:cNvPr id="2" name="TextBox 1"/>
          <p:cNvSpPr txBox="1"/>
          <p:nvPr/>
        </p:nvSpPr>
        <p:spPr>
          <a:xfrm>
            <a:off x="13076188" y="723900"/>
            <a:ext cx="4894793" cy="4038600"/>
          </a:xfrm>
          <a:prstGeom prst="rect">
            <a:avLst/>
          </a:prstGeom>
          <a:noFill/>
        </p:spPr>
        <p:txBody>
          <a:bodyPr wrap="square" lIns="27432" tIns="27432" rIns="27432" bIns="27432" anchor="t">
            <a:noAutofit/>
          </a:bodyPr>
          <a:lstStyle/>
          <a:p>
            <a:pPr algn="l">
              <a:lnSpc>
                <a:spcPct val="70950"/>
              </a:lnSpc>
            </a:pPr>
            <a:r>
              <a:rPr lang="fr-FR" sz="31500" b="1" noProof="0" dirty="0">
                <a:solidFill>
                  <a:srgbClr val="FFFFFF"/>
                </a:solidFill>
                <a:latin typeface="Arial"/>
              </a:rPr>
              <a:t>03</a:t>
            </a:r>
          </a:p>
        </p:txBody>
      </p:sp>
      <p:sp>
        <p:nvSpPr>
          <p:cNvPr id="3" name="TextBox 2"/>
          <p:cNvSpPr txBox="1"/>
          <p:nvPr/>
        </p:nvSpPr>
        <p:spPr>
          <a:xfrm>
            <a:off x="1047750" y="1047750"/>
            <a:ext cx="3000000" cy="333375"/>
          </a:xfrm>
          <a:prstGeom prst="rect">
            <a:avLst/>
          </a:prstGeom>
          <a:noFill/>
        </p:spPr>
        <p:txBody>
          <a:bodyPr wrap="square" lIns="27432" tIns="27432" rIns="27432" bIns="27432" anchor="t">
            <a:noAutofit/>
          </a:bodyPr>
          <a:lstStyle/>
          <a:p>
            <a:pPr algn="l"/>
            <a:r>
              <a:rPr lang="fr-FR" sz="1950" b="1" spc="273" noProof="0" dirty="0">
                <a:solidFill>
                  <a:srgbClr val="FFFFFF"/>
                </a:solidFill>
                <a:latin typeface="Arial"/>
              </a:rPr>
              <a:t>Acte 03</a:t>
            </a:r>
          </a:p>
        </p:txBody>
      </p:sp>
      <p:sp>
        <p:nvSpPr>
          <p:cNvPr id="4" name="TextBox 3"/>
          <p:cNvSpPr txBox="1"/>
          <p:nvPr/>
        </p:nvSpPr>
        <p:spPr>
          <a:xfrm>
            <a:off x="1047750" y="1609725"/>
            <a:ext cx="11582400" cy="1005519"/>
          </a:xfrm>
          <a:prstGeom prst="rect">
            <a:avLst/>
          </a:prstGeom>
          <a:noFill/>
        </p:spPr>
        <p:txBody>
          <a:bodyPr wrap="square" lIns="27432" tIns="27432" rIns="27432" bIns="27432" anchor="t">
            <a:noAutofit/>
          </a:bodyPr>
          <a:lstStyle/>
          <a:p>
            <a:pPr algn="l">
              <a:lnSpc>
                <a:spcPct val="74520"/>
              </a:lnSpc>
            </a:pPr>
            <a:r>
              <a:rPr lang="fr-FR" sz="8250" b="1" spc="-124" noProof="0" dirty="0">
                <a:solidFill>
                  <a:srgbClr val="FFFFFF"/>
                </a:solidFill>
                <a:latin typeface="Arial"/>
              </a:rPr>
              <a:t>Poser le cadre</a:t>
            </a:r>
          </a:p>
        </p:txBody>
      </p:sp>
      <p:sp>
        <p:nvSpPr>
          <p:cNvPr id="5" name="TextBox 4"/>
          <p:cNvSpPr txBox="1"/>
          <p:nvPr/>
        </p:nvSpPr>
        <p:spPr>
          <a:xfrm>
            <a:off x="1047750" y="3014663"/>
            <a:ext cx="10200000" cy="625143"/>
          </a:xfrm>
          <a:prstGeom prst="rect">
            <a:avLst/>
          </a:prstGeom>
          <a:noFill/>
        </p:spPr>
        <p:txBody>
          <a:bodyPr wrap="square" lIns="27432" tIns="27432" rIns="27432" bIns="27432" anchor="t">
            <a:noAutofit/>
          </a:bodyPr>
          <a:lstStyle/>
          <a:p>
            <a:pPr algn="l">
              <a:lnSpc>
                <a:spcPct val="128140"/>
              </a:lnSpc>
            </a:pPr>
            <a:r>
              <a:rPr lang="fr-FR" sz="2850" b="0" noProof="0" dirty="0">
                <a:solidFill>
                  <a:srgbClr val="FFFFFF"/>
                </a:solidFill>
                <a:latin typeface="Arial"/>
              </a:rPr>
              <a:t>Coût d’erreur, éthique et RGPD, périmètre des données</a:t>
            </a:r>
          </a:p>
        </p:txBody>
      </p:sp>
      <p:sp>
        <p:nvSpPr>
          <p:cNvPr id="6" name="TextBox 5"/>
          <p:cNvSpPr txBox="1"/>
          <p:nvPr/>
        </p:nvSpPr>
        <p:spPr>
          <a:xfrm>
            <a:off x="17147743" y="9309100"/>
            <a:ext cx="175056" cy="304800"/>
          </a:xfrm>
          <a:prstGeom prst="rect">
            <a:avLst/>
          </a:prstGeom>
          <a:noFill/>
        </p:spPr>
        <p:txBody>
          <a:bodyPr wrap="none" lIns="27432" tIns="27432" rIns="27432" bIns="27432" anchor="ctr" anchorCtr="0">
            <a:noAutofit/>
          </a:bodyPr>
          <a:lstStyle/>
          <a:p>
            <a:pPr algn="l"/>
            <a:r>
              <a:rPr lang="fr-FR" sz="1400" b="1" noProof="0">
                <a:solidFill>
                  <a:srgbClr val="FFFFFF"/>
                </a:solidFill>
                <a:latin typeface="Arial"/>
                <a:cs typeface="Arial"/>
              </a:rPr>
              <a:t>9</a:t>
            </a:r>
            <a:endParaRPr lang="fr-FR" sz="1400" b="1" noProof="0" dirty="0">
              <a:solidFill>
                <a:srgbClr val="FFFFFF"/>
              </a:solidFill>
              <a:latin typeface="Arial"/>
              <a:cs typeface="Arial"/>
            </a:endParaRPr>
          </a:p>
        </p:txBody>
      </p:sp>
    </p:spTree>
    <p:extLst>
      <p:ext uri="{BB962C8B-B14F-4D97-AF65-F5344CB8AC3E}">
        <p14:creationId xmlns:p14="http://schemas.microsoft.com/office/powerpoint/2010/main" val="54121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teal.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20" dirty="0">
                <a:solidFill>
                  <a:srgbClr val="6F6F6F"/>
                </a:solidFill>
                <a:latin typeface="Arial"/>
              </a:rPr>
              <a:t>ACTE 03 · LE COÛT D'UNE ERREUR</a:t>
            </a:r>
          </a:p>
        </p:txBody>
      </p:sp>
      <p:sp>
        <p:nvSpPr>
          <p:cNvPr id="4" name="TextBox 3"/>
          <p:cNvSpPr txBox="1"/>
          <p:nvPr/>
        </p:nvSpPr>
        <p:spPr>
          <a:xfrm>
            <a:off x="1047750" y="1619250"/>
            <a:ext cx="16192500" cy="754380"/>
          </a:xfrm>
          <a:prstGeom prst="rect">
            <a:avLst/>
          </a:prstGeom>
          <a:noFill/>
        </p:spPr>
        <p:txBody>
          <a:bodyPr wrap="square" lIns="27432" tIns="27432" rIns="27432" bIns="27432" anchor="t">
            <a:noAutofit/>
          </a:bodyPr>
          <a:lstStyle/>
          <a:p>
            <a:pPr algn="l">
              <a:lnSpc>
                <a:spcPct val="100000"/>
              </a:lnSpc>
            </a:pPr>
            <a:r>
              <a:rPr lang="fr-FR" sz="4500" b="1" spc="-45" dirty="0">
                <a:solidFill>
                  <a:srgbClr val="000000"/>
                </a:solidFill>
                <a:latin typeface="Arial"/>
              </a:rPr>
              <a:t>Manquer un décrochage (FN) ou signaler à tort (FP)</a:t>
            </a:r>
          </a:p>
        </p:txBody>
      </p:sp>
      <p:sp>
        <p:nvSpPr>
          <p:cNvPr id="5" name="Rectangle 4"/>
          <p:cNvSpPr/>
          <p:nvPr/>
        </p:nvSpPr>
        <p:spPr>
          <a:xfrm>
            <a:off x="1047750" y="2526030"/>
            <a:ext cx="1143000" cy="1905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7" name="TextBox 6"/>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10</a:t>
            </a:r>
            <a:endParaRPr lang="fr-FR" sz="1400" b="1" noProof="0" dirty="0">
              <a:solidFill>
                <a:srgbClr val="56B9CA"/>
              </a:solidFill>
              <a:latin typeface="Arial"/>
              <a:cs typeface="Arial"/>
            </a:endParaRPr>
          </a:p>
        </p:txBody>
      </p:sp>
      <p:sp>
        <p:nvSpPr>
          <p:cNvPr id="8" name="Rounded Rectangle 7"/>
          <p:cNvSpPr/>
          <p:nvPr/>
        </p:nvSpPr>
        <p:spPr>
          <a:xfrm>
            <a:off x="1054100" y="2768600"/>
            <a:ext cx="7366000" cy="1778000"/>
          </a:xfrm>
          <a:prstGeom prst="roundRect">
            <a:avLst>
              <a:gd name="adj" fmla="val 4000"/>
            </a:avLst>
          </a:prstGeom>
          <a:solidFill>
            <a:srgbClr val="FFE7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9" name="TextBox 8"/>
          <p:cNvSpPr txBox="1"/>
          <p:nvPr/>
        </p:nvSpPr>
        <p:spPr>
          <a:xfrm>
            <a:off x="1435100" y="3048000"/>
            <a:ext cx="6604000" cy="304800"/>
          </a:xfrm>
          <a:prstGeom prst="rect">
            <a:avLst/>
          </a:prstGeom>
          <a:noFill/>
        </p:spPr>
        <p:txBody>
          <a:bodyPr wrap="square" lIns="27432" tIns="27432" rIns="27432" bIns="27432" anchor="t">
            <a:noAutofit/>
          </a:bodyPr>
          <a:lstStyle/>
          <a:p>
            <a:pPr algn="l"/>
            <a:r>
              <a:rPr lang="fr-FR" sz="1800" b="1" spc="120" dirty="0">
                <a:solidFill>
                  <a:srgbClr val="8F2F39"/>
                </a:solidFill>
                <a:latin typeface="Arial"/>
              </a:rPr>
              <a:t>FAUX NÉGATIF — UN DÉCROCHAGE MANQUÉ</a:t>
            </a:r>
          </a:p>
        </p:txBody>
      </p:sp>
      <p:sp>
        <p:nvSpPr>
          <p:cNvPr id="10" name="TextBox 9"/>
          <p:cNvSpPr txBox="1"/>
          <p:nvPr/>
        </p:nvSpPr>
        <p:spPr>
          <a:xfrm>
            <a:off x="1435100" y="3479800"/>
            <a:ext cx="6604000" cy="889000"/>
          </a:xfrm>
          <a:prstGeom prst="rect">
            <a:avLst/>
          </a:prstGeom>
          <a:noFill/>
        </p:spPr>
        <p:txBody>
          <a:bodyPr wrap="square" lIns="27432" tIns="27432" rIns="27432" bIns="27432" anchor="t">
            <a:noAutofit/>
          </a:bodyPr>
          <a:lstStyle/>
          <a:p>
            <a:pPr algn="l">
              <a:lnSpc>
                <a:spcPct val="124000"/>
              </a:lnSpc>
            </a:pPr>
            <a:r>
              <a:rPr lang="fr-FR" sz="1700" b="0" dirty="0">
                <a:solidFill>
                  <a:srgbClr val="4A4A4A"/>
                </a:solidFill>
                <a:latin typeface="Arial"/>
              </a:rPr>
              <a:t>Aucun accompagnement proposé à qui en aurait eu besoin. </a:t>
            </a:r>
            <a:r>
              <a:rPr lang="fr-FR" sz="1700" b="1" dirty="0">
                <a:solidFill>
                  <a:srgbClr val="4A4A4A"/>
                </a:solidFill>
                <a:latin typeface="Arial"/>
              </a:rPr>
              <a:t>Coût le plus lourd</a:t>
            </a:r>
            <a:r>
              <a:rPr lang="fr-FR" sz="1700" b="0" dirty="0">
                <a:solidFill>
                  <a:srgbClr val="4A4A4A"/>
                </a:solidFill>
                <a:latin typeface="Arial"/>
              </a:rPr>
              <a:t>, et souvent irréversible.</a:t>
            </a:r>
          </a:p>
        </p:txBody>
      </p:sp>
      <p:sp>
        <p:nvSpPr>
          <p:cNvPr id="11" name="Rounded Rectangle 10"/>
          <p:cNvSpPr/>
          <p:nvPr/>
        </p:nvSpPr>
        <p:spPr>
          <a:xfrm>
            <a:off x="9880600" y="2768600"/>
            <a:ext cx="7366000" cy="1778000"/>
          </a:xfrm>
          <a:prstGeom prst="roundRect">
            <a:avLst>
              <a:gd name="adj" fmla="val 40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2" name="TextBox 11"/>
          <p:cNvSpPr txBox="1"/>
          <p:nvPr/>
        </p:nvSpPr>
        <p:spPr>
          <a:xfrm>
            <a:off x="10261600" y="3048000"/>
            <a:ext cx="6604000" cy="304800"/>
          </a:xfrm>
          <a:prstGeom prst="rect">
            <a:avLst/>
          </a:prstGeom>
          <a:noFill/>
        </p:spPr>
        <p:txBody>
          <a:bodyPr wrap="square" lIns="27432" tIns="27432" rIns="27432" bIns="27432" anchor="t">
            <a:noAutofit/>
          </a:bodyPr>
          <a:lstStyle/>
          <a:p>
            <a:pPr algn="l"/>
            <a:r>
              <a:rPr lang="fr-FR" sz="1800" b="1" spc="120" dirty="0">
                <a:solidFill>
                  <a:srgbClr val="893C00"/>
                </a:solidFill>
                <a:latin typeface="Arial"/>
              </a:rPr>
              <a:t>FAUX POSITIF — UN SIGNALEMENT À TORT</a:t>
            </a:r>
          </a:p>
        </p:txBody>
      </p:sp>
      <p:sp>
        <p:nvSpPr>
          <p:cNvPr id="13" name="TextBox 12"/>
          <p:cNvSpPr txBox="1"/>
          <p:nvPr/>
        </p:nvSpPr>
        <p:spPr>
          <a:xfrm>
            <a:off x="10261600" y="3479800"/>
            <a:ext cx="6604000" cy="889000"/>
          </a:xfrm>
          <a:prstGeom prst="rect">
            <a:avLst/>
          </a:prstGeom>
          <a:noFill/>
        </p:spPr>
        <p:txBody>
          <a:bodyPr wrap="square" lIns="27432" tIns="27432" rIns="27432" bIns="27432" anchor="t">
            <a:noAutofit/>
          </a:bodyPr>
          <a:lstStyle/>
          <a:p>
            <a:pPr algn="l">
              <a:lnSpc>
                <a:spcPct val="124000"/>
              </a:lnSpc>
            </a:pPr>
            <a:r>
              <a:rPr lang="fr-FR" sz="1700" b="0" dirty="0">
                <a:solidFill>
                  <a:srgbClr val="4A4A4A"/>
                </a:solidFill>
                <a:latin typeface="Arial"/>
              </a:rPr>
              <a:t>Une ressource d'accompagnement mobilisée pour rien, et l'étudiant </a:t>
            </a:r>
            <a:r>
              <a:rPr lang="fr-FR" sz="1700" b="1" dirty="0">
                <a:solidFill>
                  <a:srgbClr val="4A4A4A"/>
                </a:solidFill>
                <a:latin typeface="Arial"/>
              </a:rPr>
              <a:t>exposé au marquage</a:t>
            </a:r>
            <a:r>
              <a:rPr lang="fr-FR" sz="1700" b="0" dirty="0">
                <a:solidFill>
                  <a:srgbClr val="4A4A4A"/>
                </a:solidFill>
                <a:latin typeface="Arial"/>
              </a:rPr>
              <a:t>.</a:t>
            </a:r>
          </a:p>
        </p:txBody>
      </p:sp>
      <p:sp>
        <p:nvSpPr>
          <p:cNvPr id="14" name="Rounded Rectangle 13"/>
          <p:cNvSpPr/>
          <p:nvPr/>
        </p:nvSpPr>
        <p:spPr>
          <a:xfrm>
            <a:off x="9880600" y="4775200"/>
            <a:ext cx="7366000" cy="4216400"/>
          </a:xfrm>
          <a:prstGeom prst="roundRect">
            <a:avLst>
              <a:gd name="adj" fmla="val 4000"/>
            </a:avLst>
          </a:prstGeom>
          <a:solidFill>
            <a:srgbClr val="1A6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5" name="TextBox 14"/>
          <p:cNvSpPr txBox="1"/>
          <p:nvPr/>
        </p:nvSpPr>
        <p:spPr>
          <a:xfrm>
            <a:off x="10261600" y="5105400"/>
            <a:ext cx="6604000" cy="3683000"/>
          </a:xfrm>
          <a:prstGeom prst="rect">
            <a:avLst/>
          </a:prstGeom>
          <a:noFill/>
        </p:spPr>
        <p:txBody>
          <a:bodyPr wrap="square" lIns="27432" tIns="27432" rIns="27432" bIns="27432" anchor="ctr">
            <a:noAutofit/>
          </a:bodyPr>
          <a:lstStyle/>
          <a:p>
            <a:pPr algn="l"/>
            <a:r>
              <a:rPr lang="fr-FR" sz="1800" b="1" spc="162" dirty="0">
                <a:solidFill>
                  <a:srgbClr val="FFFFFF"/>
                </a:solidFill>
                <a:latin typeface="Arial"/>
              </a:rPr>
              <a:t>DÉCISIONS PRISES</a:t>
            </a:r>
          </a:p>
          <a:p>
            <a:pPr marL="0" indent="0" algn="l">
              <a:spcBef>
                <a:spcPts val="700"/>
              </a:spcBef>
              <a:spcAft>
                <a:spcPts val="400"/>
              </a:spcAft>
              <a:buNone/>
            </a:pPr>
            <a:r>
              <a:rPr lang="fr-FR" sz="1600" b="1" spc="140" dirty="0">
                <a:solidFill>
                  <a:srgbClr val="9FD4DE"/>
                </a:solidFill>
                <a:latin typeface="Arial"/>
              </a:rPr>
              <a:t>FN ≫ FP — PRIORISER LA DÉTECTION</a:t>
            </a:r>
          </a:p>
          <a:p>
            <a:pPr marL="200025" indent="-200025" algn="l">
              <a:lnSpc>
                <a:spcPct val="120000"/>
              </a:lnSpc>
              <a:spcAft>
                <a:spcPts val="600"/>
              </a:spcAft>
              <a:buFont typeface="Arial"/>
              <a:buChar char="›"/>
            </a:pPr>
            <a:r>
              <a:rPr lang="fr-FR" sz="1700" b="0" dirty="0">
                <a:solidFill>
                  <a:srgbClr val="FFFFFF"/>
                </a:solidFill>
                <a:latin typeface="Arial"/>
              </a:rPr>
              <a:t>Seuil « par défaut » orienté détection : 80 % des décrochages.</a:t>
            </a:r>
          </a:p>
          <a:p>
            <a:pPr marL="200025" indent="-200025" algn="l">
              <a:lnSpc>
                <a:spcPct val="120000"/>
              </a:lnSpc>
              <a:spcAft>
                <a:spcPts val="600"/>
              </a:spcAft>
              <a:buFont typeface="Arial"/>
              <a:buChar char="›"/>
            </a:pPr>
            <a:r>
              <a:rPr lang="fr-FR" sz="1700" b="0" dirty="0">
                <a:solidFill>
                  <a:srgbClr val="FFFFFF"/>
                </a:solidFill>
                <a:latin typeface="Arial"/>
              </a:rPr>
              <a:t>Seuil externe au modèle, réglable sans réentraînement.</a:t>
            </a:r>
          </a:p>
          <a:p>
            <a:pPr marL="0" indent="0" algn="l">
              <a:spcBef>
                <a:spcPts val="1400"/>
              </a:spcBef>
              <a:spcAft>
                <a:spcPts val="400"/>
              </a:spcAft>
              <a:buNone/>
            </a:pPr>
            <a:r>
              <a:rPr lang="fr-FR" sz="1600" b="1" spc="140" dirty="0">
                <a:solidFill>
                  <a:srgbClr val="9FD4DE"/>
                </a:solidFill>
                <a:latin typeface="Arial"/>
              </a:rPr>
              <a:t>ÉVITER LE MARQUAGE</a:t>
            </a:r>
          </a:p>
          <a:p>
            <a:pPr marL="200025" indent="-200025" algn="l">
              <a:lnSpc>
                <a:spcPct val="120000"/>
              </a:lnSpc>
              <a:spcAft>
                <a:spcPts val="600"/>
              </a:spcAft>
              <a:buFont typeface="Arial"/>
              <a:buChar char="›"/>
            </a:pPr>
            <a:r>
              <a:rPr lang="fr-FR" sz="1700" b="0" dirty="0">
                <a:solidFill>
                  <a:srgbClr val="FFFFFF"/>
                </a:solidFill>
                <a:latin typeface="Arial"/>
              </a:rPr>
              <a:t>Solution paramétrable : probabilité seule, ou prédiction binaire + probabilité.</a:t>
            </a:r>
          </a:p>
          <a:p>
            <a:pPr marL="200025" indent="-200025" algn="l">
              <a:lnSpc>
                <a:spcPct val="120000"/>
              </a:lnSpc>
              <a:spcAft>
                <a:spcPts val="600"/>
              </a:spcAft>
              <a:buFont typeface="Arial"/>
              <a:buChar char="›"/>
            </a:pPr>
            <a:r>
              <a:rPr lang="fr-FR" sz="1700" b="1" dirty="0">
                <a:solidFill>
                  <a:srgbClr val="FFFFFF"/>
                </a:solidFill>
                <a:latin typeface="Arial"/>
              </a:rPr>
              <a:t>Aucune décision automatisée</a:t>
            </a:r>
            <a:r>
              <a:rPr lang="fr-FR" sz="1700" b="0" dirty="0">
                <a:solidFill>
                  <a:srgbClr val="FFFFFF"/>
                </a:solidFill>
                <a:latin typeface="Arial"/>
              </a:rPr>
              <a:t> : l'université décide, l'équipe pédagogique reste responsable.</a:t>
            </a:r>
          </a:p>
        </p:txBody>
      </p:sp>
      <p:sp>
        <p:nvSpPr>
          <p:cNvPr id="200" name="Card 200"/>
          <p:cNvSpPr/>
          <p:nvPr/>
        </p:nvSpPr>
        <p:spPr>
          <a:xfrm>
            <a:off x="1054100" y="4775200"/>
            <a:ext cx="7366000" cy="4216400"/>
          </a:xfrm>
          <a:prstGeom prst="roundRect">
            <a:avLst>
              <a:gd name="adj" fmla="val 6000"/>
            </a:avLst>
          </a:prstGeom>
          <a:solidFill>
            <a:srgbClr val="F2F4F5"/>
          </a:solidFill>
          <a:ln>
            <a:noFill/>
          </a:ln>
        </p:spPr>
        <p:txBody>
          <a:bodyPr/>
          <a:lstStyle/>
          <a:p>
            <a:endParaRPr/>
          </a:p>
        </p:txBody>
      </p:sp>
      <p:sp>
        <p:nvSpPr>
          <p:cNvPr id="201" name="Txt 201"/>
          <p:cNvSpPr txBox="1"/>
          <p:nvPr/>
        </p:nvSpPr>
        <p:spPr>
          <a:xfrm>
            <a:off x="1435100" y="5105400"/>
            <a:ext cx="6604000" cy="381000"/>
          </a:xfrm>
          <a:prstGeom prst="rect">
            <a:avLst/>
          </a:prstGeom>
          <a:noFill/>
        </p:spPr>
        <p:txBody>
          <a:bodyPr wrap="square" lIns="0" tIns="0" rIns="0" bIns="0">
            <a:normAutofit/>
          </a:bodyPr>
          <a:lstStyle/>
          <a:p>
            <a:pPr algn="l"/>
            <a:r>
              <a:rPr lang="fr-FR" sz="1800" b="1" spc="162" dirty="0">
                <a:solidFill>
                  <a:srgbClr val="1A6A77"/>
                </a:solidFill>
                <a:latin typeface="Arial"/>
              </a:rPr>
              <a:t>COÛT MÉTIER — LARGEMENT NON CHIFFRABLE</a:t>
            </a:r>
          </a:p>
        </p:txBody>
      </p:sp>
      <p:sp>
        <p:nvSpPr>
          <p:cNvPr id="202" name="Txt 202"/>
          <p:cNvSpPr txBox="1"/>
          <p:nvPr/>
        </p:nvSpPr>
        <p:spPr>
          <a:xfrm>
            <a:off x="1435100" y="5638800"/>
            <a:ext cx="6604000" cy="3175000"/>
          </a:xfrm>
          <a:prstGeom prst="rect">
            <a:avLst/>
          </a:prstGeom>
          <a:noFill/>
        </p:spPr>
        <p:txBody>
          <a:bodyPr wrap="square" lIns="0" tIns="0" rIns="0" bIns="0">
            <a:normAutofit/>
          </a:bodyPr>
          <a:lstStyle/>
          <a:p>
            <a:pPr marL="200025" indent="-200025" algn="l">
              <a:lnSpc>
                <a:spcPct val="122000"/>
              </a:lnSpc>
              <a:spcAft>
                <a:spcPts val="1500"/>
              </a:spcAft>
              <a:buFont typeface="Arial"/>
              <a:buChar char="›"/>
            </a:pPr>
            <a:r>
              <a:rPr lang="fr-FR" sz="1700" dirty="0">
                <a:solidFill>
                  <a:srgbClr val="4A4A4A"/>
                </a:solidFill>
                <a:latin typeface="Arial"/>
              </a:rPr>
              <a:t>Une année perdue se chiffre : 13 300 € par étudiant (MESR, 2024).</a:t>
            </a:r>
          </a:p>
          <a:p>
            <a:pPr marL="200025" indent="-200025" algn="l">
              <a:lnSpc>
                <a:spcPct val="122000"/>
              </a:lnSpc>
              <a:spcAft>
                <a:spcPts val="1500"/>
              </a:spcAft>
              <a:buFont typeface="Arial"/>
              <a:buChar char="›"/>
            </a:pPr>
            <a:r>
              <a:rPr lang="fr-FR" sz="1700" dirty="0">
                <a:solidFill>
                  <a:srgbClr val="4A4A4A"/>
                </a:solidFill>
                <a:latin typeface="Arial"/>
              </a:rPr>
              <a:t>L'essentiel, non : trace psychologique, employabilité, coût social.</a:t>
            </a:r>
          </a:p>
          <a:p>
            <a:pPr marL="200025" indent="-200025" algn="l">
              <a:lnSpc>
                <a:spcPct val="122000"/>
              </a:lnSpc>
              <a:spcAft>
                <a:spcPts val="1500"/>
              </a:spcAft>
              <a:buFont typeface="Arial"/>
              <a:buChar char="›"/>
            </a:pPr>
            <a:r>
              <a:rPr lang="fr-FR" sz="1700" dirty="0">
                <a:solidFill>
                  <a:srgbClr val="4A4A4A"/>
                </a:solidFill>
                <a:latin typeface="Arial"/>
              </a:rPr>
              <a:t>Le coût d'un accompagnement pas davantage — tutorat, méthodologie, aide sociale.</a:t>
            </a:r>
          </a:p>
          <a:p>
            <a:pPr marL="200025" indent="-200025" algn="l">
              <a:lnSpc>
                <a:spcPct val="122000"/>
              </a:lnSpc>
              <a:spcAft>
                <a:spcPts val="0"/>
              </a:spcAft>
              <a:buFont typeface="Arial"/>
              <a:buChar char="›"/>
            </a:pPr>
            <a:r>
              <a:rPr lang="fr-FR" sz="1700" dirty="0">
                <a:solidFill>
                  <a:srgbClr val="4A4A4A"/>
                </a:solidFill>
                <a:latin typeface="Arial"/>
              </a:rPr>
              <a:t>Et aucune capacité d'accompagnement disponible n'est renseignée.</a:t>
            </a:r>
          </a:p>
        </p:txBody>
      </p:sp>
      <p:sp>
        <p:nvSpPr>
          <p:cNvPr id="220" name="Arrow 220"/>
          <p:cNvSpPr/>
          <p:nvPr/>
        </p:nvSpPr>
        <p:spPr>
          <a:xfrm>
            <a:off x="8636000" y="6629400"/>
            <a:ext cx="1028700" cy="508000"/>
          </a:xfrm>
          <a:prstGeom prst="rightArrow">
            <a:avLst>
              <a:gd name="adj1" fmla="val 55000"/>
              <a:gd name="adj2" fmla="val 50000"/>
            </a:avLst>
          </a:prstGeom>
          <a:solidFill>
            <a:srgbClr val="56B9CA"/>
          </a:solidFill>
          <a:ln>
            <a:noFill/>
          </a:ln>
        </p:spPr>
        <p:txBody>
          <a:bodyPr/>
          <a:lstStyle/>
          <a:p>
            <a:endParaRPr/>
          </a:p>
        </p:txBody>
      </p:sp>
      <p:sp>
        <p:nvSpPr>
          <p:cNvPr id="221" name="Chevrons 221"/>
          <p:cNvSpPr txBox="1"/>
          <p:nvPr/>
        </p:nvSpPr>
        <p:spPr>
          <a:xfrm>
            <a:off x="8747195" y="3103603"/>
            <a:ext cx="806311" cy="1107996"/>
          </a:xfrm>
          <a:prstGeom prst="rect">
            <a:avLst/>
          </a:prstGeom>
          <a:noFill/>
        </p:spPr>
        <p:txBody>
          <a:bodyPr wrap="none" lIns="0" tIns="0" rIns="0" bIns="0" anchor="ctr">
            <a:spAutoFit/>
          </a:bodyPr>
          <a:lstStyle/>
          <a:p>
            <a:pPr algn="ctr"/>
            <a:r>
              <a:rPr lang="fr-FR" sz="7200" b="1" dirty="0">
                <a:solidFill>
                  <a:srgbClr val="56B9CA"/>
                </a:solidFill>
                <a:latin typeface="Arial Black" panose="020B0A04020102020204" pitchFamily="34" charset="0"/>
              </a:rPr>
              <a:t>≫</a:t>
            </a:r>
          </a:p>
        </p:txBody>
      </p:sp>
      <p:sp>
        <p:nvSpPr>
          <p:cNvPr id="240" name="Footnote 240"/>
          <p:cNvSpPr txBox="1"/>
          <p:nvPr/>
        </p:nvSpPr>
        <p:spPr>
          <a:xfrm>
            <a:off x="1054100" y="9283700"/>
            <a:ext cx="15240000" cy="355600"/>
          </a:xfrm>
          <a:prstGeom prst="rect">
            <a:avLst/>
          </a:prstGeom>
          <a:noFill/>
        </p:spPr>
        <p:txBody>
          <a:bodyPr wrap="square" lIns="0" tIns="0" rIns="0" bIns="0">
            <a:normAutofit/>
          </a:bodyPr>
          <a:lstStyle/>
          <a:p>
            <a:pPr algn="l"/>
            <a:r>
              <a:rPr lang="fr-FR" sz="1400" dirty="0">
                <a:solidFill>
                  <a:srgbClr val="878787"/>
                </a:solidFill>
                <a:latin typeface="Arial"/>
              </a:rPr>
              <a:t>Repère de coût : MESR, EESR n°19 (2024), publication.enseignementsup-recherche.gouv.fr</a:t>
            </a:r>
          </a:p>
        </p:txBody>
      </p:sp>
    </p:spTree>
    <p:extLst>
      <p:ext uri="{BB962C8B-B14F-4D97-AF65-F5344CB8AC3E}">
        <p14:creationId xmlns:p14="http://schemas.microsoft.com/office/powerpoint/2010/main" val="1443158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teal.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62" dirty="0">
                <a:solidFill>
                  <a:srgbClr val="6F6F6F"/>
                </a:solidFill>
                <a:latin typeface="Arial"/>
              </a:rPr>
              <a:t>ACTE 03 · ÉTHIQUE ET RGPD</a:t>
            </a:r>
          </a:p>
        </p:txBody>
      </p:sp>
      <p:sp>
        <p:nvSpPr>
          <p:cNvPr id="4" name="TextBox 3"/>
          <p:cNvSpPr txBox="1"/>
          <p:nvPr/>
        </p:nvSpPr>
        <p:spPr>
          <a:xfrm>
            <a:off x="1054100" y="1524000"/>
            <a:ext cx="16192500" cy="1016000"/>
          </a:xfrm>
          <a:prstGeom prst="rect">
            <a:avLst/>
          </a:prstGeom>
          <a:noFill/>
        </p:spPr>
        <p:txBody>
          <a:bodyPr wrap="square" lIns="27432" tIns="27432" rIns="27432" bIns="27432" anchor="t">
            <a:noAutofit/>
          </a:bodyPr>
          <a:lstStyle/>
          <a:p>
            <a:pPr algn="l">
              <a:lnSpc>
                <a:spcPct val="100000"/>
              </a:lnSpc>
            </a:pPr>
            <a:r>
              <a:rPr lang="fr-FR" sz="5400" b="1" dirty="0">
                <a:solidFill>
                  <a:srgbClr val="000000"/>
                </a:solidFill>
                <a:latin typeface="Arial"/>
              </a:rPr>
              <a:t>Cadre légal et éthique</a:t>
            </a:r>
          </a:p>
        </p:txBody>
      </p:sp>
      <p:sp>
        <p:nvSpPr>
          <p:cNvPr id="5" name="Rectangle 4"/>
          <p:cNvSpPr/>
          <p:nvPr/>
        </p:nvSpPr>
        <p:spPr>
          <a:xfrm>
            <a:off x="1054100" y="2743200"/>
            <a:ext cx="1143000" cy="3810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7" name="TextBox 6"/>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11</a:t>
            </a:r>
            <a:endParaRPr lang="fr-FR" sz="1400" b="1" noProof="0" dirty="0">
              <a:solidFill>
                <a:srgbClr val="56B9CA"/>
              </a:solidFill>
              <a:latin typeface="Arial"/>
              <a:cs typeface="Arial"/>
            </a:endParaRPr>
          </a:p>
        </p:txBody>
      </p:sp>
      <p:sp>
        <p:nvSpPr>
          <p:cNvPr id="30" name="TextBox 30"/>
          <p:cNvSpPr txBox="1"/>
          <p:nvPr/>
        </p:nvSpPr>
        <p:spPr>
          <a:xfrm>
            <a:off x="1054100" y="3073400"/>
            <a:ext cx="16192500" cy="355600"/>
          </a:xfrm>
          <a:prstGeom prst="rect">
            <a:avLst/>
          </a:prstGeom>
          <a:noFill/>
        </p:spPr>
        <p:txBody>
          <a:bodyPr wrap="square" lIns="0" tIns="0" rIns="0" bIns="0" anchor="t">
            <a:noAutofit/>
          </a:bodyPr>
          <a:lstStyle/>
          <a:p>
            <a:pPr algn="l">
              <a:lnSpc>
                <a:spcPct val="100000"/>
              </a:lnSpc>
            </a:pPr>
            <a:r>
              <a:rPr lang="fr-FR" sz="1800" b="1" spc="162" dirty="0">
                <a:solidFill>
                  <a:srgbClr val="1A6A77"/>
                </a:solidFill>
                <a:latin typeface="Arial"/>
              </a:rPr>
              <a:t>PRINCIPES POSÉS EN AMONT</a:t>
            </a:r>
          </a:p>
        </p:txBody>
      </p:sp>
      <p:sp>
        <p:nvSpPr>
          <p:cNvPr id="31" name="Shape 31"/>
          <p:cNvSpPr/>
          <p:nvPr/>
        </p:nvSpPr>
        <p:spPr>
          <a:xfrm>
            <a:off x="1054100" y="3454400"/>
            <a:ext cx="50800" cy="1905000"/>
          </a:xfrm>
          <a:prstGeom prst="rect">
            <a:avLst/>
          </a:prstGeom>
          <a:solidFill>
            <a:srgbClr val="1A6A77"/>
          </a:solidFill>
          <a:ln>
            <a:noFill/>
          </a:ln>
        </p:spPr>
        <p:txBody>
          <a:bodyPr/>
          <a:lstStyle/>
          <a:p>
            <a:endParaRPr/>
          </a:p>
        </p:txBody>
      </p:sp>
      <p:sp>
        <p:nvSpPr>
          <p:cNvPr id="32" name="TextBox 32"/>
          <p:cNvSpPr txBox="1"/>
          <p:nvPr/>
        </p:nvSpPr>
        <p:spPr>
          <a:xfrm>
            <a:off x="1333500" y="3454400"/>
            <a:ext cx="7874000" cy="1905000"/>
          </a:xfrm>
          <a:prstGeom prst="rect">
            <a:avLst/>
          </a:prstGeom>
          <a:noFill/>
        </p:spPr>
        <p:txBody>
          <a:bodyPr wrap="square" lIns="0" tIns="0" rIns="0" bIns="0" anchor="t">
            <a:noAutofit/>
          </a:bodyPr>
          <a:lstStyle/>
          <a:p>
            <a:pPr algn="l">
              <a:lnSpc>
                <a:spcPct val="100000"/>
              </a:lnSpc>
              <a:spcAft>
                <a:spcPts val="600"/>
              </a:spcAft>
            </a:pPr>
            <a:r>
              <a:rPr lang="fr-FR" sz="2800" b="1" dirty="0">
                <a:solidFill>
                  <a:srgbClr val="000000"/>
                </a:solidFill>
                <a:latin typeface="Arial"/>
              </a:rPr>
              <a:t>Base légale et finalité</a:t>
            </a:r>
          </a:p>
          <a:p>
            <a:pPr algn="l">
              <a:lnSpc>
                <a:spcPct val="124000"/>
              </a:lnSpc>
            </a:pPr>
            <a:r>
              <a:rPr lang="fr-FR" sz="2200" b="0" dirty="0">
                <a:solidFill>
                  <a:srgbClr val="3D3D3D"/>
                </a:solidFill>
                <a:latin typeface="Arial"/>
              </a:rPr>
              <a:t>Mission d'intérêt public (art. 6.1.e) : l'aide à la réussite relève du service public, le consentement n'est pas requis. </a:t>
            </a:r>
          </a:p>
          <a:p>
            <a:pPr algn="l">
              <a:lnSpc>
                <a:spcPct val="124000"/>
              </a:lnSpc>
            </a:pPr>
            <a:r>
              <a:rPr lang="fr-FR" sz="2200" b="1" dirty="0">
                <a:solidFill>
                  <a:srgbClr val="3D3D3D"/>
                </a:solidFill>
                <a:latin typeface="Arial"/>
              </a:rPr>
              <a:t>Finalité</a:t>
            </a:r>
            <a:r>
              <a:rPr lang="fr-FR" sz="2200" b="0" dirty="0">
                <a:solidFill>
                  <a:srgbClr val="3D3D3D"/>
                </a:solidFill>
                <a:latin typeface="Arial"/>
              </a:rPr>
              <a:t> : proposer un accompagnement, rien d'autre.</a:t>
            </a:r>
          </a:p>
        </p:txBody>
      </p:sp>
      <p:sp>
        <p:nvSpPr>
          <p:cNvPr id="33" name="Shape 33"/>
          <p:cNvSpPr/>
          <p:nvPr/>
        </p:nvSpPr>
        <p:spPr>
          <a:xfrm>
            <a:off x="9436100" y="3454400"/>
            <a:ext cx="50800" cy="1905000"/>
          </a:xfrm>
          <a:prstGeom prst="rect">
            <a:avLst/>
          </a:prstGeom>
          <a:solidFill>
            <a:srgbClr val="1A6A77"/>
          </a:solidFill>
          <a:ln>
            <a:noFill/>
          </a:ln>
        </p:spPr>
        <p:txBody>
          <a:bodyPr/>
          <a:lstStyle/>
          <a:p>
            <a:endParaRPr/>
          </a:p>
        </p:txBody>
      </p:sp>
      <p:sp>
        <p:nvSpPr>
          <p:cNvPr id="34" name="TextBox 34"/>
          <p:cNvSpPr txBox="1"/>
          <p:nvPr/>
        </p:nvSpPr>
        <p:spPr>
          <a:xfrm>
            <a:off x="9715500" y="3454400"/>
            <a:ext cx="7518400" cy="1905000"/>
          </a:xfrm>
          <a:prstGeom prst="rect">
            <a:avLst/>
          </a:prstGeom>
          <a:noFill/>
        </p:spPr>
        <p:txBody>
          <a:bodyPr wrap="square" lIns="0" tIns="0" rIns="0" bIns="0" anchor="t">
            <a:noAutofit/>
          </a:bodyPr>
          <a:lstStyle/>
          <a:p>
            <a:pPr algn="l">
              <a:lnSpc>
                <a:spcPct val="100000"/>
              </a:lnSpc>
              <a:spcAft>
                <a:spcPts val="600"/>
              </a:spcAft>
            </a:pPr>
            <a:r>
              <a:rPr lang="fr-FR" sz="2800" b="1" dirty="0">
                <a:solidFill>
                  <a:srgbClr val="000000"/>
                </a:solidFill>
                <a:latin typeface="Arial"/>
              </a:rPr>
              <a:t>Pas de décision automatisée</a:t>
            </a:r>
          </a:p>
          <a:p>
            <a:pPr algn="l">
              <a:lnSpc>
                <a:spcPct val="124000"/>
              </a:lnSpc>
            </a:pPr>
            <a:r>
              <a:rPr lang="fr-FR" sz="2200" b="0" dirty="0">
                <a:solidFill>
                  <a:srgbClr val="3D3D3D"/>
                </a:solidFill>
                <a:latin typeface="Arial"/>
              </a:rPr>
              <a:t>Le service rend une probabilité, jamais un verdict (art. 22) : </a:t>
            </a:r>
            <a:r>
              <a:rPr lang="fr-FR" sz="2200" b="1" dirty="0">
                <a:solidFill>
                  <a:srgbClr val="3D3D3D"/>
                </a:solidFill>
                <a:latin typeface="Arial"/>
              </a:rPr>
              <a:t>l'équipe pédagogique décide</a:t>
            </a:r>
            <a:r>
              <a:rPr lang="fr-FR" sz="2200" b="0" dirty="0">
                <a:solidFill>
                  <a:srgbClr val="3D3D3D"/>
                </a:solidFill>
                <a:latin typeface="Arial"/>
              </a:rPr>
              <a:t>.</a:t>
            </a:r>
          </a:p>
        </p:txBody>
      </p:sp>
      <p:sp>
        <p:nvSpPr>
          <p:cNvPr id="35" name="Shape 35"/>
          <p:cNvSpPr/>
          <p:nvPr/>
        </p:nvSpPr>
        <p:spPr>
          <a:xfrm>
            <a:off x="1054100" y="5613400"/>
            <a:ext cx="16192500" cy="12700"/>
          </a:xfrm>
          <a:prstGeom prst="rect">
            <a:avLst/>
          </a:prstGeom>
          <a:solidFill>
            <a:srgbClr val="D2D2D2"/>
          </a:solidFill>
          <a:ln>
            <a:noFill/>
          </a:ln>
        </p:spPr>
        <p:txBody>
          <a:bodyPr/>
          <a:lstStyle/>
          <a:p>
            <a:endParaRPr/>
          </a:p>
        </p:txBody>
      </p:sp>
      <p:sp>
        <p:nvSpPr>
          <p:cNvPr id="36" name="TextBox 36"/>
          <p:cNvSpPr txBox="1"/>
          <p:nvPr/>
        </p:nvSpPr>
        <p:spPr>
          <a:xfrm>
            <a:off x="1054100" y="5816600"/>
            <a:ext cx="16192500" cy="355600"/>
          </a:xfrm>
          <a:prstGeom prst="rect">
            <a:avLst/>
          </a:prstGeom>
          <a:noFill/>
        </p:spPr>
        <p:txBody>
          <a:bodyPr wrap="square" lIns="0" tIns="0" rIns="0" bIns="0" anchor="t">
            <a:noAutofit/>
          </a:bodyPr>
          <a:lstStyle/>
          <a:p>
            <a:pPr algn="l">
              <a:lnSpc>
                <a:spcPct val="100000"/>
              </a:lnSpc>
            </a:pPr>
            <a:r>
              <a:rPr lang="fr-FR" sz="1800" b="1" spc="162" dirty="0">
                <a:solidFill>
                  <a:srgbClr val="1A6A77"/>
                </a:solidFill>
                <a:latin typeface="Arial"/>
              </a:rPr>
              <a:t>CE QUE LES DONNÉES SENSIBLES IMPOSENT</a:t>
            </a:r>
          </a:p>
        </p:txBody>
      </p:sp>
      <p:sp>
        <p:nvSpPr>
          <p:cNvPr id="37" name="Shape 37"/>
          <p:cNvSpPr/>
          <p:nvPr/>
        </p:nvSpPr>
        <p:spPr>
          <a:xfrm>
            <a:off x="1054100" y="6223000"/>
            <a:ext cx="7810500" cy="2794000"/>
          </a:xfrm>
          <a:prstGeom prst="roundRect">
            <a:avLst>
              <a:gd name="adj" fmla="val 4000"/>
            </a:avLst>
          </a:prstGeom>
          <a:solidFill>
            <a:srgbClr val="1A6A77"/>
          </a:solidFill>
          <a:ln>
            <a:noFill/>
          </a:ln>
        </p:spPr>
        <p:txBody>
          <a:bodyPr/>
          <a:lstStyle/>
          <a:p>
            <a:endParaRPr/>
          </a:p>
        </p:txBody>
      </p:sp>
      <p:sp>
        <p:nvSpPr>
          <p:cNvPr id="38" name="TextBox 38"/>
          <p:cNvSpPr txBox="1"/>
          <p:nvPr/>
        </p:nvSpPr>
        <p:spPr>
          <a:xfrm>
            <a:off x="1409700" y="6502400"/>
            <a:ext cx="7099300" cy="330200"/>
          </a:xfrm>
          <a:prstGeom prst="rect">
            <a:avLst/>
          </a:prstGeom>
          <a:noFill/>
        </p:spPr>
        <p:txBody>
          <a:bodyPr wrap="square" lIns="0" tIns="0" rIns="0" bIns="0" anchor="t">
            <a:noAutofit/>
          </a:bodyPr>
          <a:lstStyle/>
          <a:p>
            <a:pPr algn="l">
              <a:lnSpc>
                <a:spcPct val="100000"/>
              </a:lnSpc>
            </a:pPr>
            <a:r>
              <a:rPr lang="fr-FR" sz="1800" b="1" spc="162" dirty="0">
                <a:solidFill>
                  <a:srgbClr val="9FD4DE"/>
                </a:solidFill>
                <a:latin typeface="Arial"/>
              </a:rPr>
              <a:t>NON-DISCRIMINATION</a:t>
            </a:r>
          </a:p>
        </p:txBody>
      </p:sp>
      <p:sp>
        <p:nvSpPr>
          <p:cNvPr id="39" name="TextBox 39"/>
          <p:cNvSpPr txBox="1"/>
          <p:nvPr/>
        </p:nvSpPr>
        <p:spPr>
          <a:xfrm>
            <a:off x="1409700" y="6883400"/>
            <a:ext cx="7099300" cy="482600"/>
          </a:xfrm>
          <a:prstGeom prst="rect">
            <a:avLst/>
          </a:prstGeom>
          <a:noFill/>
        </p:spPr>
        <p:txBody>
          <a:bodyPr wrap="square" lIns="0" tIns="0" rIns="0" bIns="0" anchor="t">
            <a:noAutofit/>
          </a:bodyPr>
          <a:lstStyle/>
          <a:p>
            <a:pPr algn="l">
              <a:lnSpc>
                <a:spcPct val="100000"/>
              </a:lnSpc>
            </a:pPr>
            <a:r>
              <a:rPr lang="fr-FR" sz="2800" b="1" dirty="0">
                <a:solidFill>
                  <a:srgbClr val="FFFFFF"/>
                </a:solidFill>
                <a:latin typeface="Arial"/>
              </a:rPr>
              <a:t>Exclure, puis contrôler</a:t>
            </a:r>
          </a:p>
        </p:txBody>
      </p:sp>
      <p:sp>
        <p:nvSpPr>
          <p:cNvPr id="40" name="TextBox 40"/>
          <p:cNvSpPr txBox="1"/>
          <p:nvPr/>
        </p:nvSpPr>
        <p:spPr>
          <a:xfrm>
            <a:off x="1409700" y="7467600"/>
            <a:ext cx="7099300" cy="1422400"/>
          </a:xfrm>
          <a:prstGeom prst="rect">
            <a:avLst/>
          </a:prstGeom>
          <a:noFill/>
        </p:spPr>
        <p:txBody>
          <a:bodyPr wrap="square" lIns="0" tIns="0" rIns="0" bIns="0" anchor="t">
            <a:noAutofit/>
          </a:bodyPr>
          <a:lstStyle/>
          <a:p>
            <a:pPr algn="l">
              <a:lnSpc>
                <a:spcPct val="124000"/>
              </a:lnSpc>
            </a:pPr>
            <a:r>
              <a:rPr lang="fr-FR" sz="2200" dirty="0">
                <a:solidFill>
                  <a:srgbClr val="FFFFFF"/>
                </a:solidFill>
                <a:latin typeface="Courier New"/>
              </a:rPr>
              <a:t>sexe</a:t>
            </a:r>
            <a:r>
              <a:rPr lang="fr-FR" sz="2200" dirty="0">
                <a:solidFill>
                  <a:srgbClr val="EAF5F7"/>
                </a:solidFill>
                <a:latin typeface="Arial"/>
              </a:rPr>
              <a:t> et </a:t>
            </a:r>
            <a:r>
              <a:rPr lang="fr-FR" sz="2200" dirty="0">
                <a:solidFill>
                  <a:srgbClr val="FFFFFF"/>
                </a:solidFill>
                <a:latin typeface="Courier New"/>
              </a:rPr>
              <a:t>boursier</a:t>
            </a:r>
            <a:r>
              <a:rPr lang="fr-FR" sz="2200" dirty="0">
                <a:solidFill>
                  <a:srgbClr val="EAF5F7"/>
                </a:solidFill>
                <a:latin typeface="Arial"/>
              </a:rPr>
              <a:t> sortent du modèle par principe, mais restent à côté pour contrôler l'absence de biais sur chaque sous-population.</a:t>
            </a:r>
          </a:p>
        </p:txBody>
      </p:sp>
      <p:sp>
        <p:nvSpPr>
          <p:cNvPr id="45" name="Shape 45"/>
          <p:cNvSpPr/>
          <p:nvPr/>
        </p:nvSpPr>
        <p:spPr>
          <a:xfrm>
            <a:off x="9436100" y="6223000"/>
            <a:ext cx="7810500" cy="2794000"/>
          </a:xfrm>
          <a:prstGeom prst="roundRect">
            <a:avLst>
              <a:gd name="adj" fmla="val 4000"/>
            </a:avLst>
          </a:prstGeom>
          <a:solidFill>
            <a:srgbClr val="1A6A77"/>
          </a:solidFill>
          <a:ln>
            <a:noFill/>
          </a:ln>
        </p:spPr>
        <p:txBody>
          <a:bodyPr/>
          <a:lstStyle/>
          <a:p>
            <a:endParaRPr/>
          </a:p>
        </p:txBody>
      </p:sp>
      <p:sp>
        <p:nvSpPr>
          <p:cNvPr id="46" name="TextBox 46"/>
          <p:cNvSpPr txBox="1"/>
          <p:nvPr/>
        </p:nvSpPr>
        <p:spPr>
          <a:xfrm>
            <a:off x="9791700" y="6502400"/>
            <a:ext cx="7099300" cy="330200"/>
          </a:xfrm>
          <a:prstGeom prst="rect">
            <a:avLst/>
          </a:prstGeom>
          <a:noFill/>
        </p:spPr>
        <p:txBody>
          <a:bodyPr wrap="square" lIns="0" tIns="0" rIns="0" bIns="0" anchor="t">
            <a:noAutofit/>
          </a:bodyPr>
          <a:lstStyle/>
          <a:p>
            <a:pPr algn="l">
              <a:lnSpc>
                <a:spcPct val="100000"/>
              </a:lnSpc>
            </a:pPr>
            <a:r>
              <a:rPr lang="fr-FR" sz="1800" b="1" spc="162" dirty="0">
                <a:solidFill>
                  <a:srgbClr val="9FD4DE"/>
                </a:solidFill>
                <a:latin typeface="Arial"/>
              </a:rPr>
              <a:t>MINIMISATION</a:t>
            </a:r>
          </a:p>
        </p:txBody>
      </p:sp>
      <p:sp>
        <p:nvSpPr>
          <p:cNvPr id="47" name="TextBox 47"/>
          <p:cNvSpPr txBox="1"/>
          <p:nvPr/>
        </p:nvSpPr>
        <p:spPr>
          <a:xfrm>
            <a:off x="9791700" y="6883400"/>
            <a:ext cx="7099300" cy="482600"/>
          </a:xfrm>
          <a:prstGeom prst="rect">
            <a:avLst/>
          </a:prstGeom>
          <a:noFill/>
        </p:spPr>
        <p:txBody>
          <a:bodyPr wrap="square" lIns="0" tIns="0" rIns="0" bIns="0" anchor="t">
            <a:noAutofit/>
          </a:bodyPr>
          <a:lstStyle/>
          <a:p>
            <a:pPr algn="l">
              <a:lnSpc>
                <a:spcPct val="100000"/>
              </a:lnSpc>
            </a:pPr>
            <a:r>
              <a:rPr lang="fr-FR" sz="2800" b="1" dirty="0">
                <a:solidFill>
                  <a:srgbClr val="FFFFFF"/>
                </a:solidFill>
                <a:latin typeface="Arial"/>
              </a:rPr>
              <a:t>Stratégie multi-scénarios</a:t>
            </a:r>
          </a:p>
        </p:txBody>
      </p:sp>
      <p:sp>
        <p:nvSpPr>
          <p:cNvPr id="48" name="TextBox 48"/>
          <p:cNvSpPr txBox="1"/>
          <p:nvPr/>
        </p:nvSpPr>
        <p:spPr>
          <a:xfrm>
            <a:off x="9791700" y="7467600"/>
            <a:ext cx="7099300" cy="1422400"/>
          </a:xfrm>
          <a:prstGeom prst="rect">
            <a:avLst/>
          </a:prstGeom>
          <a:noFill/>
        </p:spPr>
        <p:txBody>
          <a:bodyPr wrap="square" lIns="0" tIns="0" rIns="0" bIns="0" anchor="t">
            <a:noAutofit/>
          </a:bodyPr>
          <a:lstStyle/>
          <a:p>
            <a:pPr algn="l">
              <a:lnSpc>
                <a:spcPct val="124000"/>
              </a:lnSpc>
            </a:pPr>
            <a:r>
              <a:rPr lang="fr-FR" sz="2200" dirty="0">
                <a:solidFill>
                  <a:srgbClr val="EAF5F7"/>
                </a:solidFill>
                <a:latin typeface="Arial"/>
              </a:rPr>
              <a:t>Plusieurs scénarios de variables, comparés par ablation : à pouvoir prédictif équivalent, le plus sobre part en production.</a:t>
            </a:r>
          </a:p>
        </p:txBody>
      </p:sp>
    </p:spTree>
    <p:extLst>
      <p:ext uri="{BB962C8B-B14F-4D97-AF65-F5344CB8AC3E}">
        <p14:creationId xmlns:p14="http://schemas.microsoft.com/office/powerpoint/2010/main" val="1710316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teal.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lnSpc>
                <a:spcPct val="115000"/>
              </a:lnSpc>
            </a:pPr>
            <a:r>
              <a:rPr lang="fr-FR" sz="1800" b="1" spc="162" dirty="0">
                <a:solidFill>
                  <a:srgbClr val="6F6F6F"/>
                </a:solidFill>
                <a:latin typeface="Arial"/>
              </a:rPr>
              <a:t>ACTE 03 · LE PÉRIMÈTRE DES DONNÉES</a:t>
            </a:r>
          </a:p>
        </p:txBody>
      </p:sp>
      <p:sp>
        <p:nvSpPr>
          <p:cNvPr id="4" name="TextBox 3"/>
          <p:cNvSpPr txBox="1"/>
          <p:nvPr/>
        </p:nvSpPr>
        <p:spPr>
          <a:xfrm>
            <a:off x="1047750" y="1619250"/>
            <a:ext cx="16192500" cy="754380"/>
          </a:xfrm>
          <a:prstGeom prst="rect">
            <a:avLst/>
          </a:prstGeom>
          <a:noFill/>
        </p:spPr>
        <p:txBody>
          <a:bodyPr wrap="square" lIns="27432" tIns="27432" rIns="27432" bIns="27432" anchor="t">
            <a:noAutofit/>
          </a:bodyPr>
          <a:lstStyle/>
          <a:p>
            <a:pPr algn="l">
              <a:lnSpc>
                <a:spcPct val="100000"/>
              </a:lnSpc>
            </a:pPr>
            <a:r>
              <a:rPr lang="fr-FR" sz="4500" b="1" spc="-45" dirty="0">
                <a:solidFill>
                  <a:srgbClr val="000000"/>
                </a:solidFill>
                <a:latin typeface="Arial"/>
              </a:rPr>
              <a:t>Le tri des variables : fuites, biais et leurres</a:t>
            </a:r>
          </a:p>
        </p:txBody>
      </p:sp>
      <p:sp>
        <p:nvSpPr>
          <p:cNvPr id="5" name="Rectangle 4"/>
          <p:cNvSpPr/>
          <p:nvPr/>
        </p:nvSpPr>
        <p:spPr>
          <a:xfrm>
            <a:off x="1047750" y="2526030"/>
            <a:ext cx="1143000" cy="1905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7" name="TextBox 6"/>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12</a:t>
            </a:r>
            <a:endParaRPr lang="fr-FR" sz="1400" b="1" noProof="0" dirty="0">
              <a:solidFill>
                <a:srgbClr val="56B9CA"/>
              </a:solidFill>
              <a:latin typeface="Arial"/>
              <a:cs typeface="Arial"/>
            </a:endParaRPr>
          </a:p>
        </p:txBody>
      </p:sp>
      <p:sp>
        <p:nvSpPr>
          <p:cNvPr id="13" name="Rectangle 12"/>
          <p:cNvSpPr/>
          <p:nvPr/>
        </p:nvSpPr>
        <p:spPr>
          <a:xfrm>
            <a:off x="1047750" y="3478403"/>
            <a:ext cx="16192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300" name="Rule 300"/>
          <p:cNvSpPr/>
          <p:nvPr/>
        </p:nvSpPr>
        <p:spPr>
          <a:xfrm>
            <a:off x="1047750" y="4292600"/>
            <a:ext cx="16192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301" name="Rule 301"/>
          <p:cNvSpPr/>
          <p:nvPr/>
        </p:nvSpPr>
        <p:spPr>
          <a:xfrm>
            <a:off x="1047750" y="4864100"/>
            <a:ext cx="16192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302" name="Rule 302"/>
          <p:cNvSpPr/>
          <p:nvPr/>
        </p:nvSpPr>
        <p:spPr>
          <a:xfrm>
            <a:off x="1047750" y="5435600"/>
            <a:ext cx="16192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303" name="Rule 303"/>
          <p:cNvSpPr/>
          <p:nvPr/>
        </p:nvSpPr>
        <p:spPr>
          <a:xfrm>
            <a:off x="1047750" y="6273800"/>
            <a:ext cx="16192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304" name="Rule 304"/>
          <p:cNvSpPr/>
          <p:nvPr/>
        </p:nvSpPr>
        <p:spPr>
          <a:xfrm>
            <a:off x="1047750" y="7112000"/>
            <a:ext cx="16192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305" name="Rule 305"/>
          <p:cNvSpPr/>
          <p:nvPr/>
        </p:nvSpPr>
        <p:spPr>
          <a:xfrm>
            <a:off x="1047750" y="7950200"/>
            <a:ext cx="16192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306" name="Rule 306"/>
          <p:cNvSpPr/>
          <p:nvPr/>
        </p:nvSpPr>
        <p:spPr>
          <a:xfrm>
            <a:off x="1047750" y="8788400"/>
            <a:ext cx="161925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400" name="TextBox 400"/>
          <p:cNvSpPr txBox="1"/>
          <p:nvPr/>
        </p:nvSpPr>
        <p:spPr>
          <a:xfrm>
            <a:off x="1054100" y="2959100"/>
            <a:ext cx="8382000" cy="381000"/>
          </a:xfrm>
          <a:prstGeom prst="rect">
            <a:avLst/>
          </a:prstGeom>
          <a:noFill/>
        </p:spPr>
        <p:txBody>
          <a:bodyPr wrap="square" lIns="0" tIns="0" rIns="0" bIns="0">
            <a:noAutofit/>
          </a:bodyPr>
          <a:lstStyle/>
          <a:p>
            <a:pPr algn="l">
              <a:lnSpc>
                <a:spcPct val="115000"/>
              </a:lnSpc>
            </a:pPr>
            <a:r>
              <a:rPr lang="fr-FR" sz="1800" b="1" spc="162" dirty="0">
                <a:solidFill>
                  <a:srgbClr val="6F6F6F"/>
                </a:solidFill>
                <a:latin typeface="Arial"/>
              </a:rPr>
              <a:t>DONNÉES</a:t>
            </a:r>
          </a:p>
        </p:txBody>
      </p:sp>
      <p:sp>
        <p:nvSpPr>
          <p:cNvPr id="401" name="TextBox 401"/>
          <p:cNvSpPr txBox="1"/>
          <p:nvPr/>
        </p:nvSpPr>
        <p:spPr>
          <a:xfrm>
            <a:off x="10033000" y="2959100"/>
            <a:ext cx="7213600" cy="381000"/>
          </a:xfrm>
          <a:prstGeom prst="rect">
            <a:avLst/>
          </a:prstGeom>
          <a:noFill/>
        </p:spPr>
        <p:txBody>
          <a:bodyPr wrap="square" lIns="0" tIns="0" rIns="0" bIns="0">
            <a:noAutofit/>
          </a:bodyPr>
          <a:lstStyle/>
          <a:p>
            <a:pPr algn="l">
              <a:lnSpc>
                <a:spcPct val="115000"/>
              </a:lnSpc>
            </a:pPr>
            <a:r>
              <a:rPr lang="fr-FR" sz="1800" b="1" spc="162" dirty="0">
                <a:solidFill>
                  <a:srgbClr val="6F6F6F"/>
                </a:solidFill>
                <a:latin typeface="Arial"/>
              </a:rPr>
              <a:t>DÉCISIONS</a:t>
            </a:r>
          </a:p>
        </p:txBody>
      </p:sp>
      <p:sp>
        <p:nvSpPr>
          <p:cNvPr id="402" name="TextBox 402"/>
          <p:cNvSpPr txBox="1"/>
          <p:nvPr/>
        </p:nvSpPr>
        <p:spPr>
          <a:xfrm>
            <a:off x="1054100" y="3606800"/>
            <a:ext cx="8382000" cy="584200"/>
          </a:xfrm>
          <a:prstGeom prst="rect">
            <a:avLst/>
          </a:prstGeom>
          <a:noFill/>
        </p:spPr>
        <p:txBody>
          <a:bodyPr wrap="square" lIns="0" tIns="0" rIns="0" bIns="0">
            <a:noAutofit/>
          </a:bodyPr>
          <a:lstStyle/>
          <a:p>
            <a:pPr algn="l">
              <a:lnSpc>
                <a:spcPct val="112000"/>
              </a:lnSpc>
            </a:pPr>
            <a:r>
              <a:rPr lang="fr-FR" sz="1700" b="1" dirty="0">
                <a:solidFill>
                  <a:srgbClr val="000000"/>
                </a:solidFill>
                <a:latin typeface="Arial"/>
              </a:rPr>
              <a:t>Détection à mi-S1 : </a:t>
            </a:r>
            <a:r>
              <a:rPr lang="fr-FR" sz="1700" b="0" dirty="0">
                <a:solidFill>
                  <a:srgbClr val="0F4048"/>
                </a:solidFill>
                <a:latin typeface="Courier New"/>
              </a:rPr>
              <a:t>moyenne_partiels_s1 · nb_ue_validees_s1 · commentaire_tuteur</a:t>
            </a:r>
          </a:p>
        </p:txBody>
      </p:sp>
      <p:sp>
        <p:nvSpPr>
          <p:cNvPr id="403" name="TextBox 403"/>
          <p:cNvSpPr txBox="1"/>
          <p:nvPr/>
        </p:nvSpPr>
        <p:spPr>
          <a:xfrm>
            <a:off x="10033000" y="3606800"/>
            <a:ext cx="7213600" cy="584200"/>
          </a:xfrm>
          <a:prstGeom prst="rect">
            <a:avLst/>
          </a:prstGeom>
          <a:noFill/>
        </p:spPr>
        <p:txBody>
          <a:bodyPr wrap="square" lIns="0" tIns="0" rIns="0" bIns="0">
            <a:noAutofit/>
          </a:bodyPr>
          <a:lstStyle/>
          <a:p>
            <a:pPr algn="l">
              <a:lnSpc>
                <a:spcPct val="112000"/>
              </a:lnSpc>
            </a:pPr>
            <a:r>
              <a:rPr lang="fr-FR" sz="1700" b="1" dirty="0">
                <a:solidFill>
                  <a:srgbClr val="1A1A1A"/>
                </a:solidFill>
                <a:latin typeface="Arial"/>
              </a:rPr>
              <a:t>Supprimées</a:t>
            </a:r>
            <a:r>
              <a:rPr lang="fr-FR" sz="1700" b="0" dirty="0">
                <a:solidFill>
                  <a:srgbClr val="4A4A4A"/>
                </a:solidFill>
                <a:latin typeface="Arial"/>
              </a:rPr>
              <a:t> — consolidées en fin de S1 : les employer créerait une fuite temporelle.</a:t>
            </a:r>
          </a:p>
        </p:txBody>
      </p:sp>
      <p:sp>
        <p:nvSpPr>
          <p:cNvPr id="404" name="TextBox 404"/>
          <p:cNvSpPr txBox="1"/>
          <p:nvPr/>
        </p:nvSpPr>
        <p:spPr>
          <a:xfrm>
            <a:off x="1054100" y="4445000"/>
            <a:ext cx="8382000" cy="355600"/>
          </a:xfrm>
          <a:prstGeom prst="rect">
            <a:avLst/>
          </a:prstGeom>
          <a:noFill/>
        </p:spPr>
        <p:txBody>
          <a:bodyPr wrap="square" lIns="0" tIns="0" rIns="0" bIns="0">
            <a:noAutofit/>
          </a:bodyPr>
          <a:lstStyle/>
          <a:p>
            <a:pPr algn="l">
              <a:lnSpc>
                <a:spcPct val="112000"/>
              </a:lnSpc>
            </a:pPr>
            <a:r>
              <a:rPr lang="fr-FR" sz="1700" b="1" dirty="0">
                <a:solidFill>
                  <a:srgbClr val="000000"/>
                </a:solidFill>
                <a:latin typeface="Arial"/>
              </a:rPr>
              <a:t>Cibles : </a:t>
            </a:r>
            <a:r>
              <a:rPr lang="fr-FR" sz="1700" b="0" dirty="0">
                <a:solidFill>
                  <a:srgbClr val="0F4048"/>
                </a:solidFill>
                <a:latin typeface="Courier New"/>
              </a:rPr>
              <a:t>abandon · moyenne_finale</a:t>
            </a:r>
          </a:p>
        </p:txBody>
      </p:sp>
      <p:sp>
        <p:nvSpPr>
          <p:cNvPr id="405" name="TextBox 405"/>
          <p:cNvSpPr txBox="1"/>
          <p:nvPr/>
        </p:nvSpPr>
        <p:spPr>
          <a:xfrm>
            <a:off x="10033000" y="4445000"/>
            <a:ext cx="7213600" cy="355600"/>
          </a:xfrm>
          <a:prstGeom prst="rect">
            <a:avLst/>
          </a:prstGeom>
          <a:noFill/>
        </p:spPr>
        <p:txBody>
          <a:bodyPr wrap="square" lIns="0" tIns="0" rIns="0" bIns="0">
            <a:noAutofit/>
          </a:bodyPr>
          <a:lstStyle/>
          <a:p>
            <a:pPr algn="l">
              <a:lnSpc>
                <a:spcPct val="112000"/>
              </a:lnSpc>
            </a:pPr>
            <a:r>
              <a:rPr lang="fr-FR" sz="1700" b="1" dirty="0">
                <a:solidFill>
                  <a:srgbClr val="1A1A1A"/>
                </a:solidFill>
                <a:latin typeface="Arial"/>
              </a:rPr>
              <a:t>Conservées comme cibles</a:t>
            </a:r>
            <a:r>
              <a:rPr lang="fr-FR" sz="1700" b="0" dirty="0">
                <a:solidFill>
                  <a:srgbClr val="4A4A4A"/>
                </a:solidFill>
                <a:latin typeface="Arial"/>
              </a:rPr>
              <a:t> uniquement — jamais en variables d'entrée.</a:t>
            </a:r>
          </a:p>
        </p:txBody>
      </p:sp>
      <p:sp>
        <p:nvSpPr>
          <p:cNvPr id="406" name="TextBox 406"/>
          <p:cNvSpPr txBox="1"/>
          <p:nvPr/>
        </p:nvSpPr>
        <p:spPr>
          <a:xfrm>
            <a:off x="1054100" y="5016500"/>
            <a:ext cx="8382000" cy="355600"/>
          </a:xfrm>
          <a:prstGeom prst="rect">
            <a:avLst/>
          </a:prstGeom>
          <a:noFill/>
        </p:spPr>
        <p:txBody>
          <a:bodyPr wrap="square" lIns="0" tIns="0" rIns="0" bIns="0">
            <a:noAutofit/>
          </a:bodyPr>
          <a:lstStyle/>
          <a:p>
            <a:pPr algn="l">
              <a:lnSpc>
                <a:spcPct val="112000"/>
              </a:lnSpc>
            </a:pPr>
            <a:r>
              <a:rPr lang="fr-FR" sz="1700" b="1" dirty="0">
                <a:solidFill>
                  <a:srgbClr val="000000"/>
                </a:solidFill>
                <a:latin typeface="Arial"/>
              </a:rPr>
              <a:t>Données identifiantes : </a:t>
            </a:r>
            <a:r>
              <a:rPr lang="fr-FR" sz="1700" b="0" dirty="0">
                <a:solidFill>
                  <a:srgbClr val="0F4048"/>
                </a:solidFill>
                <a:latin typeface="Courier New"/>
              </a:rPr>
              <a:t>student_id · id_dossier</a:t>
            </a:r>
          </a:p>
        </p:txBody>
      </p:sp>
      <p:sp>
        <p:nvSpPr>
          <p:cNvPr id="407" name="TextBox 407"/>
          <p:cNvSpPr txBox="1"/>
          <p:nvPr/>
        </p:nvSpPr>
        <p:spPr>
          <a:xfrm>
            <a:off x="10033000" y="5016500"/>
            <a:ext cx="7213600" cy="355600"/>
          </a:xfrm>
          <a:prstGeom prst="rect">
            <a:avLst/>
          </a:prstGeom>
          <a:noFill/>
        </p:spPr>
        <p:txBody>
          <a:bodyPr wrap="square" lIns="0" tIns="0" rIns="0" bIns="0">
            <a:noAutofit/>
          </a:bodyPr>
          <a:lstStyle/>
          <a:p>
            <a:pPr algn="l">
              <a:lnSpc>
                <a:spcPct val="112000"/>
              </a:lnSpc>
            </a:pPr>
            <a:r>
              <a:rPr lang="fr-FR" sz="1700" b="1" dirty="0">
                <a:solidFill>
                  <a:srgbClr val="1A1A1A"/>
                </a:solidFill>
                <a:latin typeface="Arial"/>
              </a:rPr>
              <a:t>Supprimées</a:t>
            </a:r>
            <a:r>
              <a:rPr lang="fr-FR" sz="1700" b="0" dirty="0">
                <a:solidFill>
                  <a:srgbClr val="4A4A4A"/>
                </a:solidFill>
                <a:latin typeface="Arial"/>
              </a:rPr>
              <a:t> — aucun pouvoir prédictif légitime, hors du périmètre.</a:t>
            </a:r>
          </a:p>
        </p:txBody>
      </p:sp>
      <p:sp>
        <p:nvSpPr>
          <p:cNvPr id="408" name="TextBox 408"/>
          <p:cNvSpPr txBox="1"/>
          <p:nvPr/>
        </p:nvSpPr>
        <p:spPr>
          <a:xfrm>
            <a:off x="1054100" y="5588000"/>
            <a:ext cx="8382000" cy="584200"/>
          </a:xfrm>
          <a:prstGeom prst="rect">
            <a:avLst/>
          </a:prstGeom>
          <a:noFill/>
        </p:spPr>
        <p:txBody>
          <a:bodyPr wrap="square" lIns="0" tIns="0" rIns="0" bIns="0">
            <a:noAutofit/>
          </a:bodyPr>
          <a:lstStyle/>
          <a:p>
            <a:pPr algn="l">
              <a:lnSpc>
                <a:spcPct val="112000"/>
              </a:lnSpc>
            </a:pPr>
            <a:r>
              <a:rPr lang="fr-FR" sz="1700" b="1" dirty="0">
                <a:solidFill>
                  <a:srgbClr val="000000"/>
                </a:solidFill>
                <a:latin typeface="Arial"/>
              </a:rPr>
              <a:t>Variables protégées : </a:t>
            </a:r>
            <a:r>
              <a:rPr lang="fr-FR" sz="1700" b="0" dirty="0">
                <a:solidFill>
                  <a:srgbClr val="0F4048"/>
                </a:solidFill>
                <a:latin typeface="Courier New"/>
              </a:rPr>
              <a:t>sexe · boursier</a:t>
            </a:r>
          </a:p>
        </p:txBody>
      </p:sp>
      <p:sp>
        <p:nvSpPr>
          <p:cNvPr id="409" name="TextBox 409"/>
          <p:cNvSpPr txBox="1"/>
          <p:nvPr/>
        </p:nvSpPr>
        <p:spPr>
          <a:xfrm>
            <a:off x="10033000" y="5588000"/>
            <a:ext cx="7213600" cy="584200"/>
          </a:xfrm>
          <a:prstGeom prst="rect">
            <a:avLst/>
          </a:prstGeom>
          <a:noFill/>
        </p:spPr>
        <p:txBody>
          <a:bodyPr wrap="square" lIns="0" tIns="0" rIns="0" bIns="0">
            <a:noAutofit/>
          </a:bodyPr>
          <a:lstStyle/>
          <a:p>
            <a:pPr algn="l">
              <a:lnSpc>
                <a:spcPct val="112000"/>
              </a:lnSpc>
            </a:pPr>
            <a:r>
              <a:rPr lang="fr-FR" sz="1700" b="1" dirty="0">
                <a:solidFill>
                  <a:srgbClr val="1A1A1A"/>
                </a:solidFill>
                <a:latin typeface="Arial"/>
              </a:rPr>
              <a:t>Supprimées</a:t>
            </a:r>
            <a:r>
              <a:rPr lang="fr-FR" sz="1700" b="0" dirty="0">
                <a:solidFill>
                  <a:srgbClr val="4A4A4A"/>
                </a:solidFill>
                <a:latin typeface="Arial"/>
              </a:rPr>
              <a:t> de l'apprentissage, conservées hors modèle pour contrôler l'</a:t>
            </a:r>
            <a:r>
              <a:rPr lang="fr-FR" sz="1700" b="1" dirty="0">
                <a:solidFill>
                  <a:srgbClr val="1A1A1A"/>
                </a:solidFill>
                <a:latin typeface="Arial"/>
              </a:rPr>
              <a:t>absence de biais</a:t>
            </a:r>
            <a:r>
              <a:rPr lang="fr-FR" sz="1700" b="0" dirty="0">
                <a:solidFill>
                  <a:srgbClr val="4A4A4A"/>
                </a:solidFill>
                <a:latin typeface="Arial"/>
              </a:rPr>
              <a:t>.</a:t>
            </a:r>
          </a:p>
        </p:txBody>
      </p:sp>
      <p:sp>
        <p:nvSpPr>
          <p:cNvPr id="410" name="TextBox 410"/>
          <p:cNvSpPr txBox="1"/>
          <p:nvPr/>
        </p:nvSpPr>
        <p:spPr>
          <a:xfrm>
            <a:off x="1054100" y="6426200"/>
            <a:ext cx="8382000" cy="584200"/>
          </a:xfrm>
          <a:prstGeom prst="rect">
            <a:avLst/>
          </a:prstGeom>
          <a:noFill/>
        </p:spPr>
        <p:txBody>
          <a:bodyPr wrap="square" lIns="0" tIns="0" rIns="0" bIns="0">
            <a:noAutofit/>
          </a:bodyPr>
          <a:lstStyle/>
          <a:p>
            <a:pPr algn="l">
              <a:lnSpc>
                <a:spcPct val="112000"/>
              </a:lnSpc>
            </a:pPr>
            <a:r>
              <a:rPr lang="fr-FR" sz="1700" b="1" dirty="0">
                <a:solidFill>
                  <a:srgbClr val="000000"/>
                </a:solidFill>
                <a:latin typeface="Arial"/>
              </a:rPr>
              <a:t>Proxies socio-économiques : </a:t>
            </a:r>
            <a:r>
              <a:rPr lang="fr-FR" sz="1700" b="0" dirty="0">
                <a:solidFill>
                  <a:srgbClr val="0F4048"/>
                </a:solidFill>
                <a:latin typeface="Courier New"/>
              </a:rPr>
              <a:t>etablissement_origine · heures_travail_remunere_sem · distance_domicile_km</a:t>
            </a:r>
          </a:p>
        </p:txBody>
      </p:sp>
      <p:sp>
        <p:nvSpPr>
          <p:cNvPr id="411" name="TextBox 411"/>
          <p:cNvSpPr txBox="1"/>
          <p:nvPr/>
        </p:nvSpPr>
        <p:spPr>
          <a:xfrm>
            <a:off x="10033000" y="6426200"/>
            <a:ext cx="7213600" cy="584200"/>
          </a:xfrm>
          <a:prstGeom prst="rect">
            <a:avLst/>
          </a:prstGeom>
          <a:noFill/>
        </p:spPr>
        <p:txBody>
          <a:bodyPr wrap="square" lIns="0" tIns="0" rIns="0" bIns="0">
            <a:noAutofit/>
          </a:bodyPr>
          <a:lstStyle/>
          <a:p>
            <a:pPr algn="l">
              <a:lnSpc>
                <a:spcPct val="112000"/>
              </a:lnSpc>
            </a:pPr>
            <a:r>
              <a:rPr lang="fr-FR" sz="1700" b="1" dirty="0">
                <a:solidFill>
                  <a:srgbClr val="1A1A1A"/>
                </a:solidFill>
                <a:latin typeface="Arial"/>
              </a:rPr>
              <a:t>Sous surveillance</a:t>
            </a:r>
            <a:r>
              <a:rPr lang="fr-FR" sz="1700" b="0" dirty="0">
                <a:solidFill>
                  <a:srgbClr val="4A4A4A"/>
                </a:solidFill>
                <a:latin typeface="Arial"/>
              </a:rPr>
              <a:t> — corrélation avec boursier à mesurer ; supprimées si sans valeur prédictive.</a:t>
            </a:r>
          </a:p>
        </p:txBody>
      </p:sp>
      <p:sp>
        <p:nvSpPr>
          <p:cNvPr id="412" name="TextBox 412"/>
          <p:cNvSpPr txBox="1"/>
          <p:nvPr/>
        </p:nvSpPr>
        <p:spPr>
          <a:xfrm>
            <a:off x="1054100" y="7264400"/>
            <a:ext cx="8382000" cy="584200"/>
          </a:xfrm>
          <a:prstGeom prst="rect">
            <a:avLst/>
          </a:prstGeom>
          <a:noFill/>
        </p:spPr>
        <p:txBody>
          <a:bodyPr wrap="square" lIns="0" tIns="0" rIns="0" bIns="0">
            <a:noAutofit/>
          </a:bodyPr>
          <a:lstStyle/>
          <a:p>
            <a:pPr algn="l">
              <a:lnSpc>
                <a:spcPct val="112000"/>
              </a:lnSpc>
            </a:pPr>
            <a:r>
              <a:rPr lang="fr-FR" sz="1700" b="1" dirty="0">
                <a:solidFill>
                  <a:srgbClr val="000000"/>
                </a:solidFill>
                <a:latin typeface="Arial"/>
              </a:rPr>
              <a:t>Leurres : </a:t>
            </a:r>
            <a:r>
              <a:rPr lang="fr-FR" sz="1700" b="0" dirty="0">
                <a:solidFill>
                  <a:srgbClr val="0F4048"/>
                </a:solidFill>
                <a:latin typeface="Courier New"/>
              </a:rPr>
              <a:t>groupe_td · couleur_carte_etudiante · jour_inscription</a:t>
            </a:r>
          </a:p>
        </p:txBody>
      </p:sp>
      <p:sp>
        <p:nvSpPr>
          <p:cNvPr id="413" name="TextBox 413"/>
          <p:cNvSpPr txBox="1"/>
          <p:nvPr/>
        </p:nvSpPr>
        <p:spPr>
          <a:xfrm>
            <a:off x="10033000" y="7264400"/>
            <a:ext cx="7213600" cy="584200"/>
          </a:xfrm>
          <a:prstGeom prst="rect">
            <a:avLst/>
          </a:prstGeom>
          <a:noFill/>
        </p:spPr>
        <p:txBody>
          <a:bodyPr wrap="square" lIns="0" tIns="0" rIns="0" bIns="0">
            <a:noAutofit/>
          </a:bodyPr>
          <a:lstStyle/>
          <a:p>
            <a:pPr algn="l">
              <a:lnSpc>
                <a:spcPct val="112000"/>
              </a:lnSpc>
            </a:pPr>
            <a:r>
              <a:rPr lang="fr-FR" sz="1700" b="1" dirty="0">
                <a:solidFill>
                  <a:srgbClr val="1A1A1A"/>
                </a:solidFill>
                <a:latin typeface="Arial"/>
              </a:rPr>
              <a:t>Sous surveillance</a:t>
            </a:r>
            <a:r>
              <a:rPr lang="fr-FR" sz="1700" b="0" dirty="0">
                <a:solidFill>
                  <a:srgbClr val="4A4A4A"/>
                </a:solidFill>
                <a:latin typeface="Arial"/>
              </a:rPr>
              <a:t> — conservés jusqu'à l'ablation, qui mesure leur inutilité, puis retirés.</a:t>
            </a:r>
          </a:p>
        </p:txBody>
      </p:sp>
      <p:sp>
        <p:nvSpPr>
          <p:cNvPr id="414" name="TextBox 414"/>
          <p:cNvSpPr txBox="1"/>
          <p:nvPr/>
        </p:nvSpPr>
        <p:spPr>
          <a:xfrm>
            <a:off x="1054100" y="8102600"/>
            <a:ext cx="8382000" cy="584200"/>
          </a:xfrm>
          <a:prstGeom prst="rect">
            <a:avLst/>
          </a:prstGeom>
          <a:noFill/>
        </p:spPr>
        <p:txBody>
          <a:bodyPr wrap="square" lIns="0" tIns="0" rIns="0" bIns="0">
            <a:noAutofit/>
          </a:bodyPr>
          <a:lstStyle/>
          <a:p>
            <a:pPr algn="l">
              <a:lnSpc>
                <a:spcPct val="112000"/>
              </a:lnSpc>
            </a:pPr>
            <a:r>
              <a:rPr lang="fr-FR" sz="1700" b="1" dirty="0">
                <a:solidFill>
                  <a:srgbClr val="000000"/>
                </a:solidFill>
                <a:latin typeface="Arial"/>
              </a:rPr>
              <a:t>Enrichissement : </a:t>
            </a:r>
            <a:r>
              <a:rPr lang="fr-FR" sz="1700" b="0" dirty="0">
                <a:solidFill>
                  <a:srgbClr val="0F4048"/>
                </a:solidFill>
                <a:latin typeface="Courier New"/>
              </a:rPr>
              <a:t>catalogue_formations · SMOTE</a:t>
            </a:r>
          </a:p>
        </p:txBody>
      </p:sp>
      <p:sp>
        <p:nvSpPr>
          <p:cNvPr id="415" name="TextBox 415"/>
          <p:cNvSpPr txBox="1"/>
          <p:nvPr/>
        </p:nvSpPr>
        <p:spPr>
          <a:xfrm>
            <a:off x="10033000" y="8102600"/>
            <a:ext cx="7213600" cy="584200"/>
          </a:xfrm>
          <a:prstGeom prst="rect">
            <a:avLst/>
          </a:prstGeom>
          <a:noFill/>
        </p:spPr>
        <p:txBody>
          <a:bodyPr wrap="square" lIns="0" tIns="0" rIns="0" bIns="0">
            <a:noAutofit/>
          </a:bodyPr>
          <a:lstStyle/>
          <a:p>
            <a:pPr algn="l">
              <a:lnSpc>
                <a:spcPct val="112000"/>
              </a:lnSpc>
            </a:pPr>
            <a:r>
              <a:rPr lang="fr-FR" sz="1700" b="1" dirty="0">
                <a:solidFill>
                  <a:srgbClr val="1A1A1A"/>
                </a:solidFill>
                <a:latin typeface="Arial"/>
              </a:rPr>
              <a:t>Écarté</a:t>
            </a:r>
            <a:r>
              <a:rPr lang="fr-FR" sz="1700" b="0" dirty="0">
                <a:solidFill>
                  <a:srgbClr val="4A4A4A"/>
                </a:solidFill>
                <a:latin typeface="Arial"/>
              </a:rPr>
              <a:t> — catalogue déterministe de filiere ; déséquilibre modéré, SMOTE non justifié.</a:t>
            </a:r>
          </a:p>
        </p:txBody>
      </p:sp>
    </p:spTree>
    <p:extLst>
      <p:ext uri="{BB962C8B-B14F-4D97-AF65-F5344CB8AC3E}">
        <p14:creationId xmlns:p14="http://schemas.microsoft.com/office/powerpoint/2010/main" val="4041152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56B9CA"/>
        </a:solidFill>
        <a:effectLst/>
      </p:bgPr>
    </p:bg>
    <p:spTree>
      <p:nvGrpSpPr>
        <p:cNvPr id="1" name=""/>
        <p:cNvGrpSpPr/>
        <p:nvPr/>
      </p:nvGrpSpPr>
      <p:grpSpPr>
        <a:xfrm>
          <a:off x="0" y="0"/>
          <a:ext cx="0" cy="0"/>
          <a:chOff x="0" y="0"/>
          <a:chExt cx="0" cy="0"/>
        </a:xfrm>
      </p:grpSpPr>
      <p:sp>
        <p:nvSpPr>
          <p:cNvPr id="2" name="TextBox 1"/>
          <p:cNvSpPr txBox="1"/>
          <p:nvPr/>
        </p:nvSpPr>
        <p:spPr>
          <a:xfrm>
            <a:off x="13076188" y="723900"/>
            <a:ext cx="4894793" cy="4038600"/>
          </a:xfrm>
          <a:prstGeom prst="rect">
            <a:avLst/>
          </a:prstGeom>
          <a:noFill/>
        </p:spPr>
        <p:txBody>
          <a:bodyPr wrap="square" lIns="27432" tIns="27432" rIns="27432" bIns="27432" anchor="t">
            <a:noAutofit/>
          </a:bodyPr>
          <a:lstStyle/>
          <a:p>
            <a:pPr algn="l">
              <a:lnSpc>
                <a:spcPct val="70950"/>
              </a:lnSpc>
            </a:pPr>
            <a:r>
              <a:rPr lang="fr-FR" sz="31500" b="1" noProof="0" dirty="0">
                <a:solidFill>
                  <a:srgbClr val="FFFFFF"/>
                </a:solidFill>
                <a:latin typeface="Arial"/>
              </a:rPr>
              <a:t>04</a:t>
            </a:r>
          </a:p>
        </p:txBody>
      </p:sp>
      <p:sp>
        <p:nvSpPr>
          <p:cNvPr id="3" name="TextBox 2"/>
          <p:cNvSpPr txBox="1"/>
          <p:nvPr/>
        </p:nvSpPr>
        <p:spPr>
          <a:xfrm>
            <a:off x="1047750" y="1047750"/>
            <a:ext cx="3000000" cy="333375"/>
          </a:xfrm>
          <a:prstGeom prst="rect">
            <a:avLst/>
          </a:prstGeom>
          <a:noFill/>
        </p:spPr>
        <p:txBody>
          <a:bodyPr wrap="square" lIns="27432" tIns="27432" rIns="27432" bIns="27432" anchor="t">
            <a:noAutofit/>
          </a:bodyPr>
          <a:lstStyle/>
          <a:p>
            <a:pPr algn="l"/>
            <a:r>
              <a:rPr lang="fr-FR" sz="1950" b="1" spc="273" noProof="0" dirty="0">
                <a:solidFill>
                  <a:srgbClr val="FFFFFF"/>
                </a:solidFill>
                <a:latin typeface="Arial"/>
              </a:rPr>
              <a:t>Acte 04</a:t>
            </a:r>
          </a:p>
        </p:txBody>
      </p:sp>
      <p:sp>
        <p:nvSpPr>
          <p:cNvPr id="4" name="TextBox 3"/>
          <p:cNvSpPr txBox="1"/>
          <p:nvPr/>
        </p:nvSpPr>
        <p:spPr>
          <a:xfrm>
            <a:off x="1047750" y="1609725"/>
            <a:ext cx="11582400" cy="1005519"/>
          </a:xfrm>
          <a:prstGeom prst="rect">
            <a:avLst/>
          </a:prstGeom>
          <a:noFill/>
        </p:spPr>
        <p:txBody>
          <a:bodyPr wrap="square" lIns="27432" tIns="27432" rIns="27432" bIns="27432" anchor="t">
            <a:noAutofit/>
          </a:bodyPr>
          <a:lstStyle/>
          <a:p>
            <a:pPr algn="l">
              <a:lnSpc>
                <a:spcPct val="74520"/>
              </a:lnSpc>
            </a:pPr>
            <a:r>
              <a:rPr lang="fr-FR" sz="8250" b="1" spc="-124" noProof="0" dirty="0">
                <a:solidFill>
                  <a:srgbClr val="FFFFFF"/>
                </a:solidFill>
                <a:latin typeface="Arial"/>
              </a:rPr>
              <a:t>Fiabiliser la donnée</a:t>
            </a:r>
          </a:p>
        </p:txBody>
      </p:sp>
      <p:sp>
        <p:nvSpPr>
          <p:cNvPr id="5" name="TextBox 4"/>
          <p:cNvSpPr txBox="1"/>
          <p:nvPr/>
        </p:nvSpPr>
        <p:spPr>
          <a:xfrm>
            <a:off x="1047750" y="3014663"/>
            <a:ext cx="10200000" cy="625143"/>
          </a:xfrm>
          <a:prstGeom prst="rect">
            <a:avLst/>
          </a:prstGeom>
          <a:noFill/>
        </p:spPr>
        <p:txBody>
          <a:bodyPr wrap="square" lIns="27432" tIns="27432" rIns="27432" bIns="27432" anchor="t">
            <a:noAutofit/>
          </a:bodyPr>
          <a:lstStyle/>
          <a:p>
            <a:pPr algn="l">
              <a:lnSpc>
                <a:spcPct val="128140"/>
              </a:lnSpc>
            </a:pPr>
            <a:r>
              <a:rPr lang="fr-FR" sz="2850" b="0" noProof="0" dirty="0">
                <a:solidFill>
                  <a:srgbClr val="FFFFFF"/>
                </a:solidFill>
                <a:latin typeface="Arial"/>
              </a:rPr>
              <a:t>Profilage, analyse exploratoire, préparation des données</a:t>
            </a:r>
          </a:p>
        </p:txBody>
      </p:sp>
      <p:sp>
        <p:nvSpPr>
          <p:cNvPr id="6" name="TextBox 5"/>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FFFFFF"/>
                </a:solidFill>
                <a:latin typeface="Arial"/>
                <a:cs typeface="Arial"/>
              </a:rPr>
              <a:t>13</a:t>
            </a:r>
            <a:endParaRPr lang="fr-FR" sz="1400" b="1" noProof="0" dirty="0">
              <a:solidFill>
                <a:srgbClr val="FFFFFF"/>
              </a:solidFill>
              <a:latin typeface="Arial"/>
              <a:cs typeface="Arial"/>
            </a:endParaRPr>
          </a:p>
        </p:txBody>
      </p:sp>
    </p:spTree>
    <p:extLst>
      <p:ext uri="{BB962C8B-B14F-4D97-AF65-F5344CB8AC3E}">
        <p14:creationId xmlns:p14="http://schemas.microsoft.com/office/powerpoint/2010/main" val="1127245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 name="TextBox 126"/>
          <p:cNvSpPr txBox="1"/>
          <p:nvPr/>
        </p:nvSpPr>
        <p:spPr>
          <a:xfrm>
            <a:off x="17048886" y="9309100"/>
            <a:ext cx="273913" cy="304800"/>
          </a:xfrm>
          <a:prstGeom prst="rect">
            <a:avLst/>
          </a:prstGeom>
          <a:noFill/>
        </p:spPr>
        <p:txBody>
          <a:bodyPr wrap="none" lIns="152400" tIns="0" rIns="152400" bIns="0" anchor="ctr" anchorCtr="0">
            <a:noAutofit/>
          </a:bodyPr>
          <a:lstStyle/>
          <a:p>
            <a:pPr algn="ctr">
              <a:lnSpc>
                <a:spcPct val="100000"/>
              </a:lnSpc>
            </a:pPr>
            <a:r>
              <a:rPr lang="fr-FR" sz="1400" b="1">
                <a:solidFill>
                  <a:srgbClr val="56B9CA"/>
                </a:solidFill>
                <a:latin typeface="Arial"/>
                <a:cs typeface="Arial"/>
              </a:rPr>
              <a:t>14</a:t>
            </a:r>
            <a:endParaRPr lang="fr-FR" sz="1400" b="1" dirty="0">
              <a:solidFill>
                <a:srgbClr val="56B9CA"/>
              </a:solidFill>
              <a:latin typeface="Arial"/>
              <a:cs typeface="Arial"/>
            </a:endParaRPr>
          </a:p>
        </p:txBody>
      </p:sp>
      <p:sp>
        <p:nvSpPr>
          <p:cNvPr id="301" name="TextBox 301"/>
          <p:cNvSpPr txBox="1"/>
          <p:nvPr/>
        </p:nvSpPr>
        <p:spPr>
          <a:xfrm>
            <a:off x="1054100" y="825500"/>
            <a:ext cx="12700000" cy="304800"/>
          </a:xfrm>
          <a:prstGeom prst="rect">
            <a:avLst/>
          </a:prstGeom>
          <a:noFill/>
        </p:spPr>
        <p:txBody>
          <a:bodyPr wrap="square" lIns="0" tIns="0" rIns="0" bIns="0">
            <a:spAutoFit/>
          </a:bodyPr>
          <a:lstStyle/>
          <a:p>
            <a:pPr algn="l"/>
            <a:r>
              <a:rPr lang="fr-FR" sz="1800" b="1" spc="162" dirty="0">
                <a:solidFill>
                  <a:srgbClr val="6F6F6F"/>
                </a:solidFill>
                <a:latin typeface="Arial"/>
              </a:rPr>
              <a:t>ACTE 04 · PARCOURS DE LA DONNÉE</a:t>
            </a:r>
          </a:p>
        </p:txBody>
      </p:sp>
      <p:sp>
        <p:nvSpPr>
          <p:cNvPr id="302" name="TextBox 302"/>
          <p:cNvSpPr txBox="1"/>
          <p:nvPr/>
        </p:nvSpPr>
        <p:spPr>
          <a:xfrm>
            <a:off x="1054100" y="1524000"/>
            <a:ext cx="16192500" cy="812800"/>
          </a:xfrm>
          <a:prstGeom prst="rect">
            <a:avLst/>
          </a:prstGeom>
          <a:noFill/>
        </p:spPr>
        <p:txBody>
          <a:bodyPr wrap="square" lIns="0" tIns="0" rIns="0" bIns="0">
            <a:spAutoFit/>
          </a:bodyPr>
          <a:lstStyle/>
          <a:p>
            <a:pPr algn="l">
              <a:lnSpc>
                <a:spcPct val="100000"/>
              </a:lnSpc>
            </a:pPr>
            <a:r>
              <a:rPr lang="fr-FR" sz="4500" b="1" dirty="0">
                <a:solidFill>
                  <a:srgbClr val="000000"/>
                </a:solidFill>
                <a:latin typeface="Arial"/>
              </a:rPr>
              <a:t>Du fichier reçu au gold dataset</a:t>
            </a:r>
          </a:p>
        </p:txBody>
      </p:sp>
      <p:sp>
        <p:nvSpPr>
          <p:cNvPr id="303" name="Shape 303"/>
          <p:cNvSpPr/>
          <p:nvPr/>
        </p:nvSpPr>
        <p:spPr>
          <a:xfrm>
            <a:off x="1054100" y="2743200"/>
            <a:ext cx="1143000" cy="38100"/>
          </a:xfrm>
          <a:prstGeom prst="rect">
            <a:avLst/>
          </a:prstGeom>
          <a:solidFill>
            <a:srgbClr val="56B9CA"/>
          </a:solidFill>
          <a:ln>
            <a:noFill/>
          </a:ln>
        </p:spPr>
        <p:txBody>
          <a:bodyPr/>
          <a:lstStyle/>
          <a:p>
            <a:endParaRPr/>
          </a:p>
        </p:txBody>
      </p:sp>
      <p:sp>
        <p:nvSpPr>
          <p:cNvPr id="304" name="Shape 304"/>
          <p:cNvSpPr/>
          <p:nvPr/>
        </p:nvSpPr>
        <p:spPr>
          <a:xfrm>
            <a:off x="1054100" y="4673600"/>
            <a:ext cx="15748000" cy="25400"/>
          </a:xfrm>
          <a:prstGeom prst="rect">
            <a:avLst/>
          </a:prstGeom>
          <a:solidFill>
            <a:srgbClr val="DDE3E6"/>
          </a:solidFill>
          <a:ln>
            <a:noFill/>
          </a:ln>
        </p:spPr>
        <p:txBody>
          <a:bodyPr/>
          <a:lstStyle/>
          <a:p>
            <a:pPr algn="ctr"/>
            <a:endParaRPr/>
          </a:p>
        </p:txBody>
      </p:sp>
      <p:sp>
        <p:nvSpPr>
          <p:cNvPr id="305" name="Shape 305"/>
          <p:cNvSpPr/>
          <p:nvPr/>
        </p:nvSpPr>
        <p:spPr>
          <a:xfrm rot="5400000">
            <a:off x="16840200" y="4559300"/>
            <a:ext cx="254000" cy="254000"/>
          </a:xfrm>
          <a:prstGeom prst="triangle">
            <a:avLst/>
          </a:prstGeom>
          <a:solidFill>
            <a:srgbClr val="56B9CA"/>
          </a:solidFill>
          <a:ln>
            <a:noFill/>
          </a:ln>
        </p:spPr>
        <p:txBody>
          <a:bodyPr/>
          <a:lstStyle/>
          <a:p>
            <a:pPr algn="ctr"/>
            <a:endParaRPr/>
          </a:p>
        </p:txBody>
      </p:sp>
      <p:sp>
        <p:nvSpPr>
          <p:cNvPr id="307" name="Shape 307"/>
          <p:cNvSpPr/>
          <p:nvPr/>
        </p:nvSpPr>
        <p:spPr>
          <a:xfrm>
            <a:off x="3263900" y="4356100"/>
            <a:ext cx="660400" cy="660400"/>
          </a:xfrm>
          <a:prstGeom prst="ellipse">
            <a:avLst/>
          </a:prstGeom>
          <a:noFill/>
          <a:ln w="19050">
            <a:solidFill>
              <a:srgbClr val="BFE3EA"/>
            </a:solidFill>
          </a:ln>
        </p:spPr>
        <p:txBody>
          <a:bodyPr/>
          <a:lstStyle/>
          <a:p>
            <a:pPr algn="ctr"/>
            <a:endParaRPr/>
          </a:p>
        </p:txBody>
      </p:sp>
      <p:grpSp>
        <p:nvGrpSpPr>
          <p:cNvPr id="2" name="Groupe 1">
            <a:extLst>
              <a:ext uri="{FF2B5EF4-FFF2-40B4-BE49-F238E27FC236}">
                <a16:creationId xmlns:a16="http://schemas.microsoft.com/office/drawing/2014/main" id="{371BB47E-4068-51B9-3684-AF4B0A26A4F1}"/>
              </a:ext>
            </a:extLst>
          </p:cNvPr>
          <p:cNvGrpSpPr/>
          <p:nvPr/>
        </p:nvGrpSpPr>
        <p:grpSpPr>
          <a:xfrm>
            <a:off x="1054100" y="3708400"/>
            <a:ext cx="5080000" cy="4064000"/>
            <a:chOff x="1054100" y="3708400"/>
            <a:chExt cx="5080000" cy="4064000"/>
          </a:xfrm>
        </p:grpSpPr>
        <p:sp>
          <p:nvSpPr>
            <p:cNvPr id="306" name="TextBox 306"/>
            <p:cNvSpPr txBox="1"/>
            <p:nvPr/>
          </p:nvSpPr>
          <p:spPr>
            <a:xfrm>
              <a:off x="1054100" y="3708400"/>
              <a:ext cx="5080000" cy="323165"/>
            </a:xfrm>
            <a:prstGeom prst="rect">
              <a:avLst/>
            </a:prstGeom>
            <a:noFill/>
          </p:spPr>
          <p:txBody>
            <a:bodyPr wrap="square" lIns="152400" tIns="0" rIns="152400" bIns="0">
              <a:spAutoFit/>
            </a:bodyPr>
            <a:lstStyle/>
            <a:p>
              <a:pPr algn="ctr"/>
              <a:r>
                <a:rPr lang="fr-FR" sz="2100" b="1" spc="120" dirty="0">
                  <a:solidFill>
                    <a:srgbClr val="3596A8"/>
                  </a:solidFill>
                  <a:latin typeface="Arial"/>
                </a:rPr>
                <a:t>JEU BRUT</a:t>
              </a:r>
            </a:p>
          </p:txBody>
        </p:sp>
        <p:sp>
          <p:nvSpPr>
            <p:cNvPr id="308" name="Shape 308">
              <a:hlinkClick r:id="rId3" action="ppaction://hlinksldjump"/>
            </p:cNvPr>
            <p:cNvSpPr/>
            <p:nvPr/>
          </p:nvSpPr>
          <p:spPr>
            <a:xfrm>
              <a:off x="3378200" y="4470400"/>
              <a:ext cx="431800" cy="431800"/>
            </a:xfrm>
            <a:prstGeom prst="ellipse">
              <a:avLst/>
            </a:prstGeom>
            <a:solidFill>
              <a:srgbClr val="56B9CA"/>
            </a:solidFill>
            <a:ln>
              <a:noFill/>
            </a:ln>
          </p:spPr>
          <p:txBody>
            <a:bodyPr/>
            <a:lstStyle/>
            <a:p>
              <a:pPr algn="ctr"/>
              <a:endParaRPr/>
            </a:p>
          </p:txBody>
        </p:sp>
        <p:sp>
          <p:nvSpPr>
            <p:cNvPr id="309" name="TextBox 309"/>
            <p:cNvSpPr txBox="1"/>
            <p:nvPr/>
          </p:nvSpPr>
          <p:spPr>
            <a:xfrm>
              <a:off x="1054100" y="5334000"/>
              <a:ext cx="5080000" cy="812800"/>
            </a:xfrm>
            <a:prstGeom prst="rect">
              <a:avLst/>
            </a:prstGeom>
            <a:noFill/>
          </p:spPr>
          <p:txBody>
            <a:bodyPr wrap="square" lIns="152400" tIns="0" rIns="152400" bIns="0">
              <a:spAutoFit/>
            </a:bodyPr>
            <a:lstStyle/>
            <a:p>
              <a:pPr algn="ctr">
                <a:lnSpc>
                  <a:spcPct val="100000"/>
                </a:lnSpc>
              </a:pPr>
              <a:r>
                <a:rPr lang="fr-FR" sz="2100" b="1" dirty="0">
                  <a:solidFill>
                    <a:srgbClr val="000000"/>
                  </a:solidFill>
                  <a:latin typeface="Arial"/>
                </a:rPr>
                <a:t>Profilage</a:t>
              </a:r>
            </a:p>
          </p:txBody>
        </p:sp>
        <p:sp>
          <p:nvSpPr>
            <p:cNvPr id="310" name="TextBox 310"/>
            <p:cNvSpPr txBox="1"/>
            <p:nvPr/>
          </p:nvSpPr>
          <p:spPr>
            <a:xfrm>
              <a:off x="1054100" y="6248400"/>
              <a:ext cx="5080000" cy="1524000"/>
            </a:xfrm>
            <a:prstGeom prst="rect">
              <a:avLst/>
            </a:prstGeom>
            <a:noFill/>
          </p:spPr>
          <p:txBody>
            <a:bodyPr wrap="square" lIns="152400" tIns="0" rIns="152400" bIns="0">
              <a:spAutoFit/>
            </a:bodyPr>
            <a:lstStyle/>
            <a:p>
              <a:pPr algn="ctr">
                <a:lnSpc>
                  <a:spcPct val="124000"/>
                </a:lnSpc>
              </a:pPr>
              <a:r>
                <a:rPr lang="fr-FR" sz="1800" b="0" dirty="0">
                  <a:solidFill>
                    <a:srgbClr val="5A5A5A"/>
                  </a:solidFill>
                  <a:latin typeface="Arial"/>
                </a:rPr>
                <a:t>Types sémantiques, motifs d’écriture, bornes, manquants et modalités — de quoi nettoyer et conformer.</a:t>
              </a:r>
            </a:p>
          </p:txBody>
        </p:sp>
      </p:grpSp>
      <p:sp>
        <p:nvSpPr>
          <p:cNvPr id="312" name="TextBox 312"/>
          <p:cNvSpPr txBox="1"/>
          <p:nvPr/>
        </p:nvSpPr>
        <p:spPr>
          <a:xfrm>
            <a:off x="6604000" y="3708400"/>
            <a:ext cx="5080000" cy="323165"/>
          </a:xfrm>
          <a:prstGeom prst="rect">
            <a:avLst/>
          </a:prstGeom>
          <a:noFill/>
        </p:spPr>
        <p:txBody>
          <a:bodyPr wrap="square" lIns="152400" tIns="0" rIns="152400" bIns="0">
            <a:spAutoFit/>
          </a:bodyPr>
          <a:lstStyle/>
          <a:p>
            <a:pPr algn="ctr"/>
            <a:r>
              <a:rPr lang="fr-FR" sz="2100" b="1" spc="120">
                <a:solidFill>
                  <a:srgbClr val="3596A8"/>
                </a:solidFill>
                <a:latin typeface="Arial"/>
              </a:rPr>
              <a:t>JEU CONFORMÉ</a:t>
            </a:r>
            <a:endParaRPr lang="fr-FR" sz="2100" b="1" spc="120" dirty="0">
              <a:solidFill>
                <a:srgbClr val="3596A8"/>
              </a:solidFill>
              <a:latin typeface="Arial"/>
            </a:endParaRPr>
          </a:p>
        </p:txBody>
      </p:sp>
      <p:sp>
        <p:nvSpPr>
          <p:cNvPr id="313" name="Shape 313"/>
          <p:cNvSpPr/>
          <p:nvPr/>
        </p:nvSpPr>
        <p:spPr>
          <a:xfrm>
            <a:off x="8813800" y="4356100"/>
            <a:ext cx="660400" cy="660400"/>
          </a:xfrm>
          <a:prstGeom prst="ellipse">
            <a:avLst/>
          </a:prstGeom>
          <a:noFill/>
          <a:ln w="19050">
            <a:solidFill>
              <a:srgbClr val="BFE3EA"/>
            </a:solidFill>
          </a:ln>
        </p:spPr>
        <p:txBody>
          <a:bodyPr/>
          <a:lstStyle/>
          <a:p>
            <a:pPr algn="ctr"/>
            <a:endParaRPr/>
          </a:p>
        </p:txBody>
      </p:sp>
      <p:sp>
        <p:nvSpPr>
          <p:cNvPr id="314" name="Shape 314">
            <a:hlinkClick r:id="rId4" action="ppaction://hlinksldjump"/>
          </p:cNvPr>
          <p:cNvSpPr/>
          <p:nvPr/>
        </p:nvSpPr>
        <p:spPr>
          <a:xfrm>
            <a:off x="8928100" y="4470400"/>
            <a:ext cx="431800" cy="431800"/>
          </a:xfrm>
          <a:prstGeom prst="ellipse">
            <a:avLst/>
          </a:prstGeom>
          <a:solidFill>
            <a:srgbClr val="56B9CA"/>
          </a:solidFill>
          <a:ln>
            <a:noFill/>
          </a:ln>
        </p:spPr>
        <p:txBody>
          <a:bodyPr/>
          <a:lstStyle/>
          <a:p>
            <a:pPr algn="ctr"/>
            <a:endParaRPr/>
          </a:p>
        </p:txBody>
      </p:sp>
      <p:sp>
        <p:nvSpPr>
          <p:cNvPr id="315" name="TextBox 315"/>
          <p:cNvSpPr txBox="1"/>
          <p:nvPr/>
        </p:nvSpPr>
        <p:spPr>
          <a:xfrm>
            <a:off x="6604000" y="5334000"/>
            <a:ext cx="5080000" cy="323165"/>
          </a:xfrm>
          <a:prstGeom prst="rect">
            <a:avLst/>
          </a:prstGeom>
          <a:noFill/>
        </p:spPr>
        <p:txBody>
          <a:bodyPr wrap="square" lIns="152400" tIns="0" rIns="152400" bIns="0">
            <a:spAutoFit/>
          </a:bodyPr>
          <a:lstStyle/>
          <a:p>
            <a:pPr algn="ctr">
              <a:lnSpc>
                <a:spcPct val="100000"/>
              </a:lnSpc>
            </a:pPr>
            <a:r>
              <a:rPr lang="fr-FR" sz="2100" b="1" dirty="0">
                <a:solidFill>
                  <a:srgbClr val="000000"/>
                </a:solidFill>
                <a:latin typeface="Arial"/>
              </a:rPr>
              <a:t>Analyse exploratoire</a:t>
            </a:r>
          </a:p>
        </p:txBody>
      </p:sp>
      <p:sp>
        <p:nvSpPr>
          <p:cNvPr id="316" name="TextBox 316"/>
          <p:cNvSpPr txBox="1"/>
          <p:nvPr/>
        </p:nvSpPr>
        <p:spPr>
          <a:xfrm>
            <a:off x="6604000" y="6248400"/>
            <a:ext cx="5080000" cy="1524000"/>
          </a:xfrm>
          <a:prstGeom prst="rect">
            <a:avLst/>
          </a:prstGeom>
          <a:noFill/>
        </p:spPr>
        <p:txBody>
          <a:bodyPr wrap="square" lIns="152400" tIns="0" rIns="152400" bIns="0">
            <a:spAutoFit/>
          </a:bodyPr>
          <a:lstStyle/>
          <a:p>
            <a:pPr algn="ctr">
              <a:lnSpc>
                <a:spcPct val="124000"/>
              </a:lnSpc>
            </a:pPr>
            <a:r>
              <a:rPr lang="fr-FR" sz="1800" b="0" dirty="0">
                <a:solidFill>
                  <a:srgbClr val="5A5A5A"/>
                </a:solidFill>
                <a:latin typeface="Arial"/>
              </a:rPr>
              <a:t>Analyse statistique du jeu conformé : distributions, valeurs aberrantes, liens entre variables.</a:t>
            </a:r>
          </a:p>
        </p:txBody>
      </p:sp>
      <p:sp>
        <p:nvSpPr>
          <p:cNvPr id="318" name="TextBox 318"/>
          <p:cNvSpPr txBox="1"/>
          <p:nvPr/>
        </p:nvSpPr>
        <p:spPr>
          <a:xfrm>
            <a:off x="12166600" y="3708400"/>
            <a:ext cx="5080000" cy="406400"/>
          </a:xfrm>
          <a:prstGeom prst="rect">
            <a:avLst/>
          </a:prstGeom>
          <a:noFill/>
        </p:spPr>
        <p:txBody>
          <a:bodyPr wrap="square" lIns="152400" tIns="0" rIns="152400" bIns="0">
            <a:spAutoFit/>
          </a:bodyPr>
          <a:lstStyle/>
          <a:p>
            <a:pPr algn="ctr"/>
            <a:r>
              <a:rPr lang="fr-FR" sz="2100" b="1" spc="120" dirty="0">
                <a:solidFill>
                  <a:srgbClr val="3596A8"/>
                </a:solidFill>
                <a:latin typeface="Arial"/>
              </a:rPr>
              <a:t>JEU DE RÉFÉRENCE</a:t>
            </a:r>
          </a:p>
        </p:txBody>
      </p:sp>
      <p:sp>
        <p:nvSpPr>
          <p:cNvPr id="319" name="Shape 319"/>
          <p:cNvSpPr/>
          <p:nvPr/>
        </p:nvSpPr>
        <p:spPr>
          <a:xfrm>
            <a:off x="14376400" y="4356100"/>
            <a:ext cx="660400" cy="660400"/>
          </a:xfrm>
          <a:prstGeom prst="ellipse">
            <a:avLst/>
          </a:prstGeom>
          <a:noFill/>
          <a:ln w="19050">
            <a:solidFill>
              <a:srgbClr val="BFE3EA"/>
            </a:solidFill>
          </a:ln>
        </p:spPr>
        <p:txBody>
          <a:bodyPr/>
          <a:lstStyle/>
          <a:p>
            <a:pPr algn="ctr"/>
            <a:endParaRPr/>
          </a:p>
        </p:txBody>
      </p:sp>
      <p:sp>
        <p:nvSpPr>
          <p:cNvPr id="320" name="Shape 320">
            <a:hlinkClick r:id="rId5" action="ppaction://hlinksldjump"/>
          </p:cNvPr>
          <p:cNvSpPr/>
          <p:nvPr/>
        </p:nvSpPr>
        <p:spPr>
          <a:xfrm>
            <a:off x="14490700" y="4470400"/>
            <a:ext cx="431800" cy="431800"/>
          </a:xfrm>
          <a:prstGeom prst="ellipse">
            <a:avLst/>
          </a:prstGeom>
          <a:solidFill>
            <a:srgbClr val="56B9CA"/>
          </a:solidFill>
          <a:ln>
            <a:noFill/>
          </a:ln>
        </p:spPr>
        <p:txBody>
          <a:bodyPr/>
          <a:lstStyle/>
          <a:p>
            <a:pPr algn="ctr"/>
            <a:endParaRPr/>
          </a:p>
        </p:txBody>
      </p:sp>
      <p:sp>
        <p:nvSpPr>
          <p:cNvPr id="321" name="TextBox 321"/>
          <p:cNvSpPr txBox="1"/>
          <p:nvPr/>
        </p:nvSpPr>
        <p:spPr>
          <a:xfrm>
            <a:off x="12166600" y="5334000"/>
            <a:ext cx="5080000" cy="812800"/>
          </a:xfrm>
          <a:prstGeom prst="rect">
            <a:avLst/>
          </a:prstGeom>
          <a:noFill/>
        </p:spPr>
        <p:txBody>
          <a:bodyPr wrap="square" lIns="152400" tIns="0" rIns="152400" bIns="0">
            <a:spAutoFit/>
          </a:bodyPr>
          <a:lstStyle/>
          <a:p>
            <a:pPr algn="ctr">
              <a:lnSpc>
                <a:spcPct val="100000"/>
              </a:lnSpc>
            </a:pPr>
            <a:r>
              <a:rPr lang="fr-FR" sz="2100" b="1" dirty="0">
                <a:solidFill>
                  <a:srgbClr val="000000"/>
                </a:solidFill>
                <a:latin typeface="Arial"/>
              </a:rPr>
              <a:t>Bronze → silver → gold</a:t>
            </a:r>
          </a:p>
        </p:txBody>
      </p:sp>
      <p:sp>
        <p:nvSpPr>
          <p:cNvPr id="322" name="TextBox 322"/>
          <p:cNvSpPr txBox="1"/>
          <p:nvPr/>
        </p:nvSpPr>
        <p:spPr>
          <a:xfrm>
            <a:off x="12166600" y="6248400"/>
            <a:ext cx="5080000" cy="1524000"/>
          </a:xfrm>
          <a:prstGeom prst="rect">
            <a:avLst/>
          </a:prstGeom>
          <a:noFill/>
        </p:spPr>
        <p:txBody>
          <a:bodyPr wrap="square" lIns="152400" tIns="0" rIns="152400" bIns="0">
            <a:spAutoFit/>
          </a:bodyPr>
          <a:lstStyle/>
          <a:p>
            <a:pPr algn="ctr">
              <a:lnSpc>
                <a:spcPct val="124000"/>
              </a:lnSpc>
            </a:pPr>
            <a:r>
              <a:rPr lang="fr-FR" sz="1800" b="0" dirty="0">
                <a:solidFill>
                  <a:srgbClr val="5A5A5A"/>
                </a:solidFill>
                <a:latin typeface="Arial"/>
              </a:rPr>
              <a:t>Nettoyage et conformation appliqués, puis création des variables dérivées.</a:t>
            </a:r>
          </a:p>
        </p:txBody>
      </p:sp>
      <p:sp>
        <p:nvSpPr>
          <p:cNvPr id="501" name="Rule 501"/>
          <p:cNvSpPr/>
          <p:nvPr/>
        </p:nvSpPr>
        <p:spPr>
          <a:xfrm>
            <a:off x="3213100" y="7620000"/>
            <a:ext cx="762000" cy="25400"/>
          </a:xfrm>
          <a:prstGeom prst="rect">
            <a:avLst/>
          </a:prstGeom>
          <a:solidFill>
            <a:srgbClr val="BFE3EA"/>
          </a:solidFill>
          <a:ln>
            <a:noFill/>
          </a:ln>
        </p:spPr>
        <p:txBody>
          <a:bodyPr/>
          <a:lstStyle/>
          <a:p>
            <a:endParaRPr/>
          </a:p>
        </p:txBody>
      </p:sp>
      <p:sp>
        <p:nvSpPr>
          <p:cNvPr id="502" name="Metric 502"/>
          <p:cNvSpPr txBox="1"/>
          <p:nvPr/>
        </p:nvSpPr>
        <p:spPr>
          <a:xfrm>
            <a:off x="1054100" y="7924800"/>
            <a:ext cx="5080000" cy="508000"/>
          </a:xfrm>
          <a:prstGeom prst="rect">
            <a:avLst/>
          </a:prstGeom>
          <a:noFill/>
        </p:spPr>
        <p:txBody>
          <a:bodyPr wrap="square" lIns="0" tIns="0" rIns="0" bIns="0">
            <a:spAutoFit/>
          </a:bodyPr>
          <a:lstStyle/>
          <a:p>
            <a:pPr algn="ctr">
              <a:lnSpc>
                <a:spcPct val="110000"/>
              </a:lnSpc>
            </a:pPr>
            <a:r>
              <a:rPr lang="fr-FR" sz="2800" b="1" dirty="0">
                <a:solidFill>
                  <a:srgbClr val="1A6A77"/>
                </a:solidFill>
                <a:latin typeface="Arial"/>
              </a:rPr>
              <a:t>5 240 × 33</a:t>
            </a:r>
          </a:p>
        </p:txBody>
      </p:sp>
      <p:sp>
        <p:nvSpPr>
          <p:cNvPr id="503" name="Metric 503"/>
          <p:cNvSpPr txBox="1"/>
          <p:nvPr/>
        </p:nvSpPr>
        <p:spPr>
          <a:xfrm>
            <a:off x="1054100" y="8534400"/>
            <a:ext cx="5080000" cy="558800"/>
          </a:xfrm>
          <a:prstGeom prst="rect">
            <a:avLst/>
          </a:prstGeom>
          <a:noFill/>
        </p:spPr>
        <p:txBody>
          <a:bodyPr wrap="square" lIns="0" tIns="0" rIns="0" bIns="0">
            <a:spAutoFit/>
          </a:bodyPr>
          <a:lstStyle/>
          <a:p>
            <a:pPr algn="ctr">
              <a:lnSpc>
                <a:spcPct val="110000"/>
              </a:lnSpc>
            </a:pPr>
            <a:r>
              <a:rPr lang="fr-FR" sz="1600" b="0" dirty="0">
                <a:solidFill>
                  <a:srgbClr val="6F6F6F"/>
                </a:solidFill>
                <a:latin typeface="Arial"/>
              </a:rPr>
              <a:t>fichier étudiants reçu · catalogue : 8 lignes</a:t>
            </a:r>
          </a:p>
        </p:txBody>
      </p:sp>
      <p:sp>
        <p:nvSpPr>
          <p:cNvPr id="504" name="Rule 504"/>
          <p:cNvSpPr/>
          <p:nvPr/>
        </p:nvSpPr>
        <p:spPr>
          <a:xfrm>
            <a:off x="8763000" y="7620000"/>
            <a:ext cx="762000" cy="25400"/>
          </a:xfrm>
          <a:prstGeom prst="rect">
            <a:avLst/>
          </a:prstGeom>
          <a:solidFill>
            <a:srgbClr val="BFE3EA"/>
          </a:solidFill>
          <a:ln>
            <a:noFill/>
          </a:ln>
        </p:spPr>
        <p:txBody>
          <a:bodyPr/>
          <a:lstStyle/>
          <a:p>
            <a:endParaRPr/>
          </a:p>
        </p:txBody>
      </p:sp>
      <p:sp>
        <p:nvSpPr>
          <p:cNvPr id="505" name="Metric 505"/>
          <p:cNvSpPr txBox="1"/>
          <p:nvPr/>
        </p:nvSpPr>
        <p:spPr>
          <a:xfrm>
            <a:off x="6604000" y="7924800"/>
            <a:ext cx="5080000" cy="508000"/>
          </a:xfrm>
          <a:prstGeom prst="rect">
            <a:avLst/>
          </a:prstGeom>
          <a:noFill/>
        </p:spPr>
        <p:txBody>
          <a:bodyPr wrap="square" lIns="0" tIns="0" rIns="0" bIns="0">
            <a:spAutoFit/>
          </a:bodyPr>
          <a:lstStyle/>
          <a:p>
            <a:pPr algn="ctr">
              <a:lnSpc>
                <a:spcPct val="110000"/>
              </a:lnSpc>
            </a:pPr>
            <a:r>
              <a:rPr lang="fr-FR" sz="2800" b="1" dirty="0">
                <a:solidFill>
                  <a:srgbClr val="1A6A77"/>
                </a:solidFill>
                <a:latin typeface="Arial"/>
              </a:rPr>
              <a:t>5 200 × 33</a:t>
            </a:r>
          </a:p>
        </p:txBody>
      </p:sp>
      <p:sp>
        <p:nvSpPr>
          <p:cNvPr id="506" name="Metric 506"/>
          <p:cNvSpPr txBox="1"/>
          <p:nvPr/>
        </p:nvSpPr>
        <p:spPr>
          <a:xfrm>
            <a:off x="6604000" y="8534400"/>
            <a:ext cx="5080000" cy="558800"/>
          </a:xfrm>
          <a:prstGeom prst="rect">
            <a:avLst/>
          </a:prstGeom>
          <a:noFill/>
        </p:spPr>
        <p:txBody>
          <a:bodyPr wrap="square" lIns="0" tIns="0" rIns="0" bIns="0">
            <a:spAutoFit/>
          </a:bodyPr>
          <a:lstStyle/>
          <a:p>
            <a:pPr algn="ctr">
              <a:lnSpc>
                <a:spcPct val="110000"/>
              </a:lnSpc>
            </a:pPr>
            <a:r>
              <a:rPr lang="fr-FR" sz="1600" b="0" dirty="0">
                <a:solidFill>
                  <a:srgbClr val="6F6F6F"/>
                </a:solidFill>
                <a:latin typeface="Arial"/>
              </a:rPr>
              <a:t>jeu conformé exploré · 40 doublons retirés</a:t>
            </a:r>
          </a:p>
        </p:txBody>
      </p:sp>
      <p:sp>
        <p:nvSpPr>
          <p:cNvPr id="507" name="Rule 507"/>
          <p:cNvSpPr/>
          <p:nvPr/>
        </p:nvSpPr>
        <p:spPr>
          <a:xfrm>
            <a:off x="14325600" y="7620000"/>
            <a:ext cx="762000" cy="25400"/>
          </a:xfrm>
          <a:prstGeom prst="rect">
            <a:avLst/>
          </a:prstGeom>
          <a:solidFill>
            <a:srgbClr val="BFE3EA"/>
          </a:solidFill>
          <a:ln>
            <a:noFill/>
          </a:ln>
        </p:spPr>
        <p:txBody>
          <a:bodyPr/>
          <a:lstStyle/>
          <a:p>
            <a:endParaRPr/>
          </a:p>
        </p:txBody>
      </p:sp>
      <p:sp>
        <p:nvSpPr>
          <p:cNvPr id="508" name="Metric 508"/>
          <p:cNvSpPr txBox="1"/>
          <p:nvPr/>
        </p:nvSpPr>
        <p:spPr>
          <a:xfrm>
            <a:off x="12166600" y="7924800"/>
            <a:ext cx="5080000" cy="508000"/>
          </a:xfrm>
          <a:prstGeom prst="rect">
            <a:avLst/>
          </a:prstGeom>
          <a:noFill/>
        </p:spPr>
        <p:txBody>
          <a:bodyPr wrap="square" lIns="0" tIns="0" rIns="0" bIns="0">
            <a:spAutoFit/>
          </a:bodyPr>
          <a:lstStyle/>
          <a:p>
            <a:pPr algn="ctr">
              <a:lnSpc>
                <a:spcPct val="110000"/>
              </a:lnSpc>
            </a:pPr>
            <a:r>
              <a:rPr lang="fr-FR" sz="2800" b="1" dirty="0">
                <a:solidFill>
                  <a:srgbClr val="1A6A77"/>
                </a:solidFill>
                <a:latin typeface="Arial"/>
              </a:rPr>
              <a:t>5 200 × 29</a:t>
            </a:r>
          </a:p>
        </p:txBody>
      </p:sp>
      <p:sp>
        <p:nvSpPr>
          <p:cNvPr id="509" name="Metric 509"/>
          <p:cNvSpPr txBox="1"/>
          <p:nvPr/>
        </p:nvSpPr>
        <p:spPr>
          <a:xfrm>
            <a:off x="12166600" y="8534400"/>
            <a:ext cx="5080000" cy="558800"/>
          </a:xfrm>
          <a:prstGeom prst="rect">
            <a:avLst/>
          </a:prstGeom>
          <a:noFill/>
        </p:spPr>
        <p:txBody>
          <a:bodyPr wrap="square" lIns="0" tIns="0" rIns="0" bIns="0">
            <a:spAutoFit/>
          </a:bodyPr>
          <a:lstStyle/>
          <a:p>
            <a:pPr algn="ctr">
              <a:lnSpc>
                <a:spcPct val="110000"/>
              </a:lnSpc>
            </a:pPr>
            <a:r>
              <a:rPr lang="fr-FR" sz="1600" b="0" dirty="0">
                <a:solidFill>
                  <a:srgbClr val="6F6F6F"/>
                </a:solidFill>
                <a:latin typeface="Arial"/>
              </a:rPr>
              <a:t>gold · 6 colonnes retirées, 2 dérivées</a:t>
            </a:r>
          </a:p>
        </p:txBody>
      </p:sp>
    </p:spTree>
    <p:extLst>
      <p:ext uri="{BB962C8B-B14F-4D97-AF65-F5344CB8AC3E}">
        <p14:creationId xmlns:p14="http://schemas.microsoft.com/office/powerpoint/2010/main" val="2715361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101"/>
          <p:cNvSpPr txBox="1"/>
          <p:nvPr/>
        </p:nvSpPr>
        <p:spPr>
          <a:xfrm>
            <a:off x="1054100" y="825500"/>
            <a:ext cx="12700000" cy="304800"/>
          </a:xfrm>
          <a:prstGeom prst="rect">
            <a:avLst/>
          </a:prstGeom>
          <a:noFill/>
        </p:spPr>
        <p:txBody>
          <a:bodyPr wrap="square" lIns="0" tIns="0" rIns="0" bIns="0" anchor="t">
            <a:noAutofit/>
          </a:bodyPr>
          <a:lstStyle/>
          <a:p>
            <a:pPr algn="l">
              <a:lnSpc>
                <a:spcPct val="100000"/>
              </a:lnSpc>
            </a:pPr>
            <a:r>
              <a:rPr lang="fr-FR" sz="1800" b="1" spc="162" dirty="0">
                <a:solidFill>
                  <a:srgbClr val="6F6F6F"/>
                </a:solidFill>
                <a:latin typeface="Arial"/>
              </a:rPr>
              <a:t>ACTE 04 · PROFILAGE</a:t>
            </a:r>
          </a:p>
        </p:txBody>
      </p:sp>
      <p:sp>
        <p:nvSpPr>
          <p:cNvPr id="102" name="TextBox 102"/>
          <p:cNvSpPr txBox="1"/>
          <p:nvPr/>
        </p:nvSpPr>
        <p:spPr>
          <a:xfrm>
            <a:off x="1054100" y="1524000"/>
            <a:ext cx="16192500" cy="1016000"/>
          </a:xfrm>
          <a:prstGeom prst="rect">
            <a:avLst/>
          </a:prstGeom>
          <a:noFill/>
        </p:spPr>
        <p:txBody>
          <a:bodyPr wrap="square" lIns="0" tIns="0" rIns="0" bIns="0" anchor="t">
            <a:noAutofit/>
          </a:bodyPr>
          <a:lstStyle/>
          <a:p>
            <a:r>
              <a:rPr lang="fr-FR" sz="4800" b="1" dirty="0">
                <a:solidFill>
                  <a:srgbClr val="000000"/>
                </a:solidFill>
                <a:latin typeface="Arial"/>
              </a:rPr>
              <a:t>Profilage</a:t>
            </a:r>
            <a:endParaRPr lang="fr-FR" sz="4500" b="1" dirty="0">
              <a:solidFill>
                <a:srgbClr val="000000"/>
              </a:solidFill>
              <a:latin typeface="Arial"/>
            </a:endParaRPr>
          </a:p>
        </p:txBody>
      </p:sp>
      <p:sp>
        <p:nvSpPr>
          <p:cNvPr id="103" name="Shape 103"/>
          <p:cNvSpPr/>
          <p:nvPr/>
        </p:nvSpPr>
        <p:spPr>
          <a:xfrm>
            <a:off x="1054100" y="2743200"/>
            <a:ext cx="1143000" cy="38100"/>
          </a:xfrm>
          <a:prstGeom prst="rect">
            <a:avLst/>
          </a:prstGeom>
          <a:solidFill>
            <a:srgbClr val="56B9CA"/>
          </a:solidFill>
          <a:ln>
            <a:noFill/>
          </a:ln>
        </p:spPr>
        <p:txBody>
          <a:bodyPr/>
          <a:lstStyle/>
          <a:p>
            <a:endParaRPr/>
          </a:p>
        </p:txBody>
      </p:sp>
      <p:sp>
        <p:nvSpPr>
          <p:cNvPr id="105" name="TextBox 105"/>
          <p:cNvSpPr txBox="1"/>
          <p:nvPr/>
        </p:nvSpPr>
        <p:spPr>
          <a:xfrm>
            <a:off x="1054100" y="7772400"/>
            <a:ext cx="11176000" cy="304800"/>
          </a:xfrm>
          <a:prstGeom prst="rect">
            <a:avLst/>
          </a:prstGeom>
          <a:noFill/>
        </p:spPr>
        <p:txBody>
          <a:bodyPr wrap="square" lIns="0" tIns="0" rIns="0" bIns="0" anchor="t">
            <a:noAutofit/>
          </a:bodyPr>
          <a:lstStyle/>
          <a:p>
            <a:pPr algn="l"/>
            <a:r>
              <a:rPr lang="fr-FR" sz="1600" b="0" dirty="0">
                <a:solidFill>
                  <a:srgbClr val="6F6F6F"/>
                </a:solidFill>
                <a:latin typeface="Arial"/>
              </a:rPr>
              <a:t>Rapport par colonne : type réel et sémantique, motif dominant, distincts bruts vs normalisés, nulls, exemples</a:t>
            </a:r>
          </a:p>
        </p:txBody>
      </p:sp>
      <p:sp>
        <p:nvSpPr>
          <p:cNvPr id="106" name="TextBox 106"/>
          <p:cNvSpPr txBox="1"/>
          <p:nvPr/>
        </p:nvSpPr>
        <p:spPr>
          <a:xfrm>
            <a:off x="12700000" y="7772400"/>
            <a:ext cx="4546600" cy="304800"/>
          </a:xfrm>
          <a:prstGeom prst="rect">
            <a:avLst/>
          </a:prstGeom>
          <a:noFill/>
        </p:spPr>
        <p:txBody>
          <a:bodyPr wrap="square" lIns="0" tIns="0" rIns="0" bIns="0" anchor="t">
            <a:noAutofit/>
          </a:bodyPr>
          <a:lstStyle/>
          <a:p>
            <a:pPr algn="l"/>
            <a:r>
              <a:rPr lang="fr-FR" sz="1600" dirty="0">
                <a:solidFill>
                  <a:srgbClr val="6F6F6F"/>
                </a:solidFill>
                <a:latin typeface="Arial"/>
              </a:rPr>
              <a:t>sexe : 11 écritures → 4 modalités recodées</a:t>
            </a:r>
          </a:p>
        </p:txBody>
      </p:sp>
      <p:sp>
        <p:nvSpPr>
          <p:cNvPr id="116" name="TextBox 116"/>
          <p:cNvSpPr txBox="1"/>
          <p:nvPr/>
        </p:nvSpPr>
        <p:spPr>
          <a:xfrm>
            <a:off x="17048886" y="9309100"/>
            <a:ext cx="273913" cy="304800"/>
          </a:xfrm>
          <a:prstGeom prst="rect">
            <a:avLst/>
          </a:prstGeom>
          <a:noFill/>
        </p:spPr>
        <p:txBody>
          <a:bodyPr wrap="none" lIns="0" tIns="0" rIns="0" bIns="0" anchor="ctr" anchorCtr="0">
            <a:noAutofit/>
          </a:bodyPr>
          <a:lstStyle/>
          <a:p>
            <a:pPr algn="l">
              <a:lnSpc>
                <a:spcPct val="100000"/>
              </a:lnSpc>
            </a:pPr>
            <a:r>
              <a:rPr lang="fr-FR" sz="1400" b="1">
                <a:solidFill>
                  <a:srgbClr val="56B9CA"/>
                </a:solidFill>
                <a:latin typeface="Arial"/>
                <a:cs typeface="Arial"/>
              </a:rPr>
              <a:t>15</a:t>
            </a:r>
            <a:endParaRPr lang="fr-FR" sz="1400" b="1" dirty="0">
              <a:solidFill>
                <a:srgbClr val="56B9CA"/>
              </a:solidFill>
              <a:latin typeface="Arial"/>
              <a:cs typeface="Arial"/>
            </a:endParaRPr>
          </a:p>
        </p:txBody>
      </p:sp>
      <p:pic>
        <p:nvPicPr>
          <p:cNvPr id="2" name="Image 1">
            <a:extLst>
              <a:ext uri="{FF2B5EF4-FFF2-40B4-BE49-F238E27FC236}">
                <a16:creationId xmlns:a16="http://schemas.microsoft.com/office/drawing/2014/main" id="{980B35E5-150E-FEC7-2FB9-8490DA7775FC}"/>
              </a:ext>
            </a:extLst>
          </p:cNvPr>
          <p:cNvPicPr>
            <a:picLocks noChangeAspect="1"/>
          </p:cNvPicPr>
          <p:nvPr/>
        </p:nvPicPr>
        <p:blipFill>
          <a:blip r:embed="rId3"/>
          <a:stretch>
            <a:fillRect/>
          </a:stretch>
        </p:blipFill>
        <p:spPr>
          <a:xfrm>
            <a:off x="1054100" y="3175000"/>
            <a:ext cx="10160000" cy="4067749"/>
          </a:xfrm>
          <a:prstGeom prst="rect">
            <a:avLst/>
          </a:prstGeom>
        </p:spPr>
      </p:pic>
      <p:pic>
        <p:nvPicPr>
          <p:cNvPr id="3" name="Image 2">
            <a:extLst>
              <a:ext uri="{FF2B5EF4-FFF2-40B4-BE49-F238E27FC236}">
                <a16:creationId xmlns:a16="http://schemas.microsoft.com/office/drawing/2014/main" id="{C8C5D32C-F94B-1053-51B6-78E0E48612CF}"/>
              </a:ext>
            </a:extLst>
          </p:cNvPr>
          <p:cNvPicPr>
            <a:picLocks noChangeAspect="1"/>
          </p:cNvPicPr>
          <p:nvPr/>
        </p:nvPicPr>
        <p:blipFill>
          <a:blip r:embed="rId4"/>
          <a:stretch>
            <a:fillRect/>
          </a:stretch>
        </p:blipFill>
        <p:spPr>
          <a:xfrm>
            <a:off x="12700000" y="3175000"/>
            <a:ext cx="3810000" cy="3739607"/>
          </a:xfrm>
          <a:prstGeom prst="rect">
            <a:avLst/>
          </a:prstGeom>
        </p:spPr>
      </p:pic>
      <p:sp>
        <p:nvSpPr>
          <p:cNvPr id="900" name="Bouton retour frise">
            <a:hlinkClick r:id="rId5" action="ppaction://hlinksldjump"/>
          </p:cNvPr>
          <p:cNvSpPr/>
          <p:nvPr/>
        </p:nvSpPr>
        <p:spPr>
          <a:xfrm>
            <a:off x="15687040" y="711200"/>
            <a:ext cx="1559560" cy="457200"/>
          </a:xfrm>
          <a:prstGeom prst="roundRect">
            <a:avLst>
              <a:gd name="adj" fmla="val 50000"/>
            </a:avLst>
          </a:prstGeom>
          <a:solidFill>
            <a:srgbClr val="EAF5F7"/>
          </a:solidFill>
          <a:ln w="12700">
            <a:solidFill>
              <a:srgbClr val="BFE3EA"/>
            </a:solidFill>
          </a:ln>
        </p:spPr>
        <p:txBody>
          <a:bodyPr wrap="none" lIns="0" tIns="0" rIns="0" bIns="0" anchor="ctr"/>
          <a:lstStyle/>
          <a:p>
            <a:pPr algn="ctr"/>
            <a:r>
              <a:rPr lang="fr-FR" sz="1600" b="1" dirty="0">
                <a:solidFill>
                  <a:srgbClr val="1A6A77"/>
                </a:solidFill>
                <a:latin typeface="Arial"/>
              </a:rPr>
              <a:t>← Retour</a:t>
            </a:r>
          </a:p>
        </p:txBody>
      </p:sp>
      <p:sp>
        <p:nvSpPr>
          <p:cNvPr id="751" name="Bar 751"/>
          <p:cNvSpPr/>
          <p:nvPr/>
        </p:nvSpPr>
        <p:spPr>
          <a:xfrm>
            <a:off x="1054100" y="8432800"/>
            <a:ext cx="50800" cy="1066800"/>
          </a:xfrm>
          <a:prstGeom prst="rect">
            <a:avLst/>
          </a:prstGeom>
          <a:solidFill>
            <a:srgbClr val="56B9CA"/>
          </a:solidFill>
          <a:ln>
            <a:noFill/>
          </a:ln>
        </p:spPr>
        <p:txBody>
          <a:bodyPr/>
          <a:lstStyle/>
          <a:p>
            <a:endParaRPr/>
          </a:p>
        </p:txBody>
      </p:sp>
      <p:sp>
        <p:nvSpPr>
          <p:cNvPr id="752" name="TextBox 752"/>
          <p:cNvSpPr txBox="1"/>
          <p:nvPr/>
        </p:nvSpPr>
        <p:spPr>
          <a:xfrm>
            <a:off x="1333500" y="8432800"/>
            <a:ext cx="3530600" cy="307777"/>
          </a:xfrm>
          <a:prstGeom prst="rect">
            <a:avLst/>
          </a:prstGeom>
          <a:noFill/>
        </p:spPr>
        <p:txBody>
          <a:bodyPr wrap="square" lIns="0" tIns="0" rIns="0" bIns="0">
            <a:spAutoFit/>
          </a:bodyPr>
          <a:lstStyle/>
          <a:p>
            <a:pPr algn="l">
              <a:lnSpc>
                <a:spcPct val="100000"/>
              </a:lnSpc>
            </a:pPr>
            <a:r>
              <a:rPr lang="fr-FR" sz="2000" b="1" dirty="0" err="1">
                <a:solidFill>
                  <a:srgbClr val="000000"/>
                </a:solidFill>
                <a:latin typeface="Arial"/>
              </a:rPr>
              <a:t>Déboublonnage</a:t>
            </a:r>
            <a:endParaRPr lang="fr-FR" sz="2000" b="1" dirty="0">
              <a:solidFill>
                <a:srgbClr val="000000"/>
              </a:solidFill>
              <a:latin typeface="Arial"/>
            </a:endParaRPr>
          </a:p>
        </p:txBody>
      </p:sp>
      <p:sp>
        <p:nvSpPr>
          <p:cNvPr id="753" name="TextBox 753"/>
          <p:cNvSpPr txBox="1"/>
          <p:nvPr/>
        </p:nvSpPr>
        <p:spPr>
          <a:xfrm>
            <a:off x="1333500" y="8915400"/>
            <a:ext cx="3530600" cy="584200"/>
          </a:xfrm>
          <a:prstGeom prst="rect">
            <a:avLst/>
          </a:prstGeom>
          <a:noFill/>
        </p:spPr>
        <p:txBody>
          <a:bodyPr wrap="square" lIns="0" tIns="0" rIns="0" bIns="0">
            <a:spAutoFit/>
          </a:bodyPr>
          <a:lstStyle/>
          <a:p>
            <a:pPr algn="l">
              <a:lnSpc>
                <a:spcPct val="112000"/>
              </a:lnSpc>
            </a:pPr>
            <a:r>
              <a:rPr lang="fr-FR" sz="1600" b="0" dirty="0">
                <a:solidFill>
                  <a:srgbClr val="3D3D3D"/>
                </a:solidFill>
                <a:latin typeface="Arial"/>
              </a:rPr>
              <a:t>40 lignes strictement identiques retirées · 5 240 → 5 200 lignes</a:t>
            </a:r>
          </a:p>
        </p:txBody>
      </p:sp>
      <p:sp>
        <p:nvSpPr>
          <p:cNvPr id="754" name="Bar 754"/>
          <p:cNvSpPr/>
          <p:nvPr/>
        </p:nvSpPr>
        <p:spPr>
          <a:xfrm>
            <a:off x="5181600" y="8432800"/>
            <a:ext cx="50800" cy="1066800"/>
          </a:xfrm>
          <a:prstGeom prst="rect">
            <a:avLst/>
          </a:prstGeom>
          <a:solidFill>
            <a:srgbClr val="56B9CA"/>
          </a:solidFill>
          <a:ln>
            <a:noFill/>
          </a:ln>
        </p:spPr>
        <p:txBody>
          <a:bodyPr/>
          <a:lstStyle/>
          <a:p>
            <a:endParaRPr/>
          </a:p>
        </p:txBody>
      </p:sp>
      <p:sp>
        <p:nvSpPr>
          <p:cNvPr id="755" name="TextBox 755"/>
          <p:cNvSpPr txBox="1"/>
          <p:nvPr/>
        </p:nvSpPr>
        <p:spPr>
          <a:xfrm>
            <a:off x="5461000" y="8432800"/>
            <a:ext cx="3530600" cy="431800"/>
          </a:xfrm>
          <a:prstGeom prst="rect">
            <a:avLst/>
          </a:prstGeom>
          <a:noFill/>
        </p:spPr>
        <p:txBody>
          <a:bodyPr wrap="square" lIns="0" tIns="0" rIns="0" bIns="0">
            <a:spAutoFit/>
          </a:bodyPr>
          <a:lstStyle/>
          <a:p>
            <a:pPr algn="l">
              <a:lnSpc>
                <a:spcPct val="100000"/>
              </a:lnSpc>
            </a:pPr>
            <a:r>
              <a:rPr lang="fr-FR" sz="2000" b="1" dirty="0">
                <a:solidFill>
                  <a:srgbClr val="000000"/>
                </a:solidFill>
                <a:latin typeface="Arial"/>
              </a:rPr>
              <a:t>Normalisation</a:t>
            </a:r>
          </a:p>
        </p:txBody>
      </p:sp>
      <p:sp>
        <p:nvSpPr>
          <p:cNvPr id="756" name="TextBox 756"/>
          <p:cNvSpPr txBox="1"/>
          <p:nvPr/>
        </p:nvSpPr>
        <p:spPr>
          <a:xfrm>
            <a:off x="5461000" y="8915400"/>
            <a:ext cx="3530600" cy="584200"/>
          </a:xfrm>
          <a:prstGeom prst="rect">
            <a:avLst/>
          </a:prstGeom>
          <a:noFill/>
        </p:spPr>
        <p:txBody>
          <a:bodyPr wrap="square" lIns="0" tIns="0" rIns="0" bIns="0">
            <a:spAutoFit/>
          </a:bodyPr>
          <a:lstStyle/>
          <a:p>
            <a:pPr algn="l">
              <a:lnSpc>
                <a:spcPct val="112000"/>
              </a:lnSpc>
            </a:pPr>
            <a:r>
              <a:rPr lang="fr-FR" sz="1600" b="0" dirty="0">
                <a:solidFill>
                  <a:srgbClr val="3D3D3D"/>
                </a:solidFill>
                <a:latin typeface="Arial"/>
              </a:rPr>
              <a:t>dates (3 formats), « % » et « km » collés, virgules · filiere 31→8 écritures</a:t>
            </a:r>
          </a:p>
        </p:txBody>
      </p:sp>
      <p:sp>
        <p:nvSpPr>
          <p:cNvPr id="757" name="Bar 757"/>
          <p:cNvSpPr/>
          <p:nvPr/>
        </p:nvSpPr>
        <p:spPr>
          <a:xfrm>
            <a:off x="9309100" y="8432800"/>
            <a:ext cx="50800" cy="1066800"/>
          </a:xfrm>
          <a:prstGeom prst="rect">
            <a:avLst/>
          </a:prstGeom>
          <a:solidFill>
            <a:srgbClr val="56B9CA"/>
          </a:solidFill>
          <a:ln>
            <a:noFill/>
          </a:ln>
        </p:spPr>
        <p:txBody>
          <a:bodyPr/>
          <a:lstStyle/>
          <a:p>
            <a:endParaRPr/>
          </a:p>
        </p:txBody>
      </p:sp>
      <p:sp>
        <p:nvSpPr>
          <p:cNvPr id="758" name="TextBox 758"/>
          <p:cNvSpPr txBox="1"/>
          <p:nvPr/>
        </p:nvSpPr>
        <p:spPr>
          <a:xfrm>
            <a:off x="9588500" y="8432800"/>
            <a:ext cx="3530600" cy="431800"/>
          </a:xfrm>
          <a:prstGeom prst="rect">
            <a:avLst/>
          </a:prstGeom>
          <a:noFill/>
        </p:spPr>
        <p:txBody>
          <a:bodyPr wrap="square" lIns="0" tIns="0" rIns="0" bIns="0">
            <a:spAutoFit/>
          </a:bodyPr>
          <a:lstStyle/>
          <a:p>
            <a:pPr algn="l">
              <a:lnSpc>
                <a:spcPct val="100000"/>
              </a:lnSpc>
            </a:pPr>
            <a:r>
              <a:rPr lang="fr-FR" sz="2000" b="1" dirty="0">
                <a:solidFill>
                  <a:srgbClr val="000000"/>
                </a:solidFill>
                <a:latin typeface="Arial"/>
              </a:rPr>
              <a:t>Recodage</a:t>
            </a:r>
          </a:p>
        </p:txBody>
      </p:sp>
      <p:sp>
        <p:nvSpPr>
          <p:cNvPr id="759" name="TextBox 759"/>
          <p:cNvSpPr txBox="1"/>
          <p:nvPr/>
        </p:nvSpPr>
        <p:spPr>
          <a:xfrm>
            <a:off x="9588500" y="8915400"/>
            <a:ext cx="3530600" cy="584200"/>
          </a:xfrm>
          <a:prstGeom prst="rect">
            <a:avLst/>
          </a:prstGeom>
          <a:noFill/>
        </p:spPr>
        <p:txBody>
          <a:bodyPr wrap="square" lIns="0" tIns="0" rIns="0" bIns="0">
            <a:spAutoFit/>
          </a:bodyPr>
          <a:lstStyle/>
          <a:p>
            <a:pPr algn="l">
              <a:lnSpc>
                <a:spcPct val="112000"/>
              </a:lnSpc>
            </a:pPr>
            <a:r>
              <a:rPr lang="fr-FR" sz="1600" b="0" dirty="0">
                <a:solidFill>
                  <a:srgbClr val="3D3D3D"/>
                </a:solidFill>
                <a:latin typeface="Arial"/>
              </a:rPr>
              <a:t>sexe 11→4 · bac_type 12→3 · mention_bac 11→4 · boursier 8→2</a:t>
            </a:r>
          </a:p>
        </p:txBody>
      </p:sp>
      <p:sp>
        <p:nvSpPr>
          <p:cNvPr id="760" name="Bar 760"/>
          <p:cNvSpPr/>
          <p:nvPr/>
        </p:nvSpPr>
        <p:spPr>
          <a:xfrm>
            <a:off x="13055600" y="8432800"/>
            <a:ext cx="50800" cy="1066800"/>
          </a:xfrm>
          <a:prstGeom prst="rect">
            <a:avLst/>
          </a:prstGeom>
          <a:solidFill>
            <a:srgbClr val="56B9CA"/>
          </a:solidFill>
          <a:ln>
            <a:noFill/>
          </a:ln>
        </p:spPr>
        <p:txBody>
          <a:bodyPr/>
          <a:lstStyle/>
          <a:p>
            <a:endParaRPr/>
          </a:p>
        </p:txBody>
      </p:sp>
      <p:sp>
        <p:nvSpPr>
          <p:cNvPr id="761" name="TextBox 761"/>
          <p:cNvSpPr txBox="1"/>
          <p:nvPr/>
        </p:nvSpPr>
        <p:spPr>
          <a:xfrm>
            <a:off x="13335000" y="8432800"/>
            <a:ext cx="3238500" cy="431800"/>
          </a:xfrm>
          <a:prstGeom prst="rect">
            <a:avLst/>
          </a:prstGeom>
          <a:noFill/>
        </p:spPr>
        <p:txBody>
          <a:bodyPr wrap="square" lIns="0" tIns="0" rIns="0" bIns="0">
            <a:spAutoFit/>
          </a:bodyPr>
          <a:lstStyle/>
          <a:p>
            <a:pPr algn="l">
              <a:lnSpc>
                <a:spcPct val="100000"/>
              </a:lnSpc>
            </a:pPr>
            <a:r>
              <a:rPr lang="fr-FR" sz="2000" b="1" dirty="0">
                <a:solidFill>
                  <a:srgbClr val="000000"/>
                </a:solidFill>
                <a:latin typeface="Arial"/>
              </a:rPr>
              <a:t>Contrôle de cohérence</a:t>
            </a:r>
          </a:p>
        </p:txBody>
      </p:sp>
      <p:sp>
        <p:nvSpPr>
          <p:cNvPr id="762" name="TextBox 762"/>
          <p:cNvSpPr txBox="1"/>
          <p:nvPr/>
        </p:nvSpPr>
        <p:spPr>
          <a:xfrm>
            <a:off x="13335000" y="8915400"/>
            <a:ext cx="3302000" cy="584200"/>
          </a:xfrm>
          <a:prstGeom prst="rect">
            <a:avLst/>
          </a:prstGeom>
          <a:noFill/>
        </p:spPr>
        <p:txBody>
          <a:bodyPr wrap="square" lIns="0" tIns="0" rIns="0" bIns="0">
            <a:spAutoFit/>
          </a:bodyPr>
          <a:lstStyle/>
          <a:p>
            <a:pPr algn="l">
              <a:lnSpc>
                <a:spcPct val="112000"/>
              </a:lnSpc>
            </a:pPr>
            <a:r>
              <a:rPr lang="fr-FR" sz="1600" b="0" dirty="0">
                <a:solidFill>
                  <a:srgbClr val="3D3D3D"/>
                </a:solidFill>
                <a:latin typeface="Arial"/>
              </a:rPr>
              <a:t>6 contrôles, 0 anomalie : unicité, jointure, inégalités</a:t>
            </a:r>
          </a:p>
        </p:txBody>
      </p:sp>
    </p:spTree>
    <p:extLst>
      <p:ext uri="{BB962C8B-B14F-4D97-AF65-F5344CB8AC3E}">
        <p14:creationId xmlns:p14="http://schemas.microsoft.com/office/powerpoint/2010/main" val="601822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101"/>
          <p:cNvSpPr txBox="1"/>
          <p:nvPr/>
        </p:nvSpPr>
        <p:spPr>
          <a:xfrm>
            <a:off x="1054100" y="825500"/>
            <a:ext cx="12700000" cy="304800"/>
          </a:xfrm>
          <a:prstGeom prst="rect">
            <a:avLst/>
          </a:prstGeom>
          <a:noFill/>
        </p:spPr>
        <p:txBody>
          <a:bodyPr wrap="square" lIns="0" tIns="0" rIns="0" bIns="0" anchor="t">
            <a:noAutofit/>
          </a:bodyPr>
          <a:lstStyle/>
          <a:p>
            <a:pPr algn="l">
              <a:lnSpc>
                <a:spcPct val="100000"/>
              </a:lnSpc>
            </a:pPr>
            <a:r>
              <a:rPr lang="fr-FR" sz="1800" b="1" spc="162" dirty="0">
                <a:solidFill>
                  <a:srgbClr val="6F6F6F"/>
                </a:solidFill>
                <a:latin typeface="Arial"/>
              </a:rPr>
              <a:t>ACTE 04 · EDA</a:t>
            </a:r>
          </a:p>
        </p:txBody>
      </p:sp>
      <p:sp>
        <p:nvSpPr>
          <p:cNvPr id="102" name="TextBox 102"/>
          <p:cNvSpPr txBox="1"/>
          <p:nvPr/>
        </p:nvSpPr>
        <p:spPr>
          <a:xfrm>
            <a:off x="1054100" y="1524000"/>
            <a:ext cx="16192500" cy="1016000"/>
          </a:xfrm>
          <a:prstGeom prst="rect">
            <a:avLst/>
          </a:prstGeom>
          <a:noFill/>
        </p:spPr>
        <p:txBody>
          <a:bodyPr wrap="square" lIns="0" tIns="0" rIns="0" bIns="0" anchor="t">
            <a:noAutofit/>
          </a:bodyPr>
          <a:lstStyle/>
          <a:p>
            <a:pPr>
              <a:lnSpc>
                <a:spcPct val="100000"/>
              </a:lnSpc>
            </a:pPr>
            <a:r>
              <a:rPr lang="fr-FR" sz="5400" b="1" dirty="0">
                <a:solidFill>
                  <a:srgbClr val="000000"/>
                </a:solidFill>
                <a:latin typeface="Arial"/>
              </a:rPr>
              <a:t>Analyse exploratoire</a:t>
            </a:r>
          </a:p>
        </p:txBody>
      </p:sp>
      <p:sp>
        <p:nvSpPr>
          <p:cNvPr id="103" name="Shape 103"/>
          <p:cNvSpPr/>
          <p:nvPr/>
        </p:nvSpPr>
        <p:spPr>
          <a:xfrm>
            <a:off x="1054100" y="2743200"/>
            <a:ext cx="1143000" cy="38100"/>
          </a:xfrm>
          <a:prstGeom prst="rect">
            <a:avLst/>
          </a:prstGeom>
          <a:solidFill>
            <a:srgbClr val="56B9CA"/>
          </a:solidFill>
          <a:ln>
            <a:noFill/>
          </a:ln>
        </p:spPr>
        <p:txBody>
          <a:bodyPr/>
          <a:lstStyle/>
          <a:p>
            <a:endParaRPr/>
          </a:p>
        </p:txBody>
      </p:sp>
      <p:sp>
        <p:nvSpPr>
          <p:cNvPr id="105" name="TextBox 105"/>
          <p:cNvSpPr txBox="1"/>
          <p:nvPr/>
        </p:nvSpPr>
        <p:spPr>
          <a:xfrm>
            <a:off x="1054100" y="3530600"/>
            <a:ext cx="5842000" cy="304800"/>
          </a:xfrm>
          <a:prstGeom prst="rect">
            <a:avLst/>
          </a:prstGeom>
          <a:noFill/>
        </p:spPr>
        <p:txBody>
          <a:bodyPr wrap="square" lIns="0" tIns="0" rIns="0" bIns="0" anchor="t">
            <a:noAutofit/>
          </a:bodyPr>
          <a:lstStyle/>
          <a:p>
            <a:pPr algn="l">
              <a:lnSpc>
                <a:spcPct val="100000"/>
              </a:lnSpc>
            </a:pPr>
            <a:r>
              <a:rPr lang="fr-FR" sz="1600" b="1" spc="162" dirty="0">
                <a:solidFill>
                  <a:srgbClr val="6F6F6F"/>
                </a:solidFill>
                <a:latin typeface="Arial"/>
              </a:rPr>
              <a:t>DISTRIBUTIONS DES NUMÉRIQUES</a:t>
            </a:r>
          </a:p>
        </p:txBody>
      </p:sp>
      <p:sp>
        <p:nvSpPr>
          <p:cNvPr id="106" name="TextBox 106"/>
          <p:cNvSpPr txBox="1"/>
          <p:nvPr/>
        </p:nvSpPr>
        <p:spPr>
          <a:xfrm>
            <a:off x="7112000" y="3530600"/>
            <a:ext cx="4826000" cy="304800"/>
          </a:xfrm>
          <a:prstGeom prst="rect">
            <a:avLst/>
          </a:prstGeom>
          <a:noFill/>
        </p:spPr>
        <p:txBody>
          <a:bodyPr wrap="square" lIns="0" tIns="0" rIns="0" bIns="0" anchor="t">
            <a:noAutofit/>
          </a:bodyPr>
          <a:lstStyle/>
          <a:p>
            <a:pPr algn="l">
              <a:lnSpc>
                <a:spcPct val="100000"/>
              </a:lnSpc>
            </a:pPr>
            <a:r>
              <a:rPr lang="fr-FR" sz="1600" b="1" spc="162" dirty="0">
                <a:solidFill>
                  <a:srgbClr val="6F6F6F"/>
                </a:solidFill>
                <a:latin typeface="Arial"/>
              </a:rPr>
              <a:t>ASSOCIATIONS · ρ DE SPEARMAN</a:t>
            </a:r>
          </a:p>
        </p:txBody>
      </p:sp>
      <p:sp>
        <p:nvSpPr>
          <p:cNvPr id="107" name="TextBox 107"/>
          <p:cNvSpPr txBox="1"/>
          <p:nvPr/>
        </p:nvSpPr>
        <p:spPr>
          <a:xfrm>
            <a:off x="12141200" y="3530600"/>
            <a:ext cx="5105400" cy="304800"/>
          </a:xfrm>
          <a:prstGeom prst="rect">
            <a:avLst/>
          </a:prstGeom>
          <a:noFill/>
        </p:spPr>
        <p:txBody>
          <a:bodyPr wrap="square" lIns="0" tIns="0" rIns="0" bIns="0" anchor="t">
            <a:noAutofit/>
          </a:bodyPr>
          <a:lstStyle/>
          <a:p>
            <a:pPr algn="l">
              <a:lnSpc>
                <a:spcPct val="100000"/>
              </a:lnSpc>
            </a:pPr>
            <a:r>
              <a:rPr lang="fr-FR" sz="1600" b="1" spc="162" dirty="0">
                <a:solidFill>
                  <a:srgbClr val="1A6A77"/>
                </a:solidFill>
                <a:latin typeface="Arial"/>
              </a:rPr>
              <a:t>CE QUE LA MESURE TRANCHE</a:t>
            </a:r>
          </a:p>
        </p:txBody>
      </p:sp>
      <p:sp>
        <p:nvSpPr>
          <p:cNvPr id="108" name="Shape 108"/>
          <p:cNvSpPr/>
          <p:nvPr/>
        </p:nvSpPr>
        <p:spPr>
          <a:xfrm>
            <a:off x="12141200" y="3937000"/>
            <a:ext cx="50800" cy="4216400"/>
          </a:xfrm>
          <a:prstGeom prst="rect">
            <a:avLst/>
          </a:prstGeom>
          <a:solidFill>
            <a:srgbClr val="1A6A77"/>
          </a:solidFill>
          <a:ln>
            <a:noFill/>
          </a:ln>
        </p:spPr>
        <p:txBody>
          <a:bodyPr/>
          <a:lstStyle/>
          <a:p>
            <a:endParaRPr/>
          </a:p>
        </p:txBody>
      </p:sp>
      <p:sp>
        <p:nvSpPr>
          <p:cNvPr id="109" name="TextBox 109"/>
          <p:cNvSpPr txBox="1"/>
          <p:nvPr/>
        </p:nvSpPr>
        <p:spPr>
          <a:xfrm>
            <a:off x="12420600" y="3937000"/>
            <a:ext cx="4457700" cy="5486400"/>
          </a:xfrm>
          <a:prstGeom prst="rect">
            <a:avLst/>
          </a:prstGeom>
          <a:noFill/>
        </p:spPr>
        <p:txBody>
          <a:bodyPr wrap="square" lIns="0" tIns="0" rIns="0" bIns="0" anchor="t">
            <a:noAutofit/>
          </a:bodyPr>
          <a:lstStyle/>
          <a:p>
            <a:pPr algn="l">
              <a:lnSpc>
                <a:spcPct val="120000"/>
              </a:lnSpc>
              <a:spcAft>
                <a:spcPts val="600"/>
              </a:spcAft>
            </a:pPr>
            <a:r>
              <a:rPr lang="fr-FR" sz="1800" b="1" dirty="0">
                <a:solidFill>
                  <a:srgbClr val="000000"/>
                </a:solidFill>
                <a:latin typeface="Arial"/>
              </a:rPr>
              <a:t>Formes — </a:t>
            </a:r>
            <a:r>
              <a:rPr lang="fr-FR" sz="1800" dirty="0">
                <a:solidFill>
                  <a:srgbClr val="3D3D3D"/>
                </a:solidFill>
                <a:latin typeface="Arial"/>
              </a:rPr>
              <a:t>distributions cohérentes : une seule asymétrie marquée, échelles à harmoniser.</a:t>
            </a:r>
          </a:p>
          <a:p>
            <a:pPr algn="l">
              <a:lnSpc>
                <a:spcPct val="120000"/>
              </a:lnSpc>
              <a:spcAft>
                <a:spcPts val="600"/>
              </a:spcAft>
            </a:pPr>
            <a:r>
              <a:rPr lang="fr-FR" sz="1800" b="1" dirty="0">
                <a:solidFill>
                  <a:srgbClr val="000000"/>
                </a:solidFill>
                <a:latin typeface="Arial"/>
              </a:rPr>
              <a:t>Manquants — </a:t>
            </a:r>
            <a:r>
              <a:rPr lang="fr-FR" sz="1800" dirty="0">
                <a:solidFill>
                  <a:srgbClr val="3D3D3D"/>
                </a:solidFill>
                <a:latin typeface="Arial"/>
              </a:rPr>
              <a:t>trous diffus, sans lien avec la cible (p ≥ 0,15).</a:t>
            </a:r>
          </a:p>
          <a:p>
            <a:pPr algn="l">
              <a:lnSpc>
                <a:spcPct val="120000"/>
              </a:lnSpc>
              <a:spcAft>
                <a:spcPts val="600"/>
              </a:spcAft>
            </a:pPr>
            <a:r>
              <a:rPr lang="fr-FR" sz="1800" b="1" dirty="0">
                <a:solidFill>
                  <a:srgbClr val="000000"/>
                </a:solidFill>
                <a:latin typeface="Arial"/>
              </a:rPr>
              <a:t>Valeurs aberrantes — </a:t>
            </a:r>
            <a:r>
              <a:rPr lang="fr-FR" sz="1800" dirty="0">
                <a:solidFill>
                  <a:srgbClr val="3D3D3D"/>
                </a:solidFill>
                <a:latin typeface="Arial"/>
              </a:rPr>
              <a:t>quelques queues à droite, toutes plausibles : rien à écrêter.</a:t>
            </a:r>
          </a:p>
          <a:p>
            <a:pPr algn="l">
              <a:lnSpc>
                <a:spcPct val="120000"/>
              </a:lnSpc>
              <a:spcAft>
                <a:spcPts val="600"/>
              </a:spcAft>
            </a:pPr>
            <a:r>
              <a:rPr lang="fr-FR" sz="1800" b="1" dirty="0">
                <a:solidFill>
                  <a:srgbClr val="000000"/>
                </a:solidFill>
                <a:latin typeface="Arial"/>
              </a:rPr>
              <a:t>Redondance — </a:t>
            </a:r>
            <a:r>
              <a:rPr lang="fr-FR" sz="1800" dirty="0">
                <a:solidFill>
                  <a:srgbClr val="3D3D3D"/>
                </a:solidFill>
                <a:latin typeface="Arial"/>
              </a:rPr>
              <a:t>trio LMS (ρ 0,80–0,92) : scénario d'ablation ajouté.</a:t>
            </a:r>
          </a:p>
          <a:p>
            <a:pPr algn="l">
              <a:lnSpc>
                <a:spcPct val="120000"/>
              </a:lnSpc>
              <a:spcAft>
                <a:spcPts val="600"/>
              </a:spcAft>
            </a:pPr>
            <a:r>
              <a:rPr lang="fr-FR" sz="1800" b="1" dirty="0">
                <a:solidFill>
                  <a:srgbClr val="000000"/>
                </a:solidFill>
                <a:latin typeface="Arial"/>
              </a:rPr>
              <a:t>Proxies socio-économiques — </a:t>
            </a:r>
            <a:r>
              <a:rPr lang="fr-FR" sz="1800" dirty="0">
                <a:solidFill>
                  <a:srgbClr val="3D3D3D"/>
                </a:solidFill>
                <a:latin typeface="Arial"/>
              </a:rPr>
              <a:t>aucun lien avec boursier : les trois candidats sous leur bruit (p ≥ 0,47), pas de ré-encodage indirect.</a:t>
            </a:r>
          </a:p>
        </p:txBody>
      </p:sp>
      <p:sp>
        <p:nvSpPr>
          <p:cNvPr id="110" name="TextBox 110"/>
          <p:cNvSpPr txBox="1"/>
          <p:nvPr/>
        </p:nvSpPr>
        <p:spPr>
          <a:xfrm>
            <a:off x="17048886" y="9309100"/>
            <a:ext cx="273913" cy="304800"/>
          </a:xfrm>
          <a:prstGeom prst="rect">
            <a:avLst/>
          </a:prstGeom>
          <a:noFill/>
        </p:spPr>
        <p:txBody>
          <a:bodyPr wrap="none" lIns="0" tIns="0" rIns="0" bIns="0" anchor="ctr" anchorCtr="0">
            <a:noAutofit/>
          </a:bodyPr>
          <a:lstStyle/>
          <a:p>
            <a:pPr algn="l">
              <a:lnSpc>
                <a:spcPct val="100000"/>
              </a:lnSpc>
            </a:pPr>
            <a:r>
              <a:rPr lang="fr-FR" sz="1400" b="1">
                <a:solidFill>
                  <a:srgbClr val="56B9CA"/>
                </a:solidFill>
                <a:latin typeface="Arial"/>
                <a:cs typeface="Arial"/>
              </a:rPr>
              <a:t>16</a:t>
            </a:r>
            <a:endParaRPr lang="fr-FR" sz="1400" b="1" dirty="0">
              <a:solidFill>
                <a:srgbClr val="56B9CA"/>
              </a:solidFill>
              <a:latin typeface="Arial"/>
              <a:cs typeface="Arial"/>
            </a:endParaRPr>
          </a:p>
        </p:txBody>
      </p:sp>
      <p:pic>
        <p:nvPicPr>
          <p:cNvPr id="2" name="Image 1">
            <a:extLst>
              <a:ext uri="{FF2B5EF4-FFF2-40B4-BE49-F238E27FC236}">
                <a16:creationId xmlns:a16="http://schemas.microsoft.com/office/drawing/2014/main" id="{EC16F469-05DB-06F3-8DC5-483027C8440B}"/>
              </a:ext>
            </a:extLst>
          </p:cNvPr>
          <p:cNvPicPr>
            <a:picLocks noChangeAspect="1"/>
          </p:cNvPicPr>
          <p:nvPr/>
        </p:nvPicPr>
        <p:blipFill>
          <a:blip r:embed="rId3"/>
          <a:stretch>
            <a:fillRect/>
          </a:stretch>
        </p:blipFill>
        <p:spPr>
          <a:xfrm>
            <a:off x="1054100" y="4038600"/>
            <a:ext cx="5918200" cy="4193691"/>
          </a:xfrm>
          <a:prstGeom prst="rect">
            <a:avLst/>
          </a:prstGeom>
        </p:spPr>
      </p:pic>
      <p:pic>
        <p:nvPicPr>
          <p:cNvPr id="3" name="Image 2">
            <a:extLst>
              <a:ext uri="{FF2B5EF4-FFF2-40B4-BE49-F238E27FC236}">
                <a16:creationId xmlns:a16="http://schemas.microsoft.com/office/drawing/2014/main" id="{35106D4C-A314-63B6-5753-22867587AC21}"/>
              </a:ext>
            </a:extLst>
          </p:cNvPr>
          <p:cNvPicPr>
            <a:picLocks noChangeAspect="1"/>
          </p:cNvPicPr>
          <p:nvPr/>
        </p:nvPicPr>
        <p:blipFill>
          <a:blip r:embed="rId4"/>
          <a:stretch>
            <a:fillRect/>
          </a:stretch>
        </p:blipFill>
        <p:spPr>
          <a:xfrm>
            <a:off x="7112000" y="4038600"/>
            <a:ext cx="4826000" cy="4185529"/>
          </a:xfrm>
          <a:prstGeom prst="rect">
            <a:avLst/>
          </a:prstGeom>
        </p:spPr>
      </p:pic>
      <p:sp>
        <p:nvSpPr>
          <p:cNvPr id="5" name="Bouton retour frise">
            <a:hlinkClick r:id="rId5" action="ppaction://hlinksldjump"/>
            <a:extLst>
              <a:ext uri="{FF2B5EF4-FFF2-40B4-BE49-F238E27FC236}">
                <a16:creationId xmlns:a16="http://schemas.microsoft.com/office/drawing/2014/main" id="{0EAC3578-058E-DB22-AE67-5331DAE7F0BF}"/>
              </a:ext>
            </a:extLst>
          </p:cNvPr>
          <p:cNvSpPr/>
          <p:nvPr/>
        </p:nvSpPr>
        <p:spPr>
          <a:xfrm>
            <a:off x="15687040" y="711200"/>
            <a:ext cx="1559560" cy="457200"/>
          </a:xfrm>
          <a:prstGeom prst="roundRect">
            <a:avLst>
              <a:gd name="adj" fmla="val 50000"/>
            </a:avLst>
          </a:prstGeom>
          <a:solidFill>
            <a:srgbClr val="EAF5F7"/>
          </a:solidFill>
          <a:ln w="12700">
            <a:solidFill>
              <a:srgbClr val="BFE3EA"/>
            </a:solidFill>
          </a:ln>
        </p:spPr>
        <p:txBody>
          <a:bodyPr wrap="none" lIns="0" tIns="0" rIns="0" bIns="0" anchor="ctr"/>
          <a:lstStyle/>
          <a:p>
            <a:pPr algn="ctr"/>
            <a:r>
              <a:rPr lang="fr-FR" sz="1600" b="1" dirty="0">
                <a:solidFill>
                  <a:srgbClr val="1A6A77"/>
                </a:solidFill>
                <a:latin typeface="Arial"/>
              </a:rPr>
              <a:t>← Retour</a:t>
            </a:r>
          </a:p>
        </p:txBody>
      </p:sp>
    </p:spTree>
    <p:extLst>
      <p:ext uri="{BB962C8B-B14F-4D97-AF65-F5344CB8AC3E}">
        <p14:creationId xmlns:p14="http://schemas.microsoft.com/office/powerpoint/2010/main" val="457084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101"/>
          <p:cNvSpPr txBox="1"/>
          <p:nvPr/>
        </p:nvSpPr>
        <p:spPr>
          <a:xfrm>
            <a:off x="1054100" y="825500"/>
            <a:ext cx="12700000" cy="304800"/>
          </a:xfrm>
          <a:prstGeom prst="rect">
            <a:avLst/>
          </a:prstGeom>
          <a:noFill/>
        </p:spPr>
        <p:txBody>
          <a:bodyPr wrap="square" lIns="0" tIns="0" rIns="0" bIns="0" anchor="t">
            <a:noAutofit/>
          </a:bodyPr>
          <a:lstStyle/>
          <a:p>
            <a:pPr algn="l">
              <a:lnSpc>
                <a:spcPct val="100000"/>
              </a:lnSpc>
            </a:pPr>
            <a:r>
              <a:rPr lang="fr-FR" sz="1800" b="1" spc="162" dirty="0">
                <a:solidFill>
                  <a:srgbClr val="6F6F6F"/>
                </a:solidFill>
                <a:latin typeface="Arial"/>
              </a:rPr>
              <a:t>ACTE 04 · PRÉPARATION DES DONNÉES</a:t>
            </a:r>
          </a:p>
        </p:txBody>
      </p:sp>
      <p:sp>
        <p:nvSpPr>
          <p:cNvPr id="102" name="TextBox 102"/>
          <p:cNvSpPr txBox="1"/>
          <p:nvPr/>
        </p:nvSpPr>
        <p:spPr>
          <a:xfrm>
            <a:off x="1054100" y="1524000"/>
            <a:ext cx="16192500" cy="1016000"/>
          </a:xfrm>
          <a:prstGeom prst="rect">
            <a:avLst/>
          </a:prstGeom>
          <a:noFill/>
        </p:spPr>
        <p:txBody>
          <a:bodyPr wrap="square" lIns="0" tIns="0" rIns="0" bIns="0" anchor="t">
            <a:noAutofit/>
          </a:bodyPr>
          <a:lstStyle/>
          <a:p>
            <a:pPr algn="l">
              <a:lnSpc>
                <a:spcPct val="100000"/>
              </a:lnSpc>
            </a:pPr>
            <a:r>
              <a:rPr lang="fr-FR" sz="5000" b="1" dirty="0">
                <a:solidFill>
                  <a:srgbClr val="000000"/>
                </a:solidFill>
                <a:latin typeface="Arial"/>
              </a:rPr>
              <a:t>Bronze → Silver → Gold</a:t>
            </a:r>
          </a:p>
        </p:txBody>
      </p:sp>
      <p:sp>
        <p:nvSpPr>
          <p:cNvPr id="103" name="Shape 103"/>
          <p:cNvSpPr/>
          <p:nvPr/>
        </p:nvSpPr>
        <p:spPr>
          <a:xfrm>
            <a:off x="1054100" y="2743200"/>
            <a:ext cx="1143000" cy="38100"/>
          </a:xfrm>
          <a:prstGeom prst="rect">
            <a:avLst/>
          </a:prstGeom>
          <a:solidFill>
            <a:srgbClr val="56B9CA"/>
          </a:solidFill>
          <a:ln>
            <a:noFill/>
          </a:ln>
        </p:spPr>
        <p:txBody>
          <a:bodyPr/>
          <a:lstStyle/>
          <a:p>
            <a:endParaRPr/>
          </a:p>
        </p:txBody>
      </p:sp>
      <p:sp>
        <p:nvSpPr>
          <p:cNvPr id="127" name="TextBox 127"/>
          <p:cNvSpPr txBox="1"/>
          <p:nvPr/>
        </p:nvSpPr>
        <p:spPr>
          <a:xfrm>
            <a:off x="17048886" y="9309100"/>
            <a:ext cx="273913" cy="304800"/>
          </a:xfrm>
          <a:prstGeom prst="rect">
            <a:avLst/>
          </a:prstGeom>
          <a:noFill/>
        </p:spPr>
        <p:txBody>
          <a:bodyPr wrap="none" lIns="0" tIns="0" rIns="0" bIns="0" anchor="ctr" anchorCtr="0">
            <a:noAutofit/>
          </a:bodyPr>
          <a:lstStyle/>
          <a:p>
            <a:pPr algn="l">
              <a:lnSpc>
                <a:spcPct val="100000"/>
              </a:lnSpc>
            </a:pPr>
            <a:r>
              <a:rPr lang="fr-FR" sz="1400" b="1">
                <a:solidFill>
                  <a:srgbClr val="56B9CA"/>
                </a:solidFill>
                <a:latin typeface="Arial"/>
                <a:cs typeface="Arial"/>
              </a:rPr>
              <a:t>17</a:t>
            </a:r>
            <a:endParaRPr lang="fr-FR" sz="1400" b="1" dirty="0">
              <a:solidFill>
                <a:srgbClr val="56B9CA"/>
              </a:solidFill>
              <a:latin typeface="Arial"/>
              <a:cs typeface="Arial"/>
            </a:endParaRPr>
          </a:p>
        </p:txBody>
      </p:sp>
      <p:sp>
        <p:nvSpPr>
          <p:cNvPr id="601" name="Shape 601"/>
          <p:cNvSpPr/>
          <p:nvPr/>
        </p:nvSpPr>
        <p:spPr>
          <a:xfrm>
            <a:off x="1054100" y="3581400"/>
            <a:ext cx="5080000" cy="2921000"/>
          </a:xfrm>
          <a:prstGeom prst="roundRect">
            <a:avLst>
              <a:gd name="adj" fmla="val 6000"/>
            </a:avLst>
          </a:prstGeom>
          <a:solidFill>
            <a:srgbClr val="EAF5F7"/>
          </a:solidFill>
          <a:ln>
            <a:noFill/>
          </a:ln>
        </p:spPr>
        <p:txBody>
          <a:bodyPr/>
          <a:lstStyle/>
          <a:p>
            <a:endParaRPr/>
          </a:p>
        </p:txBody>
      </p:sp>
      <p:sp>
        <p:nvSpPr>
          <p:cNvPr id="602" name="Shape 602"/>
          <p:cNvSpPr/>
          <p:nvPr/>
        </p:nvSpPr>
        <p:spPr>
          <a:xfrm>
            <a:off x="6604000" y="3581400"/>
            <a:ext cx="5080000" cy="2921000"/>
          </a:xfrm>
          <a:prstGeom prst="roundRect">
            <a:avLst>
              <a:gd name="adj" fmla="val 6000"/>
            </a:avLst>
          </a:prstGeom>
          <a:solidFill>
            <a:srgbClr val="EAF5F7"/>
          </a:solidFill>
          <a:ln>
            <a:noFill/>
          </a:ln>
        </p:spPr>
        <p:txBody>
          <a:bodyPr/>
          <a:lstStyle/>
          <a:p>
            <a:endParaRPr/>
          </a:p>
        </p:txBody>
      </p:sp>
      <p:sp>
        <p:nvSpPr>
          <p:cNvPr id="603" name="Shape 603"/>
          <p:cNvSpPr/>
          <p:nvPr/>
        </p:nvSpPr>
        <p:spPr>
          <a:xfrm>
            <a:off x="12166600" y="3581400"/>
            <a:ext cx="5080000" cy="2921000"/>
          </a:xfrm>
          <a:prstGeom prst="roundRect">
            <a:avLst>
              <a:gd name="adj" fmla="val 6000"/>
            </a:avLst>
          </a:prstGeom>
          <a:solidFill>
            <a:srgbClr val="1A6A77"/>
          </a:solidFill>
          <a:ln>
            <a:noFill/>
          </a:ln>
        </p:spPr>
        <p:txBody>
          <a:bodyPr/>
          <a:lstStyle/>
          <a:p>
            <a:endParaRPr/>
          </a:p>
        </p:txBody>
      </p:sp>
      <p:sp>
        <p:nvSpPr>
          <p:cNvPr id="604" name="Shape 604"/>
          <p:cNvSpPr/>
          <p:nvPr/>
        </p:nvSpPr>
        <p:spPr>
          <a:xfrm rot="5400000">
            <a:off x="6248400" y="4927600"/>
            <a:ext cx="228600" cy="228600"/>
          </a:xfrm>
          <a:prstGeom prst="triangle">
            <a:avLst/>
          </a:prstGeom>
          <a:solidFill>
            <a:srgbClr val="56B9CA"/>
          </a:solidFill>
          <a:ln>
            <a:noFill/>
          </a:ln>
        </p:spPr>
        <p:txBody>
          <a:bodyPr/>
          <a:lstStyle/>
          <a:p>
            <a:endParaRPr/>
          </a:p>
        </p:txBody>
      </p:sp>
      <p:sp>
        <p:nvSpPr>
          <p:cNvPr id="605" name="Shape 605"/>
          <p:cNvSpPr/>
          <p:nvPr/>
        </p:nvSpPr>
        <p:spPr>
          <a:xfrm rot="5400000">
            <a:off x="11811000" y="4927600"/>
            <a:ext cx="228600" cy="228600"/>
          </a:xfrm>
          <a:prstGeom prst="triangle">
            <a:avLst/>
          </a:prstGeom>
          <a:solidFill>
            <a:srgbClr val="56B9CA"/>
          </a:solidFill>
          <a:ln>
            <a:noFill/>
          </a:ln>
        </p:spPr>
        <p:txBody>
          <a:bodyPr/>
          <a:lstStyle/>
          <a:p>
            <a:endParaRPr/>
          </a:p>
        </p:txBody>
      </p:sp>
      <p:sp>
        <p:nvSpPr>
          <p:cNvPr id="606" name="TextBox 606"/>
          <p:cNvSpPr txBox="1"/>
          <p:nvPr/>
        </p:nvSpPr>
        <p:spPr>
          <a:xfrm>
            <a:off x="1435100" y="3810000"/>
            <a:ext cx="4318000" cy="330200"/>
          </a:xfrm>
          <a:prstGeom prst="rect">
            <a:avLst/>
          </a:prstGeom>
          <a:noFill/>
        </p:spPr>
        <p:txBody>
          <a:bodyPr wrap="square" lIns="0" tIns="0" rIns="0" bIns="0">
            <a:spAutoFit/>
          </a:bodyPr>
          <a:lstStyle/>
          <a:p>
            <a:pPr algn="l">
              <a:lnSpc>
                <a:spcPct val="118000"/>
              </a:lnSpc>
              <a:buNone/>
            </a:pPr>
            <a:r>
              <a:rPr lang="fr-FR" sz="1800" b="1" spc="120" dirty="0">
                <a:solidFill>
                  <a:srgbClr val="1A5A66"/>
                </a:solidFill>
                <a:latin typeface="Arial"/>
              </a:rPr>
              <a:t>BRONZE</a:t>
            </a:r>
          </a:p>
        </p:txBody>
      </p:sp>
      <p:sp>
        <p:nvSpPr>
          <p:cNvPr id="607" name="TextBox 607"/>
          <p:cNvSpPr txBox="1"/>
          <p:nvPr/>
        </p:nvSpPr>
        <p:spPr>
          <a:xfrm>
            <a:off x="1435100" y="4191000"/>
            <a:ext cx="4318000" cy="508000"/>
          </a:xfrm>
          <a:prstGeom prst="rect">
            <a:avLst/>
          </a:prstGeom>
          <a:noFill/>
        </p:spPr>
        <p:txBody>
          <a:bodyPr wrap="square" lIns="0" tIns="0" rIns="0" bIns="0">
            <a:spAutoFit/>
          </a:bodyPr>
          <a:lstStyle/>
          <a:p>
            <a:pPr algn="l">
              <a:lnSpc>
                <a:spcPct val="100000"/>
              </a:lnSpc>
              <a:buNone/>
            </a:pPr>
            <a:r>
              <a:rPr lang="fr-FR" sz="2800" b="1" dirty="0">
                <a:solidFill>
                  <a:srgbClr val="000000"/>
                </a:solidFill>
                <a:latin typeface="Arial"/>
              </a:rPr>
              <a:t>La source</a:t>
            </a:r>
          </a:p>
        </p:txBody>
      </p:sp>
      <p:sp>
        <p:nvSpPr>
          <p:cNvPr id="608" name="TextBox 608"/>
          <p:cNvSpPr txBox="1"/>
          <p:nvPr/>
        </p:nvSpPr>
        <p:spPr>
          <a:xfrm>
            <a:off x="1435100" y="4927600"/>
            <a:ext cx="4318000" cy="1016000"/>
          </a:xfrm>
          <a:prstGeom prst="rect">
            <a:avLst/>
          </a:prstGeom>
          <a:noFill/>
        </p:spPr>
        <p:txBody>
          <a:bodyPr wrap="square" lIns="0" tIns="0" rIns="0" bIns="0">
            <a:spAutoFit/>
          </a:bodyPr>
          <a:lstStyle/>
          <a:p>
            <a:pPr algn="l">
              <a:lnSpc>
                <a:spcPct val="118000"/>
              </a:lnSpc>
              <a:buNone/>
            </a:pPr>
            <a:r>
              <a:rPr lang="fr-FR" sz="1800" b="0" dirty="0">
                <a:solidFill>
                  <a:srgbClr val="3D3D3D"/>
                </a:solidFill>
                <a:latin typeface="Arial"/>
              </a:rPr>
              <a:t>Copie exacte des fichiers reçus, jamais modifiée : la chaîne est rejouable depuis l’origine.</a:t>
            </a:r>
          </a:p>
        </p:txBody>
      </p:sp>
      <p:sp>
        <p:nvSpPr>
          <p:cNvPr id="609" name="TextBox 609"/>
          <p:cNvSpPr txBox="1"/>
          <p:nvPr/>
        </p:nvSpPr>
        <p:spPr>
          <a:xfrm>
            <a:off x="1435100" y="5969000"/>
            <a:ext cx="4318000" cy="330200"/>
          </a:xfrm>
          <a:prstGeom prst="rect">
            <a:avLst/>
          </a:prstGeom>
          <a:noFill/>
        </p:spPr>
        <p:txBody>
          <a:bodyPr wrap="square" lIns="0" tIns="0" rIns="0" bIns="0">
            <a:spAutoFit/>
          </a:bodyPr>
          <a:lstStyle/>
          <a:p>
            <a:pPr algn="l">
              <a:lnSpc>
                <a:spcPct val="100000"/>
              </a:lnSpc>
              <a:buNone/>
            </a:pPr>
            <a:r>
              <a:rPr lang="fr-FR" sz="1800" b="1" dirty="0">
                <a:solidFill>
                  <a:srgbClr val="1A5A66"/>
                </a:solidFill>
                <a:latin typeface="Arial"/>
              </a:rPr>
              <a:t>2 fichiers · 5 240 × 33</a:t>
            </a:r>
          </a:p>
        </p:txBody>
      </p:sp>
      <p:sp>
        <p:nvSpPr>
          <p:cNvPr id="610" name="TextBox 610"/>
          <p:cNvSpPr txBox="1"/>
          <p:nvPr/>
        </p:nvSpPr>
        <p:spPr>
          <a:xfrm>
            <a:off x="6985000" y="3810000"/>
            <a:ext cx="4318000" cy="330200"/>
          </a:xfrm>
          <a:prstGeom prst="rect">
            <a:avLst/>
          </a:prstGeom>
          <a:noFill/>
        </p:spPr>
        <p:txBody>
          <a:bodyPr wrap="square" lIns="0" tIns="0" rIns="0" bIns="0">
            <a:spAutoFit/>
          </a:bodyPr>
          <a:lstStyle/>
          <a:p>
            <a:pPr algn="l">
              <a:lnSpc>
                <a:spcPct val="118000"/>
              </a:lnSpc>
              <a:buNone/>
            </a:pPr>
            <a:r>
              <a:rPr lang="fr-FR" sz="1800" b="1" spc="120" dirty="0">
                <a:solidFill>
                  <a:srgbClr val="1A5A66"/>
                </a:solidFill>
                <a:latin typeface="Arial"/>
              </a:rPr>
              <a:t>SILVER</a:t>
            </a:r>
          </a:p>
        </p:txBody>
      </p:sp>
      <p:sp>
        <p:nvSpPr>
          <p:cNvPr id="611" name="TextBox 611"/>
          <p:cNvSpPr txBox="1"/>
          <p:nvPr/>
        </p:nvSpPr>
        <p:spPr>
          <a:xfrm>
            <a:off x="6985000" y="4191000"/>
            <a:ext cx="4318000" cy="508000"/>
          </a:xfrm>
          <a:prstGeom prst="rect">
            <a:avLst/>
          </a:prstGeom>
          <a:noFill/>
        </p:spPr>
        <p:txBody>
          <a:bodyPr wrap="square" lIns="0" tIns="0" rIns="0" bIns="0">
            <a:spAutoFit/>
          </a:bodyPr>
          <a:lstStyle/>
          <a:p>
            <a:pPr algn="l">
              <a:lnSpc>
                <a:spcPct val="100000"/>
              </a:lnSpc>
              <a:buNone/>
            </a:pPr>
            <a:r>
              <a:rPr lang="fr-FR" sz="2800" b="1" dirty="0">
                <a:solidFill>
                  <a:srgbClr val="000000"/>
                </a:solidFill>
                <a:latin typeface="Arial"/>
              </a:rPr>
              <a:t>Le conformé</a:t>
            </a:r>
          </a:p>
        </p:txBody>
      </p:sp>
      <p:sp>
        <p:nvSpPr>
          <p:cNvPr id="612" name="TextBox 612"/>
          <p:cNvSpPr txBox="1"/>
          <p:nvPr/>
        </p:nvSpPr>
        <p:spPr>
          <a:xfrm>
            <a:off x="6985000" y="4927600"/>
            <a:ext cx="4318000" cy="1016000"/>
          </a:xfrm>
          <a:prstGeom prst="rect">
            <a:avLst/>
          </a:prstGeom>
          <a:noFill/>
        </p:spPr>
        <p:txBody>
          <a:bodyPr wrap="square" lIns="0" tIns="0" rIns="0" bIns="0">
            <a:spAutoFit/>
          </a:bodyPr>
          <a:lstStyle/>
          <a:p>
            <a:pPr algn="l">
              <a:lnSpc>
                <a:spcPct val="118000"/>
              </a:lnSpc>
              <a:buNone/>
            </a:pPr>
            <a:r>
              <a:rPr lang="fr-FR" sz="1800" b="0" dirty="0">
                <a:solidFill>
                  <a:srgbClr val="3D3D3D"/>
                </a:solidFill>
                <a:latin typeface="Arial"/>
              </a:rPr>
              <a:t>Règles de conformation rejouées depuis la source : typage, recodage, dédoublonnage.</a:t>
            </a:r>
          </a:p>
        </p:txBody>
      </p:sp>
      <p:sp>
        <p:nvSpPr>
          <p:cNvPr id="613" name="TextBox 613"/>
          <p:cNvSpPr txBox="1"/>
          <p:nvPr/>
        </p:nvSpPr>
        <p:spPr>
          <a:xfrm>
            <a:off x="6985000" y="5969000"/>
            <a:ext cx="4318000" cy="330200"/>
          </a:xfrm>
          <a:prstGeom prst="rect">
            <a:avLst/>
          </a:prstGeom>
          <a:noFill/>
        </p:spPr>
        <p:txBody>
          <a:bodyPr wrap="square" lIns="0" tIns="0" rIns="0" bIns="0">
            <a:spAutoFit/>
          </a:bodyPr>
          <a:lstStyle/>
          <a:p>
            <a:pPr algn="l">
              <a:lnSpc>
                <a:spcPct val="100000"/>
              </a:lnSpc>
              <a:buNone/>
            </a:pPr>
            <a:r>
              <a:rPr lang="fr-FR" sz="1800" b="1" dirty="0">
                <a:solidFill>
                  <a:srgbClr val="1A5A66"/>
                </a:solidFill>
                <a:latin typeface="Arial"/>
              </a:rPr>
              <a:t>5 200 × 33 · aucune colonne perdue</a:t>
            </a:r>
          </a:p>
        </p:txBody>
      </p:sp>
      <p:sp>
        <p:nvSpPr>
          <p:cNvPr id="614" name="TextBox 614"/>
          <p:cNvSpPr txBox="1"/>
          <p:nvPr/>
        </p:nvSpPr>
        <p:spPr>
          <a:xfrm>
            <a:off x="12547600" y="3810000"/>
            <a:ext cx="4318000" cy="330200"/>
          </a:xfrm>
          <a:prstGeom prst="rect">
            <a:avLst/>
          </a:prstGeom>
          <a:noFill/>
        </p:spPr>
        <p:txBody>
          <a:bodyPr wrap="square" lIns="0" tIns="0" rIns="0" bIns="0">
            <a:spAutoFit/>
          </a:bodyPr>
          <a:lstStyle/>
          <a:p>
            <a:pPr algn="l">
              <a:lnSpc>
                <a:spcPct val="118000"/>
              </a:lnSpc>
              <a:buNone/>
            </a:pPr>
            <a:r>
              <a:rPr lang="fr-FR" sz="1800" b="1" spc="120" dirty="0">
                <a:solidFill>
                  <a:srgbClr val="9FD4DE"/>
                </a:solidFill>
                <a:latin typeface="Arial"/>
              </a:rPr>
              <a:t>GOLD</a:t>
            </a:r>
          </a:p>
        </p:txBody>
      </p:sp>
      <p:sp>
        <p:nvSpPr>
          <p:cNvPr id="615" name="TextBox 615"/>
          <p:cNvSpPr txBox="1"/>
          <p:nvPr/>
        </p:nvSpPr>
        <p:spPr>
          <a:xfrm>
            <a:off x="12547600" y="4191000"/>
            <a:ext cx="4318000" cy="508000"/>
          </a:xfrm>
          <a:prstGeom prst="rect">
            <a:avLst/>
          </a:prstGeom>
          <a:noFill/>
        </p:spPr>
        <p:txBody>
          <a:bodyPr wrap="square" lIns="0" tIns="0" rIns="0" bIns="0">
            <a:spAutoFit/>
          </a:bodyPr>
          <a:lstStyle/>
          <a:p>
            <a:pPr algn="l">
              <a:lnSpc>
                <a:spcPct val="100000"/>
              </a:lnSpc>
              <a:buNone/>
            </a:pPr>
            <a:r>
              <a:rPr lang="fr-FR" sz="2800" b="1" dirty="0">
                <a:solidFill>
                  <a:srgbClr val="FFFFFF"/>
                </a:solidFill>
                <a:latin typeface="Arial"/>
              </a:rPr>
              <a:t>Le jeu de référence</a:t>
            </a:r>
          </a:p>
        </p:txBody>
      </p:sp>
      <p:sp>
        <p:nvSpPr>
          <p:cNvPr id="616" name="TextBox 616"/>
          <p:cNvSpPr txBox="1"/>
          <p:nvPr/>
        </p:nvSpPr>
        <p:spPr>
          <a:xfrm>
            <a:off x="12547600" y="4927600"/>
            <a:ext cx="4318000" cy="1016000"/>
          </a:xfrm>
          <a:prstGeom prst="rect">
            <a:avLst/>
          </a:prstGeom>
          <a:noFill/>
        </p:spPr>
        <p:txBody>
          <a:bodyPr wrap="square" lIns="0" tIns="0" rIns="0" bIns="0">
            <a:spAutoFit/>
          </a:bodyPr>
          <a:lstStyle/>
          <a:p>
            <a:pPr algn="l">
              <a:lnSpc>
                <a:spcPct val="116000"/>
              </a:lnSpc>
              <a:spcAft>
                <a:spcPts val="250"/>
              </a:spcAft>
              <a:buNone/>
            </a:pPr>
            <a:r>
              <a:rPr lang="fr-FR" sz="1700" b="0" dirty="0">
                <a:solidFill>
                  <a:srgbClr val="EAF5F7"/>
                </a:solidFill>
                <a:latin typeface="Arial"/>
              </a:rPr>
              <a:t>6 colonnes retirées · 2 variables calculées</a:t>
            </a:r>
          </a:p>
          <a:p>
            <a:pPr marL="190500" indent="-190500" algn="l">
              <a:lnSpc>
                <a:spcPct val="116000"/>
              </a:lnSpc>
              <a:spcAft>
                <a:spcPts val="250"/>
              </a:spcAft>
              <a:buFont typeface="Arial"/>
              <a:buChar char="•"/>
            </a:pPr>
            <a:r>
              <a:rPr lang="fr-FR" sz="1700" b="0" dirty="0">
                <a:solidFill>
                  <a:srgbClr val="FFFFFF"/>
                </a:solidFill>
                <a:latin typeface="Arial"/>
              </a:rPr>
              <a:t>taux_rendu — rendus / attendus</a:t>
            </a:r>
          </a:p>
          <a:p>
            <a:pPr marL="190500" indent="-190500" algn="l">
              <a:lnSpc>
                <a:spcPct val="116000"/>
              </a:lnSpc>
              <a:spcAft>
                <a:spcPts val="250"/>
              </a:spcAft>
              <a:buFont typeface="Arial"/>
              <a:buChar char="•"/>
            </a:pPr>
            <a:r>
              <a:rPr lang="fr-FR" sz="1700" b="0" dirty="0">
                <a:solidFill>
                  <a:srgbClr val="FFFFFF"/>
                </a:solidFill>
                <a:latin typeface="Arial"/>
              </a:rPr>
              <a:t>ratio_retards — retards / attendus</a:t>
            </a:r>
          </a:p>
        </p:txBody>
      </p:sp>
      <p:sp>
        <p:nvSpPr>
          <p:cNvPr id="617" name="TextBox 617"/>
          <p:cNvSpPr txBox="1"/>
          <p:nvPr/>
        </p:nvSpPr>
        <p:spPr>
          <a:xfrm>
            <a:off x="12547600" y="5969000"/>
            <a:ext cx="4318000" cy="330200"/>
          </a:xfrm>
          <a:prstGeom prst="rect">
            <a:avLst/>
          </a:prstGeom>
          <a:noFill/>
        </p:spPr>
        <p:txBody>
          <a:bodyPr wrap="square" lIns="0" tIns="0" rIns="0" bIns="0">
            <a:spAutoFit/>
          </a:bodyPr>
          <a:lstStyle/>
          <a:p>
            <a:pPr algn="l">
              <a:lnSpc>
                <a:spcPct val="100000"/>
              </a:lnSpc>
              <a:buNone/>
            </a:pPr>
            <a:r>
              <a:rPr lang="fr-FR" sz="1800" b="1" dirty="0">
                <a:solidFill>
                  <a:srgbClr val="9FD4DE"/>
                </a:solidFill>
                <a:latin typeface="Arial"/>
              </a:rPr>
              <a:t>5 200 × 29</a:t>
            </a:r>
          </a:p>
        </p:txBody>
      </p:sp>
      <p:sp>
        <p:nvSpPr>
          <p:cNvPr id="618" name="Shape 618"/>
          <p:cNvSpPr/>
          <p:nvPr/>
        </p:nvSpPr>
        <p:spPr>
          <a:xfrm>
            <a:off x="1054100" y="6731000"/>
            <a:ext cx="16192500" cy="12700"/>
          </a:xfrm>
          <a:prstGeom prst="rect">
            <a:avLst/>
          </a:prstGeom>
          <a:solidFill>
            <a:srgbClr val="DDE3E6"/>
          </a:solidFill>
          <a:ln>
            <a:noFill/>
          </a:ln>
        </p:spPr>
        <p:txBody>
          <a:bodyPr/>
          <a:lstStyle/>
          <a:p>
            <a:endParaRPr/>
          </a:p>
        </p:txBody>
      </p:sp>
      <p:sp>
        <p:nvSpPr>
          <p:cNvPr id="619" name="TextBox 619"/>
          <p:cNvSpPr txBox="1"/>
          <p:nvPr/>
        </p:nvSpPr>
        <p:spPr>
          <a:xfrm>
            <a:off x="1054100" y="6908800"/>
            <a:ext cx="16192500" cy="330200"/>
          </a:xfrm>
          <a:prstGeom prst="rect">
            <a:avLst/>
          </a:prstGeom>
          <a:noFill/>
        </p:spPr>
        <p:txBody>
          <a:bodyPr wrap="square" lIns="0" tIns="0" rIns="0" bIns="0">
            <a:spAutoFit/>
          </a:bodyPr>
          <a:lstStyle/>
          <a:p>
            <a:pPr algn="l">
              <a:lnSpc>
                <a:spcPct val="118000"/>
              </a:lnSpc>
              <a:buNone/>
            </a:pPr>
            <a:r>
              <a:rPr lang="fr-FR" sz="1800" b="1" spc="120" dirty="0">
                <a:solidFill>
                  <a:srgbClr val="1A6A77"/>
                </a:solidFill>
                <a:latin typeface="Arial"/>
              </a:rPr>
              <a:t>CE QUI SORT DU GOLD, CE QUI Y RESTE</a:t>
            </a:r>
          </a:p>
        </p:txBody>
      </p:sp>
      <p:sp>
        <p:nvSpPr>
          <p:cNvPr id="620" name="TextBox 620"/>
          <p:cNvSpPr txBox="1"/>
          <p:nvPr/>
        </p:nvSpPr>
        <p:spPr>
          <a:xfrm>
            <a:off x="1054100" y="7366000"/>
            <a:ext cx="4826000" cy="304800"/>
          </a:xfrm>
          <a:prstGeom prst="rect">
            <a:avLst/>
          </a:prstGeom>
          <a:noFill/>
        </p:spPr>
        <p:txBody>
          <a:bodyPr wrap="square" lIns="0" tIns="0" rIns="0" bIns="0">
            <a:spAutoFit/>
          </a:bodyPr>
          <a:lstStyle/>
          <a:p>
            <a:pPr algn="l">
              <a:lnSpc>
                <a:spcPct val="100000"/>
              </a:lnSpc>
              <a:buNone/>
            </a:pPr>
            <a:r>
              <a:rPr lang="fr-FR" sz="1700" b="1" dirty="0">
                <a:solidFill>
                  <a:srgbClr val="000000"/>
                </a:solidFill>
                <a:latin typeface="Arial"/>
              </a:rPr>
              <a:t>Retiré — 6 colonnes</a:t>
            </a:r>
          </a:p>
        </p:txBody>
      </p:sp>
      <p:sp>
        <p:nvSpPr>
          <p:cNvPr id="621" name="TextBox 621"/>
          <p:cNvSpPr txBox="1"/>
          <p:nvPr/>
        </p:nvSpPr>
        <p:spPr>
          <a:xfrm>
            <a:off x="1054100" y="7797800"/>
            <a:ext cx="4826000" cy="1270000"/>
          </a:xfrm>
          <a:prstGeom prst="rect">
            <a:avLst/>
          </a:prstGeom>
          <a:noFill/>
        </p:spPr>
        <p:txBody>
          <a:bodyPr wrap="square" lIns="0" tIns="0" rIns="0" bIns="0">
            <a:spAutoFit/>
          </a:bodyPr>
          <a:lstStyle/>
          <a:p>
            <a:pPr marL="190500" indent="-190500" algn="l">
              <a:lnSpc>
                <a:spcPct val="116000"/>
              </a:lnSpc>
              <a:spcAft>
                <a:spcPts val="250"/>
              </a:spcAft>
              <a:buFont typeface="Arial"/>
              <a:buChar char="•"/>
            </a:pPr>
            <a:r>
              <a:rPr lang="fr-FR" sz="1700" b="0" dirty="0">
                <a:solidFill>
                  <a:srgbClr val="3D3D3D"/>
                </a:solidFill>
                <a:latin typeface="Arial"/>
              </a:rPr>
              <a:t>student_id, id_dossier — identifiants</a:t>
            </a:r>
          </a:p>
          <a:p>
            <a:pPr marL="190500" indent="-190500" algn="l">
              <a:lnSpc>
                <a:spcPct val="116000"/>
              </a:lnSpc>
              <a:spcAft>
                <a:spcPts val="250"/>
              </a:spcAft>
              <a:buFont typeface="Arial"/>
              <a:buChar char="•"/>
            </a:pPr>
            <a:r>
              <a:rPr lang="fr-FR" sz="1700" b="0" dirty="0">
                <a:solidFill>
                  <a:srgbClr val="3D3D3D"/>
                </a:solidFill>
                <a:latin typeface="Arial"/>
              </a:rPr>
              <a:t>moyenne_partiels_s1, nb_ue_validees_s1, commentaire_tuteur — résultats de fin de S1</a:t>
            </a:r>
          </a:p>
          <a:p>
            <a:pPr marL="190500" indent="-190500" algn="l">
              <a:lnSpc>
                <a:spcPct val="116000"/>
              </a:lnSpc>
              <a:spcAft>
                <a:spcPts val="250"/>
              </a:spcAft>
              <a:buFont typeface="Arial"/>
              <a:buChar char="•"/>
            </a:pPr>
            <a:r>
              <a:rPr lang="fr-FR" sz="1700" b="0" dirty="0">
                <a:solidFill>
                  <a:srgbClr val="3D3D3D"/>
                </a:solidFill>
                <a:latin typeface="Arial"/>
              </a:rPr>
              <a:t>annee_universitaire — constante</a:t>
            </a:r>
          </a:p>
        </p:txBody>
      </p:sp>
      <p:sp>
        <p:nvSpPr>
          <p:cNvPr id="622" name="TextBox 622"/>
          <p:cNvSpPr txBox="1"/>
          <p:nvPr/>
        </p:nvSpPr>
        <p:spPr>
          <a:xfrm>
            <a:off x="6350000" y="7366000"/>
            <a:ext cx="7112000" cy="304800"/>
          </a:xfrm>
          <a:prstGeom prst="rect">
            <a:avLst/>
          </a:prstGeom>
          <a:noFill/>
        </p:spPr>
        <p:txBody>
          <a:bodyPr wrap="square" lIns="0" tIns="0" rIns="0" bIns="0">
            <a:spAutoFit/>
          </a:bodyPr>
          <a:lstStyle/>
          <a:p>
            <a:pPr algn="l">
              <a:lnSpc>
                <a:spcPct val="100000"/>
              </a:lnSpc>
              <a:buNone/>
            </a:pPr>
            <a:r>
              <a:rPr lang="fr-FR" sz="1700" b="1" dirty="0">
                <a:solidFill>
                  <a:srgbClr val="000000"/>
                </a:solidFill>
                <a:latin typeface="Arial"/>
              </a:rPr>
              <a:t>Conservé — scénario d’ablation</a:t>
            </a:r>
          </a:p>
        </p:txBody>
      </p:sp>
      <p:sp>
        <p:nvSpPr>
          <p:cNvPr id="623" name="TextBox 623"/>
          <p:cNvSpPr txBox="1"/>
          <p:nvPr/>
        </p:nvSpPr>
        <p:spPr>
          <a:xfrm>
            <a:off x="6350000" y="7797800"/>
            <a:ext cx="7112000" cy="1397000"/>
          </a:xfrm>
          <a:prstGeom prst="rect">
            <a:avLst/>
          </a:prstGeom>
          <a:noFill/>
        </p:spPr>
        <p:txBody>
          <a:bodyPr wrap="square" lIns="0" tIns="0" rIns="0" bIns="0">
            <a:spAutoFit/>
          </a:bodyPr>
          <a:lstStyle/>
          <a:p>
            <a:pPr marL="190500" indent="-190500" algn="l">
              <a:lnSpc>
                <a:spcPct val="116000"/>
              </a:lnSpc>
              <a:spcAft>
                <a:spcPts val="250"/>
              </a:spcAft>
              <a:buFont typeface="Arial"/>
              <a:buChar char="•"/>
            </a:pPr>
            <a:r>
              <a:rPr lang="fr-FR" sz="1700" b="0" dirty="0">
                <a:solidFill>
                  <a:srgbClr val="3D3D3D"/>
                </a:solidFill>
                <a:latin typeface="Arial"/>
              </a:rPr>
              <a:t>Leurres : groupe_td, couleur_carte_etudiante, jour_inscription</a:t>
            </a:r>
          </a:p>
          <a:p>
            <a:pPr marL="190500" indent="-190500" algn="l">
              <a:lnSpc>
                <a:spcPct val="116000"/>
              </a:lnSpc>
              <a:spcAft>
                <a:spcPts val="250"/>
              </a:spcAft>
              <a:buFont typeface="Arial"/>
              <a:buChar char="•"/>
            </a:pPr>
            <a:r>
              <a:rPr lang="fr-FR" sz="1700" b="0" dirty="0">
                <a:solidFill>
                  <a:srgbClr val="3D3D3D"/>
                </a:solidFill>
                <a:latin typeface="Arial"/>
              </a:rPr>
              <a:t>Proxies : etablissement_origine, distance_domicile_km, heures_travail_remunere_sem</a:t>
            </a:r>
          </a:p>
          <a:p>
            <a:pPr marL="190500" indent="-190500" algn="l">
              <a:lnSpc>
                <a:spcPct val="116000"/>
              </a:lnSpc>
              <a:spcAft>
                <a:spcPts val="250"/>
              </a:spcAft>
              <a:buFont typeface="Arial"/>
              <a:buChar char="•"/>
            </a:pPr>
            <a:r>
              <a:rPr lang="fr-FR" sz="1700" b="0" dirty="0">
                <a:solidFill>
                  <a:srgbClr val="3D3D3D"/>
                </a:solidFill>
                <a:latin typeface="Arial"/>
              </a:rPr>
              <a:t>Trio LMS : connexions_lms_30j, ressources_consultees, heures_lms_total</a:t>
            </a:r>
          </a:p>
        </p:txBody>
      </p:sp>
      <p:sp>
        <p:nvSpPr>
          <p:cNvPr id="624" name="TextBox 624"/>
          <p:cNvSpPr txBox="1"/>
          <p:nvPr/>
        </p:nvSpPr>
        <p:spPr>
          <a:xfrm>
            <a:off x="13843000" y="7366000"/>
            <a:ext cx="3403600" cy="304800"/>
          </a:xfrm>
          <a:prstGeom prst="rect">
            <a:avLst/>
          </a:prstGeom>
          <a:noFill/>
        </p:spPr>
        <p:txBody>
          <a:bodyPr wrap="square" lIns="0" tIns="0" rIns="0" bIns="0">
            <a:spAutoFit/>
          </a:bodyPr>
          <a:lstStyle/>
          <a:p>
            <a:pPr algn="l">
              <a:lnSpc>
                <a:spcPct val="100000"/>
              </a:lnSpc>
              <a:buNone/>
            </a:pPr>
            <a:r>
              <a:rPr lang="fr-FR" sz="1700" b="1" dirty="0">
                <a:solidFill>
                  <a:srgbClr val="000000"/>
                </a:solidFill>
                <a:latin typeface="Arial"/>
              </a:rPr>
              <a:t>Conservé — audit d’équité</a:t>
            </a:r>
          </a:p>
        </p:txBody>
      </p:sp>
      <p:sp>
        <p:nvSpPr>
          <p:cNvPr id="625" name="TextBox 625"/>
          <p:cNvSpPr txBox="1"/>
          <p:nvPr/>
        </p:nvSpPr>
        <p:spPr>
          <a:xfrm>
            <a:off x="13843000" y="7797800"/>
            <a:ext cx="3403600" cy="762000"/>
          </a:xfrm>
          <a:prstGeom prst="rect">
            <a:avLst/>
          </a:prstGeom>
          <a:noFill/>
        </p:spPr>
        <p:txBody>
          <a:bodyPr wrap="square" lIns="0" tIns="0" rIns="0" bIns="0">
            <a:spAutoFit/>
          </a:bodyPr>
          <a:lstStyle/>
          <a:p>
            <a:pPr marL="190500" indent="-190500" algn="l">
              <a:lnSpc>
                <a:spcPct val="116000"/>
              </a:lnSpc>
              <a:spcAft>
                <a:spcPts val="250"/>
              </a:spcAft>
              <a:buFont typeface="Arial"/>
              <a:buChar char="•"/>
            </a:pPr>
            <a:r>
              <a:rPr lang="fr-FR" sz="1700" b="0" dirty="0">
                <a:solidFill>
                  <a:srgbClr val="3D3D3D"/>
                </a:solidFill>
                <a:latin typeface="Arial"/>
              </a:rPr>
              <a:t>sexe</a:t>
            </a:r>
          </a:p>
          <a:p>
            <a:pPr marL="190500" indent="-190500" algn="l">
              <a:lnSpc>
                <a:spcPct val="116000"/>
              </a:lnSpc>
              <a:spcAft>
                <a:spcPts val="250"/>
              </a:spcAft>
              <a:buFont typeface="Arial"/>
              <a:buChar char="•"/>
            </a:pPr>
            <a:r>
              <a:rPr lang="fr-FR" sz="1700" b="0" dirty="0">
                <a:solidFill>
                  <a:srgbClr val="3D3D3D"/>
                </a:solidFill>
                <a:latin typeface="Arial"/>
              </a:rPr>
              <a:t>boursier</a:t>
            </a:r>
          </a:p>
        </p:txBody>
      </p:sp>
      <p:sp>
        <p:nvSpPr>
          <p:cNvPr id="3" name="Bouton retour frise">
            <a:hlinkClick r:id="rId3" action="ppaction://hlinksldjump"/>
            <a:extLst>
              <a:ext uri="{FF2B5EF4-FFF2-40B4-BE49-F238E27FC236}">
                <a16:creationId xmlns:a16="http://schemas.microsoft.com/office/drawing/2014/main" id="{9AFF3C1A-F0EC-7D8E-01BF-4A7846C4FAFA}"/>
              </a:ext>
            </a:extLst>
          </p:cNvPr>
          <p:cNvSpPr/>
          <p:nvPr/>
        </p:nvSpPr>
        <p:spPr>
          <a:xfrm>
            <a:off x="15687040" y="711200"/>
            <a:ext cx="1559560" cy="457200"/>
          </a:xfrm>
          <a:prstGeom prst="roundRect">
            <a:avLst>
              <a:gd name="adj" fmla="val 50000"/>
            </a:avLst>
          </a:prstGeom>
          <a:solidFill>
            <a:srgbClr val="EAF5F7"/>
          </a:solidFill>
          <a:ln w="12700">
            <a:solidFill>
              <a:srgbClr val="BFE3EA"/>
            </a:solidFill>
          </a:ln>
        </p:spPr>
        <p:txBody>
          <a:bodyPr wrap="none" lIns="0" tIns="0" rIns="0" bIns="0" anchor="ctr"/>
          <a:lstStyle/>
          <a:p>
            <a:pPr algn="ctr"/>
            <a:r>
              <a:rPr lang="fr-FR" sz="1600" b="1" dirty="0">
                <a:solidFill>
                  <a:srgbClr val="1A6A77"/>
                </a:solidFill>
                <a:latin typeface="Arial"/>
              </a:rPr>
              <a:t>← Retour</a:t>
            </a:r>
          </a:p>
        </p:txBody>
      </p:sp>
    </p:spTree>
    <p:extLst>
      <p:ext uri="{BB962C8B-B14F-4D97-AF65-F5344CB8AC3E}">
        <p14:creationId xmlns:p14="http://schemas.microsoft.com/office/powerpoint/2010/main" val="3931193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56B9CA"/>
        </a:solidFill>
        <a:effectLst/>
      </p:bgPr>
    </p:bg>
    <p:spTree>
      <p:nvGrpSpPr>
        <p:cNvPr id="1" name=""/>
        <p:cNvGrpSpPr/>
        <p:nvPr/>
      </p:nvGrpSpPr>
      <p:grpSpPr>
        <a:xfrm>
          <a:off x="0" y="0"/>
          <a:ext cx="0" cy="0"/>
          <a:chOff x="0" y="0"/>
          <a:chExt cx="0" cy="0"/>
        </a:xfrm>
      </p:grpSpPr>
      <p:sp>
        <p:nvSpPr>
          <p:cNvPr id="2" name="TextBox 1"/>
          <p:cNvSpPr txBox="1"/>
          <p:nvPr/>
        </p:nvSpPr>
        <p:spPr>
          <a:xfrm>
            <a:off x="13076188" y="723900"/>
            <a:ext cx="4894793" cy="4038600"/>
          </a:xfrm>
          <a:prstGeom prst="rect">
            <a:avLst/>
          </a:prstGeom>
          <a:noFill/>
        </p:spPr>
        <p:txBody>
          <a:bodyPr wrap="square" lIns="27432" tIns="27432" rIns="27432" bIns="27432" anchor="t">
            <a:noAutofit/>
          </a:bodyPr>
          <a:lstStyle/>
          <a:p>
            <a:pPr algn="l">
              <a:lnSpc>
                <a:spcPct val="70950"/>
              </a:lnSpc>
            </a:pPr>
            <a:r>
              <a:rPr lang="fr-FR" sz="31500" b="1" noProof="0" dirty="0">
                <a:solidFill>
                  <a:srgbClr val="FFFFFF"/>
                </a:solidFill>
                <a:latin typeface="Arial"/>
              </a:rPr>
              <a:t>05</a:t>
            </a:r>
          </a:p>
        </p:txBody>
      </p:sp>
      <p:sp>
        <p:nvSpPr>
          <p:cNvPr id="3" name="TextBox 2"/>
          <p:cNvSpPr txBox="1"/>
          <p:nvPr/>
        </p:nvSpPr>
        <p:spPr>
          <a:xfrm>
            <a:off x="1047750" y="1047750"/>
            <a:ext cx="3000000" cy="333375"/>
          </a:xfrm>
          <a:prstGeom prst="rect">
            <a:avLst/>
          </a:prstGeom>
          <a:noFill/>
        </p:spPr>
        <p:txBody>
          <a:bodyPr wrap="square" lIns="27432" tIns="27432" rIns="27432" bIns="27432" anchor="t">
            <a:noAutofit/>
          </a:bodyPr>
          <a:lstStyle/>
          <a:p>
            <a:pPr algn="l"/>
            <a:r>
              <a:rPr lang="fr-FR" sz="1950" b="1" spc="273" noProof="0" dirty="0">
                <a:solidFill>
                  <a:srgbClr val="FFFFFF"/>
                </a:solidFill>
                <a:latin typeface="Arial"/>
              </a:rPr>
              <a:t>Acte 05</a:t>
            </a:r>
          </a:p>
        </p:txBody>
      </p:sp>
      <p:sp>
        <p:nvSpPr>
          <p:cNvPr id="4" name="TextBox 3"/>
          <p:cNvSpPr txBox="1"/>
          <p:nvPr/>
        </p:nvSpPr>
        <p:spPr>
          <a:xfrm>
            <a:off x="1047750" y="1609725"/>
            <a:ext cx="11582400" cy="1005519"/>
          </a:xfrm>
          <a:prstGeom prst="rect">
            <a:avLst/>
          </a:prstGeom>
          <a:noFill/>
        </p:spPr>
        <p:txBody>
          <a:bodyPr wrap="square" lIns="27432" tIns="27432" rIns="27432" bIns="27432" anchor="t">
            <a:noAutofit/>
          </a:bodyPr>
          <a:lstStyle/>
          <a:p>
            <a:pPr algn="l">
              <a:lnSpc>
                <a:spcPct val="74520"/>
              </a:lnSpc>
            </a:pPr>
            <a:r>
              <a:rPr lang="fr-FR" sz="8250" b="1" spc="-124" noProof="0" dirty="0">
                <a:solidFill>
                  <a:srgbClr val="FFFFFF"/>
                </a:solidFill>
                <a:latin typeface="Arial"/>
              </a:rPr>
              <a:t>Construire le modèle</a:t>
            </a:r>
          </a:p>
        </p:txBody>
      </p:sp>
      <p:sp>
        <p:nvSpPr>
          <p:cNvPr id="5" name="TextBox 4"/>
          <p:cNvSpPr txBox="1"/>
          <p:nvPr/>
        </p:nvSpPr>
        <p:spPr>
          <a:xfrm>
            <a:off x="1047750" y="3014663"/>
            <a:ext cx="10200000" cy="625143"/>
          </a:xfrm>
          <a:prstGeom prst="rect">
            <a:avLst/>
          </a:prstGeom>
          <a:noFill/>
        </p:spPr>
        <p:txBody>
          <a:bodyPr wrap="square" lIns="27432" tIns="27432" rIns="27432" bIns="27432" anchor="t">
            <a:noAutofit/>
          </a:bodyPr>
          <a:lstStyle/>
          <a:p>
            <a:pPr algn="l">
              <a:lnSpc>
                <a:spcPct val="128140"/>
              </a:lnSpc>
            </a:pPr>
            <a:r>
              <a:rPr lang="fr-FR" sz="2850" b="0" noProof="0" dirty="0">
                <a:solidFill>
                  <a:srgbClr val="FFFFFF"/>
                </a:solidFill>
                <a:latin typeface="Arial"/>
              </a:rPr>
              <a:t>Protocole, sélection, calibration, seuil</a:t>
            </a:r>
          </a:p>
        </p:txBody>
      </p:sp>
      <p:sp>
        <p:nvSpPr>
          <p:cNvPr id="6" name="TextBox 5"/>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FFFFFF"/>
                </a:solidFill>
                <a:latin typeface="Arial"/>
                <a:cs typeface="Arial"/>
              </a:rPr>
              <a:t>18</a:t>
            </a:r>
            <a:endParaRPr lang="fr-FR" sz="1400" b="1" noProof="0" dirty="0">
              <a:solidFill>
                <a:srgbClr val="FFFFFF"/>
              </a:solidFill>
              <a:latin typeface="Arial"/>
              <a:cs typeface="Arial"/>
            </a:endParaRPr>
          </a:p>
        </p:txBody>
      </p:sp>
    </p:spTree>
    <p:extLst>
      <p:ext uri="{BB962C8B-B14F-4D97-AF65-F5344CB8AC3E}">
        <p14:creationId xmlns:p14="http://schemas.microsoft.com/office/powerpoint/2010/main" val="38197391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 name="TextBox 126"/>
          <p:cNvSpPr txBox="1"/>
          <p:nvPr/>
        </p:nvSpPr>
        <p:spPr>
          <a:xfrm>
            <a:off x="17048886" y="9309100"/>
            <a:ext cx="273913" cy="304800"/>
          </a:xfrm>
          <a:prstGeom prst="rect">
            <a:avLst/>
          </a:prstGeom>
          <a:noFill/>
        </p:spPr>
        <p:txBody>
          <a:bodyPr wrap="none" lIns="152400" tIns="0" rIns="152400" bIns="0" anchor="ctr" anchorCtr="0">
            <a:noAutofit/>
          </a:bodyPr>
          <a:lstStyle/>
          <a:p>
            <a:pPr algn="r">
              <a:buNone/>
            </a:pPr>
            <a:r>
              <a:rPr lang="fr-FR" sz="1400" b="1" dirty="0">
                <a:solidFill>
                  <a:srgbClr val="56B9CA"/>
                </a:solidFill>
                <a:latin typeface="Arial"/>
              </a:rPr>
              <a:t>19</a:t>
            </a:r>
          </a:p>
        </p:txBody>
      </p:sp>
      <p:sp>
        <p:nvSpPr>
          <p:cNvPr id="301" name="TextBox 301"/>
          <p:cNvSpPr txBox="1"/>
          <p:nvPr/>
        </p:nvSpPr>
        <p:spPr>
          <a:xfrm>
            <a:off x="1054100" y="825500"/>
            <a:ext cx="12700000" cy="304800"/>
          </a:xfrm>
          <a:prstGeom prst="rect">
            <a:avLst/>
          </a:prstGeom>
          <a:noFill/>
        </p:spPr>
        <p:txBody>
          <a:bodyPr wrap="square" lIns="0" tIns="0" rIns="0" bIns="0">
            <a:spAutoFit/>
          </a:bodyPr>
          <a:lstStyle/>
          <a:p>
            <a:pPr algn="l">
              <a:buNone/>
            </a:pPr>
            <a:r>
              <a:rPr lang="fr-FR" sz="1400" b="1" spc="300" dirty="0">
                <a:solidFill>
                  <a:srgbClr val="1A6A77"/>
                </a:solidFill>
                <a:latin typeface="Arial"/>
              </a:rPr>
              <a:t>ACTE 05 · LE PARCOURS DU MODÈLE</a:t>
            </a:r>
          </a:p>
        </p:txBody>
      </p:sp>
      <p:sp>
        <p:nvSpPr>
          <p:cNvPr id="302" name="TextBox 302"/>
          <p:cNvSpPr txBox="1"/>
          <p:nvPr/>
        </p:nvSpPr>
        <p:spPr>
          <a:xfrm>
            <a:off x="1054100" y="1524000"/>
            <a:ext cx="16192500" cy="769441"/>
          </a:xfrm>
          <a:prstGeom prst="rect">
            <a:avLst/>
          </a:prstGeom>
          <a:noFill/>
        </p:spPr>
        <p:txBody>
          <a:bodyPr wrap="square" lIns="0" tIns="0" rIns="0" bIns="0">
            <a:spAutoFit/>
          </a:bodyPr>
          <a:lstStyle/>
          <a:p>
            <a:pPr algn="l">
              <a:buNone/>
            </a:pPr>
            <a:r>
              <a:rPr lang="fr-FR" sz="5000" b="1" dirty="0">
                <a:solidFill>
                  <a:srgbClr val="000000"/>
                </a:solidFill>
                <a:latin typeface="Arial"/>
              </a:rPr>
              <a:t>Comment le modèle a été construit</a:t>
            </a:r>
          </a:p>
        </p:txBody>
      </p:sp>
      <p:sp>
        <p:nvSpPr>
          <p:cNvPr id="303" name="Shape 303"/>
          <p:cNvSpPr/>
          <p:nvPr/>
        </p:nvSpPr>
        <p:spPr>
          <a:xfrm>
            <a:off x="1054100" y="2743200"/>
            <a:ext cx="1143000" cy="38100"/>
          </a:xfrm>
          <a:prstGeom prst="rect">
            <a:avLst/>
          </a:prstGeom>
          <a:solidFill>
            <a:srgbClr val="56B9CA"/>
          </a:solidFill>
          <a:ln>
            <a:noFill/>
          </a:ln>
        </p:spPr>
        <p:txBody>
          <a:bodyPr/>
          <a:lstStyle/>
          <a:p>
            <a:endParaRPr/>
          </a:p>
        </p:txBody>
      </p:sp>
      <p:sp>
        <p:nvSpPr>
          <p:cNvPr id="700" name="Shape 701"/>
          <p:cNvSpPr/>
          <p:nvPr/>
        </p:nvSpPr>
        <p:spPr>
          <a:xfrm>
            <a:off x="1054100" y="3251200"/>
            <a:ext cx="3619500" cy="2311400"/>
          </a:xfrm>
          <a:prstGeom prst="roundRect">
            <a:avLst/>
          </a:prstGeom>
          <a:solidFill>
            <a:srgbClr val="EAF5F7"/>
          </a:solidFill>
          <a:ln>
            <a:noFill/>
          </a:ln>
        </p:spPr>
        <p:txBody>
          <a:bodyPr wrap="none" lIns="0" tIns="0" rIns="0" bIns="0" anchor="ctr">
            <a:noAutofit/>
          </a:bodyPr>
          <a:lstStyle/>
          <a:p>
            <a:pPr algn="ctr"/>
            <a:endParaRPr/>
          </a:p>
        </p:txBody>
      </p:sp>
      <p:sp>
        <p:nvSpPr>
          <p:cNvPr id="701" name="Shape 702">
            <a:hlinkClick r:id="rId3" action="ppaction://hlinksldjump"/>
          </p:cNvPr>
          <p:cNvSpPr/>
          <p:nvPr/>
        </p:nvSpPr>
        <p:spPr>
          <a:xfrm>
            <a:off x="1358900" y="3606800"/>
            <a:ext cx="457200" cy="457200"/>
          </a:xfrm>
          <a:prstGeom prst="ellipse">
            <a:avLst/>
          </a:prstGeom>
          <a:solidFill>
            <a:srgbClr val="1A6A77"/>
          </a:solidFill>
          <a:ln>
            <a:noFill/>
          </a:ln>
        </p:spPr>
        <p:txBody>
          <a:bodyPr wrap="none" lIns="0" tIns="0" rIns="0" bIns="0" anchor="ctr">
            <a:noAutofit/>
          </a:bodyPr>
          <a:lstStyle/>
          <a:p>
            <a:pPr algn="ctr">
              <a:buNone/>
            </a:pPr>
            <a:r>
              <a:rPr lang="fr-FR" sz="1800" b="1" dirty="0">
                <a:solidFill>
                  <a:srgbClr val="FFFFFF"/>
                </a:solidFill>
                <a:latin typeface="Arial"/>
              </a:rPr>
              <a:t>1</a:t>
            </a:r>
          </a:p>
        </p:txBody>
      </p:sp>
      <p:sp>
        <p:nvSpPr>
          <p:cNvPr id="702" name="TextBox 703"/>
          <p:cNvSpPr txBox="1"/>
          <p:nvPr/>
        </p:nvSpPr>
        <p:spPr>
          <a:xfrm>
            <a:off x="1968500" y="3632200"/>
            <a:ext cx="2400300" cy="558800"/>
          </a:xfrm>
          <a:prstGeom prst="rect">
            <a:avLst/>
          </a:prstGeom>
          <a:noFill/>
        </p:spPr>
        <p:txBody>
          <a:bodyPr wrap="square" lIns="0" tIns="0" rIns="0" bIns="0" anchor="ctr">
            <a:noAutofit/>
          </a:bodyPr>
          <a:lstStyle/>
          <a:p>
            <a:pPr algn="l">
              <a:lnSpc>
                <a:spcPts val="2000"/>
              </a:lnSpc>
              <a:buNone/>
            </a:pPr>
            <a:r>
              <a:rPr lang="fr-FR" sz="1700" b="1" spc="60" dirty="0">
                <a:solidFill>
                  <a:srgbClr val="1A6A77"/>
                </a:solidFill>
                <a:latin typeface="Arial"/>
              </a:rPr>
              <a:t>PROTOCOLE</a:t>
            </a:r>
          </a:p>
        </p:txBody>
      </p:sp>
      <p:sp>
        <p:nvSpPr>
          <p:cNvPr id="703" name="TextBox 704"/>
          <p:cNvSpPr txBox="1"/>
          <p:nvPr/>
        </p:nvSpPr>
        <p:spPr>
          <a:xfrm>
            <a:off x="1358900" y="4318000"/>
            <a:ext cx="3009900" cy="990600"/>
          </a:xfrm>
          <a:prstGeom prst="rect">
            <a:avLst/>
          </a:prstGeom>
          <a:noFill/>
        </p:spPr>
        <p:txBody>
          <a:bodyPr wrap="square" lIns="0" tIns="0" rIns="0" bIns="0" anchor="t">
            <a:noAutofit/>
          </a:bodyPr>
          <a:lstStyle/>
          <a:p>
            <a:pPr algn="l">
              <a:lnSpc>
                <a:spcPts val="2200"/>
              </a:lnSpc>
              <a:buNone/>
            </a:pPr>
            <a:r>
              <a:rPr lang="fr-FR" sz="1600" b="0" dirty="0">
                <a:solidFill>
                  <a:srgbClr val="3D3D3D"/>
                </a:solidFill>
                <a:latin typeface="Arial"/>
              </a:rPr>
              <a:t>Split 80/20 stratifié, validation croisée 5 folds, imputation et encodage dans le pipeline.</a:t>
            </a:r>
          </a:p>
        </p:txBody>
      </p:sp>
      <p:sp>
        <p:nvSpPr>
          <p:cNvPr id="706" name="Shape 707"/>
          <p:cNvSpPr/>
          <p:nvPr/>
        </p:nvSpPr>
        <p:spPr>
          <a:xfrm>
            <a:off x="5232400" y="3251200"/>
            <a:ext cx="3619500" cy="2311400"/>
          </a:xfrm>
          <a:prstGeom prst="roundRect">
            <a:avLst/>
          </a:prstGeom>
          <a:solidFill>
            <a:srgbClr val="EAF5F7"/>
          </a:solidFill>
          <a:ln>
            <a:noFill/>
          </a:ln>
        </p:spPr>
        <p:txBody>
          <a:bodyPr wrap="none" lIns="0" tIns="0" rIns="0" bIns="0" anchor="ctr">
            <a:noAutofit/>
          </a:bodyPr>
          <a:lstStyle/>
          <a:p>
            <a:pPr algn="ctr"/>
            <a:endParaRPr/>
          </a:p>
        </p:txBody>
      </p:sp>
      <p:sp>
        <p:nvSpPr>
          <p:cNvPr id="707" name="Shape 708">
            <a:hlinkClick r:id="rId4" action="ppaction://hlinksldjump"/>
          </p:cNvPr>
          <p:cNvSpPr/>
          <p:nvPr/>
        </p:nvSpPr>
        <p:spPr>
          <a:xfrm>
            <a:off x="5537200" y="3606800"/>
            <a:ext cx="457200" cy="457200"/>
          </a:xfrm>
          <a:prstGeom prst="ellipse">
            <a:avLst/>
          </a:prstGeom>
          <a:solidFill>
            <a:srgbClr val="1A6A77"/>
          </a:solidFill>
          <a:ln>
            <a:noFill/>
          </a:ln>
        </p:spPr>
        <p:txBody>
          <a:bodyPr wrap="none" lIns="0" tIns="0" rIns="0" bIns="0" anchor="ctr">
            <a:noAutofit/>
          </a:bodyPr>
          <a:lstStyle/>
          <a:p>
            <a:pPr algn="ctr">
              <a:buNone/>
            </a:pPr>
            <a:r>
              <a:rPr lang="fr-FR" sz="1800" b="1" dirty="0">
                <a:solidFill>
                  <a:srgbClr val="FFFFFF"/>
                </a:solidFill>
                <a:latin typeface="Arial"/>
              </a:rPr>
              <a:t>2</a:t>
            </a:r>
          </a:p>
        </p:txBody>
      </p:sp>
      <p:sp>
        <p:nvSpPr>
          <p:cNvPr id="708" name="TextBox 709"/>
          <p:cNvSpPr txBox="1"/>
          <p:nvPr/>
        </p:nvSpPr>
        <p:spPr>
          <a:xfrm>
            <a:off x="6146800" y="3632200"/>
            <a:ext cx="2400300" cy="558800"/>
          </a:xfrm>
          <a:prstGeom prst="rect">
            <a:avLst/>
          </a:prstGeom>
          <a:noFill/>
        </p:spPr>
        <p:txBody>
          <a:bodyPr wrap="square" lIns="0" tIns="0" rIns="0" bIns="0" anchor="ctr">
            <a:noAutofit/>
          </a:bodyPr>
          <a:lstStyle/>
          <a:p>
            <a:pPr algn="l">
              <a:lnSpc>
                <a:spcPts val="2000"/>
              </a:lnSpc>
              <a:buNone/>
            </a:pPr>
            <a:r>
              <a:rPr lang="fr-FR" sz="1700" b="1" spc="60" dirty="0">
                <a:solidFill>
                  <a:srgbClr val="1A6A77"/>
                </a:solidFill>
                <a:latin typeface="Arial"/>
              </a:rPr>
              <a:t>BASELINE</a:t>
            </a:r>
          </a:p>
        </p:txBody>
      </p:sp>
      <p:sp>
        <p:nvSpPr>
          <p:cNvPr id="709" name="TextBox 710"/>
          <p:cNvSpPr txBox="1"/>
          <p:nvPr/>
        </p:nvSpPr>
        <p:spPr>
          <a:xfrm>
            <a:off x="5537200" y="4318000"/>
            <a:ext cx="3009900" cy="990600"/>
          </a:xfrm>
          <a:prstGeom prst="rect">
            <a:avLst/>
          </a:prstGeom>
          <a:noFill/>
        </p:spPr>
        <p:txBody>
          <a:bodyPr wrap="square" lIns="0" tIns="0" rIns="0" bIns="0" anchor="t">
            <a:noAutofit/>
          </a:bodyPr>
          <a:lstStyle/>
          <a:p>
            <a:pPr algn="l">
              <a:lnSpc>
                <a:spcPts val="2200"/>
              </a:lnSpc>
              <a:buNone/>
            </a:pPr>
            <a:r>
              <a:rPr lang="fr-FR" sz="1600" b="0" dirty="0">
                <a:solidFill>
                  <a:srgbClr val="3D3D3D"/>
                </a:solidFill>
                <a:latin typeface="Arial"/>
              </a:rPr>
              <a:t>Une baseline et deux familles d’arbres, évaluées sur les mêmes plis.</a:t>
            </a:r>
          </a:p>
        </p:txBody>
      </p:sp>
      <p:sp>
        <p:nvSpPr>
          <p:cNvPr id="712" name="Shape 713"/>
          <p:cNvSpPr/>
          <p:nvPr/>
        </p:nvSpPr>
        <p:spPr>
          <a:xfrm>
            <a:off x="9410700" y="3251200"/>
            <a:ext cx="3619500" cy="2311400"/>
          </a:xfrm>
          <a:prstGeom prst="roundRect">
            <a:avLst/>
          </a:prstGeom>
          <a:solidFill>
            <a:srgbClr val="EAF5F7"/>
          </a:solidFill>
          <a:ln>
            <a:noFill/>
          </a:ln>
        </p:spPr>
        <p:txBody>
          <a:bodyPr wrap="none" lIns="0" tIns="0" rIns="0" bIns="0" anchor="ctr">
            <a:noAutofit/>
          </a:bodyPr>
          <a:lstStyle/>
          <a:p>
            <a:pPr algn="ctr"/>
            <a:endParaRPr/>
          </a:p>
        </p:txBody>
      </p:sp>
      <p:sp>
        <p:nvSpPr>
          <p:cNvPr id="713" name="Shape 714">
            <a:hlinkClick r:id="rId5" action="ppaction://hlinksldjump"/>
          </p:cNvPr>
          <p:cNvSpPr/>
          <p:nvPr/>
        </p:nvSpPr>
        <p:spPr>
          <a:xfrm>
            <a:off x="9715500" y="3606800"/>
            <a:ext cx="457200" cy="457200"/>
          </a:xfrm>
          <a:prstGeom prst="ellipse">
            <a:avLst/>
          </a:prstGeom>
          <a:solidFill>
            <a:srgbClr val="1A6A77"/>
          </a:solidFill>
          <a:ln>
            <a:noFill/>
          </a:ln>
        </p:spPr>
        <p:txBody>
          <a:bodyPr wrap="none" lIns="0" tIns="0" rIns="0" bIns="0" anchor="ctr">
            <a:noAutofit/>
          </a:bodyPr>
          <a:lstStyle/>
          <a:p>
            <a:pPr algn="ctr">
              <a:buNone/>
            </a:pPr>
            <a:r>
              <a:rPr lang="fr-FR" sz="1800" b="1" dirty="0">
                <a:solidFill>
                  <a:srgbClr val="FFFFFF"/>
                </a:solidFill>
                <a:latin typeface="Arial"/>
              </a:rPr>
              <a:t>3</a:t>
            </a:r>
          </a:p>
        </p:txBody>
      </p:sp>
      <p:sp>
        <p:nvSpPr>
          <p:cNvPr id="714" name="TextBox 715"/>
          <p:cNvSpPr txBox="1"/>
          <p:nvPr/>
        </p:nvSpPr>
        <p:spPr>
          <a:xfrm>
            <a:off x="10325100" y="3632200"/>
            <a:ext cx="2400300" cy="558800"/>
          </a:xfrm>
          <a:prstGeom prst="rect">
            <a:avLst/>
          </a:prstGeom>
          <a:noFill/>
        </p:spPr>
        <p:txBody>
          <a:bodyPr wrap="square" lIns="0" tIns="0" rIns="0" bIns="0" anchor="ctr">
            <a:noAutofit/>
          </a:bodyPr>
          <a:lstStyle/>
          <a:p>
            <a:pPr algn="l">
              <a:lnSpc>
                <a:spcPts val="2000"/>
              </a:lnSpc>
              <a:buNone/>
            </a:pPr>
            <a:r>
              <a:rPr lang="fr-FR" sz="1700" b="1" spc="60" dirty="0">
                <a:solidFill>
                  <a:srgbClr val="1A6A77"/>
                </a:solidFill>
                <a:latin typeface="Arial"/>
              </a:rPr>
              <a:t>MINIMISATION</a:t>
            </a:r>
          </a:p>
        </p:txBody>
      </p:sp>
      <p:sp>
        <p:nvSpPr>
          <p:cNvPr id="715" name="TextBox 716"/>
          <p:cNvSpPr txBox="1"/>
          <p:nvPr/>
        </p:nvSpPr>
        <p:spPr>
          <a:xfrm>
            <a:off x="9715500" y="4318000"/>
            <a:ext cx="3009900" cy="990600"/>
          </a:xfrm>
          <a:prstGeom prst="rect">
            <a:avLst/>
          </a:prstGeom>
          <a:noFill/>
        </p:spPr>
        <p:txBody>
          <a:bodyPr wrap="square" lIns="0" tIns="0" rIns="0" bIns="0" anchor="t">
            <a:noAutofit/>
          </a:bodyPr>
          <a:lstStyle/>
          <a:p>
            <a:pPr algn="l">
              <a:lnSpc>
                <a:spcPts val="2200"/>
              </a:lnSpc>
              <a:buNone/>
            </a:pPr>
            <a:r>
              <a:rPr lang="fr-FR" sz="1600" b="0" dirty="0">
                <a:solidFill>
                  <a:srgbClr val="3D3D3D"/>
                </a:solidFill>
                <a:latin typeface="Arial"/>
              </a:rPr>
              <a:t>Ablation bloc par bloc : 16 variables conservées.</a:t>
            </a:r>
          </a:p>
        </p:txBody>
      </p:sp>
      <p:sp>
        <p:nvSpPr>
          <p:cNvPr id="718" name="Shape 719"/>
          <p:cNvSpPr/>
          <p:nvPr/>
        </p:nvSpPr>
        <p:spPr>
          <a:xfrm>
            <a:off x="13589000" y="3251200"/>
            <a:ext cx="3619500" cy="2311400"/>
          </a:xfrm>
          <a:prstGeom prst="roundRect">
            <a:avLst/>
          </a:prstGeom>
          <a:solidFill>
            <a:srgbClr val="EAF5F7"/>
          </a:solidFill>
          <a:ln>
            <a:noFill/>
          </a:ln>
        </p:spPr>
        <p:txBody>
          <a:bodyPr wrap="none" lIns="0" tIns="0" rIns="0" bIns="0" anchor="ctr">
            <a:noAutofit/>
          </a:bodyPr>
          <a:lstStyle/>
          <a:p>
            <a:pPr algn="ctr"/>
            <a:endParaRPr/>
          </a:p>
        </p:txBody>
      </p:sp>
      <p:sp>
        <p:nvSpPr>
          <p:cNvPr id="719" name="Shape 720"/>
          <p:cNvSpPr/>
          <p:nvPr/>
        </p:nvSpPr>
        <p:spPr>
          <a:xfrm>
            <a:off x="13893800" y="3606800"/>
            <a:ext cx="457200" cy="457200"/>
          </a:xfrm>
          <a:prstGeom prst="ellipse">
            <a:avLst/>
          </a:prstGeom>
          <a:solidFill>
            <a:srgbClr val="1A6A77"/>
          </a:solidFill>
          <a:ln>
            <a:noFill/>
          </a:ln>
        </p:spPr>
        <p:txBody>
          <a:bodyPr wrap="none" lIns="0" tIns="0" rIns="0" bIns="0" anchor="ctr">
            <a:noAutofit/>
          </a:bodyPr>
          <a:lstStyle/>
          <a:p>
            <a:pPr algn="ctr">
              <a:buNone/>
            </a:pPr>
            <a:r>
              <a:rPr lang="fr-FR" sz="1800" b="1" dirty="0">
                <a:solidFill>
                  <a:srgbClr val="FFFFFF"/>
                </a:solidFill>
                <a:latin typeface="Arial"/>
              </a:rPr>
              <a:t>4</a:t>
            </a:r>
          </a:p>
        </p:txBody>
      </p:sp>
      <p:sp>
        <p:nvSpPr>
          <p:cNvPr id="720" name="TextBox 721"/>
          <p:cNvSpPr txBox="1"/>
          <p:nvPr/>
        </p:nvSpPr>
        <p:spPr>
          <a:xfrm>
            <a:off x="14503400" y="3632200"/>
            <a:ext cx="2400300" cy="558800"/>
          </a:xfrm>
          <a:prstGeom prst="rect">
            <a:avLst/>
          </a:prstGeom>
          <a:noFill/>
        </p:spPr>
        <p:txBody>
          <a:bodyPr wrap="square" lIns="0" tIns="0" rIns="0" bIns="0" anchor="ctr">
            <a:noAutofit/>
          </a:bodyPr>
          <a:lstStyle/>
          <a:p>
            <a:pPr algn="l">
              <a:lnSpc>
                <a:spcPts val="2000"/>
              </a:lnSpc>
              <a:buNone/>
            </a:pPr>
            <a:r>
              <a:rPr lang="fr-FR" sz="1700" b="1" spc="60" dirty="0">
                <a:solidFill>
                  <a:srgbClr val="1A6A77"/>
                </a:solidFill>
                <a:latin typeface="Arial"/>
              </a:rPr>
              <a:t>CHOIX DU MODÈLE</a:t>
            </a:r>
          </a:p>
        </p:txBody>
      </p:sp>
      <p:sp>
        <p:nvSpPr>
          <p:cNvPr id="721" name="TextBox 722"/>
          <p:cNvSpPr txBox="1"/>
          <p:nvPr/>
        </p:nvSpPr>
        <p:spPr>
          <a:xfrm>
            <a:off x="13893800" y="4318000"/>
            <a:ext cx="3009900" cy="990600"/>
          </a:xfrm>
          <a:prstGeom prst="rect">
            <a:avLst/>
          </a:prstGeom>
          <a:noFill/>
        </p:spPr>
        <p:txBody>
          <a:bodyPr wrap="square" lIns="0" tIns="0" rIns="0" bIns="0" anchor="t">
            <a:noAutofit/>
          </a:bodyPr>
          <a:lstStyle/>
          <a:p>
            <a:pPr algn="l">
              <a:lnSpc>
                <a:spcPts val="2200"/>
              </a:lnSpc>
              <a:buNone/>
            </a:pPr>
            <a:r>
              <a:rPr lang="fr-FR" sz="1600" b="0" dirty="0">
                <a:solidFill>
                  <a:srgbClr val="3D3D3D"/>
                </a:solidFill>
                <a:latin typeface="Arial"/>
              </a:rPr>
              <a:t>Régression logistique pour l’abandon, gradient boosting pour la note.</a:t>
            </a:r>
          </a:p>
        </p:txBody>
      </p:sp>
      <p:sp>
        <p:nvSpPr>
          <p:cNvPr id="724" name="Shape 725"/>
          <p:cNvSpPr/>
          <p:nvPr/>
        </p:nvSpPr>
        <p:spPr>
          <a:xfrm>
            <a:off x="13589000" y="6375400"/>
            <a:ext cx="3619500" cy="2311400"/>
          </a:xfrm>
          <a:prstGeom prst="roundRect">
            <a:avLst/>
          </a:prstGeom>
          <a:solidFill>
            <a:srgbClr val="EAF5F7"/>
          </a:solidFill>
          <a:ln>
            <a:noFill/>
          </a:ln>
        </p:spPr>
        <p:txBody>
          <a:bodyPr wrap="none" lIns="0" tIns="0" rIns="0" bIns="0" anchor="ctr">
            <a:noAutofit/>
          </a:bodyPr>
          <a:lstStyle/>
          <a:p>
            <a:pPr algn="ctr"/>
            <a:endParaRPr/>
          </a:p>
        </p:txBody>
      </p:sp>
      <p:sp>
        <p:nvSpPr>
          <p:cNvPr id="725" name="Shape 726">
            <a:hlinkClick r:id="rId6" action="ppaction://hlinksldjump"/>
          </p:cNvPr>
          <p:cNvSpPr/>
          <p:nvPr/>
        </p:nvSpPr>
        <p:spPr>
          <a:xfrm>
            <a:off x="13893800" y="6731000"/>
            <a:ext cx="457200" cy="457200"/>
          </a:xfrm>
          <a:prstGeom prst="ellipse">
            <a:avLst/>
          </a:prstGeom>
          <a:solidFill>
            <a:srgbClr val="1A6A77"/>
          </a:solidFill>
          <a:ln>
            <a:noFill/>
          </a:ln>
        </p:spPr>
        <p:txBody>
          <a:bodyPr wrap="none" lIns="0" tIns="0" rIns="0" bIns="0" anchor="ctr">
            <a:noAutofit/>
          </a:bodyPr>
          <a:lstStyle/>
          <a:p>
            <a:pPr algn="ctr">
              <a:buNone/>
            </a:pPr>
            <a:r>
              <a:rPr lang="fr-FR" sz="1800" b="1" dirty="0">
                <a:solidFill>
                  <a:srgbClr val="FFFFFF"/>
                </a:solidFill>
                <a:latin typeface="Arial"/>
              </a:rPr>
              <a:t>5</a:t>
            </a:r>
          </a:p>
        </p:txBody>
      </p:sp>
      <p:sp>
        <p:nvSpPr>
          <p:cNvPr id="726" name="TextBox 727"/>
          <p:cNvSpPr txBox="1"/>
          <p:nvPr/>
        </p:nvSpPr>
        <p:spPr>
          <a:xfrm>
            <a:off x="14503400" y="6756400"/>
            <a:ext cx="2400300" cy="558800"/>
          </a:xfrm>
          <a:prstGeom prst="rect">
            <a:avLst/>
          </a:prstGeom>
          <a:noFill/>
        </p:spPr>
        <p:txBody>
          <a:bodyPr wrap="square" lIns="0" tIns="0" rIns="0" bIns="0" anchor="ctr">
            <a:noAutofit/>
          </a:bodyPr>
          <a:lstStyle/>
          <a:p>
            <a:pPr algn="l">
              <a:lnSpc>
                <a:spcPts val="2000"/>
              </a:lnSpc>
              <a:buNone/>
            </a:pPr>
            <a:r>
              <a:rPr lang="fr-FR" sz="1700" b="1" spc="60" dirty="0">
                <a:solidFill>
                  <a:srgbClr val="1A6A77"/>
                </a:solidFill>
                <a:latin typeface="Arial"/>
              </a:rPr>
              <a:t>OPTIMISATION</a:t>
            </a:r>
          </a:p>
        </p:txBody>
      </p:sp>
      <p:sp>
        <p:nvSpPr>
          <p:cNvPr id="727" name="TextBox 728"/>
          <p:cNvSpPr txBox="1"/>
          <p:nvPr/>
        </p:nvSpPr>
        <p:spPr>
          <a:xfrm>
            <a:off x="13893800" y="7442200"/>
            <a:ext cx="3009900" cy="990600"/>
          </a:xfrm>
          <a:prstGeom prst="rect">
            <a:avLst/>
          </a:prstGeom>
          <a:noFill/>
        </p:spPr>
        <p:txBody>
          <a:bodyPr wrap="square" lIns="0" tIns="0" rIns="0" bIns="0" anchor="t">
            <a:noAutofit/>
          </a:bodyPr>
          <a:lstStyle/>
          <a:p>
            <a:pPr algn="l">
              <a:lnSpc>
                <a:spcPts val="2200"/>
              </a:lnSpc>
              <a:buNone/>
            </a:pPr>
            <a:r>
              <a:rPr lang="fr-FR" sz="1600" b="0" dirty="0">
                <a:solidFill>
                  <a:srgbClr val="3D3D3D"/>
                </a:solidFill>
                <a:latin typeface="Arial"/>
              </a:rPr>
              <a:t>Trois leviers testés : pondération, optimisation et calibration.</a:t>
            </a:r>
          </a:p>
        </p:txBody>
      </p:sp>
      <p:sp>
        <p:nvSpPr>
          <p:cNvPr id="730" name="Shape 731"/>
          <p:cNvSpPr/>
          <p:nvPr/>
        </p:nvSpPr>
        <p:spPr>
          <a:xfrm>
            <a:off x="9410700" y="6375400"/>
            <a:ext cx="3619500" cy="2311400"/>
          </a:xfrm>
          <a:prstGeom prst="roundRect">
            <a:avLst/>
          </a:prstGeom>
          <a:solidFill>
            <a:srgbClr val="EAF5F7"/>
          </a:solidFill>
          <a:ln>
            <a:noFill/>
          </a:ln>
        </p:spPr>
        <p:txBody>
          <a:bodyPr wrap="none" lIns="0" tIns="0" rIns="0" bIns="0" anchor="ctr">
            <a:noAutofit/>
          </a:bodyPr>
          <a:lstStyle/>
          <a:p>
            <a:pPr algn="ctr"/>
            <a:endParaRPr/>
          </a:p>
        </p:txBody>
      </p:sp>
      <p:sp>
        <p:nvSpPr>
          <p:cNvPr id="731" name="Shape 732">
            <a:hlinkClick r:id="rId7" action="ppaction://hlinksldjump"/>
          </p:cNvPr>
          <p:cNvSpPr/>
          <p:nvPr/>
        </p:nvSpPr>
        <p:spPr>
          <a:xfrm>
            <a:off x="9715500" y="6731000"/>
            <a:ext cx="457200" cy="457200"/>
          </a:xfrm>
          <a:prstGeom prst="ellipse">
            <a:avLst/>
          </a:prstGeom>
          <a:solidFill>
            <a:srgbClr val="1A6A77"/>
          </a:solidFill>
          <a:ln>
            <a:noFill/>
          </a:ln>
        </p:spPr>
        <p:txBody>
          <a:bodyPr wrap="none" lIns="0" tIns="0" rIns="0" bIns="0" anchor="ctr">
            <a:noAutofit/>
          </a:bodyPr>
          <a:lstStyle/>
          <a:p>
            <a:pPr algn="ctr">
              <a:buNone/>
            </a:pPr>
            <a:r>
              <a:rPr lang="fr-FR" sz="1800" b="1" dirty="0">
                <a:solidFill>
                  <a:srgbClr val="FFFFFF"/>
                </a:solidFill>
                <a:latin typeface="Arial"/>
              </a:rPr>
              <a:t>6</a:t>
            </a:r>
          </a:p>
        </p:txBody>
      </p:sp>
      <p:sp>
        <p:nvSpPr>
          <p:cNvPr id="732" name="TextBox 733"/>
          <p:cNvSpPr txBox="1"/>
          <p:nvPr/>
        </p:nvSpPr>
        <p:spPr>
          <a:xfrm>
            <a:off x="10325100" y="6756400"/>
            <a:ext cx="2400300" cy="558800"/>
          </a:xfrm>
          <a:prstGeom prst="rect">
            <a:avLst/>
          </a:prstGeom>
          <a:noFill/>
        </p:spPr>
        <p:txBody>
          <a:bodyPr wrap="square" lIns="0" tIns="0" rIns="0" bIns="0" anchor="ctr">
            <a:noAutofit/>
          </a:bodyPr>
          <a:lstStyle/>
          <a:p>
            <a:pPr algn="l">
              <a:lnSpc>
                <a:spcPts val="2000"/>
              </a:lnSpc>
              <a:buNone/>
            </a:pPr>
            <a:r>
              <a:rPr lang="fr-FR" sz="1700" b="1" spc="60" dirty="0">
                <a:solidFill>
                  <a:srgbClr val="1A6A77"/>
                </a:solidFill>
                <a:latin typeface="Arial"/>
              </a:rPr>
              <a:t>CHOIX DU SEUIL</a:t>
            </a:r>
          </a:p>
        </p:txBody>
      </p:sp>
      <p:sp>
        <p:nvSpPr>
          <p:cNvPr id="733" name="TextBox 734"/>
          <p:cNvSpPr txBox="1"/>
          <p:nvPr/>
        </p:nvSpPr>
        <p:spPr>
          <a:xfrm>
            <a:off x="9715500" y="7442200"/>
            <a:ext cx="3009900" cy="990600"/>
          </a:xfrm>
          <a:prstGeom prst="rect">
            <a:avLst/>
          </a:prstGeom>
          <a:noFill/>
        </p:spPr>
        <p:txBody>
          <a:bodyPr wrap="square" lIns="0" tIns="0" rIns="0" bIns="0" anchor="t">
            <a:noAutofit/>
          </a:bodyPr>
          <a:lstStyle/>
          <a:p>
            <a:pPr algn="l">
              <a:lnSpc>
                <a:spcPts val="2200"/>
              </a:lnSpc>
              <a:buNone/>
            </a:pPr>
            <a:r>
              <a:rPr lang="fr-FR" sz="1600" b="0" dirty="0">
                <a:solidFill>
                  <a:srgbClr val="3D3D3D"/>
                </a:solidFill>
                <a:latin typeface="Arial"/>
              </a:rPr>
              <a:t>Un plancher de rappel déclaré, pas un seuil calculé.</a:t>
            </a:r>
          </a:p>
        </p:txBody>
      </p:sp>
      <p:sp>
        <p:nvSpPr>
          <p:cNvPr id="736" name="Shape 737"/>
          <p:cNvSpPr/>
          <p:nvPr/>
        </p:nvSpPr>
        <p:spPr>
          <a:xfrm>
            <a:off x="5232400" y="6375400"/>
            <a:ext cx="3619500" cy="2311400"/>
          </a:xfrm>
          <a:prstGeom prst="roundRect">
            <a:avLst/>
          </a:prstGeom>
          <a:solidFill>
            <a:srgbClr val="EAF5F7"/>
          </a:solidFill>
          <a:ln>
            <a:noFill/>
          </a:ln>
        </p:spPr>
        <p:txBody>
          <a:bodyPr wrap="none" lIns="0" tIns="0" rIns="0" bIns="0" anchor="ctr">
            <a:noAutofit/>
          </a:bodyPr>
          <a:lstStyle/>
          <a:p>
            <a:pPr algn="ctr"/>
            <a:endParaRPr/>
          </a:p>
        </p:txBody>
      </p:sp>
      <p:sp>
        <p:nvSpPr>
          <p:cNvPr id="737" name="Shape 738">
            <a:hlinkClick r:id="rId8" action="ppaction://hlinksldjump"/>
          </p:cNvPr>
          <p:cNvSpPr/>
          <p:nvPr/>
        </p:nvSpPr>
        <p:spPr>
          <a:xfrm>
            <a:off x="5537200" y="6731000"/>
            <a:ext cx="457200" cy="457200"/>
          </a:xfrm>
          <a:prstGeom prst="ellipse">
            <a:avLst/>
          </a:prstGeom>
          <a:solidFill>
            <a:srgbClr val="1A6A77"/>
          </a:solidFill>
          <a:ln>
            <a:noFill/>
          </a:ln>
        </p:spPr>
        <p:txBody>
          <a:bodyPr wrap="none" lIns="0" tIns="0" rIns="0" bIns="0" anchor="ctr">
            <a:noAutofit/>
          </a:bodyPr>
          <a:lstStyle/>
          <a:p>
            <a:pPr algn="ctr">
              <a:buNone/>
            </a:pPr>
            <a:r>
              <a:rPr lang="fr-FR" sz="1800" b="1" dirty="0">
                <a:solidFill>
                  <a:srgbClr val="FFFFFF"/>
                </a:solidFill>
                <a:latin typeface="Arial"/>
              </a:rPr>
              <a:t>7</a:t>
            </a:r>
          </a:p>
        </p:txBody>
      </p:sp>
      <p:sp>
        <p:nvSpPr>
          <p:cNvPr id="738" name="TextBox 739"/>
          <p:cNvSpPr txBox="1"/>
          <p:nvPr/>
        </p:nvSpPr>
        <p:spPr>
          <a:xfrm>
            <a:off x="6146800" y="6756400"/>
            <a:ext cx="2400300" cy="558800"/>
          </a:xfrm>
          <a:prstGeom prst="rect">
            <a:avLst/>
          </a:prstGeom>
          <a:noFill/>
        </p:spPr>
        <p:txBody>
          <a:bodyPr wrap="square" lIns="0" tIns="0" rIns="0" bIns="0" anchor="ctr">
            <a:noAutofit/>
          </a:bodyPr>
          <a:lstStyle/>
          <a:p>
            <a:pPr algn="l">
              <a:lnSpc>
                <a:spcPts val="2000"/>
              </a:lnSpc>
              <a:buNone/>
            </a:pPr>
            <a:r>
              <a:rPr lang="fr-FR" sz="1700" b="1" spc="60" dirty="0">
                <a:solidFill>
                  <a:srgbClr val="1A6A77"/>
                </a:solidFill>
                <a:latin typeface="Arial"/>
              </a:rPr>
              <a:t>MESURE DE PERFORMANCE</a:t>
            </a:r>
          </a:p>
        </p:txBody>
      </p:sp>
      <p:sp>
        <p:nvSpPr>
          <p:cNvPr id="739" name="TextBox 740"/>
          <p:cNvSpPr txBox="1"/>
          <p:nvPr/>
        </p:nvSpPr>
        <p:spPr>
          <a:xfrm>
            <a:off x="5537200" y="7442200"/>
            <a:ext cx="3009900" cy="990600"/>
          </a:xfrm>
          <a:prstGeom prst="rect">
            <a:avLst/>
          </a:prstGeom>
          <a:noFill/>
        </p:spPr>
        <p:txBody>
          <a:bodyPr wrap="square" lIns="0" tIns="0" rIns="0" bIns="0" anchor="t">
            <a:noAutofit/>
          </a:bodyPr>
          <a:lstStyle/>
          <a:p>
            <a:pPr algn="l">
              <a:lnSpc>
                <a:spcPts val="2200"/>
              </a:lnSpc>
              <a:buNone/>
            </a:pPr>
            <a:r>
              <a:rPr lang="fr-FR" sz="1600" b="0" dirty="0">
                <a:solidFill>
                  <a:srgbClr val="3D3D3D"/>
                </a:solidFill>
                <a:latin typeface="Arial"/>
              </a:rPr>
              <a:t>Mesures réalisées sur le jeu de test scellé à l’étape 1, Explicabilité et Audit d’équité</a:t>
            </a:r>
          </a:p>
        </p:txBody>
      </p:sp>
      <p:sp>
        <p:nvSpPr>
          <p:cNvPr id="3" name="Flèche : droite 2">
            <a:extLst>
              <a:ext uri="{FF2B5EF4-FFF2-40B4-BE49-F238E27FC236}">
                <a16:creationId xmlns:a16="http://schemas.microsoft.com/office/drawing/2014/main" id="{2C88E728-B7DB-428C-A2C9-74C09205C0C7}"/>
              </a:ext>
            </a:extLst>
          </p:cNvPr>
          <p:cNvSpPr/>
          <p:nvPr/>
        </p:nvSpPr>
        <p:spPr>
          <a:xfrm>
            <a:off x="4724400" y="4229100"/>
            <a:ext cx="457200" cy="355600"/>
          </a:xfrm>
          <a:prstGeom prst="rightArrow">
            <a:avLst/>
          </a:prstGeom>
          <a:solidFill>
            <a:srgbClr val="56B9C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fr-FR"/>
          </a:p>
        </p:txBody>
      </p:sp>
      <p:sp>
        <p:nvSpPr>
          <p:cNvPr id="4" name="Flèche : droite 3">
            <a:extLst>
              <a:ext uri="{FF2B5EF4-FFF2-40B4-BE49-F238E27FC236}">
                <a16:creationId xmlns:a16="http://schemas.microsoft.com/office/drawing/2014/main" id="{B5AC342D-7FD3-455F-B311-7F50488414D6}"/>
              </a:ext>
            </a:extLst>
          </p:cNvPr>
          <p:cNvSpPr/>
          <p:nvPr/>
        </p:nvSpPr>
        <p:spPr>
          <a:xfrm>
            <a:off x="8902700" y="4229100"/>
            <a:ext cx="457200" cy="355600"/>
          </a:xfrm>
          <a:prstGeom prst="rightArrow">
            <a:avLst/>
          </a:prstGeom>
          <a:solidFill>
            <a:srgbClr val="56B9C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fr-FR"/>
          </a:p>
        </p:txBody>
      </p:sp>
      <p:sp>
        <p:nvSpPr>
          <p:cNvPr id="5" name="Flèche : droite 4">
            <a:extLst>
              <a:ext uri="{FF2B5EF4-FFF2-40B4-BE49-F238E27FC236}">
                <a16:creationId xmlns:a16="http://schemas.microsoft.com/office/drawing/2014/main" id="{0496E2AB-2002-42CF-A25C-F349E5C6E914}"/>
              </a:ext>
            </a:extLst>
          </p:cNvPr>
          <p:cNvSpPr/>
          <p:nvPr/>
        </p:nvSpPr>
        <p:spPr>
          <a:xfrm>
            <a:off x="13081000" y="4229100"/>
            <a:ext cx="457200" cy="355600"/>
          </a:xfrm>
          <a:prstGeom prst="rightArrow">
            <a:avLst/>
          </a:prstGeom>
          <a:solidFill>
            <a:srgbClr val="56B9C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fr-FR"/>
          </a:p>
        </p:txBody>
      </p:sp>
      <p:sp>
        <p:nvSpPr>
          <p:cNvPr id="7" name="Flèche : gauche 6">
            <a:extLst>
              <a:ext uri="{FF2B5EF4-FFF2-40B4-BE49-F238E27FC236}">
                <a16:creationId xmlns:a16="http://schemas.microsoft.com/office/drawing/2014/main" id="{CA16B659-B431-44F4-B385-8C6B8B5839B8}"/>
              </a:ext>
            </a:extLst>
          </p:cNvPr>
          <p:cNvSpPr/>
          <p:nvPr/>
        </p:nvSpPr>
        <p:spPr>
          <a:xfrm>
            <a:off x="8902700" y="7353300"/>
            <a:ext cx="457200" cy="355600"/>
          </a:xfrm>
          <a:prstGeom prst="leftArrow">
            <a:avLst/>
          </a:prstGeom>
          <a:solidFill>
            <a:srgbClr val="56B9C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fr-FR"/>
          </a:p>
        </p:txBody>
      </p:sp>
      <p:sp>
        <p:nvSpPr>
          <p:cNvPr id="8" name="Flèche : gauche 7">
            <a:extLst>
              <a:ext uri="{FF2B5EF4-FFF2-40B4-BE49-F238E27FC236}">
                <a16:creationId xmlns:a16="http://schemas.microsoft.com/office/drawing/2014/main" id="{DF689CF1-DEAC-4942-B886-46140430BE7F}"/>
              </a:ext>
            </a:extLst>
          </p:cNvPr>
          <p:cNvSpPr/>
          <p:nvPr/>
        </p:nvSpPr>
        <p:spPr>
          <a:xfrm>
            <a:off x="13081000" y="7353300"/>
            <a:ext cx="457200" cy="355600"/>
          </a:xfrm>
          <a:prstGeom prst="leftArrow">
            <a:avLst/>
          </a:prstGeom>
          <a:solidFill>
            <a:srgbClr val="56B9C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fr-FR"/>
          </a:p>
        </p:txBody>
      </p:sp>
      <p:sp>
        <p:nvSpPr>
          <p:cNvPr id="9" name="Flèche : bas 8">
            <a:extLst>
              <a:ext uri="{FF2B5EF4-FFF2-40B4-BE49-F238E27FC236}">
                <a16:creationId xmlns:a16="http://schemas.microsoft.com/office/drawing/2014/main" id="{C2482AA0-9D00-4152-AD72-0ECB0EBCA4DF}"/>
              </a:ext>
            </a:extLst>
          </p:cNvPr>
          <p:cNvSpPr/>
          <p:nvPr/>
        </p:nvSpPr>
        <p:spPr>
          <a:xfrm>
            <a:off x="15176500" y="5689600"/>
            <a:ext cx="457200" cy="508000"/>
          </a:xfrm>
          <a:prstGeom prst="downArrow">
            <a:avLst/>
          </a:prstGeom>
          <a:solidFill>
            <a:srgbClr val="56B9C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fr-FR"/>
          </a:p>
        </p:txBody>
      </p:sp>
      <p:sp>
        <p:nvSpPr>
          <p:cNvPr id="6" name="Rectangle : coins arrondis 5">
            <a:extLst>
              <a:ext uri="{FF2B5EF4-FFF2-40B4-BE49-F238E27FC236}">
                <a16:creationId xmlns:a16="http://schemas.microsoft.com/office/drawing/2014/main" id="{46C726C3-34D5-4F65-B2CA-2F5E543C8E1A}"/>
              </a:ext>
            </a:extLst>
          </p:cNvPr>
          <p:cNvSpPr/>
          <p:nvPr/>
        </p:nvSpPr>
        <p:spPr>
          <a:xfrm>
            <a:off x="1054100" y="6375400"/>
            <a:ext cx="3619500" cy="2311400"/>
          </a:xfrm>
          <a:prstGeom prst="roundRect">
            <a:avLst/>
          </a:prstGeom>
          <a:solidFill>
            <a:srgbClr val="1A5A66"/>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fr-FR"/>
          </a:p>
        </p:txBody>
      </p:sp>
      <p:sp>
        <p:nvSpPr>
          <p:cNvPr id="2" name="Flèche : gauche 1">
            <a:extLst>
              <a:ext uri="{FF2B5EF4-FFF2-40B4-BE49-F238E27FC236}">
                <a16:creationId xmlns:a16="http://schemas.microsoft.com/office/drawing/2014/main" id="{8428A867-4E27-452F-B033-78CDEBD6B460}"/>
              </a:ext>
            </a:extLst>
          </p:cNvPr>
          <p:cNvSpPr/>
          <p:nvPr/>
        </p:nvSpPr>
        <p:spPr>
          <a:xfrm>
            <a:off x="4724400" y="7353300"/>
            <a:ext cx="457200" cy="355600"/>
          </a:xfrm>
          <a:prstGeom prst="leftArrow">
            <a:avLst/>
          </a:prstGeom>
          <a:solidFill>
            <a:srgbClr val="56B9CA"/>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fr-FR"/>
          </a:p>
        </p:txBody>
      </p:sp>
      <p:sp>
        <p:nvSpPr>
          <p:cNvPr id="10" name="ZoneTexte 9">
            <a:extLst>
              <a:ext uri="{FF2B5EF4-FFF2-40B4-BE49-F238E27FC236}">
                <a16:creationId xmlns:a16="http://schemas.microsoft.com/office/drawing/2014/main" id="{BA930334-939C-4479-A492-DAC1420F0E15}"/>
              </a:ext>
            </a:extLst>
          </p:cNvPr>
          <p:cNvSpPr txBox="1"/>
          <p:nvPr/>
        </p:nvSpPr>
        <p:spPr>
          <a:xfrm>
            <a:off x="1968500" y="6756400"/>
            <a:ext cx="2400300" cy="558800"/>
          </a:xfrm>
          <a:prstGeom prst="rect">
            <a:avLst/>
          </a:prstGeom>
          <a:noFill/>
        </p:spPr>
        <p:txBody>
          <a:bodyPr vertOverflow="overflow" vert="horz" wrap="square" rtlCol="0" anchor="t">
            <a:noAutofit/>
          </a:bodyPr>
          <a:lstStyle/>
          <a:p>
            <a:pPr algn="l">
              <a:lnSpc>
                <a:spcPts val="2000"/>
              </a:lnSpc>
              <a:buNone/>
            </a:pPr>
            <a:r>
              <a:rPr lang="fr-FR" sz="1700" b="1" spc="60" dirty="0">
                <a:solidFill>
                  <a:srgbClr val="FFFFFF"/>
                </a:solidFill>
                <a:latin typeface="Arial"/>
              </a:rPr>
              <a:t>LIVRABLE</a:t>
            </a:r>
          </a:p>
        </p:txBody>
      </p:sp>
      <p:sp>
        <p:nvSpPr>
          <p:cNvPr id="11" name="ZoneTexte 10">
            <a:extLst>
              <a:ext uri="{FF2B5EF4-FFF2-40B4-BE49-F238E27FC236}">
                <a16:creationId xmlns:a16="http://schemas.microsoft.com/office/drawing/2014/main" id="{3611ABB4-301D-4EF1-9DFC-1155EFAC9CD2}"/>
              </a:ext>
            </a:extLst>
          </p:cNvPr>
          <p:cNvSpPr txBox="1"/>
          <p:nvPr/>
        </p:nvSpPr>
        <p:spPr>
          <a:xfrm>
            <a:off x="1358900" y="7442200"/>
            <a:ext cx="3009900" cy="990600"/>
          </a:xfrm>
          <a:prstGeom prst="rect">
            <a:avLst/>
          </a:prstGeom>
          <a:noFill/>
        </p:spPr>
        <p:txBody>
          <a:bodyPr vertOverflow="overflow" vert="horz" wrap="square" rtlCol="0" anchor="t">
            <a:noAutofit/>
          </a:bodyPr>
          <a:lstStyle/>
          <a:p>
            <a:pPr algn="l">
              <a:lnSpc>
                <a:spcPts val="2200"/>
              </a:lnSpc>
              <a:buNone/>
            </a:pPr>
            <a:r>
              <a:rPr lang="fr-FR" sz="1600" b="0" dirty="0">
                <a:solidFill>
                  <a:srgbClr val="CFE9EE"/>
                </a:solidFill>
                <a:latin typeface="Arial"/>
              </a:rPr>
              <a:t>Chaîne reproductible : abandon et note prêts à être livrés.</a:t>
            </a:r>
          </a:p>
        </p:txBody>
      </p:sp>
      <p:sp>
        <p:nvSpPr>
          <p:cNvPr id="12" name="Ellipse 11">
            <a:extLst>
              <a:ext uri="{FF2B5EF4-FFF2-40B4-BE49-F238E27FC236}">
                <a16:creationId xmlns:a16="http://schemas.microsoft.com/office/drawing/2014/main" id="{4AF62440-7E28-48D5-A225-96355FC54745}"/>
              </a:ext>
            </a:extLst>
          </p:cNvPr>
          <p:cNvSpPr/>
          <p:nvPr/>
        </p:nvSpPr>
        <p:spPr>
          <a:xfrm>
            <a:off x="1358900" y="6731000"/>
            <a:ext cx="457200" cy="457200"/>
          </a:xfrm>
          <a:prstGeom prst="ellipse">
            <a:avLst/>
          </a:prstGeom>
          <a:solidFill>
            <a:srgbClr val="FFFF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fr-FR"/>
          </a:p>
        </p:txBody>
      </p:sp>
      <p:pic>
        <p:nvPicPr>
          <p:cNvPr id="761" name="Graphic 761" descr="Livrable validé"/>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35100" y="6807200"/>
            <a:ext cx="304800" cy="304800"/>
          </a:xfrm>
          <a:prstGeom prst="rect">
            <a:avLst/>
          </a:prstGeom>
        </p:spPr>
      </p:pic>
    </p:spTree>
    <p:extLst>
      <p:ext uri="{BB962C8B-B14F-4D97-AF65-F5344CB8AC3E}">
        <p14:creationId xmlns:p14="http://schemas.microsoft.com/office/powerpoint/2010/main" val="3118107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101"/>
          <p:cNvSpPr txBox="1"/>
          <p:nvPr/>
        </p:nvSpPr>
        <p:spPr>
          <a:xfrm>
            <a:off x="1054100" y="825500"/>
            <a:ext cx="12700000" cy="304800"/>
          </a:xfrm>
          <a:prstGeom prst="rect">
            <a:avLst/>
          </a:prstGeom>
          <a:noFill/>
        </p:spPr>
        <p:txBody>
          <a:bodyPr wrap="square" lIns="0" tIns="0" rIns="0" bIns="0" anchor="t">
            <a:noAutofit/>
          </a:bodyPr>
          <a:lstStyle/>
          <a:p>
            <a:pPr algn="l">
              <a:buNone/>
            </a:pPr>
            <a:r>
              <a:rPr lang="fr-FR" sz="1400" b="1" spc="300" dirty="0">
                <a:solidFill>
                  <a:srgbClr val="1A6A77"/>
                </a:solidFill>
                <a:latin typeface="Arial"/>
              </a:rPr>
              <a:t>ACTE 05 · ÉTAPE 1 · PROTOCOLE</a:t>
            </a:r>
          </a:p>
        </p:txBody>
      </p:sp>
      <p:sp>
        <p:nvSpPr>
          <p:cNvPr id="102" name="TextBox 102"/>
          <p:cNvSpPr txBox="1"/>
          <p:nvPr/>
        </p:nvSpPr>
        <p:spPr>
          <a:xfrm>
            <a:off x="1054100" y="1524000"/>
            <a:ext cx="16192500" cy="1016000"/>
          </a:xfrm>
          <a:prstGeom prst="rect">
            <a:avLst/>
          </a:prstGeom>
          <a:noFill/>
        </p:spPr>
        <p:txBody>
          <a:bodyPr wrap="square" lIns="0" tIns="0" rIns="0" bIns="0" anchor="t">
            <a:noAutofit/>
          </a:bodyPr>
          <a:lstStyle/>
          <a:p>
            <a:pPr algn="l">
              <a:buNone/>
            </a:pPr>
            <a:r>
              <a:rPr lang="fr-FR" sz="5000" b="1" dirty="0">
                <a:solidFill>
                  <a:srgbClr val="000000"/>
                </a:solidFill>
                <a:latin typeface="Arial"/>
              </a:rPr>
              <a:t>Split &amp; feature engineering</a:t>
            </a:r>
          </a:p>
        </p:txBody>
      </p:sp>
      <p:sp>
        <p:nvSpPr>
          <p:cNvPr id="103" name="Shape 103"/>
          <p:cNvSpPr/>
          <p:nvPr/>
        </p:nvSpPr>
        <p:spPr>
          <a:xfrm>
            <a:off x="1054100" y="2743200"/>
            <a:ext cx="1143000" cy="38100"/>
          </a:xfrm>
          <a:prstGeom prst="rect">
            <a:avLst/>
          </a:prstGeom>
          <a:solidFill>
            <a:srgbClr val="56B9CA"/>
          </a:solidFill>
          <a:ln>
            <a:noFill/>
          </a:ln>
        </p:spPr>
        <p:txBody>
          <a:bodyPr/>
          <a:lstStyle/>
          <a:p>
            <a:endParaRPr/>
          </a:p>
        </p:txBody>
      </p:sp>
      <p:sp>
        <p:nvSpPr>
          <p:cNvPr id="127" name="TextBox 127"/>
          <p:cNvSpPr txBox="1"/>
          <p:nvPr/>
        </p:nvSpPr>
        <p:spPr>
          <a:xfrm>
            <a:off x="17048886" y="9309100"/>
            <a:ext cx="273913" cy="304800"/>
          </a:xfrm>
          <a:prstGeom prst="rect">
            <a:avLst/>
          </a:prstGeom>
          <a:noFill/>
        </p:spPr>
        <p:txBody>
          <a:bodyPr wrap="none" lIns="0" tIns="0" rIns="0" bIns="0" anchor="ctr" anchorCtr="0">
            <a:noAutofit/>
          </a:bodyPr>
          <a:lstStyle/>
          <a:p>
            <a:pPr algn="r">
              <a:buNone/>
            </a:pPr>
            <a:r>
              <a:rPr lang="fr-FR" sz="1400" b="1" dirty="0">
                <a:solidFill>
                  <a:srgbClr val="56B9CA"/>
                </a:solidFill>
                <a:latin typeface="Arial"/>
              </a:rPr>
              <a:t>20</a:t>
            </a:r>
          </a:p>
        </p:txBody>
      </p:sp>
      <p:sp>
        <p:nvSpPr>
          <p:cNvPr id="3" name="Bouton retour frise">
            <a:hlinkClick r:id="rId3" action="ppaction://hlinksldjump"/>
            <a:extLst>
              <a:ext uri="{FF2B5EF4-FFF2-40B4-BE49-F238E27FC236}">
                <a16:creationId xmlns:a16="http://schemas.microsoft.com/office/drawing/2014/main" id="{9AFF3C1A-F0EC-7D8E-01BF-4A7846C4FAFA}"/>
              </a:ext>
            </a:extLst>
          </p:cNvPr>
          <p:cNvSpPr/>
          <p:nvPr/>
        </p:nvSpPr>
        <p:spPr>
          <a:xfrm>
            <a:off x="15687040" y="711200"/>
            <a:ext cx="1559560" cy="457200"/>
          </a:xfrm>
          <a:prstGeom prst="roundRect">
            <a:avLst>
              <a:gd name="adj" fmla="val 50000"/>
            </a:avLst>
          </a:prstGeom>
          <a:solidFill>
            <a:srgbClr val="EAF5F7"/>
          </a:solidFill>
          <a:ln w="12700">
            <a:solidFill>
              <a:srgbClr val="BFE3EA"/>
            </a:solidFill>
          </a:ln>
        </p:spPr>
        <p:txBody>
          <a:bodyPr wrap="none" lIns="0" tIns="0" rIns="0" bIns="0" anchor="ctr"/>
          <a:lstStyle/>
          <a:p>
            <a:pPr algn="ctr"/>
            <a:r>
              <a:rPr lang="fr-FR" sz="1600" b="1" dirty="0">
                <a:solidFill>
                  <a:srgbClr val="1A6A77"/>
                </a:solidFill>
                <a:latin typeface="Arial"/>
              </a:rPr>
              <a:t>← Retour</a:t>
            </a:r>
          </a:p>
        </p:txBody>
      </p:sp>
      <p:sp>
        <p:nvSpPr>
          <p:cNvPr id="700" name="Shape 701"/>
          <p:cNvSpPr/>
          <p:nvPr/>
        </p:nvSpPr>
        <p:spPr>
          <a:xfrm>
            <a:off x="1054100" y="3149600"/>
            <a:ext cx="4826000" cy="5613400"/>
          </a:xfrm>
          <a:prstGeom prst="roundRect">
            <a:avLst/>
          </a:prstGeom>
          <a:solidFill>
            <a:srgbClr val="EAF5F7"/>
          </a:solidFill>
          <a:ln>
            <a:noFill/>
          </a:ln>
        </p:spPr>
        <p:txBody>
          <a:bodyPr wrap="none" lIns="0" tIns="0" rIns="0" bIns="0" anchor="ctr">
            <a:noAutofit/>
          </a:bodyPr>
          <a:lstStyle/>
          <a:p>
            <a:pPr algn="ctr"/>
            <a:endParaRPr/>
          </a:p>
        </p:txBody>
      </p:sp>
      <p:sp>
        <p:nvSpPr>
          <p:cNvPr id="701" name="TextBox 702"/>
          <p:cNvSpPr txBox="1"/>
          <p:nvPr/>
        </p:nvSpPr>
        <p:spPr>
          <a:xfrm>
            <a:off x="1409700" y="3530600"/>
            <a:ext cx="4114800" cy="330200"/>
          </a:xfrm>
          <a:prstGeom prst="rect">
            <a:avLst/>
          </a:prstGeom>
          <a:noFill/>
        </p:spPr>
        <p:txBody>
          <a:bodyPr wrap="square" lIns="0" tIns="0" rIns="0" bIns="0" anchor="t">
            <a:noAutofit/>
          </a:bodyPr>
          <a:lstStyle/>
          <a:p>
            <a:pPr algn="l">
              <a:buNone/>
            </a:pPr>
            <a:r>
              <a:rPr lang="fr-FR" sz="1700" b="1" spc="80" dirty="0">
                <a:solidFill>
                  <a:srgbClr val="1A6A77"/>
                </a:solidFill>
                <a:latin typeface="Arial"/>
              </a:rPr>
              <a:t>PROTOCOLE</a:t>
            </a:r>
          </a:p>
        </p:txBody>
      </p:sp>
      <p:sp>
        <p:nvSpPr>
          <p:cNvPr id="702" name="TextBox 703"/>
          <p:cNvSpPr txBox="1"/>
          <p:nvPr/>
        </p:nvSpPr>
        <p:spPr>
          <a:xfrm>
            <a:off x="1409700" y="3962400"/>
            <a:ext cx="4114800" cy="965200"/>
          </a:xfrm>
          <a:prstGeom prst="rect">
            <a:avLst/>
          </a:prstGeom>
          <a:noFill/>
        </p:spPr>
        <p:txBody>
          <a:bodyPr wrap="square" lIns="0" tIns="0" rIns="0" bIns="0" anchor="t">
            <a:noAutofit/>
          </a:bodyPr>
          <a:lstStyle/>
          <a:p>
            <a:pPr algn="l">
              <a:buNone/>
            </a:pPr>
            <a:r>
              <a:rPr lang="fr-FR" sz="2600" b="1" dirty="0">
                <a:solidFill>
                  <a:srgbClr val="1A5A66"/>
                </a:solidFill>
                <a:latin typeface="Arial"/>
              </a:rPr>
              <a:t>Split 80/20 stratifié</a:t>
            </a:r>
          </a:p>
        </p:txBody>
      </p:sp>
      <p:sp>
        <p:nvSpPr>
          <p:cNvPr id="703" name="TextBox 704"/>
          <p:cNvSpPr txBox="1"/>
          <p:nvPr/>
        </p:nvSpPr>
        <p:spPr>
          <a:xfrm>
            <a:off x="1409700" y="6096000"/>
            <a:ext cx="4114800" cy="965200"/>
          </a:xfrm>
          <a:prstGeom prst="rect">
            <a:avLst/>
          </a:prstGeom>
          <a:noFill/>
        </p:spPr>
        <p:txBody>
          <a:bodyPr wrap="square" lIns="0" tIns="0" rIns="0" bIns="0" anchor="t">
            <a:noAutofit/>
          </a:bodyPr>
          <a:lstStyle/>
          <a:p>
            <a:pPr algn="l">
              <a:buNone/>
            </a:pPr>
            <a:r>
              <a:rPr lang="fr-FR" sz="2600" b="1" dirty="0">
                <a:solidFill>
                  <a:srgbClr val="1A5A66"/>
                </a:solidFill>
                <a:latin typeface="Arial"/>
              </a:rPr>
              <a:t>Validation croisée 5 folds</a:t>
            </a:r>
          </a:p>
        </p:txBody>
      </p:sp>
      <p:sp>
        <p:nvSpPr>
          <p:cNvPr id="704" name="Shape 705"/>
          <p:cNvSpPr/>
          <p:nvPr/>
        </p:nvSpPr>
        <p:spPr>
          <a:xfrm>
            <a:off x="1409700" y="5740400"/>
            <a:ext cx="635000" cy="25400"/>
          </a:xfrm>
          <a:prstGeom prst="rect">
            <a:avLst/>
          </a:prstGeom>
          <a:solidFill>
            <a:srgbClr val="9FD4DE"/>
          </a:solidFill>
          <a:ln>
            <a:noFill/>
          </a:ln>
        </p:spPr>
        <p:txBody>
          <a:bodyPr wrap="none" lIns="0" tIns="0" rIns="0" bIns="0" anchor="ctr">
            <a:noAutofit/>
          </a:bodyPr>
          <a:lstStyle/>
          <a:p>
            <a:pPr algn="ctr"/>
            <a:endParaRPr/>
          </a:p>
        </p:txBody>
      </p:sp>
      <p:sp>
        <p:nvSpPr>
          <p:cNvPr id="705" name="TextBox 706"/>
          <p:cNvSpPr txBox="1"/>
          <p:nvPr/>
        </p:nvSpPr>
        <p:spPr>
          <a:xfrm>
            <a:off x="1409700" y="5003800"/>
            <a:ext cx="4114800" cy="381000"/>
          </a:xfrm>
          <a:prstGeom prst="rect">
            <a:avLst/>
          </a:prstGeom>
          <a:noFill/>
        </p:spPr>
        <p:txBody>
          <a:bodyPr wrap="square" lIns="0" tIns="0" rIns="0" bIns="0" anchor="t">
            <a:noAutofit/>
          </a:bodyPr>
          <a:lstStyle/>
          <a:p>
            <a:pPr algn="l">
              <a:buNone/>
            </a:pPr>
            <a:r>
              <a:rPr lang="fr-FR" sz="2200" b="1" dirty="0">
                <a:solidFill>
                  <a:srgbClr val="1A6A77"/>
                </a:solidFill>
                <a:latin typeface="Arial"/>
              </a:rPr>
              <a:t>4 160 / 1 040</a:t>
            </a:r>
            <a:r>
              <a:rPr lang="fr-FR" sz="1700" b="0" dirty="0">
                <a:solidFill>
                  <a:srgbClr val="4A4A4A"/>
                </a:solidFill>
                <a:latin typeface="Arial"/>
              </a:rPr>
              <a:t> lignes train · test</a:t>
            </a:r>
          </a:p>
        </p:txBody>
      </p:sp>
      <p:sp>
        <p:nvSpPr>
          <p:cNvPr id="706" name="Shape 707"/>
          <p:cNvSpPr/>
          <p:nvPr/>
        </p:nvSpPr>
        <p:spPr>
          <a:xfrm>
            <a:off x="6184900" y="3149600"/>
            <a:ext cx="11049000" cy="5613400"/>
          </a:xfrm>
          <a:prstGeom prst="roundRect">
            <a:avLst/>
          </a:prstGeom>
          <a:solidFill>
            <a:srgbClr val="EAF5F7"/>
          </a:solidFill>
          <a:ln>
            <a:noFill/>
          </a:ln>
        </p:spPr>
        <p:txBody>
          <a:bodyPr wrap="none" lIns="0" tIns="0" rIns="0" bIns="0" anchor="ctr">
            <a:noAutofit/>
          </a:bodyPr>
          <a:lstStyle/>
          <a:p>
            <a:pPr algn="ctr"/>
            <a:endParaRPr/>
          </a:p>
        </p:txBody>
      </p:sp>
      <p:sp>
        <p:nvSpPr>
          <p:cNvPr id="707" name="TextBox 708"/>
          <p:cNvSpPr txBox="1"/>
          <p:nvPr/>
        </p:nvSpPr>
        <p:spPr>
          <a:xfrm>
            <a:off x="6540500" y="3530600"/>
            <a:ext cx="10337800" cy="330200"/>
          </a:xfrm>
          <a:prstGeom prst="rect">
            <a:avLst/>
          </a:prstGeom>
          <a:noFill/>
        </p:spPr>
        <p:txBody>
          <a:bodyPr wrap="square" lIns="0" tIns="0" rIns="0" bIns="0" anchor="t">
            <a:noAutofit/>
          </a:bodyPr>
          <a:lstStyle/>
          <a:p>
            <a:pPr algn="l">
              <a:buNone/>
            </a:pPr>
            <a:r>
              <a:rPr lang="fr-FR" sz="1700" b="1" spc="80" dirty="0">
                <a:solidFill>
                  <a:srgbClr val="1A6A77"/>
                </a:solidFill>
                <a:latin typeface="Arial"/>
              </a:rPr>
              <a:t>PRÉPARATION APPRISE DANS LE PIPELINE</a:t>
            </a:r>
          </a:p>
        </p:txBody>
      </p:sp>
      <p:sp>
        <p:nvSpPr>
          <p:cNvPr id="708" name="TextBox 709"/>
          <p:cNvSpPr txBox="1"/>
          <p:nvPr/>
        </p:nvSpPr>
        <p:spPr>
          <a:xfrm>
            <a:off x="6540500" y="3911600"/>
            <a:ext cx="10337800" cy="558800"/>
          </a:xfrm>
          <a:prstGeom prst="rect">
            <a:avLst/>
          </a:prstGeom>
          <a:noFill/>
        </p:spPr>
        <p:txBody>
          <a:bodyPr wrap="square" lIns="0" tIns="0" rIns="0" bIns="0" anchor="t">
            <a:noAutofit/>
          </a:bodyPr>
          <a:lstStyle/>
          <a:p>
            <a:pPr algn="l">
              <a:buNone/>
            </a:pPr>
            <a:r>
              <a:rPr lang="fr-FR" sz="2600" b="1" dirty="0">
                <a:solidFill>
                  <a:srgbClr val="1A5A66"/>
                </a:solidFill>
                <a:latin typeface="Arial"/>
              </a:rPr>
              <a:t>Imputation et encodage</a:t>
            </a:r>
          </a:p>
        </p:txBody>
      </p:sp>
      <p:sp>
        <p:nvSpPr>
          <p:cNvPr id="709" name="TextBox 710"/>
          <p:cNvSpPr txBox="1"/>
          <p:nvPr/>
        </p:nvSpPr>
        <p:spPr>
          <a:xfrm>
            <a:off x="6540500" y="4953000"/>
            <a:ext cx="10337800" cy="787400"/>
          </a:xfrm>
          <a:prstGeom prst="rect">
            <a:avLst/>
          </a:prstGeom>
          <a:noFill/>
        </p:spPr>
        <p:txBody>
          <a:bodyPr wrap="square" lIns="0" tIns="0" rIns="0" bIns="0" anchor="t">
            <a:noAutofit/>
          </a:bodyPr>
          <a:lstStyle/>
          <a:p>
            <a:pPr algn="l">
              <a:lnSpc>
                <a:spcPts val="2100"/>
              </a:lnSpc>
              <a:buNone/>
            </a:pPr>
            <a:r>
              <a:rPr lang="fr-FR" sz="1700" b="1" dirty="0">
                <a:solidFill>
                  <a:srgbClr val="1A6A77"/>
                </a:solidFill>
                <a:latin typeface="Arial"/>
              </a:rPr>
              <a:t>Imputation médiane — </a:t>
            </a:r>
            <a:r>
              <a:rPr lang="fr-FR" sz="1700" b="0" dirty="0">
                <a:solidFill>
                  <a:srgbClr val="3D3D3D"/>
                </a:solidFill>
                <a:latin typeface="Arial"/>
              </a:rPr>
              <a:t>distance_domicile_km, heures_travail_remunere_sem, connexions_lms_30j, moyenne_partiels_s1, motivation, satisfaction, sentiment_appartenance</a:t>
            </a:r>
          </a:p>
        </p:txBody>
      </p:sp>
      <p:sp>
        <p:nvSpPr>
          <p:cNvPr id="710" name="Shape 711"/>
          <p:cNvSpPr/>
          <p:nvPr/>
        </p:nvSpPr>
        <p:spPr>
          <a:xfrm>
            <a:off x="6540500" y="4648200"/>
            <a:ext cx="635000" cy="25400"/>
          </a:xfrm>
          <a:prstGeom prst="rect">
            <a:avLst/>
          </a:prstGeom>
          <a:solidFill>
            <a:srgbClr val="9FD4DE"/>
          </a:solidFill>
          <a:ln>
            <a:noFill/>
          </a:ln>
        </p:spPr>
        <p:txBody>
          <a:bodyPr wrap="none" lIns="0" tIns="0" rIns="0" bIns="0" anchor="ctr">
            <a:noAutofit/>
          </a:bodyPr>
          <a:lstStyle/>
          <a:p>
            <a:pPr algn="ctr"/>
            <a:endParaRPr/>
          </a:p>
        </p:txBody>
      </p:sp>
      <p:sp>
        <p:nvSpPr>
          <p:cNvPr id="711" name="TextBox 712"/>
          <p:cNvSpPr txBox="1"/>
          <p:nvPr/>
        </p:nvSpPr>
        <p:spPr>
          <a:xfrm>
            <a:off x="6540500" y="5956300"/>
            <a:ext cx="10337800" cy="787400"/>
          </a:xfrm>
          <a:prstGeom prst="rect">
            <a:avLst/>
          </a:prstGeom>
          <a:noFill/>
        </p:spPr>
        <p:txBody>
          <a:bodyPr wrap="square" lIns="0" tIns="0" rIns="0" bIns="0" anchor="t">
            <a:noAutofit/>
          </a:bodyPr>
          <a:lstStyle/>
          <a:p>
            <a:pPr algn="l">
              <a:lnSpc>
                <a:spcPts val="2100"/>
              </a:lnSpc>
              <a:buNone/>
            </a:pPr>
            <a:r>
              <a:rPr lang="fr-FR" sz="1700" b="1" dirty="0">
                <a:solidFill>
                  <a:srgbClr val="1A6A77"/>
                </a:solidFill>
                <a:latin typeface="Arial"/>
              </a:rPr>
              <a:t>Encodage ordinal + médiane — </a:t>
            </a:r>
            <a:r>
              <a:rPr lang="fr-FR" sz="1700" b="0" dirty="0">
                <a:solidFill>
                  <a:srgbClr val="3D3D3D"/>
                </a:solidFill>
                <a:latin typeface="Arial"/>
              </a:rPr>
              <a:t>mention_bac (passable &lt; assez bien &lt; bien &lt; très bien)</a:t>
            </a:r>
          </a:p>
        </p:txBody>
      </p:sp>
      <p:sp>
        <p:nvSpPr>
          <p:cNvPr id="713" name="TextBox 714"/>
          <p:cNvSpPr txBox="1"/>
          <p:nvPr/>
        </p:nvSpPr>
        <p:spPr>
          <a:xfrm>
            <a:off x="1409700" y="7137400"/>
            <a:ext cx="4114800" cy="736600"/>
          </a:xfrm>
          <a:prstGeom prst="rect">
            <a:avLst/>
          </a:prstGeom>
          <a:noFill/>
        </p:spPr>
        <p:txBody>
          <a:bodyPr wrap="square" lIns="0" tIns="0" rIns="0" bIns="0" anchor="t">
            <a:noAutofit/>
          </a:bodyPr>
          <a:lstStyle/>
          <a:p>
            <a:pPr algn="l">
              <a:lnSpc>
                <a:spcPts val="2100"/>
              </a:lnSpc>
              <a:buNone/>
            </a:pPr>
            <a:r>
              <a:rPr lang="fr-FR" sz="1700" b="0" dirty="0">
                <a:solidFill>
                  <a:srgbClr val="4A4A4A"/>
                </a:solidFill>
                <a:latin typeface="Arial"/>
              </a:rPr>
              <a:t>Pipeline ré-appris à chaque pli</a:t>
            </a:r>
          </a:p>
        </p:txBody>
      </p:sp>
      <p:sp>
        <p:nvSpPr>
          <p:cNvPr id="714" name="TextBox 715"/>
          <p:cNvSpPr txBox="1"/>
          <p:nvPr/>
        </p:nvSpPr>
        <p:spPr>
          <a:xfrm>
            <a:off x="6540500" y="6819900"/>
            <a:ext cx="10337800" cy="787400"/>
          </a:xfrm>
          <a:prstGeom prst="rect">
            <a:avLst/>
          </a:prstGeom>
          <a:noFill/>
        </p:spPr>
        <p:txBody>
          <a:bodyPr wrap="square" lIns="0" tIns="0" rIns="0" bIns="0" anchor="t">
            <a:noAutofit/>
          </a:bodyPr>
          <a:lstStyle/>
          <a:p>
            <a:pPr algn="l">
              <a:lnSpc>
                <a:spcPts val="2100"/>
              </a:lnSpc>
              <a:buNone/>
            </a:pPr>
            <a:r>
              <a:rPr lang="fr-FR" sz="1700" b="1" dirty="0">
                <a:solidFill>
                  <a:srgbClr val="1A6A77"/>
                </a:solidFill>
                <a:latin typeface="Arial"/>
              </a:rPr>
              <a:t>One-hot, vocabulaire déclaré — </a:t>
            </a:r>
            <a:r>
              <a:rPr lang="fr-FR" sz="1700" b="0" dirty="0">
                <a:solidFill>
                  <a:srgbClr val="3D3D3D"/>
                </a:solidFill>
                <a:latin typeface="Arial"/>
              </a:rPr>
              <a:t>filiere, bac_type, groupe_td, couleur_carte_etudiante, jour_inscription, etablissement_origine (manquants → « inconnu »)</a:t>
            </a:r>
          </a:p>
        </p:txBody>
      </p:sp>
      <p:sp>
        <p:nvSpPr>
          <p:cNvPr id="715" name="TextBox 716"/>
          <p:cNvSpPr txBox="1"/>
          <p:nvPr/>
        </p:nvSpPr>
        <p:spPr>
          <a:xfrm>
            <a:off x="6540500" y="7950200"/>
            <a:ext cx="10337800" cy="558800"/>
          </a:xfrm>
          <a:prstGeom prst="rect">
            <a:avLst/>
          </a:prstGeom>
          <a:noFill/>
        </p:spPr>
        <p:txBody>
          <a:bodyPr wrap="square" lIns="0" tIns="0" rIns="0" bIns="0" anchor="t">
            <a:noAutofit/>
          </a:bodyPr>
          <a:lstStyle/>
          <a:p>
            <a:pPr algn="l">
              <a:lnSpc>
                <a:spcPts val="2100"/>
              </a:lnSpc>
              <a:buNone/>
            </a:pPr>
            <a:r>
              <a:rPr lang="fr-FR" sz="1700" b="1" dirty="0">
                <a:solidFill>
                  <a:srgbClr val="1A6A77"/>
                </a:solidFill>
                <a:latin typeface="Arial"/>
              </a:rPr>
              <a:t>Retirées de la matrice — </a:t>
            </a:r>
            <a:r>
              <a:rPr lang="fr-FR" sz="1700" b="0" dirty="0">
                <a:solidFill>
                  <a:srgbClr val="3D3D3D"/>
                </a:solidFill>
                <a:latin typeface="Arial"/>
              </a:rPr>
              <a:t>cibles, variables protégées (sexe, boursier), date_inscription</a:t>
            </a:r>
          </a:p>
        </p:txBody>
      </p:sp>
    </p:spTree>
    <p:extLst>
      <p:ext uri="{BB962C8B-B14F-4D97-AF65-F5344CB8AC3E}">
        <p14:creationId xmlns:p14="http://schemas.microsoft.com/office/powerpoint/2010/main" val="3721175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101"/>
          <p:cNvSpPr txBox="1"/>
          <p:nvPr/>
        </p:nvSpPr>
        <p:spPr>
          <a:xfrm>
            <a:off x="1054100" y="825500"/>
            <a:ext cx="12700000" cy="304800"/>
          </a:xfrm>
          <a:prstGeom prst="rect">
            <a:avLst/>
          </a:prstGeom>
          <a:noFill/>
        </p:spPr>
        <p:txBody>
          <a:bodyPr wrap="square" lIns="0" tIns="0" rIns="0" bIns="0" anchor="t">
            <a:noAutofit/>
          </a:bodyPr>
          <a:lstStyle/>
          <a:p>
            <a:pPr algn="l">
              <a:buNone/>
            </a:pPr>
            <a:r>
              <a:rPr lang="fr-FR" sz="1400" b="1" spc="300" dirty="0">
                <a:solidFill>
                  <a:srgbClr val="1A6A77"/>
                </a:solidFill>
                <a:latin typeface="Arial"/>
              </a:rPr>
              <a:t>ACTE 05 · ÉTAPE 2 · BASELINE ET COMPARAISON DES FAMILLES</a:t>
            </a:r>
          </a:p>
        </p:txBody>
      </p:sp>
      <p:sp>
        <p:nvSpPr>
          <p:cNvPr id="127" name="TextBox 127"/>
          <p:cNvSpPr txBox="1"/>
          <p:nvPr/>
        </p:nvSpPr>
        <p:spPr>
          <a:xfrm>
            <a:off x="17048886" y="9309100"/>
            <a:ext cx="273913" cy="304800"/>
          </a:xfrm>
          <a:prstGeom prst="rect">
            <a:avLst/>
          </a:prstGeom>
          <a:noFill/>
        </p:spPr>
        <p:txBody>
          <a:bodyPr wrap="none" lIns="0" tIns="0" rIns="0" bIns="0" anchor="ctr" anchorCtr="0">
            <a:noAutofit/>
          </a:bodyPr>
          <a:lstStyle/>
          <a:p>
            <a:pPr algn="r">
              <a:buNone/>
            </a:pPr>
            <a:r>
              <a:rPr lang="fr-FR" sz="1400" b="1" dirty="0">
                <a:solidFill>
                  <a:srgbClr val="56B9CA"/>
                </a:solidFill>
                <a:latin typeface="Arial"/>
              </a:rPr>
              <a:t>21</a:t>
            </a:r>
          </a:p>
        </p:txBody>
      </p:sp>
      <p:pic>
        <p:nvPicPr>
          <p:cNvPr id="2" name="Image 1">
            <a:extLst>
              <a:ext uri="{FF2B5EF4-FFF2-40B4-BE49-F238E27FC236}">
                <a16:creationId xmlns:a16="http://schemas.microsoft.com/office/drawing/2014/main" id="{4F208C3F-A416-B690-B40E-74FC5AF1D06C}"/>
              </a:ext>
            </a:extLst>
          </p:cNvPr>
          <p:cNvPicPr>
            <a:picLocks noChangeAspect="1"/>
          </p:cNvPicPr>
          <p:nvPr/>
        </p:nvPicPr>
        <p:blipFill>
          <a:blip r:embed="rId3"/>
          <a:stretch>
            <a:fillRect/>
          </a:stretch>
        </p:blipFill>
        <p:spPr>
          <a:xfrm>
            <a:off x="146050" y="2092960"/>
            <a:ext cx="17995900" cy="5590530"/>
          </a:xfrm>
          <a:prstGeom prst="rect">
            <a:avLst/>
          </a:prstGeom>
        </p:spPr>
      </p:pic>
      <p:graphicFrame>
        <p:nvGraphicFramePr>
          <p:cNvPr id="5" name="Tableau 4">
            <a:extLst>
              <a:ext uri="{FF2B5EF4-FFF2-40B4-BE49-F238E27FC236}">
                <a16:creationId xmlns:a16="http://schemas.microsoft.com/office/drawing/2014/main" id="{78E122E7-1C30-4E7A-8020-E0C24C4CF1AB}"/>
              </a:ext>
            </a:extLst>
          </p:cNvPr>
          <p:cNvGraphicFramePr>
            <a:graphicFrameLocks noGrp="1"/>
          </p:cNvGraphicFramePr>
          <p:nvPr>
            <p:extLst>
              <p:ext uri="{D42A27DB-BD31-4B8C-83A1-F6EECF244321}">
                <p14:modId xmlns:p14="http://schemas.microsoft.com/office/powerpoint/2010/main" val="3109873218"/>
              </p:ext>
            </p:extLst>
          </p:nvPr>
        </p:nvGraphicFramePr>
        <p:xfrm>
          <a:off x="1397000" y="7924800"/>
          <a:ext cx="7366000" cy="1524000"/>
        </p:xfrm>
        <a:graphic>
          <a:graphicData uri="http://schemas.openxmlformats.org/drawingml/2006/table">
            <a:tbl>
              <a:tblPr firstRow="1" bandRow="1">
                <a:tableStyleId>{5C22544A-7EE6-4342-B048-85BDC9FD1C3A}</a:tableStyleId>
              </a:tblPr>
              <a:tblGrid>
                <a:gridCol w="2266000">
                  <a:extLst>
                    <a:ext uri="{9D8B030D-6E8A-4147-A177-3AD203B41FA5}">
                      <a16:colId xmlns:a16="http://schemas.microsoft.com/office/drawing/2014/main" val="885699817"/>
                    </a:ext>
                  </a:extLst>
                </a:gridCol>
                <a:gridCol w="1700000">
                  <a:extLst>
                    <a:ext uri="{9D8B030D-6E8A-4147-A177-3AD203B41FA5}">
                      <a16:colId xmlns:a16="http://schemas.microsoft.com/office/drawing/2014/main" val="3571906384"/>
                    </a:ext>
                  </a:extLst>
                </a:gridCol>
                <a:gridCol w="1700000">
                  <a:extLst>
                    <a:ext uri="{9D8B030D-6E8A-4147-A177-3AD203B41FA5}">
                      <a16:colId xmlns:a16="http://schemas.microsoft.com/office/drawing/2014/main" val="3855226769"/>
                    </a:ext>
                  </a:extLst>
                </a:gridCol>
                <a:gridCol w="1700000">
                  <a:extLst>
                    <a:ext uri="{9D8B030D-6E8A-4147-A177-3AD203B41FA5}">
                      <a16:colId xmlns:a16="http://schemas.microsoft.com/office/drawing/2014/main" val="1234567890"/>
                    </a:ext>
                  </a:extLst>
                </a:gridCol>
              </a:tblGrid>
              <a:tr h="381000">
                <a:tc>
                  <a:txBody>
                    <a:bodyPr/>
                    <a:lstStyle/>
                    <a:p>
                      <a:pPr algn="l"/>
                      <a:r>
                        <a:rPr lang="fr-FR" sz="1600" b="1" dirty="0">
                          <a:solidFill>
                            <a:srgbClr val="FFFFFF"/>
                          </a:solidFill>
                          <a:latin typeface="Arial"/>
                        </a:rPr>
                        <a:t>Cible ABANDON</a:t>
                      </a:r>
                    </a:p>
                  </a:txBody>
                  <a:tcPr anchor="ctr">
                    <a:solidFill>
                      <a:srgbClr val="1A6A77"/>
                    </a:solidFill>
                  </a:tcPr>
                </a:tc>
                <a:tc>
                  <a:txBody>
                    <a:bodyPr/>
                    <a:lstStyle/>
                    <a:p>
                      <a:pPr algn="r"/>
                      <a:r>
                        <a:rPr lang="fr-FR" sz="1600" b="1" dirty="0">
                          <a:solidFill>
                            <a:srgbClr val="FFFFFF"/>
                          </a:solidFill>
                          <a:latin typeface="Arial"/>
                          <a:cs typeface="Arial"/>
                        </a:rPr>
                        <a:t>ROC-AUC</a:t>
                      </a:r>
                    </a:p>
                  </a:txBody>
                  <a:tcPr anchor="ctr">
                    <a:solidFill>
                      <a:srgbClr val="1A6A77"/>
                    </a:solidFill>
                  </a:tcPr>
                </a:tc>
                <a:tc>
                  <a:txBody>
                    <a:bodyPr/>
                    <a:lstStyle/>
                    <a:p>
                      <a:pPr algn="r"/>
                      <a:r>
                        <a:rPr lang="fr-FR" sz="1600" b="1" dirty="0">
                          <a:solidFill>
                            <a:srgbClr val="FFFFFF"/>
                          </a:solidFill>
                          <a:latin typeface="Arial"/>
                          <a:cs typeface="Arial"/>
                        </a:rPr>
                        <a:t>PR-AUC</a:t>
                      </a:r>
                    </a:p>
                  </a:txBody>
                  <a:tcPr anchor="ctr">
                    <a:solidFill>
                      <a:srgbClr val="1A6A77"/>
                    </a:solidFill>
                  </a:tcPr>
                </a:tc>
                <a:tc>
                  <a:txBody>
                    <a:bodyPr/>
                    <a:lstStyle/>
                    <a:p>
                      <a:pPr algn="r"/>
                      <a:r>
                        <a:rPr lang="fr-FR" sz="1600" b="1" dirty="0">
                          <a:solidFill>
                            <a:srgbClr val="FFFFFF"/>
                          </a:solidFill>
                          <a:latin typeface="Arial"/>
                          <a:cs typeface="Arial"/>
                        </a:rPr>
                        <a:t>Brier</a:t>
                      </a:r>
                    </a:p>
                  </a:txBody>
                  <a:tcPr anchor="ctr">
                    <a:solidFill>
                      <a:srgbClr val="1A6A77"/>
                    </a:solidFill>
                  </a:tcPr>
                </a:tc>
                <a:extLst>
                  <a:ext uri="{0D108BD9-81ED-4DB2-BD59-A6C34878D82A}">
                    <a16:rowId xmlns:a16="http://schemas.microsoft.com/office/drawing/2014/main" val="1590984232"/>
                  </a:ext>
                </a:extLst>
              </a:tr>
              <a:tr h="381000">
                <a:tc>
                  <a:txBody>
                    <a:bodyPr/>
                    <a:lstStyle/>
                    <a:p>
                      <a:pPr algn="l"/>
                      <a:r>
                        <a:rPr lang="fr-FR" sz="1600" b="1" dirty="0" err="1">
                          <a:solidFill>
                            <a:srgbClr val="1E7A3C"/>
                          </a:solidFill>
                          <a:latin typeface="Arial"/>
                          <a:cs typeface="Arial"/>
                        </a:rPr>
                        <a:t>Logreg</a:t>
                      </a:r>
                      <a:r>
                        <a:rPr lang="fr-FR" sz="1600" b="1" dirty="0">
                          <a:solidFill>
                            <a:srgbClr val="1E7A3C"/>
                          </a:solidFill>
                          <a:latin typeface="Arial"/>
                          <a:cs typeface="Arial"/>
                        </a:rPr>
                        <a:t> (Baseline)</a:t>
                      </a:r>
                    </a:p>
                  </a:txBody>
                  <a:tcPr anchor="ctr">
                    <a:solidFill>
                      <a:srgbClr val="EAF5EE"/>
                    </a:solidFill>
                  </a:tcPr>
                </a:tc>
                <a:tc>
                  <a:txBody>
                    <a:bodyPr/>
                    <a:lstStyle/>
                    <a:p>
                      <a:pPr algn="r"/>
                      <a:r>
                        <a:rPr lang="fr-FR" sz="1600" b="1" dirty="0">
                          <a:solidFill>
                            <a:srgbClr val="1E7A3C"/>
                          </a:solidFill>
                          <a:latin typeface="Arial"/>
                          <a:cs typeface="Arial"/>
                        </a:rPr>
                        <a:t>0,947</a:t>
                      </a:r>
                    </a:p>
                  </a:txBody>
                  <a:tcPr anchor="ctr">
                    <a:solidFill>
                      <a:srgbClr val="EAF5EE"/>
                    </a:solidFill>
                  </a:tcPr>
                </a:tc>
                <a:tc>
                  <a:txBody>
                    <a:bodyPr/>
                    <a:lstStyle/>
                    <a:p>
                      <a:pPr algn="r"/>
                      <a:r>
                        <a:rPr lang="fr-FR" sz="1600" b="1" dirty="0">
                          <a:solidFill>
                            <a:srgbClr val="1E7A3C"/>
                          </a:solidFill>
                          <a:latin typeface="Arial"/>
                          <a:cs typeface="Arial"/>
                        </a:rPr>
                        <a:t>0,876</a:t>
                      </a:r>
                    </a:p>
                  </a:txBody>
                  <a:tcPr anchor="ctr">
                    <a:solidFill>
                      <a:srgbClr val="EAF5EE"/>
                    </a:solidFill>
                  </a:tcPr>
                </a:tc>
                <a:tc>
                  <a:txBody>
                    <a:bodyPr/>
                    <a:lstStyle/>
                    <a:p>
                      <a:pPr algn="r"/>
                      <a:r>
                        <a:rPr lang="fr-FR" sz="1600" b="1" dirty="0">
                          <a:solidFill>
                            <a:srgbClr val="1E7A3C"/>
                          </a:solidFill>
                          <a:latin typeface="Arial"/>
                          <a:cs typeface="Arial"/>
                        </a:rPr>
                        <a:t>0,082</a:t>
                      </a:r>
                    </a:p>
                  </a:txBody>
                  <a:tcPr anchor="ctr">
                    <a:solidFill>
                      <a:srgbClr val="EAF5EE"/>
                    </a:solidFill>
                  </a:tcPr>
                </a:tc>
                <a:extLst>
                  <a:ext uri="{0D108BD9-81ED-4DB2-BD59-A6C34878D82A}">
                    <a16:rowId xmlns:a16="http://schemas.microsoft.com/office/drawing/2014/main" val="2475696863"/>
                  </a:ext>
                </a:extLst>
              </a:tr>
              <a:tr h="381000">
                <a:tc>
                  <a:txBody>
                    <a:bodyPr/>
                    <a:lstStyle/>
                    <a:p>
                      <a:pPr algn="l"/>
                      <a:r>
                        <a:rPr lang="fr-FR" sz="1600" b="0">
                          <a:solidFill>
                            <a:srgbClr val="3D3D3D"/>
                          </a:solidFill>
                          <a:latin typeface="Arial"/>
                          <a:cs typeface="Arial"/>
                        </a:rPr>
                        <a:t>random_forest</a:t>
                      </a:r>
                    </a:p>
                  </a:txBody>
                  <a:tcPr anchor="ctr">
                    <a:solidFill>
                      <a:srgbClr val="F5F5F5"/>
                    </a:solidFill>
                  </a:tcPr>
                </a:tc>
                <a:tc>
                  <a:txBody>
                    <a:bodyPr/>
                    <a:lstStyle/>
                    <a:p>
                      <a:pPr algn="r"/>
                      <a:r>
                        <a:rPr lang="fr-FR" sz="1600" b="0">
                          <a:solidFill>
                            <a:srgbClr val="3D3D3D"/>
                          </a:solidFill>
                          <a:latin typeface="Arial"/>
                          <a:cs typeface="Arial"/>
                        </a:rPr>
                        <a:t>0,940</a:t>
                      </a:r>
                    </a:p>
                  </a:txBody>
                  <a:tcPr anchor="ctr">
                    <a:solidFill>
                      <a:srgbClr val="F5F5F5"/>
                    </a:solidFill>
                  </a:tcPr>
                </a:tc>
                <a:tc>
                  <a:txBody>
                    <a:bodyPr/>
                    <a:lstStyle/>
                    <a:p>
                      <a:pPr algn="r"/>
                      <a:r>
                        <a:rPr lang="fr-FR" sz="1600" b="0" dirty="0">
                          <a:solidFill>
                            <a:srgbClr val="3D3D3D"/>
                          </a:solidFill>
                          <a:latin typeface="Arial"/>
                          <a:cs typeface="Arial"/>
                        </a:rPr>
                        <a:t>0,849</a:t>
                      </a:r>
                    </a:p>
                  </a:txBody>
                  <a:tcPr anchor="ctr">
                    <a:solidFill>
                      <a:srgbClr val="F5F5F5"/>
                    </a:solidFill>
                  </a:tcPr>
                </a:tc>
                <a:tc>
                  <a:txBody>
                    <a:bodyPr/>
                    <a:lstStyle/>
                    <a:p>
                      <a:pPr algn="r"/>
                      <a:r>
                        <a:rPr lang="fr-FR" sz="1600" b="0" dirty="0">
                          <a:solidFill>
                            <a:srgbClr val="3D3D3D"/>
                          </a:solidFill>
                          <a:latin typeface="Arial"/>
                          <a:cs typeface="Arial"/>
                        </a:rPr>
                        <a:t>0,089</a:t>
                      </a:r>
                    </a:p>
                  </a:txBody>
                  <a:tcPr anchor="ctr">
                    <a:solidFill>
                      <a:srgbClr val="F5F5F5"/>
                    </a:solidFill>
                  </a:tcPr>
                </a:tc>
                <a:extLst>
                  <a:ext uri="{0D108BD9-81ED-4DB2-BD59-A6C34878D82A}">
                    <a16:rowId xmlns:a16="http://schemas.microsoft.com/office/drawing/2014/main" val="1216871400"/>
                  </a:ext>
                </a:extLst>
              </a:tr>
              <a:tr h="381000">
                <a:tc>
                  <a:txBody>
                    <a:bodyPr/>
                    <a:lstStyle/>
                    <a:p>
                      <a:pPr algn="l"/>
                      <a:r>
                        <a:rPr lang="fr-FR" sz="1600" b="0">
                          <a:solidFill>
                            <a:srgbClr val="3D3D3D"/>
                          </a:solidFill>
                          <a:latin typeface="Arial"/>
                          <a:cs typeface="Arial"/>
                        </a:rPr>
                        <a:t>xgboost</a:t>
                      </a:r>
                    </a:p>
                  </a:txBody>
                  <a:tcPr anchor="ctr">
                    <a:solidFill>
                      <a:srgbClr val="F5F5F5"/>
                    </a:solidFill>
                  </a:tcPr>
                </a:tc>
                <a:tc>
                  <a:txBody>
                    <a:bodyPr/>
                    <a:lstStyle/>
                    <a:p>
                      <a:pPr algn="r"/>
                      <a:r>
                        <a:rPr lang="fr-FR" sz="1600" b="0">
                          <a:solidFill>
                            <a:srgbClr val="3D3D3D"/>
                          </a:solidFill>
                          <a:latin typeface="Arial"/>
                          <a:cs typeface="Arial"/>
                        </a:rPr>
                        <a:t>0,937</a:t>
                      </a:r>
                    </a:p>
                  </a:txBody>
                  <a:tcPr anchor="ctr">
                    <a:solidFill>
                      <a:srgbClr val="F5F5F5"/>
                    </a:solidFill>
                  </a:tcPr>
                </a:tc>
                <a:tc>
                  <a:txBody>
                    <a:bodyPr/>
                    <a:lstStyle/>
                    <a:p>
                      <a:pPr algn="r"/>
                      <a:r>
                        <a:rPr lang="fr-FR" sz="1600" b="0" dirty="0">
                          <a:solidFill>
                            <a:srgbClr val="3D3D3D"/>
                          </a:solidFill>
                          <a:latin typeface="Arial"/>
                          <a:cs typeface="Arial"/>
                        </a:rPr>
                        <a:t>0,846</a:t>
                      </a:r>
                    </a:p>
                  </a:txBody>
                  <a:tcPr anchor="ctr">
                    <a:solidFill>
                      <a:srgbClr val="F5F5F5"/>
                    </a:solidFill>
                  </a:tcPr>
                </a:tc>
                <a:tc>
                  <a:txBody>
                    <a:bodyPr/>
                    <a:lstStyle/>
                    <a:p>
                      <a:pPr algn="r"/>
                      <a:r>
                        <a:rPr lang="fr-FR" sz="1600" b="0" dirty="0">
                          <a:solidFill>
                            <a:srgbClr val="3D3D3D"/>
                          </a:solidFill>
                          <a:latin typeface="Arial"/>
                          <a:cs typeface="Arial"/>
                        </a:rPr>
                        <a:t>0,099</a:t>
                      </a:r>
                    </a:p>
                  </a:txBody>
                  <a:tcPr anchor="ctr">
                    <a:solidFill>
                      <a:srgbClr val="F5F5F5"/>
                    </a:solidFill>
                  </a:tcPr>
                </a:tc>
                <a:extLst>
                  <a:ext uri="{0D108BD9-81ED-4DB2-BD59-A6C34878D82A}">
                    <a16:rowId xmlns:a16="http://schemas.microsoft.com/office/drawing/2014/main" val="1556950783"/>
                  </a:ext>
                </a:extLst>
              </a:tr>
            </a:tbl>
          </a:graphicData>
        </a:graphic>
      </p:graphicFrame>
      <p:graphicFrame>
        <p:nvGraphicFramePr>
          <p:cNvPr id="7" name="Tableau 6">
            <a:extLst>
              <a:ext uri="{FF2B5EF4-FFF2-40B4-BE49-F238E27FC236}">
                <a16:creationId xmlns:a16="http://schemas.microsoft.com/office/drawing/2014/main" id="{E2454679-B77B-467B-8EDF-7E62F6E538BE}"/>
              </a:ext>
            </a:extLst>
          </p:cNvPr>
          <p:cNvGraphicFramePr>
            <a:graphicFrameLocks noGrp="1"/>
          </p:cNvGraphicFramePr>
          <p:nvPr/>
        </p:nvGraphicFramePr>
        <p:xfrm>
          <a:off x="9144000" y="7924800"/>
          <a:ext cx="7366000" cy="1524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1825674884"/>
                    </a:ext>
                  </a:extLst>
                </a:gridCol>
                <a:gridCol w="1651000">
                  <a:extLst>
                    <a:ext uri="{9D8B030D-6E8A-4147-A177-3AD203B41FA5}">
                      <a16:colId xmlns:a16="http://schemas.microsoft.com/office/drawing/2014/main" val="4218868562"/>
                    </a:ext>
                  </a:extLst>
                </a:gridCol>
                <a:gridCol w="1651000">
                  <a:extLst>
                    <a:ext uri="{9D8B030D-6E8A-4147-A177-3AD203B41FA5}">
                      <a16:colId xmlns:a16="http://schemas.microsoft.com/office/drawing/2014/main" val="2813443068"/>
                    </a:ext>
                  </a:extLst>
                </a:gridCol>
                <a:gridCol w="1651000">
                  <a:extLst>
                    <a:ext uri="{9D8B030D-6E8A-4147-A177-3AD203B41FA5}">
                      <a16:colId xmlns:a16="http://schemas.microsoft.com/office/drawing/2014/main" val="2165001379"/>
                    </a:ext>
                  </a:extLst>
                </a:gridCol>
              </a:tblGrid>
              <a:tr h="381000">
                <a:tc>
                  <a:txBody>
                    <a:bodyPr/>
                    <a:lstStyle/>
                    <a:p>
                      <a:pPr algn="l"/>
                      <a:r>
                        <a:rPr lang="fr-FR" sz="1500" b="1" dirty="0">
                          <a:solidFill>
                            <a:srgbClr val="FFFFFF"/>
                          </a:solidFill>
                          <a:latin typeface="Arial"/>
                        </a:rPr>
                        <a:t>Cible MOYENNE FINALE</a:t>
                      </a:r>
                    </a:p>
                  </a:txBody>
                  <a:tcPr anchor="ctr">
                    <a:solidFill>
                      <a:srgbClr val="1A6A77"/>
                    </a:solidFill>
                  </a:tcPr>
                </a:tc>
                <a:tc>
                  <a:txBody>
                    <a:bodyPr/>
                    <a:lstStyle/>
                    <a:p>
                      <a:pPr algn="r"/>
                      <a:r>
                        <a:rPr lang="fr-FR" sz="1600" b="1">
                          <a:solidFill>
                            <a:srgbClr val="FFFFFF"/>
                          </a:solidFill>
                          <a:latin typeface="Arial"/>
                          <a:cs typeface="Arial"/>
                        </a:rPr>
                        <a:t>MAE</a:t>
                      </a:r>
                    </a:p>
                  </a:txBody>
                  <a:tcPr anchor="ctr">
                    <a:solidFill>
                      <a:srgbClr val="1A6A77"/>
                    </a:solidFill>
                  </a:tcPr>
                </a:tc>
                <a:tc>
                  <a:txBody>
                    <a:bodyPr/>
                    <a:lstStyle/>
                    <a:p>
                      <a:pPr algn="r"/>
                      <a:r>
                        <a:rPr lang="fr-FR" sz="1600" b="1">
                          <a:solidFill>
                            <a:srgbClr val="FFFFFF"/>
                          </a:solidFill>
                          <a:latin typeface="Arial"/>
                          <a:cs typeface="Arial"/>
                        </a:rPr>
                        <a:t>RMSE</a:t>
                      </a:r>
                    </a:p>
                  </a:txBody>
                  <a:tcPr anchor="ctr">
                    <a:solidFill>
                      <a:srgbClr val="1A6A77"/>
                    </a:solidFill>
                  </a:tcPr>
                </a:tc>
                <a:tc>
                  <a:txBody>
                    <a:bodyPr/>
                    <a:lstStyle/>
                    <a:p>
                      <a:pPr algn="r"/>
                      <a:r>
                        <a:rPr lang="fr-FR" sz="1600" b="1">
                          <a:solidFill>
                            <a:srgbClr val="FFFFFF"/>
                          </a:solidFill>
                          <a:latin typeface="Arial"/>
                          <a:cs typeface="Arial"/>
                        </a:rPr>
                        <a:t>R²</a:t>
                      </a:r>
                    </a:p>
                  </a:txBody>
                  <a:tcPr anchor="ctr">
                    <a:solidFill>
                      <a:srgbClr val="1A6A77"/>
                    </a:solidFill>
                  </a:tcPr>
                </a:tc>
                <a:extLst>
                  <a:ext uri="{0D108BD9-81ED-4DB2-BD59-A6C34878D82A}">
                    <a16:rowId xmlns:a16="http://schemas.microsoft.com/office/drawing/2014/main" val="795853923"/>
                  </a:ext>
                </a:extLst>
              </a:tr>
              <a:tr h="381000">
                <a:tc>
                  <a:txBody>
                    <a:bodyPr/>
                    <a:lstStyle/>
                    <a:p>
                      <a:pPr algn="l"/>
                      <a:r>
                        <a:rPr lang="fr-FR" sz="1600" b="0" dirty="0">
                          <a:solidFill>
                            <a:srgbClr val="3D3D3D"/>
                          </a:solidFill>
                          <a:latin typeface="Arial"/>
                          <a:cs typeface="Arial"/>
                        </a:rPr>
                        <a:t>Ridge (Baseline)</a:t>
                      </a:r>
                    </a:p>
                  </a:txBody>
                  <a:tcPr anchor="ctr">
                    <a:solidFill>
                      <a:srgbClr val="F5F5F5"/>
                    </a:solidFill>
                  </a:tcPr>
                </a:tc>
                <a:tc>
                  <a:txBody>
                    <a:bodyPr/>
                    <a:lstStyle/>
                    <a:p>
                      <a:pPr algn="r"/>
                      <a:r>
                        <a:rPr lang="fr-FR" sz="1600" b="0">
                          <a:solidFill>
                            <a:srgbClr val="3D3D3D"/>
                          </a:solidFill>
                          <a:latin typeface="Arial"/>
                          <a:cs typeface="Arial"/>
                        </a:rPr>
                        <a:t>2,455</a:t>
                      </a:r>
                    </a:p>
                  </a:txBody>
                  <a:tcPr anchor="ctr">
                    <a:solidFill>
                      <a:srgbClr val="F5F5F5"/>
                    </a:solidFill>
                  </a:tcPr>
                </a:tc>
                <a:tc>
                  <a:txBody>
                    <a:bodyPr/>
                    <a:lstStyle/>
                    <a:p>
                      <a:pPr algn="r"/>
                      <a:r>
                        <a:rPr lang="fr-FR" sz="1600" b="0">
                          <a:solidFill>
                            <a:srgbClr val="3D3D3D"/>
                          </a:solidFill>
                          <a:latin typeface="Arial"/>
                          <a:cs typeface="Arial"/>
                        </a:rPr>
                        <a:t>3,084</a:t>
                      </a:r>
                    </a:p>
                  </a:txBody>
                  <a:tcPr anchor="ctr">
                    <a:solidFill>
                      <a:srgbClr val="F5F5F5"/>
                    </a:solidFill>
                  </a:tcPr>
                </a:tc>
                <a:tc>
                  <a:txBody>
                    <a:bodyPr/>
                    <a:lstStyle/>
                    <a:p>
                      <a:pPr algn="r"/>
                      <a:r>
                        <a:rPr lang="fr-FR" sz="1600" b="0">
                          <a:solidFill>
                            <a:srgbClr val="3D3D3D"/>
                          </a:solidFill>
                          <a:latin typeface="Arial"/>
                          <a:cs typeface="Arial"/>
                        </a:rPr>
                        <a:t>0,676</a:t>
                      </a:r>
                    </a:p>
                  </a:txBody>
                  <a:tcPr anchor="ctr">
                    <a:solidFill>
                      <a:srgbClr val="F5F5F5"/>
                    </a:solidFill>
                  </a:tcPr>
                </a:tc>
                <a:extLst>
                  <a:ext uri="{0D108BD9-81ED-4DB2-BD59-A6C34878D82A}">
                    <a16:rowId xmlns:a16="http://schemas.microsoft.com/office/drawing/2014/main" val="1082108054"/>
                  </a:ext>
                </a:extLst>
              </a:tr>
              <a:tr h="381000">
                <a:tc>
                  <a:txBody>
                    <a:bodyPr/>
                    <a:lstStyle/>
                    <a:p>
                      <a:pPr algn="l"/>
                      <a:r>
                        <a:rPr lang="fr-FR" sz="1600" b="0">
                          <a:solidFill>
                            <a:srgbClr val="3D3D3D"/>
                          </a:solidFill>
                          <a:latin typeface="Arial"/>
                          <a:cs typeface="Arial"/>
                        </a:rPr>
                        <a:t>random_forest</a:t>
                      </a:r>
                    </a:p>
                  </a:txBody>
                  <a:tcPr anchor="ctr">
                    <a:solidFill>
                      <a:srgbClr val="F5F5F5"/>
                    </a:solidFill>
                  </a:tcPr>
                </a:tc>
                <a:tc>
                  <a:txBody>
                    <a:bodyPr/>
                    <a:lstStyle/>
                    <a:p>
                      <a:pPr algn="r"/>
                      <a:r>
                        <a:rPr lang="fr-FR" sz="1600" b="0">
                          <a:solidFill>
                            <a:srgbClr val="3D3D3D"/>
                          </a:solidFill>
                          <a:latin typeface="Arial"/>
                          <a:cs typeface="Arial"/>
                        </a:rPr>
                        <a:t>2,275</a:t>
                      </a:r>
                    </a:p>
                  </a:txBody>
                  <a:tcPr anchor="ctr">
                    <a:solidFill>
                      <a:srgbClr val="F5F5F5"/>
                    </a:solidFill>
                  </a:tcPr>
                </a:tc>
                <a:tc>
                  <a:txBody>
                    <a:bodyPr/>
                    <a:lstStyle/>
                    <a:p>
                      <a:pPr algn="r"/>
                      <a:r>
                        <a:rPr lang="fr-FR" sz="1600" b="0">
                          <a:solidFill>
                            <a:srgbClr val="3D3D3D"/>
                          </a:solidFill>
                          <a:latin typeface="Arial"/>
                          <a:cs typeface="Arial"/>
                        </a:rPr>
                        <a:t>3,062</a:t>
                      </a:r>
                    </a:p>
                  </a:txBody>
                  <a:tcPr anchor="ctr">
                    <a:solidFill>
                      <a:srgbClr val="F5F5F5"/>
                    </a:solidFill>
                  </a:tcPr>
                </a:tc>
                <a:tc>
                  <a:txBody>
                    <a:bodyPr/>
                    <a:lstStyle/>
                    <a:p>
                      <a:pPr algn="r"/>
                      <a:r>
                        <a:rPr lang="fr-FR" sz="1600" b="0">
                          <a:solidFill>
                            <a:srgbClr val="3D3D3D"/>
                          </a:solidFill>
                          <a:latin typeface="Arial"/>
                          <a:cs typeface="Arial"/>
                        </a:rPr>
                        <a:t>0,680</a:t>
                      </a:r>
                    </a:p>
                  </a:txBody>
                  <a:tcPr anchor="ctr">
                    <a:solidFill>
                      <a:srgbClr val="F5F5F5"/>
                    </a:solidFill>
                  </a:tcPr>
                </a:tc>
                <a:extLst>
                  <a:ext uri="{0D108BD9-81ED-4DB2-BD59-A6C34878D82A}">
                    <a16:rowId xmlns:a16="http://schemas.microsoft.com/office/drawing/2014/main" val="2667031851"/>
                  </a:ext>
                </a:extLst>
              </a:tr>
              <a:tr h="381000">
                <a:tc>
                  <a:txBody>
                    <a:bodyPr/>
                    <a:lstStyle/>
                    <a:p>
                      <a:pPr algn="l"/>
                      <a:r>
                        <a:rPr lang="fr-FR" sz="1600" b="1">
                          <a:solidFill>
                            <a:srgbClr val="1E7A3C"/>
                          </a:solidFill>
                          <a:latin typeface="Arial"/>
                          <a:cs typeface="Arial"/>
                        </a:rPr>
                        <a:t>gradient_boosting</a:t>
                      </a:r>
                    </a:p>
                  </a:txBody>
                  <a:tcPr anchor="ctr">
                    <a:solidFill>
                      <a:srgbClr val="EAF5EE"/>
                    </a:solidFill>
                  </a:tcPr>
                </a:tc>
                <a:tc>
                  <a:txBody>
                    <a:bodyPr/>
                    <a:lstStyle/>
                    <a:p>
                      <a:pPr algn="r"/>
                      <a:r>
                        <a:rPr lang="fr-FR" sz="1600" b="1">
                          <a:solidFill>
                            <a:srgbClr val="1E7A3C"/>
                          </a:solidFill>
                          <a:latin typeface="Arial"/>
                          <a:cs typeface="Arial"/>
                        </a:rPr>
                        <a:t>2,196</a:t>
                      </a:r>
                    </a:p>
                  </a:txBody>
                  <a:tcPr anchor="ctr">
                    <a:solidFill>
                      <a:srgbClr val="EAF5EE"/>
                    </a:solidFill>
                  </a:tcPr>
                </a:tc>
                <a:tc>
                  <a:txBody>
                    <a:bodyPr/>
                    <a:lstStyle/>
                    <a:p>
                      <a:pPr algn="r"/>
                      <a:r>
                        <a:rPr lang="fr-FR" sz="1600" b="1">
                          <a:solidFill>
                            <a:srgbClr val="1E7A3C"/>
                          </a:solidFill>
                          <a:latin typeface="Arial"/>
                          <a:cs typeface="Arial"/>
                        </a:rPr>
                        <a:t>2,973</a:t>
                      </a:r>
                    </a:p>
                  </a:txBody>
                  <a:tcPr anchor="ctr">
                    <a:solidFill>
                      <a:srgbClr val="EAF5EE"/>
                    </a:solidFill>
                  </a:tcPr>
                </a:tc>
                <a:tc>
                  <a:txBody>
                    <a:bodyPr/>
                    <a:lstStyle/>
                    <a:p>
                      <a:pPr algn="r"/>
                      <a:r>
                        <a:rPr lang="fr-FR" sz="1600" b="1" dirty="0">
                          <a:solidFill>
                            <a:srgbClr val="1E7A3C"/>
                          </a:solidFill>
                          <a:latin typeface="Arial"/>
                          <a:cs typeface="Arial"/>
                        </a:rPr>
                        <a:t>0,699</a:t>
                      </a:r>
                    </a:p>
                  </a:txBody>
                  <a:tcPr anchor="ctr">
                    <a:solidFill>
                      <a:srgbClr val="EAF5EE"/>
                    </a:solidFill>
                  </a:tcPr>
                </a:tc>
                <a:extLst>
                  <a:ext uri="{0D108BD9-81ED-4DB2-BD59-A6C34878D82A}">
                    <a16:rowId xmlns:a16="http://schemas.microsoft.com/office/drawing/2014/main" val="883778727"/>
                  </a:ext>
                </a:extLst>
              </a:tr>
            </a:tbl>
          </a:graphicData>
        </a:graphic>
      </p:graphicFrame>
      <p:sp>
        <p:nvSpPr>
          <p:cNvPr id="4" name="TextBox titre">
            <a:extLst>
              <a:ext uri="{FF2B5EF4-FFF2-40B4-BE49-F238E27FC236}">
                <a16:creationId xmlns:a16="http://schemas.microsoft.com/office/drawing/2014/main" id="{3BDC3720-1051-479E-9BD0-D7265715A74A}"/>
              </a:ext>
            </a:extLst>
          </p:cNvPr>
          <p:cNvSpPr txBox="1"/>
          <p:nvPr/>
        </p:nvSpPr>
        <p:spPr>
          <a:xfrm>
            <a:off x="1054100" y="1168400"/>
            <a:ext cx="13970000" cy="558800"/>
          </a:xfrm>
          <a:prstGeom prst="rect">
            <a:avLst/>
          </a:prstGeom>
          <a:noFill/>
        </p:spPr>
        <p:txBody>
          <a:bodyPr vertOverflow="overflow" vert="horz" wrap="none" rtlCol="0" anchor="ctr" anchorCtr="0">
            <a:noAutofit/>
          </a:bodyPr>
          <a:lstStyle/>
          <a:p>
            <a:pPr algn="l">
              <a:buNone/>
            </a:pPr>
            <a:r>
              <a:rPr lang="fr-FR" sz="3200" b="1" dirty="0">
                <a:solidFill>
                  <a:srgbClr val="000000"/>
                </a:solidFill>
                <a:latin typeface="Arial"/>
              </a:rPr>
              <a:t>Baseline vs 2 autres modèles</a:t>
            </a:r>
          </a:p>
        </p:txBody>
      </p:sp>
      <p:sp>
        <p:nvSpPr>
          <p:cNvPr id="8" name="Bouton retour frise">
            <a:hlinkClick r:id="rId4" action="ppaction://hlinksldjump"/>
            <a:extLst>
              <a:ext uri="{FF2B5EF4-FFF2-40B4-BE49-F238E27FC236}">
                <a16:creationId xmlns:a16="http://schemas.microsoft.com/office/drawing/2014/main" id="{9447313D-63C4-C5C0-25EE-D8C0BD8C077E}"/>
              </a:ext>
            </a:extLst>
          </p:cNvPr>
          <p:cNvSpPr/>
          <p:nvPr/>
        </p:nvSpPr>
        <p:spPr>
          <a:xfrm>
            <a:off x="15687040" y="711200"/>
            <a:ext cx="1559560" cy="457200"/>
          </a:xfrm>
          <a:prstGeom prst="roundRect">
            <a:avLst>
              <a:gd name="adj" fmla="val 50000"/>
            </a:avLst>
          </a:prstGeom>
          <a:solidFill>
            <a:srgbClr val="EAF5F7"/>
          </a:solidFill>
          <a:ln w="12700">
            <a:solidFill>
              <a:srgbClr val="BFE3EA"/>
            </a:solidFill>
          </a:ln>
        </p:spPr>
        <p:txBody>
          <a:bodyPr wrap="none" lIns="0" tIns="0" rIns="0" bIns="0" anchor="ctr"/>
          <a:lstStyle/>
          <a:p>
            <a:pPr algn="ctr"/>
            <a:r>
              <a:rPr lang="fr-FR" sz="1600" b="1" dirty="0">
                <a:solidFill>
                  <a:srgbClr val="1A6A77"/>
                </a:solidFill>
                <a:latin typeface="Arial"/>
              </a:rPr>
              <a:t>← Retour</a:t>
            </a:r>
          </a:p>
        </p:txBody>
      </p:sp>
    </p:spTree>
    <p:extLst>
      <p:ext uri="{BB962C8B-B14F-4D97-AF65-F5344CB8AC3E}">
        <p14:creationId xmlns:p14="http://schemas.microsoft.com/office/powerpoint/2010/main" val="15514735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101"/>
          <p:cNvSpPr txBox="1"/>
          <p:nvPr/>
        </p:nvSpPr>
        <p:spPr>
          <a:xfrm>
            <a:off x="1054100" y="825500"/>
            <a:ext cx="12700000" cy="304800"/>
          </a:xfrm>
          <a:prstGeom prst="rect">
            <a:avLst/>
          </a:prstGeom>
          <a:noFill/>
        </p:spPr>
        <p:txBody>
          <a:bodyPr wrap="square" lIns="0" tIns="0" rIns="0" bIns="0" anchor="t">
            <a:noAutofit/>
          </a:bodyPr>
          <a:lstStyle/>
          <a:p>
            <a:pPr algn="l">
              <a:buNone/>
            </a:pPr>
            <a:r>
              <a:rPr lang="fr-FR" sz="1400" b="1" i="0" spc="300" dirty="0">
                <a:solidFill>
                  <a:srgbClr val="1A6A77"/>
                </a:solidFill>
                <a:latin typeface="Arial"/>
              </a:rPr>
              <a:t>ACTE 05 · ÉTAPE 3 · MINIMISATION PAR ABLATION</a:t>
            </a:r>
          </a:p>
        </p:txBody>
      </p:sp>
      <p:sp>
        <p:nvSpPr>
          <p:cNvPr id="102" name="TextBox 102"/>
          <p:cNvSpPr txBox="1"/>
          <p:nvPr/>
        </p:nvSpPr>
        <p:spPr>
          <a:xfrm>
            <a:off x="1054100" y="1524000"/>
            <a:ext cx="16192500" cy="1016000"/>
          </a:xfrm>
          <a:prstGeom prst="rect">
            <a:avLst/>
          </a:prstGeom>
          <a:noFill/>
        </p:spPr>
        <p:txBody>
          <a:bodyPr wrap="square" lIns="0" tIns="0" rIns="0" bIns="0" anchor="t">
            <a:noAutofit/>
          </a:bodyPr>
          <a:lstStyle/>
          <a:p>
            <a:pPr algn="l">
              <a:buNone/>
            </a:pPr>
            <a:r>
              <a:rPr lang="fr-FR" sz="5000" b="1" i="0" dirty="0">
                <a:solidFill>
                  <a:srgbClr val="000000"/>
                </a:solidFill>
                <a:latin typeface="Arial"/>
              </a:rPr>
              <a:t>Le modèle minimisé tient la performance</a:t>
            </a:r>
          </a:p>
        </p:txBody>
      </p:sp>
      <p:sp>
        <p:nvSpPr>
          <p:cNvPr id="103" name="Shape 103"/>
          <p:cNvSpPr/>
          <p:nvPr/>
        </p:nvSpPr>
        <p:spPr>
          <a:xfrm>
            <a:off x="1054100" y="2743200"/>
            <a:ext cx="1143000" cy="38100"/>
          </a:xfrm>
          <a:prstGeom prst="rect">
            <a:avLst/>
          </a:prstGeom>
          <a:solidFill>
            <a:srgbClr val="56B9CA"/>
          </a:solidFill>
          <a:ln>
            <a:noFill/>
          </a:ln>
        </p:spPr>
        <p:txBody>
          <a:bodyPr/>
          <a:lstStyle/>
          <a:p>
            <a:endParaRPr/>
          </a:p>
        </p:txBody>
      </p:sp>
      <p:sp>
        <p:nvSpPr>
          <p:cNvPr id="127" name="TextBox 127"/>
          <p:cNvSpPr txBox="1"/>
          <p:nvPr/>
        </p:nvSpPr>
        <p:spPr>
          <a:xfrm>
            <a:off x="17048886" y="9309100"/>
            <a:ext cx="273913" cy="304800"/>
          </a:xfrm>
          <a:prstGeom prst="rect">
            <a:avLst/>
          </a:prstGeom>
          <a:noFill/>
        </p:spPr>
        <p:txBody>
          <a:bodyPr wrap="none" lIns="0" tIns="0" rIns="0" bIns="0" anchor="ctr" anchorCtr="0">
            <a:noAutofit/>
          </a:bodyPr>
          <a:lstStyle/>
          <a:p>
            <a:pPr algn="r">
              <a:buNone/>
            </a:pPr>
            <a:r>
              <a:rPr lang="fr-FR" sz="1400" b="1" i="0" dirty="0">
                <a:solidFill>
                  <a:srgbClr val="56B9CA"/>
                </a:solidFill>
                <a:latin typeface="Arial"/>
              </a:rPr>
              <a:t>22</a:t>
            </a:r>
          </a:p>
        </p:txBody>
      </p:sp>
      <p:sp>
        <p:nvSpPr>
          <p:cNvPr id="716" name="Shape 717"/>
          <p:cNvSpPr/>
          <p:nvPr/>
        </p:nvSpPr>
        <p:spPr>
          <a:xfrm>
            <a:off x="9969500" y="7086600"/>
            <a:ext cx="7302500" cy="1651000"/>
          </a:xfrm>
          <a:prstGeom prst="roundRect">
            <a:avLst/>
          </a:prstGeom>
          <a:solidFill>
            <a:srgbClr val="1A5A66"/>
          </a:solidFill>
          <a:ln>
            <a:noFill/>
          </a:ln>
        </p:spPr>
        <p:txBody>
          <a:bodyPr wrap="none" lIns="0" tIns="0" rIns="0" bIns="0" anchor="ctr">
            <a:noAutofit/>
          </a:bodyPr>
          <a:lstStyle/>
          <a:p>
            <a:pPr algn="ctr"/>
            <a:endParaRPr/>
          </a:p>
        </p:txBody>
      </p:sp>
      <p:sp>
        <p:nvSpPr>
          <p:cNvPr id="717" name="TextBox 718"/>
          <p:cNvSpPr txBox="1"/>
          <p:nvPr/>
        </p:nvSpPr>
        <p:spPr>
          <a:xfrm>
            <a:off x="10274300" y="7315200"/>
            <a:ext cx="6692900" cy="330200"/>
          </a:xfrm>
          <a:prstGeom prst="rect">
            <a:avLst/>
          </a:prstGeom>
          <a:noFill/>
        </p:spPr>
        <p:txBody>
          <a:bodyPr wrap="square" lIns="0" tIns="0" rIns="0" bIns="0" anchor="t">
            <a:noAutofit/>
          </a:bodyPr>
          <a:lstStyle/>
          <a:p>
            <a:pPr algn="l">
              <a:buNone/>
            </a:pPr>
            <a:r>
              <a:rPr lang="fr-FR" sz="1600" b="1" i="0" spc="150" dirty="0">
                <a:solidFill>
                  <a:srgbClr val="FFFFFF"/>
                </a:solidFill>
                <a:latin typeface="Arial"/>
              </a:rPr>
              <a:t>JEU MINIMISÉ RETENU — 16 VARIABLES</a:t>
            </a:r>
          </a:p>
        </p:txBody>
      </p:sp>
      <p:sp>
        <p:nvSpPr>
          <p:cNvPr id="718" name="TextBox 719"/>
          <p:cNvSpPr txBox="1"/>
          <p:nvPr/>
        </p:nvSpPr>
        <p:spPr>
          <a:xfrm>
            <a:off x="10274300" y="7696200"/>
            <a:ext cx="6692900" cy="889000"/>
          </a:xfrm>
          <a:prstGeom prst="rect">
            <a:avLst/>
          </a:prstGeom>
          <a:noFill/>
        </p:spPr>
        <p:txBody>
          <a:bodyPr wrap="square" lIns="0" tIns="0" rIns="0" bIns="0" anchor="t">
            <a:noAutofit/>
          </a:bodyPr>
          <a:lstStyle/>
          <a:p>
            <a:pPr algn="l">
              <a:lnSpc>
                <a:spcPts val="2200"/>
              </a:lnSpc>
              <a:buNone/>
            </a:pPr>
            <a:r>
              <a:rPr lang="fr-FR" sz="1600" b="0" i="0" dirty="0">
                <a:solidFill>
                  <a:srgbClr val="FFFFFF"/>
                </a:solidFill>
                <a:latin typeface="Arial"/>
              </a:rPr>
              <a:t>Coût : − 0,0024 de ROC-AUC et − 0,0047 de PR-AUC. </a:t>
            </a:r>
          </a:p>
          <a:p>
            <a:pPr algn="l">
              <a:lnSpc>
                <a:spcPts val="2200"/>
              </a:lnSpc>
              <a:buNone/>
            </a:pPr>
            <a:endParaRPr lang="fr-FR" sz="1600" b="0" i="0" dirty="0">
              <a:solidFill>
                <a:srgbClr val="FFFFFF"/>
              </a:solidFill>
              <a:latin typeface="Arial"/>
            </a:endParaRPr>
          </a:p>
          <a:p>
            <a:pPr algn="l">
              <a:lnSpc>
                <a:spcPts val="2200"/>
              </a:lnSpc>
              <a:buNone/>
            </a:pPr>
            <a:r>
              <a:rPr lang="fr-FR" sz="1600" b="0" i="1" dirty="0">
                <a:solidFill>
                  <a:srgbClr val="FFFFFF"/>
                </a:solidFill>
                <a:latin typeface="Arial"/>
              </a:rPr>
              <a:t>Conclusion similaire pour la cible secondaire</a:t>
            </a:r>
          </a:p>
        </p:txBody>
      </p:sp>
      <p:pic>
        <p:nvPicPr>
          <p:cNvPr id="2" name="Image 1">
            <a:extLst>
              <a:ext uri="{FF2B5EF4-FFF2-40B4-BE49-F238E27FC236}">
                <a16:creationId xmlns:a16="http://schemas.microsoft.com/office/drawing/2014/main" id="{B5E2E157-72CF-41AC-6D70-8424F95EB45F}"/>
              </a:ext>
            </a:extLst>
          </p:cNvPr>
          <p:cNvPicPr>
            <a:picLocks noChangeAspect="1"/>
          </p:cNvPicPr>
          <p:nvPr/>
        </p:nvPicPr>
        <p:blipFill>
          <a:blip r:embed="rId3"/>
          <a:stretch>
            <a:fillRect/>
          </a:stretch>
        </p:blipFill>
        <p:spPr>
          <a:xfrm>
            <a:off x="1054100" y="3276600"/>
            <a:ext cx="8763000" cy="4927600"/>
          </a:xfrm>
          <a:prstGeom prst="rect">
            <a:avLst/>
          </a:prstGeom>
        </p:spPr>
      </p:pic>
      <p:graphicFrame>
        <p:nvGraphicFramePr>
          <p:cNvPr id="5" name="Tableau 4">
            <a:extLst>
              <a:ext uri="{FF2B5EF4-FFF2-40B4-BE49-F238E27FC236}">
                <a16:creationId xmlns:a16="http://schemas.microsoft.com/office/drawing/2014/main" id="{BD102125-3172-4213-A365-03CF2F220BEB}"/>
              </a:ext>
            </a:extLst>
          </p:cNvPr>
          <p:cNvGraphicFramePr>
            <a:graphicFrameLocks noGrp="1"/>
          </p:cNvGraphicFramePr>
          <p:nvPr>
            <p:extLst>
              <p:ext uri="{D42A27DB-BD31-4B8C-83A1-F6EECF244321}">
                <p14:modId xmlns:p14="http://schemas.microsoft.com/office/powerpoint/2010/main" val="2481372095"/>
              </p:ext>
            </p:extLst>
          </p:nvPr>
        </p:nvGraphicFramePr>
        <p:xfrm>
          <a:off x="9969500" y="3276600"/>
          <a:ext cx="7302500" cy="3362960"/>
        </p:xfrm>
        <a:graphic>
          <a:graphicData uri="http://schemas.openxmlformats.org/drawingml/2006/table">
            <a:tbl>
              <a:tblPr firstRow="1" bandRow="1">
                <a:tableStyleId>{5C22544A-7EE6-4342-B048-85BDC9FD1C3A}</a:tableStyleId>
              </a:tblPr>
              <a:tblGrid>
                <a:gridCol w="2260600">
                  <a:extLst>
                    <a:ext uri="{9D8B030D-6E8A-4147-A177-3AD203B41FA5}">
                      <a16:colId xmlns:a16="http://schemas.microsoft.com/office/drawing/2014/main" val="3426495799"/>
                    </a:ext>
                  </a:extLst>
                </a:gridCol>
                <a:gridCol w="431800">
                  <a:extLst>
                    <a:ext uri="{9D8B030D-6E8A-4147-A177-3AD203B41FA5}">
                      <a16:colId xmlns:a16="http://schemas.microsoft.com/office/drawing/2014/main" val="4033479293"/>
                    </a:ext>
                  </a:extLst>
                </a:gridCol>
                <a:gridCol w="1231900">
                  <a:extLst>
                    <a:ext uri="{9D8B030D-6E8A-4147-A177-3AD203B41FA5}">
                      <a16:colId xmlns:a16="http://schemas.microsoft.com/office/drawing/2014/main" val="1751585119"/>
                    </a:ext>
                  </a:extLst>
                </a:gridCol>
                <a:gridCol w="1231900">
                  <a:extLst>
                    <a:ext uri="{9D8B030D-6E8A-4147-A177-3AD203B41FA5}">
                      <a16:colId xmlns:a16="http://schemas.microsoft.com/office/drawing/2014/main" val="3692638413"/>
                    </a:ext>
                  </a:extLst>
                </a:gridCol>
                <a:gridCol w="1079500">
                  <a:extLst>
                    <a:ext uri="{9D8B030D-6E8A-4147-A177-3AD203B41FA5}">
                      <a16:colId xmlns:a16="http://schemas.microsoft.com/office/drawing/2014/main" val="1571148071"/>
                    </a:ext>
                  </a:extLst>
                </a:gridCol>
                <a:gridCol w="1066800">
                  <a:extLst>
                    <a:ext uri="{9D8B030D-6E8A-4147-A177-3AD203B41FA5}">
                      <a16:colId xmlns:a16="http://schemas.microsoft.com/office/drawing/2014/main" val="1592696373"/>
                    </a:ext>
                  </a:extLst>
                </a:gridCol>
              </a:tblGrid>
              <a:tr h="558800">
                <a:tc>
                  <a:txBody>
                    <a:bodyPr/>
                    <a:lstStyle/>
                    <a:p>
                      <a:pPr algn="l"/>
                      <a:r>
                        <a:rPr lang="fr-FR" sz="1600" b="1">
                          <a:solidFill>
                            <a:srgbClr val="FFFFFF"/>
                          </a:solidFill>
                          <a:latin typeface="Arial"/>
                          <a:cs typeface="Arial"/>
                        </a:rPr>
                        <a:t>Scénario</a:t>
                      </a:r>
                    </a:p>
                  </a:txBody>
                  <a:tcPr marL="76200" marR="76200" marT="25400" marB="25400" anchor="ctr">
                    <a:solidFill>
                      <a:srgbClr val="1A6A77"/>
                    </a:solidFill>
                  </a:tcPr>
                </a:tc>
                <a:tc>
                  <a:txBody>
                    <a:bodyPr/>
                    <a:lstStyle/>
                    <a:p>
                      <a:pPr algn="r"/>
                      <a:r>
                        <a:rPr lang="fr-FR" sz="1600" b="1" dirty="0">
                          <a:solidFill>
                            <a:srgbClr val="FFFFFF"/>
                          </a:solidFill>
                          <a:latin typeface="Arial"/>
                          <a:cs typeface="Arial"/>
                        </a:rPr>
                        <a:t>nb</a:t>
                      </a:r>
                    </a:p>
                  </a:txBody>
                  <a:tcPr marL="76200" marR="76200" marT="25400" marB="25400" anchor="ctr">
                    <a:solidFill>
                      <a:srgbClr val="1A6A77"/>
                    </a:solidFill>
                  </a:tcPr>
                </a:tc>
                <a:tc>
                  <a:txBody>
                    <a:bodyPr/>
                    <a:lstStyle/>
                    <a:p>
                      <a:pPr algn="r"/>
                      <a:r>
                        <a:rPr lang="fr-FR" sz="1600" b="1">
                          <a:solidFill>
                            <a:srgbClr val="FFFFFF"/>
                          </a:solidFill>
                          <a:latin typeface="Arial"/>
                          <a:cs typeface="Arial"/>
                        </a:rPr>
                        <a:t>ROC-AUC</a:t>
                      </a:r>
                    </a:p>
                  </a:txBody>
                  <a:tcPr marL="76200" marR="76200" marT="25400" marB="25400" anchor="ctr">
                    <a:solidFill>
                      <a:srgbClr val="1A6A77"/>
                    </a:solidFill>
                  </a:tcPr>
                </a:tc>
                <a:tc>
                  <a:txBody>
                    <a:bodyPr/>
                    <a:lstStyle/>
                    <a:p>
                      <a:pPr algn="r"/>
                      <a:r>
                        <a:rPr lang="fr-FR" sz="1600" b="1">
                          <a:solidFill>
                            <a:srgbClr val="FFFFFF"/>
                          </a:solidFill>
                          <a:latin typeface="Arial"/>
                          <a:cs typeface="Arial"/>
                        </a:rPr>
                        <a:t>PR-AUC</a:t>
                      </a:r>
                    </a:p>
                  </a:txBody>
                  <a:tcPr marL="76200" marR="76200" marT="25400" marB="25400" anchor="ctr">
                    <a:solidFill>
                      <a:srgbClr val="1A6A77"/>
                    </a:solidFill>
                  </a:tcPr>
                </a:tc>
                <a:tc>
                  <a:txBody>
                    <a:bodyPr/>
                    <a:lstStyle/>
                    <a:p>
                      <a:pPr algn="r"/>
                      <a:r>
                        <a:rPr lang="fr-FR" sz="1600" b="1" dirty="0">
                          <a:solidFill>
                            <a:srgbClr val="FFFFFF"/>
                          </a:solidFill>
                          <a:latin typeface="Arial"/>
                          <a:cs typeface="Arial"/>
                        </a:rPr>
                        <a:t>Δ ROC</a:t>
                      </a:r>
                    </a:p>
                  </a:txBody>
                  <a:tcPr marL="76200" marR="76200" marT="25400" marB="25400" anchor="ctr">
                    <a:solidFill>
                      <a:srgbClr val="1A6A77"/>
                    </a:solidFill>
                  </a:tcPr>
                </a:tc>
                <a:tc>
                  <a:txBody>
                    <a:bodyPr/>
                    <a:lstStyle/>
                    <a:p>
                      <a:pPr algn="r"/>
                      <a:r>
                        <a:rPr lang="fr-FR" sz="1600" b="1">
                          <a:solidFill>
                            <a:srgbClr val="FFFFFF"/>
                          </a:solidFill>
                          <a:latin typeface="Arial"/>
                          <a:cs typeface="Arial"/>
                        </a:rPr>
                        <a:t>Δ PR</a:t>
                      </a:r>
                    </a:p>
                  </a:txBody>
                  <a:tcPr marL="76200" marR="76200" marT="25400" marB="25400" anchor="ctr">
                    <a:solidFill>
                      <a:srgbClr val="1A6A77"/>
                    </a:solidFill>
                  </a:tcPr>
                </a:tc>
                <a:extLst>
                  <a:ext uri="{0D108BD9-81ED-4DB2-BD59-A6C34878D82A}">
                    <a16:rowId xmlns:a16="http://schemas.microsoft.com/office/drawing/2014/main" val="3261417148"/>
                  </a:ext>
                </a:extLst>
              </a:tr>
              <a:tr h="558800">
                <a:tc>
                  <a:txBody>
                    <a:bodyPr/>
                    <a:lstStyle/>
                    <a:p>
                      <a:pPr algn="l"/>
                      <a:r>
                        <a:rPr lang="fr-FR" sz="1700" b="0">
                          <a:solidFill>
                            <a:srgbClr val="000000"/>
                          </a:solidFill>
                          <a:latin typeface="Arial"/>
                          <a:cs typeface="Arial"/>
                        </a:rPr>
                        <a:t>complet</a:t>
                      </a:r>
                    </a:p>
                  </a:txBody>
                  <a:tcPr marL="76200" marR="76200" marT="25400" marB="25400" anchor="ctr">
                    <a:solidFill>
                      <a:srgbClr val="F2F7F8"/>
                    </a:solidFill>
                  </a:tcPr>
                </a:tc>
                <a:tc>
                  <a:txBody>
                    <a:bodyPr/>
                    <a:lstStyle/>
                    <a:p>
                      <a:pPr algn="r"/>
                      <a:r>
                        <a:rPr lang="fr-FR" sz="1700" b="0">
                          <a:solidFill>
                            <a:srgbClr val="000000"/>
                          </a:solidFill>
                          <a:latin typeface="Arial"/>
                          <a:cs typeface="Arial"/>
                        </a:rPr>
                        <a:t>24</a:t>
                      </a:r>
                    </a:p>
                  </a:txBody>
                  <a:tcPr marL="76200" marR="76200" marT="25400" marB="25400" anchor="ctr">
                    <a:solidFill>
                      <a:srgbClr val="F2F7F8"/>
                    </a:solidFill>
                  </a:tcPr>
                </a:tc>
                <a:tc>
                  <a:txBody>
                    <a:bodyPr/>
                    <a:lstStyle/>
                    <a:p>
                      <a:pPr algn="r"/>
                      <a:r>
                        <a:rPr lang="fr-FR" sz="1700" b="0" dirty="0">
                          <a:solidFill>
                            <a:srgbClr val="000000"/>
                          </a:solidFill>
                          <a:latin typeface="Arial"/>
                          <a:cs typeface="Arial"/>
                        </a:rPr>
                        <a:t>0,9475</a:t>
                      </a:r>
                    </a:p>
                  </a:txBody>
                  <a:tcPr marL="76200" marR="76200" marT="25400" marB="25400" anchor="ctr">
                    <a:solidFill>
                      <a:srgbClr val="F2F7F8"/>
                    </a:solidFill>
                  </a:tcPr>
                </a:tc>
                <a:tc>
                  <a:txBody>
                    <a:bodyPr/>
                    <a:lstStyle/>
                    <a:p>
                      <a:pPr algn="r"/>
                      <a:r>
                        <a:rPr lang="fr-FR" sz="1700" b="0">
                          <a:solidFill>
                            <a:srgbClr val="000000"/>
                          </a:solidFill>
                          <a:latin typeface="Arial"/>
                          <a:cs typeface="Arial"/>
                        </a:rPr>
                        <a:t>0,8759</a:t>
                      </a:r>
                    </a:p>
                  </a:txBody>
                  <a:tcPr marL="76200" marR="76200" marT="25400" marB="25400" anchor="ctr">
                    <a:solidFill>
                      <a:srgbClr val="F2F7F8"/>
                    </a:solidFill>
                  </a:tcPr>
                </a:tc>
                <a:tc>
                  <a:txBody>
                    <a:bodyPr/>
                    <a:lstStyle/>
                    <a:p>
                      <a:pPr algn="r"/>
                      <a:r>
                        <a:rPr lang="fr-FR" sz="1700" b="0">
                          <a:solidFill>
                            <a:srgbClr val="000000"/>
                          </a:solidFill>
                          <a:latin typeface="Arial"/>
                          <a:cs typeface="Arial"/>
                        </a:rPr>
                        <a:t>—</a:t>
                      </a:r>
                    </a:p>
                  </a:txBody>
                  <a:tcPr marL="76200" marR="76200" marT="25400" marB="25400" anchor="ctr">
                    <a:solidFill>
                      <a:srgbClr val="F2F7F8"/>
                    </a:solidFill>
                  </a:tcPr>
                </a:tc>
                <a:tc>
                  <a:txBody>
                    <a:bodyPr/>
                    <a:lstStyle/>
                    <a:p>
                      <a:pPr algn="r"/>
                      <a:r>
                        <a:rPr lang="fr-FR" sz="1700" b="0">
                          <a:solidFill>
                            <a:srgbClr val="000000"/>
                          </a:solidFill>
                          <a:latin typeface="Arial"/>
                          <a:cs typeface="Arial"/>
                        </a:rPr>
                        <a:t>—</a:t>
                      </a:r>
                    </a:p>
                  </a:txBody>
                  <a:tcPr marL="76200" marR="76200" marT="25400" marB="25400" anchor="ctr">
                    <a:solidFill>
                      <a:srgbClr val="F2F7F8"/>
                    </a:solidFill>
                  </a:tcPr>
                </a:tc>
                <a:extLst>
                  <a:ext uri="{0D108BD9-81ED-4DB2-BD59-A6C34878D82A}">
                    <a16:rowId xmlns:a16="http://schemas.microsoft.com/office/drawing/2014/main" val="1777864947"/>
                  </a:ext>
                </a:extLst>
              </a:tr>
              <a:tr h="558800">
                <a:tc>
                  <a:txBody>
                    <a:bodyPr/>
                    <a:lstStyle/>
                    <a:p>
                      <a:pPr algn="l"/>
                      <a:r>
                        <a:rPr lang="fr-FR" sz="1700" b="0">
                          <a:solidFill>
                            <a:srgbClr val="000000"/>
                          </a:solidFill>
                          <a:latin typeface="Arial"/>
                          <a:cs typeface="Arial"/>
                        </a:rPr>
                        <a:t>sans leurres</a:t>
                      </a:r>
                    </a:p>
                  </a:txBody>
                  <a:tcPr marL="76200" marR="76200" marT="25400" marB="25400" anchor="ctr">
                    <a:solidFill>
                      <a:srgbClr val="FFFFFF"/>
                    </a:solidFill>
                  </a:tcPr>
                </a:tc>
                <a:tc>
                  <a:txBody>
                    <a:bodyPr/>
                    <a:lstStyle/>
                    <a:p>
                      <a:pPr algn="r"/>
                      <a:r>
                        <a:rPr lang="fr-FR" sz="1700" b="0">
                          <a:solidFill>
                            <a:srgbClr val="000000"/>
                          </a:solidFill>
                          <a:latin typeface="Arial"/>
                          <a:cs typeface="Arial"/>
                        </a:rPr>
                        <a:t>21</a:t>
                      </a:r>
                    </a:p>
                  </a:txBody>
                  <a:tcPr marL="76200" marR="76200" marT="25400" marB="25400" anchor="ctr">
                    <a:solidFill>
                      <a:srgbClr val="FFFFFF"/>
                    </a:solidFill>
                  </a:tcPr>
                </a:tc>
                <a:tc>
                  <a:txBody>
                    <a:bodyPr/>
                    <a:lstStyle/>
                    <a:p>
                      <a:pPr algn="r"/>
                      <a:r>
                        <a:rPr lang="fr-FR" sz="1700" b="0">
                          <a:solidFill>
                            <a:srgbClr val="000000"/>
                          </a:solidFill>
                          <a:latin typeface="Arial"/>
                          <a:cs typeface="Arial"/>
                        </a:rPr>
                        <a:t>0,9489</a:t>
                      </a:r>
                    </a:p>
                  </a:txBody>
                  <a:tcPr marL="76200" marR="76200" marT="25400" marB="25400" anchor="ctr">
                    <a:solidFill>
                      <a:srgbClr val="FFFFFF"/>
                    </a:solidFill>
                  </a:tcPr>
                </a:tc>
                <a:tc>
                  <a:txBody>
                    <a:bodyPr/>
                    <a:lstStyle/>
                    <a:p>
                      <a:pPr algn="r"/>
                      <a:r>
                        <a:rPr lang="fr-FR" sz="1700" b="0">
                          <a:solidFill>
                            <a:srgbClr val="000000"/>
                          </a:solidFill>
                          <a:latin typeface="Arial"/>
                          <a:cs typeface="Arial"/>
                        </a:rPr>
                        <a:t>0,8790</a:t>
                      </a:r>
                    </a:p>
                  </a:txBody>
                  <a:tcPr marL="76200" marR="76200" marT="25400" marB="25400" anchor="ctr">
                    <a:solidFill>
                      <a:srgbClr val="FFFFFF"/>
                    </a:solidFill>
                  </a:tcPr>
                </a:tc>
                <a:tc>
                  <a:txBody>
                    <a:bodyPr/>
                    <a:lstStyle/>
                    <a:p>
                      <a:pPr algn="r"/>
                      <a:r>
                        <a:rPr lang="fr-FR" sz="1700" b="0">
                          <a:solidFill>
                            <a:srgbClr val="000000"/>
                          </a:solidFill>
                          <a:latin typeface="Arial"/>
                          <a:cs typeface="Arial"/>
                        </a:rPr>
                        <a:t>+0,0014</a:t>
                      </a:r>
                    </a:p>
                  </a:txBody>
                  <a:tcPr marL="76200" marR="76200" marT="25400" marB="25400" anchor="ctr">
                    <a:solidFill>
                      <a:srgbClr val="FFFFFF"/>
                    </a:solidFill>
                  </a:tcPr>
                </a:tc>
                <a:tc>
                  <a:txBody>
                    <a:bodyPr/>
                    <a:lstStyle/>
                    <a:p>
                      <a:pPr algn="r"/>
                      <a:r>
                        <a:rPr lang="fr-FR" sz="1700" b="0">
                          <a:solidFill>
                            <a:srgbClr val="000000"/>
                          </a:solidFill>
                          <a:latin typeface="Arial"/>
                          <a:cs typeface="Arial"/>
                        </a:rPr>
                        <a:t>+0,0032</a:t>
                      </a:r>
                    </a:p>
                  </a:txBody>
                  <a:tcPr marL="76200" marR="76200" marT="25400" marB="25400" anchor="ctr">
                    <a:solidFill>
                      <a:srgbClr val="FFFFFF"/>
                    </a:solidFill>
                  </a:tcPr>
                </a:tc>
                <a:extLst>
                  <a:ext uri="{0D108BD9-81ED-4DB2-BD59-A6C34878D82A}">
                    <a16:rowId xmlns:a16="http://schemas.microsoft.com/office/drawing/2014/main" val="3821406121"/>
                  </a:ext>
                </a:extLst>
              </a:tr>
              <a:tr h="558800">
                <a:tc>
                  <a:txBody>
                    <a:bodyPr/>
                    <a:lstStyle/>
                    <a:p>
                      <a:pPr algn="l"/>
                      <a:r>
                        <a:rPr lang="fr-FR" sz="1700" b="0" dirty="0">
                          <a:solidFill>
                            <a:srgbClr val="000000"/>
                          </a:solidFill>
                          <a:latin typeface="Arial"/>
                          <a:cs typeface="Arial"/>
                        </a:rPr>
                        <a:t>sans </a:t>
                      </a:r>
                      <a:r>
                        <a:rPr lang="fr-FR" sz="1700" b="0" dirty="0" err="1">
                          <a:solidFill>
                            <a:srgbClr val="000000"/>
                          </a:solidFill>
                          <a:latin typeface="Arial"/>
                          <a:cs typeface="Arial"/>
                        </a:rPr>
                        <a:t>proxies</a:t>
                      </a:r>
                      <a:endParaRPr lang="fr-FR" sz="1700" b="0" dirty="0">
                        <a:solidFill>
                          <a:srgbClr val="000000"/>
                        </a:solidFill>
                        <a:latin typeface="Arial"/>
                        <a:cs typeface="Arial"/>
                      </a:endParaRPr>
                    </a:p>
                  </a:txBody>
                  <a:tcPr marL="76200" marR="76200" marT="25400" marB="25400" anchor="ctr">
                    <a:solidFill>
                      <a:srgbClr val="F2F7F8"/>
                    </a:solidFill>
                  </a:tcPr>
                </a:tc>
                <a:tc>
                  <a:txBody>
                    <a:bodyPr/>
                    <a:lstStyle/>
                    <a:p>
                      <a:pPr algn="r"/>
                      <a:r>
                        <a:rPr lang="fr-FR" sz="1700" b="0">
                          <a:solidFill>
                            <a:srgbClr val="000000"/>
                          </a:solidFill>
                          <a:latin typeface="Arial"/>
                          <a:cs typeface="Arial"/>
                        </a:rPr>
                        <a:t>21</a:t>
                      </a:r>
                    </a:p>
                  </a:txBody>
                  <a:tcPr marL="76200" marR="76200" marT="25400" marB="25400" anchor="ctr">
                    <a:solidFill>
                      <a:srgbClr val="F2F7F8"/>
                    </a:solidFill>
                  </a:tcPr>
                </a:tc>
                <a:tc>
                  <a:txBody>
                    <a:bodyPr/>
                    <a:lstStyle/>
                    <a:p>
                      <a:pPr algn="r"/>
                      <a:r>
                        <a:rPr lang="fr-FR" sz="1700" b="0">
                          <a:solidFill>
                            <a:srgbClr val="000000"/>
                          </a:solidFill>
                          <a:latin typeface="Arial"/>
                          <a:cs typeface="Arial"/>
                        </a:rPr>
                        <a:t>0,9465</a:t>
                      </a:r>
                    </a:p>
                  </a:txBody>
                  <a:tcPr marL="76200" marR="76200" marT="25400" marB="25400" anchor="ctr">
                    <a:solidFill>
                      <a:srgbClr val="F2F7F8"/>
                    </a:solidFill>
                  </a:tcPr>
                </a:tc>
                <a:tc>
                  <a:txBody>
                    <a:bodyPr/>
                    <a:lstStyle/>
                    <a:p>
                      <a:pPr algn="r"/>
                      <a:r>
                        <a:rPr lang="fr-FR" sz="1700" b="0">
                          <a:solidFill>
                            <a:srgbClr val="000000"/>
                          </a:solidFill>
                          <a:latin typeface="Arial"/>
                          <a:cs typeface="Arial"/>
                        </a:rPr>
                        <a:t>0,8734</a:t>
                      </a:r>
                    </a:p>
                  </a:txBody>
                  <a:tcPr marL="76200" marR="76200" marT="25400" marB="25400" anchor="ctr">
                    <a:solidFill>
                      <a:srgbClr val="F2F7F8"/>
                    </a:solidFill>
                  </a:tcPr>
                </a:tc>
                <a:tc>
                  <a:txBody>
                    <a:bodyPr/>
                    <a:lstStyle/>
                    <a:p>
                      <a:pPr algn="r"/>
                      <a:r>
                        <a:rPr lang="fr-FR" sz="1700" b="0">
                          <a:solidFill>
                            <a:srgbClr val="000000"/>
                          </a:solidFill>
                          <a:latin typeface="Arial"/>
                          <a:cs typeface="Arial"/>
                        </a:rPr>
                        <a:t>−0,0009</a:t>
                      </a:r>
                    </a:p>
                  </a:txBody>
                  <a:tcPr marL="76200" marR="76200" marT="25400" marB="25400" anchor="ctr">
                    <a:solidFill>
                      <a:srgbClr val="F2F7F8"/>
                    </a:solidFill>
                  </a:tcPr>
                </a:tc>
                <a:tc>
                  <a:txBody>
                    <a:bodyPr/>
                    <a:lstStyle/>
                    <a:p>
                      <a:pPr algn="r"/>
                      <a:r>
                        <a:rPr lang="fr-FR" sz="1700" b="0">
                          <a:solidFill>
                            <a:srgbClr val="000000"/>
                          </a:solidFill>
                          <a:latin typeface="Arial"/>
                          <a:cs typeface="Arial"/>
                        </a:rPr>
                        <a:t>−0,0025</a:t>
                      </a:r>
                    </a:p>
                  </a:txBody>
                  <a:tcPr marL="76200" marR="76200" marT="25400" marB="25400" anchor="ctr">
                    <a:solidFill>
                      <a:srgbClr val="F2F7F8"/>
                    </a:solidFill>
                  </a:tcPr>
                </a:tc>
                <a:extLst>
                  <a:ext uri="{0D108BD9-81ED-4DB2-BD59-A6C34878D82A}">
                    <a16:rowId xmlns:a16="http://schemas.microsoft.com/office/drawing/2014/main" val="4265609090"/>
                  </a:ext>
                </a:extLst>
              </a:tr>
              <a:tr h="558800">
                <a:tc>
                  <a:txBody>
                    <a:bodyPr/>
                    <a:lstStyle/>
                    <a:p>
                      <a:pPr algn="l"/>
                      <a:r>
                        <a:rPr lang="fr-FR" sz="1700" b="0" dirty="0">
                          <a:solidFill>
                            <a:srgbClr val="000000"/>
                          </a:solidFill>
                          <a:latin typeface="Arial"/>
                          <a:cs typeface="Arial"/>
                        </a:rPr>
                        <a:t>sans LMS redondantes</a:t>
                      </a:r>
                    </a:p>
                  </a:txBody>
                  <a:tcPr marL="76200" marR="76200" marT="25400" marB="25400" anchor="ctr">
                    <a:solidFill>
                      <a:srgbClr val="FFFFFF"/>
                    </a:solidFill>
                  </a:tcPr>
                </a:tc>
                <a:tc>
                  <a:txBody>
                    <a:bodyPr/>
                    <a:lstStyle/>
                    <a:p>
                      <a:pPr algn="r"/>
                      <a:r>
                        <a:rPr lang="fr-FR" sz="1700" b="0">
                          <a:solidFill>
                            <a:srgbClr val="000000"/>
                          </a:solidFill>
                          <a:latin typeface="Arial"/>
                          <a:cs typeface="Arial"/>
                        </a:rPr>
                        <a:t>22</a:t>
                      </a:r>
                    </a:p>
                  </a:txBody>
                  <a:tcPr marL="76200" marR="76200" marT="25400" marB="25400" anchor="ctr">
                    <a:solidFill>
                      <a:srgbClr val="FFFFFF"/>
                    </a:solidFill>
                  </a:tcPr>
                </a:tc>
                <a:tc>
                  <a:txBody>
                    <a:bodyPr/>
                    <a:lstStyle/>
                    <a:p>
                      <a:pPr algn="r"/>
                      <a:r>
                        <a:rPr lang="fr-FR" sz="1700" b="0">
                          <a:solidFill>
                            <a:srgbClr val="000000"/>
                          </a:solidFill>
                          <a:latin typeface="Arial"/>
                          <a:cs typeface="Arial"/>
                        </a:rPr>
                        <a:t>0,9445</a:t>
                      </a:r>
                    </a:p>
                  </a:txBody>
                  <a:tcPr marL="76200" marR="76200" marT="25400" marB="25400" anchor="ctr">
                    <a:solidFill>
                      <a:srgbClr val="FFFFFF"/>
                    </a:solidFill>
                  </a:tcPr>
                </a:tc>
                <a:tc>
                  <a:txBody>
                    <a:bodyPr/>
                    <a:lstStyle/>
                    <a:p>
                      <a:pPr algn="r"/>
                      <a:r>
                        <a:rPr lang="fr-FR" sz="1700" b="0">
                          <a:solidFill>
                            <a:srgbClr val="000000"/>
                          </a:solidFill>
                          <a:latin typeface="Arial"/>
                          <a:cs typeface="Arial"/>
                        </a:rPr>
                        <a:t>0,8703</a:t>
                      </a:r>
                    </a:p>
                  </a:txBody>
                  <a:tcPr marL="76200" marR="76200" marT="25400" marB="25400" anchor="ctr">
                    <a:solidFill>
                      <a:srgbClr val="FFFFFF"/>
                    </a:solidFill>
                  </a:tcPr>
                </a:tc>
                <a:tc>
                  <a:txBody>
                    <a:bodyPr/>
                    <a:lstStyle/>
                    <a:p>
                      <a:pPr algn="r"/>
                      <a:r>
                        <a:rPr lang="fr-FR" sz="1700" b="0">
                          <a:solidFill>
                            <a:srgbClr val="000000"/>
                          </a:solidFill>
                          <a:latin typeface="Arial"/>
                          <a:cs typeface="Arial"/>
                        </a:rPr>
                        <a:t>−0,0030</a:t>
                      </a:r>
                    </a:p>
                  </a:txBody>
                  <a:tcPr marL="76200" marR="76200" marT="25400" marB="25400" anchor="ctr">
                    <a:solidFill>
                      <a:srgbClr val="FFFFFF"/>
                    </a:solidFill>
                  </a:tcPr>
                </a:tc>
                <a:tc>
                  <a:txBody>
                    <a:bodyPr/>
                    <a:lstStyle/>
                    <a:p>
                      <a:pPr algn="r"/>
                      <a:r>
                        <a:rPr lang="fr-FR" sz="1700" b="0">
                          <a:solidFill>
                            <a:srgbClr val="000000"/>
                          </a:solidFill>
                          <a:latin typeface="Arial"/>
                          <a:cs typeface="Arial"/>
                        </a:rPr>
                        <a:t>−0,0056</a:t>
                      </a:r>
                    </a:p>
                  </a:txBody>
                  <a:tcPr marL="76200" marR="76200" marT="25400" marB="25400" anchor="ctr">
                    <a:solidFill>
                      <a:srgbClr val="FFFFFF"/>
                    </a:solidFill>
                  </a:tcPr>
                </a:tc>
                <a:extLst>
                  <a:ext uri="{0D108BD9-81ED-4DB2-BD59-A6C34878D82A}">
                    <a16:rowId xmlns:a16="http://schemas.microsoft.com/office/drawing/2014/main" val="1348291552"/>
                  </a:ext>
                </a:extLst>
              </a:tr>
              <a:tr h="558800">
                <a:tc>
                  <a:txBody>
                    <a:bodyPr/>
                    <a:lstStyle/>
                    <a:p>
                      <a:pPr algn="l"/>
                      <a:r>
                        <a:rPr lang="fr-FR" sz="1600" b="1" dirty="0">
                          <a:solidFill>
                            <a:srgbClr val="1E7A3C"/>
                          </a:solidFill>
                          <a:latin typeface="Arial"/>
                          <a:cs typeface="Arial"/>
                        </a:rPr>
                        <a:t>minimisé</a:t>
                      </a:r>
                    </a:p>
                  </a:txBody>
                  <a:tcPr marL="76200" marR="76200" marT="25400" marB="25400" anchor="ctr">
                    <a:solidFill>
                      <a:srgbClr val="F2F7F8"/>
                    </a:solidFill>
                  </a:tcPr>
                </a:tc>
                <a:tc>
                  <a:txBody>
                    <a:bodyPr/>
                    <a:lstStyle/>
                    <a:p>
                      <a:pPr algn="l"/>
                      <a:r>
                        <a:rPr lang="fr-FR" sz="1600" b="1" dirty="0">
                          <a:solidFill>
                            <a:srgbClr val="1E7A3C"/>
                          </a:solidFill>
                          <a:latin typeface="Arial"/>
                          <a:cs typeface="Arial"/>
                        </a:rPr>
                        <a:t>16</a:t>
                      </a:r>
                    </a:p>
                  </a:txBody>
                  <a:tcPr marL="76200" marR="76200" marT="25400" marB="25400" anchor="ctr">
                    <a:solidFill>
                      <a:srgbClr val="F2F7F8"/>
                    </a:solidFill>
                  </a:tcPr>
                </a:tc>
                <a:tc>
                  <a:txBody>
                    <a:bodyPr/>
                    <a:lstStyle/>
                    <a:p>
                      <a:pPr algn="r"/>
                      <a:r>
                        <a:rPr lang="fr-FR" sz="1600" b="1" dirty="0">
                          <a:solidFill>
                            <a:srgbClr val="1E7A3C"/>
                          </a:solidFill>
                          <a:latin typeface="Arial"/>
                          <a:cs typeface="Arial"/>
                        </a:rPr>
                        <a:t>0,9451</a:t>
                      </a:r>
                    </a:p>
                  </a:txBody>
                  <a:tcPr marL="76200" marR="76200" marT="25400" marB="25400" anchor="ctr">
                    <a:solidFill>
                      <a:srgbClr val="F2F7F8"/>
                    </a:solidFill>
                  </a:tcPr>
                </a:tc>
                <a:tc>
                  <a:txBody>
                    <a:bodyPr/>
                    <a:lstStyle/>
                    <a:p>
                      <a:pPr algn="r"/>
                      <a:r>
                        <a:rPr lang="fr-FR" sz="1600" b="1" dirty="0">
                          <a:solidFill>
                            <a:srgbClr val="1E7A3C"/>
                          </a:solidFill>
                          <a:latin typeface="Arial"/>
                          <a:cs typeface="Arial"/>
                        </a:rPr>
                        <a:t>0,8712</a:t>
                      </a:r>
                    </a:p>
                  </a:txBody>
                  <a:tcPr marL="76200" marR="76200" marT="25400" marB="25400" anchor="ctr">
                    <a:solidFill>
                      <a:srgbClr val="F2F7F8"/>
                    </a:solidFill>
                  </a:tcPr>
                </a:tc>
                <a:tc>
                  <a:txBody>
                    <a:bodyPr/>
                    <a:lstStyle/>
                    <a:p>
                      <a:pPr algn="r"/>
                      <a:r>
                        <a:rPr lang="fr-FR" sz="1600" b="1" dirty="0">
                          <a:solidFill>
                            <a:srgbClr val="1E7A3C"/>
                          </a:solidFill>
                          <a:latin typeface="Arial"/>
                          <a:cs typeface="Arial"/>
                        </a:rPr>
                        <a:t>−0,0024</a:t>
                      </a:r>
                    </a:p>
                  </a:txBody>
                  <a:tcPr marL="76200" marR="76200" marT="25400" marB="25400" anchor="ctr">
                    <a:solidFill>
                      <a:srgbClr val="F2F7F8"/>
                    </a:solidFill>
                  </a:tcPr>
                </a:tc>
                <a:tc>
                  <a:txBody>
                    <a:bodyPr/>
                    <a:lstStyle/>
                    <a:p>
                      <a:pPr algn="r"/>
                      <a:r>
                        <a:rPr lang="fr-FR" sz="1600" b="1" dirty="0">
                          <a:solidFill>
                            <a:srgbClr val="1E7A3C"/>
                          </a:solidFill>
                          <a:latin typeface="Arial"/>
                          <a:cs typeface="Arial"/>
                        </a:rPr>
                        <a:t>−0,0047</a:t>
                      </a:r>
                    </a:p>
                  </a:txBody>
                  <a:tcPr marL="76200" marR="76200" marT="25400" marB="25400" anchor="ctr">
                    <a:solidFill>
                      <a:srgbClr val="F2F7F8"/>
                    </a:solidFill>
                  </a:tcPr>
                </a:tc>
                <a:extLst>
                  <a:ext uri="{0D108BD9-81ED-4DB2-BD59-A6C34878D82A}">
                    <a16:rowId xmlns:a16="http://schemas.microsoft.com/office/drawing/2014/main" val="1915566725"/>
                  </a:ext>
                </a:extLst>
              </a:tr>
            </a:tbl>
          </a:graphicData>
        </a:graphic>
      </p:graphicFrame>
      <p:sp>
        <p:nvSpPr>
          <p:cNvPr id="6" name="Bouton retour frise">
            <a:hlinkClick r:id="rId4" action="ppaction://hlinksldjump"/>
            <a:extLst>
              <a:ext uri="{FF2B5EF4-FFF2-40B4-BE49-F238E27FC236}">
                <a16:creationId xmlns:a16="http://schemas.microsoft.com/office/drawing/2014/main" id="{D4DB4A3C-6E8C-E592-BBC5-DBBCADCD7886}"/>
              </a:ext>
            </a:extLst>
          </p:cNvPr>
          <p:cNvSpPr/>
          <p:nvPr/>
        </p:nvSpPr>
        <p:spPr>
          <a:xfrm>
            <a:off x="15687040" y="711200"/>
            <a:ext cx="1559560" cy="457200"/>
          </a:xfrm>
          <a:prstGeom prst="roundRect">
            <a:avLst>
              <a:gd name="adj" fmla="val 50000"/>
            </a:avLst>
          </a:prstGeom>
          <a:solidFill>
            <a:srgbClr val="EAF5F7"/>
          </a:solidFill>
          <a:ln w="12700">
            <a:solidFill>
              <a:srgbClr val="BFE3EA"/>
            </a:solidFill>
          </a:ln>
        </p:spPr>
        <p:txBody>
          <a:bodyPr wrap="none" lIns="0" tIns="0" rIns="0" bIns="0" anchor="ctr"/>
          <a:lstStyle/>
          <a:p>
            <a:pPr algn="ctr"/>
            <a:r>
              <a:rPr lang="fr-FR" sz="1600" b="1" dirty="0">
                <a:solidFill>
                  <a:srgbClr val="1A6A77"/>
                </a:solidFill>
                <a:latin typeface="Arial"/>
              </a:rPr>
              <a:t>← Retour</a:t>
            </a:r>
          </a:p>
        </p:txBody>
      </p:sp>
    </p:spTree>
    <p:extLst>
      <p:ext uri="{BB962C8B-B14F-4D97-AF65-F5344CB8AC3E}">
        <p14:creationId xmlns:p14="http://schemas.microsoft.com/office/powerpoint/2010/main" val="1595042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1054100" y="825500"/>
            <a:ext cx="12700000" cy="304800"/>
          </a:xfrm>
          <a:prstGeom prst="rect">
            <a:avLst/>
          </a:prstGeom>
          <a:noFill/>
        </p:spPr>
        <p:txBody>
          <a:bodyPr wrap="square" lIns="27432" tIns="27432" rIns="27432" bIns="27432" anchor="t">
            <a:noAutofit/>
          </a:bodyPr>
          <a:lstStyle/>
          <a:p>
            <a:pPr algn="l">
              <a:buNone/>
            </a:pPr>
            <a:r>
              <a:rPr lang="fr-FR" sz="1400" b="1" spc="300" dirty="0">
                <a:solidFill>
                  <a:srgbClr val="1A6A77"/>
                </a:solidFill>
                <a:latin typeface="Arial"/>
              </a:rPr>
              <a:t>ACTE 05 · ÉTAPE 5 · OPTIMISATION</a:t>
            </a:r>
          </a:p>
        </p:txBody>
      </p:sp>
      <p:sp>
        <p:nvSpPr>
          <p:cNvPr id="4" name="TextBox 3"/>
          <p:cNvSpPr txBox="1"/>
          <p:nvPr/>
        </p:nvSpPr>
        <p:spPr>
          <a:xfrm>
            <a:off x="1054100" y="1524000"/>
            <a:ext cx="16192500" cy="1016000"/>
          </a:xfrm>
          <a:prstGeom prst="rect">
            <a:avLst/>
          </a:prstGeom>
          <a:noFill/>
        </p:spPr>
        <p:txBody>
          <a:bodyPr wrap="square" lIns="27432" tIns="27432" rIns="27432" bIns="27432" anchor="t">
            <a:noAutofit/>
          </a:bodyPr>
          <a:lstStyle/>
          <a:p>
            <a:pPr algn="l">
              <a:buNone/>
            </a:pPr>
            <a:r>
              <a:rPr lang="fr-FR" sz="4200" b="1" dirty="0">
                <a:solidFill>
                  <a:srgbClr val="000000"/>
                </a:solidFill>
                <a:latin typeface="Arial"/>
              </a:rPr>
              <a:t>Trois leviers de réglage passés à l'épreuve</a:t>
            </a:r>
          </a:p>
        </p:txBody>
      </p:sp>
      <p:sp>
        <p:nvSpPr>
          <p:cNvPr id="5" name="Rectangle 4"/>
          <p:cNvSpPr/>
          <p:nvPr/>
        </p:nvSpPr>
        <p:spPr>
          <a:xfrm>
            <a:off x="1054100" y="2743200"/>
            <a:ext cx="1143000" cy="3810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7" name="TextBox 6"/>
          <p:cNvSpPr txBox="1"/>
          <p:nvPr/>
        </p:nvSpPr>
        <p:spPr>
          <a:xfrm>
            <a:off x="17048886" y="9309100"/>
            <a:ext cx="273913" cy="304800"/>
          </a:xfrm>
          <a:prstGeom prst="rect">
            <a:avLst/>
          </a:prstGeom>
          <a:noFill/>
        </p:spPr>
        <p:txBody>
          <a:bodyPr wrap="none" lIns="27432" tIns="27432" rIns="27432" bIns="27432" anchor="ctr" anchorCtr="0">
            <a:noAutofit/>
          </a:bodyPr>
          <a:lstStyle/>
          <a:p>
            <a:pPr algn="r">
              <a:buNone/>
            </a:pPr>
            <a:r>
              <a:rPr lang="fr-FR" sz="1400" b="1" dirty="0">
                <a:solidFill>
                  <a:srgbClr val="56B9CA"/>
                </a:solidFill>
                <a:latin typeface="Arial"/>
              </a:rPr>
              <a:t>23</a:t>
            </a:r>
          </a:p>
        </p:txBody>
      </p:sp>
      <p:sp>
        <p:nvSpPr>
          <p:cNvPr id="8" name="Rounded Rectangle 7"/>
          <p:cNvSpPr/>
          <p:nvPr/>
        </p:nvSpPr>
        <p:spPr>
          <a:xfrm>
            <a:off x="1054100" y="3073400"/>
            <a:ext cx="16179800" cy="1600200"/>
          </a:xfrm>
          <a:prstGeom prst="roundRect">
            <a:avLst>
              <a:gd name="adj" fmla="val 2500"/>
            </a:avLst>
          </a:prstGeom>
          <a:solidFill>
            <a:srgbClr val="F4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9" name="TextBox 8"/>
          <p:cNvSpPr txBox="1"/>
          <p:nvPr/>
        </p:nvSpPr>
        <p:spPr>
          <a:xfrm>
            <a:off x="1536700" y="3073400"/>
            <a:ext cx="2667000" cy="1600200"/>
          </a:xfrm>
          <a:prstGeom prst="rect">
            <a:avLst/>
          </a:prstGeom>
          <a:noFill/>
        </p:spPr>
        <p:txBody>
          <a:bodyPr wrap="square" lIns="27432" tIns="27432" rIns="27432" bIns="27432" anchor="ctr">
            <a:noAutofit/>
          </a:bodyPr>
          <a:lstStyle/>
          <a:p>
            <a:pPr algn="l">
              <a:buNone/>
            </a:pPr>
            <a:r>
              <a:rPr lang="fr-FR" sz="2800" b="1" dirty="0">
                <a:solidFill>
                  <a:srgbClr val="15616D"/>
                </a:solidFill>
                <a:latin typeface="Arial"/>
              </a:rPr>
              <a:t>Pondérer ?</a:t>
            </a:r>
          </a:p>
        </p:txBody>
      </p:sp>
      <p:sp>
        <p:nvSpPr>
          <p:cNvPr id="10" name="TextBox 9"/>
          <p:cNvSpPr txBox="1"/>
          <p:nvPr/>
        </p:nvSpPr>
        <p:spPr>
          <a:xfrm>
            <a:off x="4381500" y="3073400"/>
            <a:ext cx="12382500" cy="1600200"/>
          </a:xfrm>
          <a:prstGeom prst="rect">
            <a:avLst/>
          </a:prstGeom>
          <a:noFill/>
        </p:spPr>
        <p:txBody>
          <a:bodyPr wrap="square" lIns="27432" tIns="27432" rIns="27432" bIns="27432" anchor="ctr">
            <a:noAutofit/>
          </a:bodyPr>
          <a:lstStyle/>
          <a:p>
            <a:pPr algn="l">
              <a:buNone/>
            </a:pPr>
            <a:r>
              <a:rPr lang="fr-FR" sz="1900" b="0" dirty="0">
                <a:solidFill>
                  <a:srgbClr val="4A4A4A"/>
                </a:solidFill>
                <a:latin typeface="Arial"/>
              </a:rPr>
              <a:t>La pondération balanced, mise à l'épreuve d'un témoin non pondéré : discrimination inchangée (ROC-AUC 0,9451 → 0,9452), calibration dégradée (Brier 0,0845 → 0,0948).</a:t>
            </a:r>
          </a:p>
          <a:p>
            <a:pPr algn="l">
              <a:buNone/>
            </a:pPr>
            <a:r>
              <a:rPr lang="fr-FR" sz="1900" b="1" dirty="0">
                <a:solidFill>
                  <a:srgbClr val="15616D"/>
                </a:solidFill>
                <a:latin typeface="Arial"/>
              </a:rPr>
              <a:t>→  Non : le déséquilibre (~28 %) se traite au seuil, pas par pondération.</a:t>
            </a:r>
          </a:p>
        </p:txBody>
      </p:sp>
      <p:sp>
        <p:nvSpPr>
          <p:cNvPr id="11" name="Rounded Rectangle 10"/>
          <p:cNvSpPr/>
          <p:nvPr/>
        </p:nvSpPr>
        <p:spPr>
          <a:xfrm>
            <a:off x="1054100" y="4902200"/>
            <a:ext cx="16179800" cy="2362200"/>
          </a:xfrm>
          <a:prstGeom prst="roundRect">
            <a:avLst>
              <a:gd name="adj" fmla="val 2500"/>
            </a:avLst>
          </a:prstGeom>
          <a:solidFill>
            <a:srgbClr val="F4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2" name="TextBox 11"/>
          <p:cNvSpPr txBox="1"/>
          <p:nvPr/>
        </p:nvSpPr>
        <p:spPr>
          <a:xfrm>
            <a:off x="1536700" y="4902200"/>
            <a:ext cx="2667000" cy="2362200"/>
          </a:xfrm>
          <a:prstGeom prst="rect">
            <a:avLst/>
          </a:prstGeom>
          <a:noFill/>
        </p:spPr>
        <p:txBody>
          <a:bodyPr wrap="square" lIns="27432" tIns="27432" rIns="27432" bIns="27432" anchor="ctr">
            <a:noAutofit/>
          </a:bodyPr>
          <a:lstStyle/>
          <a:p>
            <a:pPr algn="l">
              <a:buNone/>
            </a:pPr>
            <a:r>
              <a:rPr lang="fr-FR" sz="2800" b="1" dirty="0">
                <a:solidFill>
                  <a:srgbClr val="15616D"/>
                </a:solidFill>
                <a:latin typeface="Arial"/>
              </a:rPr>
              <a:t>Optimiser ?</a:t>
            </a:r>
          </a:p>
        </p:txBody>
      </p:sp>
      <p:sp>
        <p:nvSpPr>
          <p:cNvPr id="13" name="TextBox 12"/>
          <p:cNvSpPr txBox="1"/>
          <p:nvPr/>
        </p:nvSpPr>
        <p:spPr>
          <a:xfrm>
            <a:off x="4381500" y="4902200"/>
            <a:ext cx="12382500" cy="2362200"/>
          </a:xfrm>
          <a:prstGeom prst="rect">
            <a:avLst/>
          </a:prstGeom>
          <a:noFill/>
        </p:spPr>
        <p:txBody>
          <a:bodyPr wrap="square" lIns="27432" tIns="27432" rIns="27432" bIns="27432" anchor="ctr">
            <a:noAutofit/>
          </a:bodyPr>
          <a:lstStyle/>
          <a:p>
            <a:pPr algn="l">
              <a:buNone/>
            </a:pPr>
            <a:r>
              <a:rPr lang="fr-FR" sz="1900" b="1" dirty="0">
                <a:solidFill>
                  <a:srgbClr val="2B2B2B"/>
                </a:solidFill>
                <a:latin typeface="Arial"/>
              </a:rPr>
              <a:t>Cible abandon — </a:t>
            </a:r>
            <a:r>
              <a:rPr lang="fr-FR" sz="1900" b="0" dirty="0">
                <a:solidFill>
                  <a:srgbClr val="4A4A4A"/>
                </a:solidFill>
                <a:latin typeface="Arial"/>
              </a:rPr>
              <a:t>grille exhaustive sur la logistique : ROC-AUC 0,9453 → 0,9457, C=0,1 ; forêt réglée par Optuna à 0,9397, le challenger ne repasse pas devant.</a:t>
            </a:r>
          </a:p>
          <a:p>
            <a:r>
              <a:rPr lang="fr-FR" sz="1900" b="1" dirty="0">
                <a:solidFill>
                  <a:srgbClr val="15616D"/>
                </a:solidFill>
                <a:latin typeface="Arial"/>
              </a:rPr>
              <a:t>→  Oui par </a:t>
            </a:r>
            <a:r>
              <a:rPr lang="fr-FR" sz="1900" b="1" dirty="0" err="1">
                <a:solidFill>
                  <a:srgbClr val="15616D"/>
                </a:solidFill>
                <a:latin typeface="Arial"/>
              </a:rPr>
              <a:t>GridSearchCV</a:t>
            </a:r>
            <a:r>
              <a:rPr lang="fr-FR" sz="1900" b="1" dirty="0">
                <a:solidFill>
                  <a:srgbClr val="15616D"/>
                </a:solidFill>
                <a:latin typeface="Arial"/>
              </a:rPr>
              <a:t>, quasi gratuit sur 7 valeurs de C </a:t>
            </a:r>
          </a:p>
          <a:p>
            <a:pPr algn="l">
              <a:buNone/>
            </a:pPr>
            <a:endParaRPr lang="fr-FR" sz="1900" b="0" dirty="0">
              <a:solidFill>
                <a:srgbClr val="4A4A4A"/>
              </a:solidFill>
              <a:latin typeface="Arial"/>
            </a:endParaRPr>
          </a:p>
          <a:p>
            <a:pPr algn="l">
              <a:buNone/>
            </a:pPr>
            <a:r>
              <a:rPr lang="fr-FR" sz="1900" b="1" dirty="0">
                <a:solidFill>
                  <a:srgbClr val="2B2B2B"/>
                </a:solidFill>
                <a:latin typeface="Arial"/>
              </a:rPr>
              <a:t>Cible moyenne_finale — </a:t>
            </a:r>
            <a:r>
              <a:rPr lang="fr-FR" sz="1900" b="0" dirty="0">
                <a:solidFill>
                  <a:srgbClr val="4A4A4A"/>
                </a:solidFill>
                <a:latin typeface="Arial"/>
              </a:rPr>
              <a:t>gradient boosting : MAE 2,233 sans réglage, 2,208 en régime lourd, pour ~7× le CO₂ du frugal.</a:t>
            </a:r>
          </a:p>
          <a:p>
            <a:r>
              <a:rPr lang="fr-FR" sz="1900" b="1" dirty="0">
                <a:solidFill>
                  <a:srgbClr val="15616D"/>
                </a:solidFill>
                <a:latin typeface="Arial"/>
              </a:rPr>
              <a:t>→  Non par Optuna pour la note, gain non matériel et carbone disproportionné.</a:t>
            </a:r>
          </a:p>
        </p:txBody>
      </p:sp>
      <p:sp>
        <p:nvSpPr>
          <p:cNvPr id="14" name="Rounded Rectangle 13"/>
          <p:cNvSpPr/>
          <p:nvPr/>
        </p:nvSpPr>
        <p:spPr>
          <a:xfrm>
            <a:off x="1054100" y="7493000"/>
            <a:ext cx="16179800" cy="1600200"/>
          </a:xfrm>
          <a:prstGeom prst="roundRect">
            <a:avLst>
              <a:gd name="adj" fmla="val 2500"/>
            </a:avLst>
          </a:prstGeom>
          <a:solidFill>
            <a:srgbClr val="F4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5" name="TextBox 14"/>
          <p:cNvSpPr txBox="1"/>
          <p:nvPr/>
        </p:nvSpPr>
        <p:spPr>
          <a:xfrm>
            <a:off x="1536700" y="7493000"/>
            <a:ext cx="2667000" cy="1600200"/>
          </a:xfrm>
          <a:prstGeom prst="rect">
            <a:avLst/>
          </a:prstGeom>
          <a:noFill/>
        </p:spPr>
        <p:txBody>
          <a:bodyPr wrap="square" lIns="27432" tIns="27432" rIns="27432" bIns="27432" anchor="ctr">
            <a:noAutofit/>
          </a:bodyPr>
          <a:lstStyle/>
          <a:p>
            <a:pPr algn="l">
              <a:buNone/>
            </a:pPr>
            <a:r>
              <a:rPr lang="fr-FR" sz="2800" b="1" dirty="0">
                <a:solidFill>
                  <a:srgbClr val="15616D"/>
                </a:solidFill>
                <a:latin typeface="Arial"/>
              </a:rPr>
              <a:t>Calibrer ?</a:t>
            </a:r>
          </a:p>
        </p:txBody>
      </p:sp>
      <p:sp>
        <p:nvSpPr>
          <p:cNvPr id="16" name="TextBox 15"/>
          <p:cNvSpPr txBox="1"/>
          <p:nvPr/>
        </p:nvSpPr>
        <p:spPr>
          <a:xfrm>
            <a:off x="4381500" y="7493000"/>
            <a:ext cx="12382500" cy="1600200"/>
          </a:xfrm>
          <a:prstGeom prst="rect">
            <a:avLst/>
          </a:prstGeom>
          <a:noFill/>
        </p:spPr>
        <p:txBody>
          <a:bodyPr wrap="square" lIns="27432" tIns="27432" rIns="27432" bIns="27432" anchor="ctr">
            <a:noAutofit/>
          </a:bodyPr>
          <a:lstStyle/>
          <a:p>
            <a:pPr algn="l">
              <a:buNone/>
            </a:pPr>
            <a:r>
              <a:rPr lang="fr-FR" sz="1900" b="0" dirty="0">
                <a:solidFill>
                  <a:srgbClr val="4A4A4A"/>
                </a:solidFill>
                <a:latin typeface="Arial"/>
              </a:rPr>
              <a:t>Une probabilité de 0,30 doit valoir 30 % de décrochage observé : recalibrage isotonic testé, Brier 0,0842 contre 0,0841.</a:t>
            </a:r>
          </a:p>
          <a:p>
            <a:pPr algn="l">
              <a:buNone/>
            </a:pPr>
            <a:endParaRPr lang="fr-FR" sz="1900" b="0" dirty="0">
              <a:solidFill>
                <a:srgbClr val="4A4A4A"/>
              </a:solidFill>
              <a:latin typeface="Arial"/>
            </a:endParaRPr>
          </a:p>
          <a:p>
            <a:pPr algn="l">
              <a:buNone/>
            </a:pPr>
            <a:r>
              <a:rPr lang="fr-FR" sz="1900" b="1" dirty="0">
                <a:solidFill>
                  <a:srgbClr val="15616D"/>
                </a:solidFill>
                <a:latin typeface="Arial"/>
              </a:rPr>
              <a:t>→  Non : la logistique produit des probabilités fiables sans retouche.</a:t>
            </a:r>
          </a:p>
        </p:txBody>
      </p:sp>
      <p:sp>
        <p:nvSpPr>
          <p:cNvPr id="60" name="Barre accent 0"/>
          <p:cNvSpPr/>
          <p:nvPr/>
        </p:nvSpPr>
        <p:spPr>
          <a:xfrm>
            <a:off x="1054100" y="3073400"/>
            <a:ext cx="88900" cy="1600200"/>
          </a:xfrm>
          <a:prstGeom prst="rect">
            <a:avLst/>
          </a:prstGeom>
          <a:solidFill>
            <a:srgbClr val="1A6A77"/>
          </a:solidFill>
          <a:ln>
            <a:noFill/>
          </a:ln>
          <a:effectLst/>
        </p:spPr>
        <p:txBody>
          <a:bodyPr/>
          <a:lstStyle/>
          <a:p>
            <a:endParaRPr lang="fr-FR"/>
          </a:p>
        </p:txBody>
      </p:sp>
      <p:sp>
        <p:nvSpPr>
          <p:cNvPr id="61" name="Barre accent 1"/>
          <p:cNvSpPr/>
          <p:nvPr/>
        </p:nvSpPr>
        <p:spPr>
          <a:xfrm>
            <a:off x="1054100" y="4902200"/>
            <a:ext cx="88900" cy="2362200"/>
          </a:xfrm>
          <a:prstGeom prst="rect">
            <a:avLst/>
          </a:prstGeom>
          <a:solidFill>
            <a:srgbClr val="2E93A3"/>
          </a:solidFill>
          <a:ln>
            <a:noFill/>
          </a:ln>
          <a:effectLst/>
        </p:spPr>
        <p:txBody>
          <a:bodyPr/>
          <a:lstStyle/>
          <a:p>
            <a:endParaRPr lang="fr-FR"/>
          </a:p>
        </p:txBody>
      </p:sp>
      <p:sp>
        <p:nvSpPr>
          <p:cNvPr id="62" name="Barre accent 2"/>
          <p:cNvSpPr/>
          <p:nvPr/>
        </p:nvSpPr>
        <p:spPr>
          <a:xfrm>
            <a:off x="1054100" y="7493000"/>
            <a:ext cx="88900" cy="1600200"/>
          </a:xfrm>
          <a:prstGeom prst="rect">
            <a:avLst/>
          </a:prstGeom>
          <a:solidFill>
            <a:srgbClr val="56B9CA"/>
          </a:solidFill>
          <a:ln>
            <a:noFill/>
          </a:ln>
          <a:effectLst/>
        </p:spPr>
        <p:txBody>
          <a:bodyPr/>
          <a:lstStyle/>
          <a:p>
            <a:endParaRPr lang="fr-FR"/>
          </a:p>
        </p:txBody>
      </p:sp>
      <p:sp>
        <p:nvSpPr>
          <p:cNvPr id="6" name="Bouton retour frise">
            <a:hlinkClick r:id="rId3" action="ppaction://hlinksldjump"/>
            <a:extLst>
              <a:ext uri="{FF2B5EF4-FFF2-40B4-BE49-F238E27FC236}">
                <a16:creationId xmlns:a16="http://schemas.microsoft.com/office/drawing/2014/main" id="{4FAF4058-EF68-BDC8-BA34-AE62DB5EDC07}"/>
              </a:ext>
            </a:extLst>
          </p:cNvPr>
          <p:cNvSpPr/>
          <p:nvPr/>
        </p:nvSpPr>
        <p:spPr>
          <a:xfrm>
            <a:off x="15687040" y="711200"/>
            <a:ext cx="1559560" cy="457200"/>
          </a:xfrm>
          <a:prstGeom prst="roundRect">
            <a:avLst>
              <a:gd name="adj" fmla="val 50000"/>
            </a:avLst>
          </a:prstGeom>
          <a:solidFill>
            <a:srgbClr val="EAF5F7"/>
          </a:solidFill>
          <a:ln w="12700">
            <a:solidFill>
              <a:srgbClr val="BFE3EA"/>
            </a:solidFill>
          </a:ln>
        </p:spPr>
        <p:txBody>
          <a:bodyPr wrap="none" lIns="0" tIns="0" rIns="0" bIns="0" anchor="ctr"/>
          <a:lstStyle/>
          <a:p>
            <a:pPr algn="ctr"/>
            <a:r>
              <a:rPr lang="fr-FR" sz="1600" b="1" dirty="0">
                <a:solidFill>
                  <a:srgbClr val="1A6A77"/>
                </a:solidFill>
                <a:latin typeface="Arial"/>
              </a:rPr>
              <a:t>← Retour</a:t>
            </a:r>
          </a:p>
        </p:txBody>
      </p:sp>
    </p:spTree>
    <p:extLst>
      <p:ext uri="{BB962C8B-B14F-4D97-AF65-F5344CB8AC3E}">
        <p14:creationId xmlns:p14="http://schemas.microsoft.com/office/powerpoint/2010/main" val="1663514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101"/>
          <p:cNvSpPr txBox="1"/>
          <p:nvPr/>
        </p:nvSpPr>
        <p:spPr>
          <a:xfrm>
            <a:off x="1054100" y="825500"/>
            <a:ext cx="12700000" cy="304800"/>
          </a:xfrm>
          <a:prstGeom prst="rect">
            <a:avLst/>
          </a:prstGeom>
          <a:noFill/>
        </p:spPr>
        <p:txBody>
          <a:bodyPr wrap="square" lIns="0" tIns="0" rIns="0" bIns="0" anchor="t">
            <a:noAutofit/>
          </a:bodyPr>
          <a:lstStyle/>
          <a:p>
            <a:pPr algn="l">
              <a:buNone/>
            </a:pPr>
            <a:r>
              <a:rPr lang="fr-FR" sz="1400" b="1" spc="300" dirty="0">
                <a:solidFill>
                  <a:srgbClr val="1A6A77"/>
                </a:solidFill>
                <a:latin typeface="Arial"/>
              </a:rPr>
              <a:t>ACTE 05 · ÉTAPE 6 · CHOIX DU SEUIL</a:t>
            </a:r>
          </a:p>
        </p:txBody>
      </p:sp>
      <p:sp>
        <p:nvSpPr>
          <p:cNvPr id="102" name="TextBox 102"/>
          <p:cNvSpPr txBox="1"/>
          <p:nvPr/>
        </p:nvSpPr>
        <p:spPr>
          <a:xfrm>
            <a:off x="1054100" y="1524000"/>
            <a:ext cx="16192500" cy="1016000"/>
          </a:xfrm>
          <a:prstGeom prst="rect">
            <a:avLst/>
          </a:prstGeom>
          <a:noFill/>
        </p:spPr>
        <p:txBody>
          <a:bodyPr wrap="square" lIns="0" tIns="0" rIns="0" bIns="0" anchor="t">
            <a:noAutofit/>
          </a:bodyPr>
          <a:lstStyle/>
          <a:p>
            <a:pPr algn="l">
              <a:buNone/>
            </a:pPr>
            <a:r>
              <a:rPr lang="fr-FR" sz="5000" b="1" i="0" dirty="0">
                <a:solidFill>
                  <a:srgbClr val="000000"/>
                </a:solidFill>
                <a:latin typeface="Arial"/>
              </a:rPr>
              <a:t>Seuil 0,42 — détecter 80 % des abandons</a:t>
            </a:r>
          </a:p>
        </p:txBody>
      </p:sp>
      <p:sp>
        <p:nvSpPr>
          <p:cNvPr id="103" name="Shape 103"/>
          <p:cNvSpPr/>
          <p:nvPr/>
        </p:nvSpPr>
        <p:spPr>
          <a:xfrm>
            <a:off x="1054100" y="2743200"/>
            <a:ext cx="1143000" cy="38100"/>
          </a:xfrm>
          <a:prstGeom prst="rect">
            <a:avLst/>
          </a:prstGeom>
          <a:solidFill>
            <a:srgbClr val="56B9CA"/>
          </a:solidFill>
          <a:ln>
            <a:noFill/>
          </a:ln>
        </p:spPr>
        <p:txBody>
          <a:bodyPr/>
          <a:lstStyle/>
          <a:p>
            <a:endParaRPr/>
          </a:p>
        </p:txBody>
      </p:sp>
      <p:sp>
        <p:nvSpPr>
          <p:cNvPr id="127" name="TextBox 127"/>
          <p:cNvSpPr txBox="1"/>
          <p:nvPr/>
        </p:nvSpPr>
        <p:spPr>
          <a:xfrm>
            <a:off x="17048886" y="9309100"/>
            <a:ext cx="273913" cy="304800"/>
          </a:xfrm>
          <a:prstGeom prst="rect">
            <a:avLst/>
          </a:prstGeom>
          <a:noFill/>
        </p:spPr>
        <p:txBody>
          <a:bodyPr wrap="none" lIns="0" tIns="0" rIns="0" bIns="0" anchor="ctr" anchorCtr="0">
            <a:noAutofit/>
          </a:bodyPr>
          <a:lstStyle/>
          <a:p>
            <a:pPr algn="r">
              <a:buNone/>
            </a:pPr>
            <a:r>
              <a:rPr lang="fr-FR" sz="1400" b="1">
                <a:solidFill>
                  <a:srgbClr val="56B9CA"/>
                </a:solidFill>
                <a:latin typeface="Arial"/>
                <a:cs typeface="Arial"/>
              </a:rPr>
              <a:t>24</a:t>
            </a:r>
            <a:endParaRPr lang="fr-FR" sz="1400" b="1" dirty="0">
              <a:solidFill>
                <a:srgbClr val="56B9CA"/>
              </a:solidFill>
              <a:latin typeface="Arial"/>
              <a:cs typeface="Arial"/>
            </a:endParaRPr>
          </a:p>
        </p:txBody>
      </p:sp>
      <p:sp>
        <p:nvSpPr>
          <p:cNvPr id="707" name="Shape 708"/>
          <p:cNvSpPr/>
          <p:nvPr/>
        </p:nvSpPr>
        <p:spPr>
          <a:xfrm>
            <a:off x="1054100" y="8890000"/>
            <a:ext cx="15367000" cy="939800"/>
          </a:xfrm>
          <a:prstGeom prst="roundRect">
            <a:avLst/>
          </a:prstGeom>
          <a:solidFill>
            <a:srgbClr val="EAF5F7"/>
          </a:solidFill>
          <a:ln>
            <a:noFill/>
          </a:ln>
        </p:spPr>
        <p:txBody>
          <a:bodyPr wrap="square" lIns="0" tIns="0" rIns="0" bIns="0" anchor="ctr" anchorCtr="0">
            <a:noAutofit/>
          </a:bodyPr>
          <a:lstStyle/>
          <a:p>
            <a:pPr algn="ctr">
              <a:lnSpc>
                <a:spcPts val="2400"/>
              </a:lnSpc>
              <a:buNone/>
            </a:pPr>
            <a:r>
              <a:rPr lang="fr-FR" sz="1800" b="1" i="0" dirty="0">
                <a:solidFill>
                  <a:srgbClr val="0F4A54"/>
                </a:solidFill>
                <a:latin typeface="Arial"/>
              </a:rPr>
              <a:t>Seuil 0,42 : rappel 80 %, précision 78 %, 29 % de la promotion signalée.</a:t>
            </a:r>
          </a:p>
        </p:txBody>
      </p:sp>
      <p:pic>
        <p:nvPicPr>
          <p:cNvPr id="709" name="Copied Picture 709">
            <a:extLst>
              <a:ext uri="{FF2B5EF4-FFF2-40B4-BE49-F238E27FC236}">
                <a16:creationId xmlns:a16="http://schemas.microsoft.com/office/drawing/2014/main" id="{E7FB82F1-6AB3-BF97-6AD0-CA3B1CBE673A}"/>
              </a:ext>
            </a:extLst>
          </p:cNvPr>
          <p:cNvPicPr>
            <a:picLocks noChangeAspect="1"/>
          </p:cNvPicPr>
          <p:nvPr/>
        </p:nvPicPr>
        <p:blipFill>
          <a:blip r:embed="rId3"/>
          <a:stretch>
            <a:fillRect/>
          </a:stretch>
        </p:blipFill>
        <p:spPr>
          <a:xfrm>
            <a:off x="1702706" y="2933700"/>
            <a:ext cx="14882587" cy="5979030"/>
          </a:xfrm>
          <a:prstGeom prst="rect">
            <a:avLst/>
          </a:prstGeom>
        </p:spPr>
      </p:pic>
      <p:sp>
        <p:nvSpPr>
          <p:cNvPr id="4" name="Bouton retour frise">
            <a:hlinkClick r:id="rId4" action="ppaction://hlinksldjump"/>
            <a:extLst>
              <a:ext uri="{FF2B5EF4-FFF2-40B4-BE49-F238E27FC236}">
                <a16:creationId xmlns:a16="http://schemas.microsoft.com/office/drawing/2014/main" id="{F02A9D95-C31F-FC7F-9EDA-DF4559195312}"/>
              </a:ext>
            </a:extLst>
          </p:cNvPr>
          <p:cNvSpPr/>
          <p:nvPr/>
        </p:nvSpPr>
        <p:spPr>
          <a:xfrm>
            <a:off x="15687040" y="711200"/>
            <a:ext cx="1559560" cy="457200"/>
          </a:xfrm>
          <a:prstGeom prst="roundRect">
            <a:avLst>
              <a:gd name="adj" fmla="val 50000"/>
            </a:avLst>
          </a:prstGeom>
          <a:solidFill>
            <a:srgbClr val="EAF5F7"/>
          </a:solidFill>
          <a:ln w="12700">
            <a:solidFill>
              <a:srgbClr val="BFE3EA"/>
            </a:solidFill>
          </a:ln>
        </p:spPr>
        <p:txBody>
          <a:bodyPr wrap="none" lIns="0" tIns="0" rIns="0" bIns="0" anchor="ctr"/>
          <a:lstStyle/>
          <a:p>
            <a:pPr algn="ctr"/>
            <a:r>
              <a:rPr lang="fr-FR" sz="1600" b="1" dirty="0">
                <a:solidFill>
                  <a:srgbClr val="1A6A77"/>
                </a:solidFill>
                <a:latin typeface="Arial"/>
              </a:rPr>
              <a:t>← Retour</a:t>
            </a:r>
          </a:p>
        </p:txBody>
      </p:sp>
    </p:spTree>
    <p:extLst>
      <p:ext uri="{BB962C8B-B14F-4D97-AF65-F5344CB8AC3E}">
        <p14:creationId xmlns:p14="http://schemas.microsoft.com/office/powerpoint/2010/main" val="2983220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101"/>
          <p:cNvSpPr txBox="1"/>
          <p:nvPr/>
        </p:nvSpPr>
        <p:spPr>
          <a:xfrm>
            <a:off x="1054100" y="825500"/>
            <a:ext cx="12700000" cy="304800"/>
          </a:xfrm>
          <a:prstGeom prst="rect">
            <a:avLst/>
          </a:prstGeom>
          <a:noFill/>
        </p:spPr>
        <p:txBody>
          <a:bodyPr wrap="square" lIns="0" tIns="0" rIns="0" bIns="0" anchor="t">
            <a:noAutofit/>
          </a:bodyPr>
          <a:lstStyle/>
          <a:p>
            <a:pPr algn="l">
              <a:buNone/>
            </a:pPr>
            <a:r>
              <a:rPr lang="fr-FR" sz="1400" b="1" spc="300" dirty="0">
                <a:solidFill>
                  <a:srgbClr val="1A6A77"/>
                </a:solidFill>
                <a:latin typeface="Arial"/>
              </a:rPr>
              <a:t>ACTE 05 · ÉTAPE 7 · MESURE DE PERFORMANCE</a:t>
            </a:r>
          </a:p>
          <a:p>
            <a:pPr algn="l">
              <a:buNone/>
            </a:pPr>
            <a:endParaRPr lang="fr-FR" sz="1400" b="1" spc="300" dirty="0">
              <a:solidFill>
                <a:srgbClr val="1A6A77"/>
              </a:solidFill>
              <a:latin typeface="Arial"/>
            </a:endParaRPr>
          </a:p>
        </p:txBody>
      </p:sp>
      <p:sp>
        <p:nvSpPr>
          <p:cNvPr id="102" name="TextBox 102"/>
          <p:cNvSpPr txBox="1"/>
          <p:nvPr/>
        </p:nvSpPr>
        <p:spPr>
          <a:xfrm>
            <a:off x="1054100" y="1524000"/>
            <a:ext cx="16192500" cy="1016000"/>
          </a:xfrm>
          <a:prstGeom prst="rect">
            <a:avLst/>
          </a:prstGeom>
          <a:noFill/>
        </p:spPr>
        <p:txBody>
          <a:bodyPr wrap="square" lIns="0" tIns="0" rIns="0" bIns="0" anchor="t">
            <a:noAutofit/>
          </a:bodyPr>
          <a:lstStyle/>
          <a:p>
            <a:pPr algn="l">
              <a:buNone/>
            </a:pPr>
            <a:r>
              <a:rPr lang="fr-FR" sz="5000" b="1" dirty="0">
                <a:solidFill>
                  <a:srgbClr val="000000"/>
                </a:solidFill>
                <a:latin typeface="Arial"/>
              </a:rPr>
              <a:t>Les mesures sur un test jamais vu</a:t>
            </a:r>
          </a:p>
        </p:txBody>
      </p:sp>
      <p:sp>
        <p:nvSpPr>
          <p:cNvPr id="103" name="Shape 103"/>
          <p:cNvSpPr/>
          <p:nvPr/>
        </p:nvSpPr>
        <p:spPr>
          <a:xfrm>
            <a:off x="1054100" y="2743200"/>
            <a:ext cx="1143000" cy="38100"/>
          </a:xfrm>
          <a:prstGeom prst="rect">
            <a:avLst/>
          </a:prstGeom>
          <a:solidFill>
            <a:srgbClr val="56B9CA"/>
          </a:solidFill>
          <a:ln>
            <a:noFill/>
          </a:ln>
        </p:spPr>
        <p:txBody>
          <a:bodyPr/>
          <a:lstStyle/>
          <a:p>
            <a:endParaRPr/>
          </a:p>
        </p:txBody>
      </p:sp>
      <p:sp>
        <p:nvSpPr>
          <p:cNvPr id="127" name="TextBox 127"/>
          <p:cNvSpPr txBox="1"/>
          <p:nvPr/>
        </p:nvSpPr>
        <p:spPr>
          <a:xfrm>
            <a:off x="17048886" y="9309100"/>
            <a:ext cx="273913" cy="304800"/>
          </a:xfrm>
          <a:prstGeom prst="rect">
            <a:avLst/>
          </a:prstGeom>
          <a:noFill/>
        </p:spPr>
        <p:txBody>
          <a:bodyPr wrap="none" lIns="0" tIns="0" rIns="0" bIns="0" anchor="ctr" anchorCtr="0">
            <a:noAutofit/>
          </a:bodyPr>
          <a:lstStyle/>
          <a:p>
            <a:pPr algn="r">
              <a:buNone/>
            </a:pPr>
            <a:r>
              <a:rPr lang="fr-FR" sz="1400" b="1">
                <a:solidFill>
                  <a:srgbClr val="56B9CA"/>
                </a:solidFill>
                <a:latin typeface="Arial"/>
                <a:cs typeface="Arial"/>
              </a:rPr>
              <a:t>25</a:t>
            </a:r>
            <a:endParaRPr lang="fr-FR" sz="1400" b="1" dirty="0">
              <a:solidFill>
                <a:srgbClr val="56B9CA"/>
              </a:solidFill>
              <a:latin typeface="Arial"/>
              <a:cs typeface="Arial"/>
            </a:endParaRPr>
          </a:p>
        </p:txBody>
      </p:sp>
      <p:sp>
        <p:nvSpPr>
          <p:cNvPr id="700" name="Shape 701"/>
          <p:cNvSpPr/>
          <p:nvPr/>
        </p:nvSpPr>
        <p:spPr>
          <a:xfrm>
            <a:off x="1054100" y="2946400"/>
            <a:ext cx="3873500" cy="1320800"/>
          </a:xfrm>
          <a:prstGeom prst="roundRect">
            <a:avLst/>
          </a:prstGeom>
          <a:solidFill>
            <a:srgbClr val="EAF5F7"/>
          </a:solidFill>
          <a:ln>
            <a:noFill/>
          </a:ln>
        </p:spPr>
        <p:txBody>
          <a:bodyPr wrap="none" lIns="0" tIns="0" rIns="0" bIns="0" anchor="ctr">
            <a:noAutofit/>
          </a:bodyPr>
          <a:lstStyle/>
          <a:p>
            <a:pPr algn="ctr"/>
            <a:endParaRPr/>
          </a:p>
        </p:txBody>
      </p:sp>
      <p:sp>
        <p:nvSpPr>
          <p:cNvPr id="701" name="TextBox 702"/>
          <p:cNvSpPr txBox="1"/>
          <p:nvPr/>
        </p:nvSpPr>
        <p:spPr>
          <a:xfrm>
            <a:off x="1358900" y="3073400"/>
            <a:ext cx="3263900" cy="304800"/>
          </a:xfrm>
          <a:prstGeom prst="rect">
            <a:avLst/>
          </a:prstGeom>
          <a:noFill/>
        </p:spPr>
        <p:txBody>
          <a:bodyPr wrap="square" lIns="0" tIns="0" rIns="0" bIns="0" anchor="t">
            <a:noAutofit/>
          </a:bodyPr>
          <a:lstStyle/>
          <a:p>
            <a:pPr algn="l">
              <a:buNone/>
            </a:pPr>
            <a:r>
              <a:rPr lang="fr-FR" sz="1500" b="1" spc="80" dirty="0">
                <a:solidFill>
                  <a:srgbClr val="1A6A77"/>
                </a:solidFill>
                <a:latin typeface="Arial"/>
              </a:rPr>
              <a:t>ROC-AUC</a:t>
            </a:r>
          </a:p>
        </p:txBody>
      </p:sp>
      <p:sp>
        <p:nvSpPr>
          <p:cNvPr id="702" name="TextBox 703"/>
          <p:cNvSpPr txBox="1"/>
          <p:nvPr/>
        </p:nvSpPr>
        <p:spPr>
          <a:xfrm>
            <a:off x="1358900" y="3403600"/>
            <a:ext cx="3263900" cy="609600"/>
          </a:xfrm>
          <a:prstGeom prst="rect">
            <a:avLst/>
          </a:prstGeom>
          <a:noFill/>
        </p:spPr>
        <p:txBody>
          <a:bodyPr wrap="square" lIns="0" tIns="0" rIns="0" bIns="0" anchor="t">
            <a:noAutofit/>
          </a:bodyPr>
          <a:lstStyle/>
          <a:p>
            <a:pPr algn="l">
              <a:buNone/>
            </a:pPr>
            <a:r>
              <a:rPr lang="fr-FR" sz="3600" b="1" dirty="0">
                <a:solidFill>
                  <a:srgbClr val="1A5A66"/>
                </a:solidFill>
                <a:latin typeface="Arial"/>
              </a:rPr>
              <a:t>0,945</a:t>
            </a:r>
          </a:p>
        </p:txBody>
      </p:sp>
      <p:sp>
        <p:nvSpPr>
          <p:cNvPr id="703" name="TextBox 704"/>
          <p:cNvSpPr txBox="1"/>
          <p:nvPr/>
        </p:nvSpPr>
        <p:spPr>
          <a:xfrm>
            <a:off x="1358900" y="3962400"/>
            <a:ext cx="3263900" cy="279400"/>
          </a:xfrm>
          <a:prstGeom prst="rect">
            <a:avLst/>
          </a:prstGeom>
          <a:noFill/>
        </p:spPr>
        <p:txBody>
          <a:bodyPr wrap="square" lIns="0" tIns="0" rIns="0" bIns="0" anchor="t">
            <a:noAutofit/>
          </a:bodyPr>
          <a:lstStyle/>
          <a:p>
            <a:pPr algn="l">
              <a:buNone/>
            </a:pPr>
            <a:r>
              <a:rPr lang="fr-FR" sz="1500" b="0" dirty="0">
                <a:solidFill>
                  <a:srgbClr val="6F6F6F"/>
                </a:solidFill>
                <a:latin typeface="Arial"/>
              </a:rPr>
              <a:t>OOF 0,946 → test 0,945</a:t>
            </a:r>
          </a:p>
        </p:txBody>
      </p:sp>
      <p:sp>
        <p:nvSpPr>
          <p:cNvPr id="704" name="Shape 705"/>
          <p:cNvSpPr/>
          <p:nvPr/>
        </p:nvSpPr>
        <p:spPr>
          <a:xfrm>
            <a:off x="5156200" y="2946400"/>
            <a:ext cx="3873500" cy="1320800"/>
          </a:xfrm>
          <a:prstGeom prst="roundRect">
            <a:avLst/>
          </a:prstGeom>
          <a:solidFill>
            <a:srgbClr val="EAF5F7"/>
          </a:solidFill>
          <a:ln>
            <a:noFill/>
          </a:ln>
        </p:spPr>
        <p:txBody>
          <a:bodyPr wrap="none" lIns="0" tIns="0" rIns="0" bIns="0" anchor="ctr">
            <a:noAutofit/>
          </a:bodyPr>
          <a:lstStyle/>
          <a:p>
            <a:pPr algn="ctr"/>
            <a:endParaRPr/>
          </a:p>
        </p:txBody>
      </p:sp>
      <p:sp>
        <p:nvSpPr>
          <p:cNvPr id="705" name="TextBox 706"/>
          <p:cNvSpPr txBox="1"/>
          <p:nvPr/>
        </p:nvSpPr>
        <p:spPr>
          <a:xfrm>
            <a:off x="5461000" y="3073400"/>
            <a:ext cx="3263900" cy="304800"/>
          </a:xfrm>
          <a:prstGeom prst="rect">
            <a:avLst/>
          </a:prstGeom>
          <a:noFill/>
        </p:spPr>
        <p:txBody>
          <a:bodyPr wrap="square" lIns="0" tIns="0" rIns="0" bIns="0" anchor="t">
            <a:noAutofit/>
          </a:bodyPr>
          <a:lstStyle/>
          <a:p>
            <a:pPr algn="l">
              <a:buNone/>
            </a:pPr>
            <a:r>
              <a:rPr lang="fr-FR" sz="1500" b="1" spc="80" dirty="0">
                <a:solidFill>
                  <a:srgbClr val="1A6A77"/>
                </a:solidFill>
                <a:latin typeface="Arial"/>
              </a:rPr>
              <a:t>PR-AUC</a:t>
            </a:r>
          </a:p>
        </p:txBody>
      </p:sp>
      <p:sp>
        <p:nvSpPr>
          <p:cNvPr id="706" name="TextBox 707"/>
          <p:cNvSpPr txBox="1"/>
          <p:nvPr/>
        </p:nvSpPr>
        <p:spPr>
          <a:xfrm>
            <a:off x="5461000" y="3403600"/>
            <a:ext cx="3263900" cy="609600"/>
          </a:xfrm>
          <a:prstGeom prst="rect">
            <a:avLst/>
          </a:prstGeom>
          <a:noFill/>
        </p:spPr>
        <p:txBody>
          <a:bodyPr wrap="square" lIns="0" tIns="0" rIns="0" bIns="0" anchor="t">
            <a:noAutofit/>
          </a:bodyPr>
          <a:lstStyle/>
          <a:p>
            <a:pPr algn="l">
              <a:buNone/>
            </a:pPr>
            <a:r>
              <a:rPr lang="fr-FR" sz="3600" b="1" dirty="0">
                <a:solidFill>
                  <a:srgbClr val="1A5A66"/>
                </a:solidFill>
                <a:latin typeface="Arial"/>
              </a:rPr>
              <a:t>0,872</a:t>
            </a:r>
          </a:p>
        </p:txBody>
      </p:sp>
      <p:sp>
        <p:nvSpPr>
          <p:cNvPr id="707" name="TextBox 708"/>
          <p:cNvSpPr txBox="1"/>
          <p:nvPr/>
        </p:nvSpPr>
        <p:spPr>
          <a:xfrm>
            <a:off x="5461000" y="3962400"/>
            <a:ext cx="3263900" cy="279400"/>
          </a:xfrm>
          <a:prstGeom prst="rect">
            <a:avLst/>
          </a:prstGeom>
          <a:noFill/>
        </p:spPr>
        <p:txBody>
          <a:bodyPr wrap="square" lIns="0" tIns="0" rIns="0" bIns="0" anchor="t">
            <a:noAutofit/>
          </a:bodyPr>
          <a:lstStyle/>
          <a:p>
            <a:pPr algn="l">
              <a:buNone/>
            </a:pPr>
            <a:r>
              <a:rPr lang="fr-FR" sz="1500" b="0" dirty="0">
                <a:solidFill>
                  <a:srgbClr val="6F6F6F"/>
                </a:solidFill>
                <a:latin typeface="Arial"/>
              </a:rPr>
              <a:t>OOF 0,872 → test 0,872</a:t>
            </a:r>
          </a:p>
        </p:txBody>
      </p:sp>
      <p:sp>
        <p:nvSpPr>
          <p:cNvPr id="708" name="Shape 709"/>
          <p:cNvSpPr/>
          <p:nvPr/>
        </p:nvSpPr>
        <p:spPr>
          <a:xfrm>
            <a:off x="9258300" y="2946400"/>
            <a:ext cx="3873500" cy="1320800"/>
          </a:xfrm>
          <a:prstGeom prst="roundRect">
            <a:avLst/>
          </a:prstGeom>
          <a:solidFill>
            <a:srgbClr val="EAF5F7"/>
          </a:solidFill>
          <a:ln>
            <a:noFill/>
          </a:ln>
        </p:spPr>
        <p:txBody>
          <a:bodyPr wrap="none" lIns="0" tIns="0" rIns="0" bIns="0" anchor="ctr">
            <a:noAutofit/>
          </a:bodyPr>
          <a:lstStyle/>
          <a:p>
            <a:pPr algn="ctr"/>
            <a:endParaRPr/>
          </a:p>
        </p:txBody>
      </p:sp>
      <p:sp>
        <p:nvSpPr>
          <p:cNvPr id="709" name="TextBox 710"/>
          <p:cNvSpPr txBox="1"/>
          <p:nvPr/>
        </p:nvSpPr>
        <p:spPr>
          <a:xfrm>
            <a:off x="9563100" y="3073400"/>
            <a:ext cx="3263900" cy="304800"/>
          </a:xfrm>
          <a:prstGeom prst="rect">
            <a:avLst/>
          </a:prstGeom>
          <a:noFill/>
        </p:spPr>
        <p:txBody>
          <a:bodyPr wrap="square" lIns="0" tIns="0" rIns="0" bIns="0" anchor="t">
            <a:noAutofit/>
          </a:bodyPr>
          <a:lstStyle/>
          <a:p>
            <a:pPr algn="l">
              <a:buNone/>
            </a:pPr>
            <a:r>
              <a:rPr lang="fr-FR" sz="1500" b="1" spc="80" dirty="0">
                <a:solidFill>
                  <a:srgbClr val="1A6A77"/>
                </a:solidFill>
                <a:latin typeface="Arial"/>
              </a:rPr>
              <a:t>BRIER</a:t>
            </a:r>
          </a:p>
        </p:txBody>
      </p:sp>
      <p:sp>
        <p:nvSpPr>
          <p:cNvPr id="710" name="TextBox 711"/>
          <p:cNvSpPr txBox="1"/>
          <p:nvPr/>
        </p:nvSpPr>
        <p:spPr>
          <a:xfrm>
            <a:off x="9563100" y="3403600"/>
            <a:ext cx="3263900" cy="609600"/>
          </a:xfrm>
          <a:prstGeom prst="rect">
            <a:avLst/>
          </a:prstGeom>
          <a:noFill/>
        </p:spPr>
        <p:txBody>
          <a:bodyPr wrap="square" lIns="0" tIns="0" rIns="0" bIns="0" anchor="t">
            <a:noAutofit/>
          </a:bodyPr>
          <a:lstStyle/>
          <a:p>
            <a:pPr algn="l">
              <a:buNone/>
            </a:pPr>
            <a:r>
              <a:rPr lang="fr-FR" sz="3600" b="1" dirty="0">
                <a:solidFill>
                  <a:srgbClr val="1A5A66"/>
                </a:solidFill>
                <a:latin typeface="Arial"/>
              </a:rPr>
              <a:t>0,0849</a:t>
            </a:r>
          </a:p>
        </p:txBody>
      </p:sp>
      <p:sp>
        <p:nvSpPr>
          <p:cNvPr id="711" name="TextBox 712"/>
          <p:cNvSpPr txBox="1"/>
          <p:nvPr/>
        </p:nvSpPr>
        <p:spPr>
          <a:xfrm>
            <a:off x="9563100" y="3962400"/>
            <a:ext cx="3263900" cy="279400"/>
          </a:xfrm>
          <a:prstGeom prst="rect">
            <a:avLst/>
          </a:prstGeom>
          <a:noFill/>
        </p:spPr>
        <p:txBody>
          <a:bodyPr wrap="square" lIns="0" tIns="0" rIns="0" bIns="0" anchor="t">
            <a:noAutofit/>
          </a:bodyPr>
          <a:lstStyle/>
          <a:p>
            <a:pPr algn="l">
              <a:buNone/>
            </a:pPr>
            <a:r>
              <a:rPr lang="fr-FR" sz="1500" b="0" dirty="0">
                <a:solidFill>
                  <a:srgbClr val="6F6F6F"/>
                </a:solidFill>
                <a:latin typeface="Arial"/>
              </a:rPr>
              <a:t>OOF 0,0841 → test 0,0849</a:t>
            </a:r>
          </a:p>
        </p:txBody>
      </p:sp>
      <p:sp>
        <p:nvSpPr>
          <p:cNvPr id="712" name="Shape 713"/>
          <p:cNvSpPr/>
          <p:nvPr/>
        </p:nvSpPr>
        <p:spPr>
          <a:xfrm>
            <a:off x="13360400" y="2946400"/>
            <a:ext cx="3873500" cy="1320800"/>
          </a:xfrm>
          <a:prstGeom prst="roundRect">
            <a:avLst/>
          </a:prstGeom>
          <a:solidFill>
            <a:srgbClr val="EAF5F7"/>
          </a:solidFill>
          <a:ln>
            <a:noFill/>
          </a:ln>
        </p:spPr>
        <p:txBody>
          <a:bodyPr wrap="none" lIns="0" tIns="0" rIns="0" bIns="0" anchor="ctr">
            <a:noAutofit/>
          </a:bodyPr>
          <a:lstStyle/>
          <a:p>
            <a:pPr algn="ctr"/>
            <a:endParaRPr/>
          </a:p>
        </p:txBody>
      </p:sp>
      <p:sp>
        <p:nvSpPr>
          <p:cNvPr id="713" name="TextBox 714"/>
          <p:cNvSpPr txBox="1"/>
          <p:nvPr/>
        </p:nvSpPr>
        <p:spPr>
          <a:xfrm>
            <a:off x="13665200" y="3073400"/>
            <a:ext cx="3263900" cy="304800"/>
          </a:xfrm>
          <a:prstGeom prst="rect">
            <a:avLst/>
          </a:prstGeom>
          <a:noFill/>
        </p:spPr>
        <p:txBody>
          <a:bodyPr wrap="square" lIns="0" tIns="0" rIns="0" bIns="0" anchor="t">
            <a:noAutofit/>
          </a:bodyPr>
          <a:lstStyle/>
          <a:p>
            <a:pPr algn="l">
              <a:buNone/>
            </a:pPr>
            <a:r>
              <a:rPr lang="fr-FR" sz="1500" b="1" spc="80" dirty="0">
                <a:solidFill>
                  <a:srgbClr val="1A6A77"/>
                </a:solidFill>
                <a:latin typeface="Arial"/>
              </a:rPr>
              <a:t>MAE (note)</a:t>
            </a:r>
          </a:p>
        </p:txBody>
      </p:sp>
      <p:sp>
        <p:nvSpPr>
          <p:cNvPr id="714" name="TextBox 715"/>
          <p:cNvSpPr txBox="1"/>
          <p:nvPr/>
        </p:nvSpPr>
        <p:spPr>
          <a:xfrm>
            <a:off x="13665200" y="3403600"/>
            <a:ext cx="3263900" cy="609600"/>
          </a:xfrm>
          <a:prstGeom prst="rect">
            <a:avLst/>
          </a:prstGeom>
          <a:noFill/>
        </p:spPr>
        <p:txBody>
          <a:bodyPr wrap="square" lIns="0" tIns="0" rIns="0" bIns="0" anchor="t">
            <a:noAutofit/>
          </a:bodyPr>
          <a:lstStyle/>
          <a:p>
            <a:pPr algn="l">
              <a:buNone/>
            </a:pPr>
            <a:r>
              <a:rPr lang="fr-FR" sz="3600" b="1" dirty="0">
                <a:solidFill>
                  <a:srgbClr val="1A5A66"/>
                </a:solidFill>
                <a:latin typeface="Arial"/>
              </a:rPr>
              <a:t>2,24</a:t>
            </a:r>
          </a:p>
        </p:txBody>
      </p:sp>
      <p:sp>
        <p:nvSpPr>
          <p:cNvPr id="715" name="TextBox 716"/>
          <p:cNvSpPr txBox="1"/>
          <p:nvPr/>
        </p:nvSpPr>
        <p:spPr>
          <a:xfrm>
            <a:off x="13665200" y="3962400"/>
            <a:ext cx="3263900" cy="279400"/>
          </a:xfrm>
          <a:prstGeom prst="rect">
            <a:avLst/>
          </a:prstGeom>
          <a:noFill/>
        </p:spPr>
        <p:txBody>
          <a:bodyPr wrap="square" lIns="0" tIns="0" rIns="0" bIns="0" anchor="t">
            <a:noAutofit/>
          </a:bodyPr>
          <a:lstStyle/>
          <a:p>
            <a:pPr algn="l">
              <a:buNone/>
            </a:pPr>
            <a:r>
              <a:rPr lang="fr-FR" sz="1500" b="0" dirty="0">
                <a:solidFill>
                  <a:srgbClr val="6F6F6F"/>
                </a:solidFill>
                <a:latin typeface="Arial"/>
              </a:rPr>
              <a:t>OOF 2,23 → test 2,24 pts/20</a:t>
            </a:r>
          </a:p>
        </p:txBody>
      </p:sp>
      <p:sp>
        <p:nvSpPr>
          <p:cNvPr id="719" name="Shape 720"/>
          <p:cNvSpPr/>
          <p:nvPr/>
        </p:nvSpPr>
        <p:spPr>
          <a:xfrm>
            <a:off x="1054100" y="7924800"/>
            <a:ext cx="16179800" cy="965200"/>
          </a:xfrm>
          <a:prstGeom prst="roundRect">
            <a:avLst/>
          </a:prstGeom>
          <a:solidFill>
            <a:srgbClr val="1A5A66"/>
          </a:solidFill>
          <a:ln>
            <a:noFill/>
          </a:ln>
        </p:spPr>
        <p:txBody>
          <a:bodyPr wrap="none" lIns="0" tIns="0" rIns="0" bIns="0" anchor="ctr">
            <a:noAutofit/>
          </a:bodyPr>
          <a:lstStyle/>
          <a:p>
            <a:pPr algn="ctr"/>
            <a:endParaRPr/>
          </a:p>
        </p:txBody>
      </p:sp>
      <p:sp>
        <p:nvSpPr>
          <p:cNvPr id="720" name="TextBox 721"/>
          <p:cNvSpPr txBox="1"/>
          <p:nvPr/>
        </p:nvSpPr>
        <p:spPr>
          <a:xfrm>
            <a:off x="8026400" y="7924800"/>
            <a:ext cx="8953500" cy="965200"/>
          </a:xfrm>
          <a:prstGeom prst="rect">
            <a:avLst/>
          </a:prstGeom>
          <a:noFill/>
        </p:spPr>
        <p:txBody>
          <a:bodyPr wrap="square" lIns="0" tIns="0" rIns="0" bIns="0" anchor="ctr">
            <a:noAutofit/>
          </a:bodyPr>
          <a:lstStyle/>
          <a:p>
            <a:pPr algn="l">
              <a:lnSpc>
                <a:spcPts val="2000"/>
              </a:lnSpc>
              <a:buNone/>
            </a:pPr>
            <a:r>
              <a:rPr lang="fr-FR" sz="1500" b="1" dirty="0">
                <a:solidFill>
                  <a:srgbClr val="9FD4DE"/>
                </a:solidFill>
                <a:latin typeface="Arial"/>
              </a:rPr>
              <a:t>304 dossiers signalés sur 1 040 (29,2 % de la promotion) </a:t>
            </a:r>
          </a:p>
          <a:p>
            <a:pPr algn="l">
              <a:lnSpc>
                <a:spcPts val="2000"/>
              </a:lnSpc>
              <a:buNone/>
            </a:pPr>
            <a:r>
              <a:rPr lang="fr-FR" sz="1500" b="0" dirty="0">
                <a:solidFill>
                  <a:srgbClr val="FFFFFF"/>
                </a:solidFill>
                <a:latin typeface="Arial"/>
              </a:rPr>
              <a:t>233 décrocheurs détectés ·  63 manqués ·  71 marqués à tort (9,5 % des 744 non-décrocheurs)</a:t>
            </a:r>
          </a:p>
        </p:txBody>
      </p:sp>
      <p:pic>
        <p:nvPicPr>
          <p:cNvPr id="2" name="Image 1">
            <a:extLst>
              <a:ext uri="{FF2B5EF4-FFF2-40B4-BE49-F238E27FC236}">
                <a16:creationId xmlns:a16="http://schemas.microsoft.com/office/drawing/2014/main" id="{2ECBCCB0-EAA3-A6DF-B92D-3F89F403343A}"/>
              </a:ext>
            </a:extLst>
          </p:cNvPr>
          <p:cNvPicPr>
            <a:picLocks noChangeAspect="1"/>
          </p:cNvPicPr>
          <p:nvPr/>
        </p:nvPicPr>
        <p:blipFill>
          <a:blip r:embed="rId3"/>
          <a:stretch>
            <a:fillRect/>
          </a:stretch>
        </p:blipFill>
        <p:spPr>
          <a:xfrm>
            <a:off x="1054100" y="4470400"/>
            <a:ext cx="11341100" cy="3530600"/>
          </a:xfrm>
          <a:prstGeom prst="rect">
            <a:avLst/>
          </a:prstGeom>
        </p:spPr>
      </p:pic>
      <p:pic>
        <p:nvPicPr>
          <p:cNvPr id="4" name="Image 3">
            <a:extLst>
              <a:ext uri="{FF2B5EF4-FFF2-40B4-BE49-F238E27FC236}">
                <a16:creationId xmlns:a16="http://schemas.microsoft.com/office/drawing/2014/main" id="{73057075-4056-5953-EA2F-FBFB17861888}"/>
              </a:ext>
            </a:extLst>
          </p:cNvPr>
          <p:cNvPicPr>
            <a:picLocks noChangeAspect="1"/>
          </p:cNvPicPr>
          <p:nvPr/>
        </p:nvPicPr>
        <p:blipFill>
          <a:blip r:embed="rId4"/>
          <a:stretch>
            <a:fillRect/>
          </a:stretch>
        </p:blipFill>
        <p:spPr>
          <a:xfrm>
            <a:off x="13792200" y="4470400"/>
            <a:ext cx="3657600" cy="3530600"/>
          </a:xfrm>
          <a:prstGeom prst="rect">
            <a:avLst/>
          </a:prstGeom>
        </p:spPr>
      </p:pic>
      <p:sp>
        <p:nvSpPr>
          <p:cNvPr id="750" name="Badge 750"/>
          <p:cNvSpPr/>
          <p:nvPr/>
        </p:nvSpPr>
        <p:spPr>
          <a:xfrm>
            <a:off x="1308100" y="8191500"/>
            <a:ext cx="2133600" cy="431800"/>
          </a:xfrm>
          <a:prstGeom prst="roundRect">
            <a:avLst>
              <a:gd name="adj" fmla="val 25000"/>
            </a:avLst>
          </a:prstGeom>
          <a:solidFill>
            <a:srgbClr val="EAF5F7"/>
          </a:solidFill>
          <a:ln>
            <a:noFill/>
          </a:ln>
        </p:spPr>
        <p:txBody>
          <a:bodyPr wrap="none" lIns="0" tIns="0" rIns="0" bIns="0" anchor="ctr" anchorCtr="1">
            <a:noAutofit/>
          </a:bodyPr>
          <a:lstStyle/>
          <a:p>
            <a:pPr algn="ctr">
              <a:buNone/>
            </a:pPr>
            <a:r>
              <a:rPr lang="fr-FR" sz="1500" b="1" dirty="0">
                <a:solidFill>
                  <a:srgbClr val="0F4A54"/>
                </a:solidFill>
                <a:latin typeface="Arial"/>
              </a:rPr>
              <a:t>Rappel 78,7 %</a:t>
            </a:r>
          </a:p>
        </p:txBody>
      </p:sp>
      <p:sp>
        <p:nvSpPr>
          <p:cNvPr id="751" name="Badge 751"/>
          <p:cNvSpPr/>
          <p:nvPr/>
        </p:nvSpPr>
        <p:spPr>
          <a:xfrm>
            <a:off x="3594100" y="8191500"/>
            <a:ext cx="2362200" cy="431800"/>
          </a:xfrm>
          <a:prstGeom prst="roundRect">
            <a:avLst>
              <a:gd name="adj" fmla="val 25000"/>
            </a:avLst>
          </a:prstGeom>
          <a:solidFill>
            <a:srgbClr val="EAF5F7"/>
          </a:solidFill>
          <a:ln>
            <a:noFill/>
          </a:ln>
        </p:spPr>
        <p:txBody>
          <a:bodyPr wrap="none" lIns="0" tIns="0" rIns="0" bIns="0" anchor="ctr" anchorCtr="1">
            <a:noAutofit/>
          </a:bodyPr>
          <a:lstStyle/>
          <a:p>
            <a:pPr algn="ctr">
              <a:buNone/>
            </a:pPr>
            <a:r>
              <a:rPr lang="fr-FR" sz="1500" b="1" dirty="0">
                <a:solidFill>
                  <a:srgbClr val="0F4A54"/>
                </a:solidFill>
                <a:latin typeface="Arial"/>
              </a:rPr>
              <a:t>Précision 76,6 %</a:t>
            </a:r>
          </a:p>
        </p:txBody>
      </p:sp>
      <p:sp>
        <p:nvSpPr>
          <p:cNvPr id="752" name="Badge 752"/>
          <p:cNvSpPr/>
          <p:nvPr/>
        </p:nvSpPr>
        <p:spPr>
          <a:xfrm>
            <a:off x="6108700" y="8191500"/>
            <a:ext cx="1625600" cy="431800"/>
          </a:xfrm>
          <a:prstGeom prst="roundRect">
            <a:avLst>
              <a:gd name="adj" fmla="val 25000"/>
            </a:avLst>
          </a:prstGeom>
          <a:solidFill>
            <a:srgbClr val="EAF5F7"/>
          </a:solidFill>
          <a:ln>
            <a:noFill/>
          </a:ln>
        </p:spPr>
        <p:txBody>
          <a:bodyPr wrap="none" lIns="0" tIns="0" rIns="0" bIns="0" anchor="ctr" anchorCtr="1">
            <a:noAutofit/>
          </a:bodyPr>
          <a:lstStyle/>
          <a:p>
            <a:pPr algn="ctr">
              <a:buNone/>
            </a:pPr>
            <a:r>
              <a:rPr lang="fr-FR" sz="1500" b="1" dirty="0">
                <a:solidFill>
                  <a:srgbClr val="0F4A54"/>
                </a:solidFill>
                <a:latin typeface="Arial"/>
              </a:rPr>
              <a:t>F2 0,783</a:t>
            </a:r>
          </a:p>
        </p:txBody>
      </p:sp>
      <p:sp>
        <p:nvSpPr>
          <p:cNvPr id="6" name="Bouton retour frise">
            <a:hlinkClick r:id="rId5" action="ppaction://hlinksldjump"/>
            <a:extLst>
              <a:ext uri="{FF2B5EF4-FFF2-40B4-BE49-F238E27FC236}">
                <a16:creationId xmlns:a16="http://schemas.microsoft.com/office/drawing/2014/main" id="{2D66EE23-4DAA-436D-97E6-B41777125271}"/>
              </a:ext>
            </a:extLst>
          </p:cNvPr>
          <p:cNvSpPr/>
          <p:nvPr/>
        </p:nvSpPr>
        <p:spPr>
          <a:xfrm>
            <a:off x="15687040" y="711200"/>
            <a:ext cx="1559560" cy="457200"/>
          </a:xfrm>
          <a:prstGeom prst="roundRect">
            <a:avLst>
              <a:gd name="adj" fmla="val 50000"/>
            </a:avLst>
          </a:prstGeom>
          <a:solidFill>
            <a:srgbClr val="EAF5F7"/>
          </a:solidFill>
          <a:ln w="12700">
            <a:solidFill>
              <a:srgbClr val="BFE3EA"/>
            </a:solidFill>
          </a:ln>
        </p:spPr>
        <p:txBody>
          <a:bodyPr wrap="none" lIns="0" tIns="0" rIns="0" bIns="0" anchor="ctr"/>
          <a:lstStyle/>
          <a:p>
            <a:pPr algn="ctr"/>
            <a:r>
              <a:rPr lang="fr-FR" sz="1600" b="1" dirty="0">
                <a:solidFill>
                  <a:srgbClr val="1A6A77"/>
                </a:solidFill>
                <a:latin typeface="Arial"/>
              </a:rPr>
              <a:t>← Retour</a:t>
            </a:r>
          </a:p>
        </p:txBody>
      </p:sp>
    </p:spTree>
    <p:extLst>
      <p:ext uri="{BB962C8B-B14F-4D97-AF65-F5344CB8AC3E}">
        <p14:creationId xmlns:p14="http://schemas.microsoft.com/office/powerpoint/2010/main" val="28103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101"/>
          <p:cNvSpPr txBox="1"/>
          <p:nvPr/>
        </p:nvSpPr>
        <p:spPr>
          <a:xfrm>
            <a:off x="1054100" y="825500"/>
            <a:ext cx="12700000" cy="304800"/>
          </a:xfrm>
          <a:prstGeom prst="rect">
            <a:avLst/>
          </a:prstGeom>
          <a:noFill/>
        </p:spPr>
        <p:txBody>
          <a:bodyPr wrap="square" lIns="0" tIns="0" rIns="0" bIns="0" anchor="t">
            <a:noAutofit/>
          </a:bodyPr>
          <a:lstStyle/>
          <a:p>
            <a:pPr algn="l">
              <a:buNone/>
            </a:pPr>
            <a:r>
              <a:rPr lang="fr-FR" sz="1400" b="1" spc="300" dirty="0">
                <a:solidFill>
                  <a:srgbClr val="1A6A77"/>
                </a:solidFill>
                <a:latin typeface="Arial"/>
              </a:rPr>
              <a:t>ACTE 05 · ÉTAPE 7 · MESURE DE PERFORMANCE</a:t>
            </a:r>
          </a:p>
          <a:p>
            <a:pPr algn="l">
              <a:buNone/>
            </a:pPr>
            <a:endParaRPr lang="fr-FR" sz="1400" b="1" spc="300" dirty="0">
              <a:solidFill>
                <a:srgbClr val="1A6A77"/>
              </a:solidFill>
              <a:latin typeface="Arial"/>
            </a:endParaRPr>
          </a:p>
        </p:txBody>
      </p:sp>
      <p:sp>
        <p:nvSpPr>
          <p:cNvPr id="102" name="TextBox 102"/>
          <p:cNvSpPr txBox="1"/>
          <p:nvPr/>
        </p:nvSpPr>
        <p:spPr>
          <a:xfrm>
            <a:off x="1054100" y="1524000"/>
            <a:ext cx="16192500" cy="1016000"/>
          </a:xfrm>
          <a:prstGeom prst="rect">
            <a:avLst/>
          </a:prstGeom>
          <a:noFill/>
        </p:spPr>
        <p:txBody>
          <a:bodyPr wrap="square" lIns="0" tIns="0" rIns="0" bIns="0" anchor="t">
            <a:noAutofit/>
          </a:bodyPr>
          <a:lstStyle/>
          <a:p>
            <a:pPr algn="l">
              <a:buNone/>
            </a:pPr>
            <a:r>
              <a:rPr lang="fr-FR" sz="5000" b="1" dirty="0">
                <a:solidFill>
                  <a:srgbClr val="000000"/>
                </a:solidFill>
                <a:latin typeface="Arial"/>
              </a:rPr>
              <a:t>Explicabilité SHAP</a:t>
            </a:r>
          </a:p>
        </p:txBody>
      </p:sp>
      <p:sp>
        <p:nvSpPr>
          <p:cNvPr id="103" name="Shape 103"/>
          <p:cNvSpPr/>
          <p:nvPr/>
        </p:nvSpPr>
        <p:spPr>
          <a:xfrm>
            <a:off x="1054100" y="2743200"/>
            <a:ext cx="1143000" cy="38100"/>
          </a:xfrm>
          <a:prstGeom prst="rect">
            <a:avLst/>
          </a:prstGeom>
          <a:solidFill>
            <a:srgbClr val="56B9CA"/>
          </a:solidFill>
          <a:ln>
            <a:noFill/>
          </a:ln>
        </p:spPr>
        <p:txBody>
          <a:bodyPr/>
          <a:lstStyle/>
          <a:p>
            <a:endParaRPr/>
          </a:p>
        </p:txBody>
      </p:sp>
      <p:sp>
        <p:nvSpPr>
          <p:cNvPr id="127" name="TextBox 127"/>
          <p:cNvSpPr txBox="1"/>
          <p:nvPr/>
        </p:nvSpPr>
        <p:spPr>
          <a:xfrm>
            <a:off x="17048886" y="9309100"/>
            <a:ext cx="273913" cy="304800"/>
          </a:xfrm>
          <a:prstGeom prst="rect">
            <a:avLst/>
          </a:prstGeom>
          <a:noFill/>
        </p:spPr>
        <p:txBody>
          <a:bodyPr wrap="none" lIns="0" tIns="0" rIns="0" bIns="0" anchor="ctr" anchorCtr="0">
            <a:noAutofit/>
          </a:bodyPr>
          <a:lstStyle/>
          <a:p>
            <a:pPr algn="r">
              <a:buNone/>
            </a:pPr>
            <a:r>
              <a:rPr lang="fr-FR" sz="1400" b="1">
                <a:solidFill>
                  <a:srgbClr val="56B9CA"/>
                </a:solidFill>
                <a:latin typeface="Arial"/>
                <a:cs typeface="Arial"/>
              </a:rPr>
              <a:t>26</a:t>
            </a:r>
            <a:endParaRPr lang="fr-FR" sz="1400" b="1" dirty="0">
              <a:solidFill>
                <a:srgbClr val="56B9CA"/>
              </a:solidFill>
              <a:latin typeface="Arial"/>
              <a:cs typeface="Arial"/>
            </a:endParaRPr>
          </a:p>
        </p:txBody>
      </p:sp>
      <p:sp>
        <p:nvSpPr>
          <p:cNvPr id="707" name="Shape 708"/>
          <p:cNvSpPr/>
          <p:nvPr/>
        </p:nvSpPr>
        <p:spPr>
          <a:xfrm>
            <a:off x="1054100" y="8890000"/>
            <a:ext cx="15367000" cy="939800"/>
          </a:xfrm>
          <a:prstGeom prst="roundRect">
            <a:avLst/>
          </a:prstGeom>
          <a:solidFill>
            <a:srgbClr val="EAF5F7"/>
          </a:solidFill>
          <a:ln>
            <a:noFill/>
          </a:ln>
        </p:spPr>
        <p:txBody>
          <a:bodyPr wrap="square" lIns="0" tIns="0" rIns="0" bIns="0" anchor="ctr" anchorCtr="0">
            <a:noAutofit/>
          </a:bodyPr>
          <a:lstStyle/>
          <a:p>
            <a:pPr algn="ctr">
              <a:lnSpc>
                <a:spcPts val="2400"/>
              </a:lnSpc>
              <a:buNone/>
            </a:pPr>
            <a:r>
              <a:rPr lang="fr-FR" sz="1800" b="1" dirty="0">
                <a:solidFill>
                  <a:srgbClr val="0F4A54"/>
                </a:solidFill>
                <a:latin typeface="Arial"/>
              </a:rPr>
              <a:t>Deux leviers dominent — heures sur le LMS et taux de présence — et chaque dossier signalé arrive avec sa propre explication.</a:t>
            </a:r>
          </a:p>
        </p:txBody>
      </p:sp>
      <p:pic>
        <p:nvPicPr>
          <p:cNvPr id="2" name="Image 1">
            <a:extLst>
              <a:ext uri="{FF2B5EF4-FFF2-40B4-BE49-F238E27FC236}">
                <a16:creationId xmlns:a16="http://schemas.microsoft.com/office/drawing/2014/main" id="{5B72B433-99E5-260D-1376-81BA6F156A57}"/>
              </a:ext>
            </a:extLst>
          </p:cNvPr>
          <p:cNvPicPr>
            <a:picLocks noChangeAspect="1"/>
          </p:cNvPicPr>
          <p:nvPr/>
        </p:nvPicPr>
        <p:blipFill>
          <a:blip r:embed="rId3"/>
          <a:stretch>
            <a:fillRect/>
          </a:stretch>
        </p:blipFill>
        <p:spPr>
          <a:xfrm>
            <a:off x="1054100" y="3403600"/>
            <a:ext cx="6172200" cy="5283200"/>
          </a:xfrm>
          <a:prstGeom prst="rect">
            <a:avLst/>
          </a:prstGeom>
        </p:spPr>
      </p:pic>
      <p:pic>
        <p:nvPicPr>
          <p:cNvPr id="4" name="Image 3">
            <a:extLst>
              <a:ext uri="{FF2B5EF4-FFF2-40B4-BE49-F238E27FC236}">
                <a16:creationId xmlns:a16="http://schemas.microsoft.com/office/drawing/2014/main" id="{4DB22C9B-DC93-679E-FDAF-98228349A605}"/>
              </a:ext>
            </a:extLst>
          </p:cNvPr>
          <p:cNvPicPr>
            <a:picLocks noChangeAspect="1"/>
          </p:cNvPicPr>
          <p:nvPr/>
        </p:nvPicPr>
        <p:blipFill>
          <a:blip r:embed="rId4"/>
          <a:stretch>
            <a:fillRect/>
          </a:stretch>
        </p:blipFill>
        <p:spPr>
          <a:xfrm>
            <a:off x="8102600" y="3403600"/>
            <a:ext cx="8597900" cy="5283200"/>
          </a:xfrm>
          <a:prstGeom prst="rect">
            <a:avLst/>
          </a:prstGeom>
        </p:spPr>
      </p:pic>
      <p:sp>
        <p:nvSpPr>
          <p:cNvPr id="5" name="ZoneTexte 4">
            <a:extLst>
              <a:ext uri="{FF2B5EF4-FFF2-40B4-BE49-F238E27FC236}">
                <a16:creationId xmlns:a16="http://schemas.microsoft.com/office/drawing/2014/main" id="{9336F08E-0AA8-45E2-9E83-58C4A3062C6F}"/>
              </a:ext>
            </a:extLst>
          </p:cNvPr>
          <p:cNvSpPr txBox="1"/>
          <p:nvPr/>
        </p:nvSpPr>
        <p:spPr>
          <a:xfrm>
            <a:off x="1054100" y="2946400"/>
            <a:ext cx="6172200" cy="330200"/>
          </a:xfrm>
          <a:prstGeom prst="rect">
            <a:avLst/>
          </a:prstGeom>
          <a:noFill/>
        </p:spPr>
        <p:txBody>
          <a:bodyPr vertOverflow="overflow" vert="horz" wrap="none" rtlCol="0" anchor="ctr" anchorCtr="0">
            <a:noAutofit/>
          </a:bodyPr>
          <a:lstStyle/>
          <a:p>
            <a:pPr algn="l"/>
            <a:r>
              <a:rPr lang="fr-FR" b="1">
                <a:solidFill>
                  <a:srgbClr val="1A6A77"/>
                </a:solidFill>
                <a:latin typeface="Arial"/>
                <a:cs typeface="Arial"/>
              </a:rPr>
              <a:t>Explication globale</a:t>
            </a:r>
          </a:p>
        </p:txBody>
      </p:sp>
      <p:sp>
        <p:nvSpPr>
          <p:cNvPr id="6" name="ZoneTexte 5">
            <a:extLst>
              <a:ext uri="{FF2B5EF4-FFF2-40B4-BE49-F238E27FC236}">
                <a16:creationId xmlns:a16="http://schemas.microsoft.com/office/drawing/2014/main" id="{05592C5F-2E70-4F59-8568-35A04B1CF310}"/>
              </a:ext>
            </a:extLst>
          </p:cNvPr>
          <p:cNvSpPr txBox="1"/>
          <p:nvPr/>
        </p:nvSpPr>
        <p:spPr>
          <a:xfrm>
            <a:off x="8102600" y="2946400"/>
            <a:ext cx="8597900" cy="330200"/>
          </a:xfrm>
          <a:prstGeom prst="rect">
            <a:avLst/>
          </a:prstGeom>
          <a:noFill/>
        </p:spPr>
        <p:txBody>
          <a:bodyPr vertOverflow="overflow" vert="horz" wrap="none" rtlCol="0" anchor="ctr" anchorCtr="0">
            <a:noAutofit/>
          </a:bodyPr>
          <a:lstStyle/>
          <a:p>
            <a:pPr algn="l"/>
            <a:r>
              <a:rPr lang="fr-FR" b="1">
                <a:solidFill>
                  <a:srgbClr val="1A6A77"/>
                </a:solidFill>
                <a:latin typeface="Arial"/>
                <a:cs typeface="Arial"/>
              </a:rPr>
              <a:t>Explication locale — étudiant le plus à risque</a:t>
            </a:r>
          </a:p>
        </p:txBody>
      </p:sp>
      <p:sp>
        <p:nvSpPr>
          <p:cNvPr id="8" name="Bouton retour frise">
            <a:hlinkClick r:id="rId5" action="ppaction://hlinksldjump"/>
            <a:extLst>
              <a:ext uri="{FF2B5EF4-FFF2-40B4-BE49-F238E27FC236}">
                <a16:creationId xmlns:a16="http://schemas.microsoft.com/office/drawing/2014/main" id="{76AB9CF5-6E18-8019-C36F-A3A7F6153C68}"/>
              </a:ext>
            </a:extLst>
          </p:cNvPr>
          <p:cNvSpPr/>
          <p:nvPr/>
        </p:nvSpPr>
        <p:spPr>
          <a:xfrm>
            <a:off x="15687040" y="711200"/>
            <a:ext cx="1559560" cy="457200"/>
          </a:xfrm>
          <a:prstGeom prst="roundRect">
            <a:avLst>
              <a:gd name="adj" fmla="val 50000"/>
            </a:avLst>
          </a:prstGeom>
          <a:solidFill>
            <a:srgbClr val="EAF5F7"/>
          </a:solidFill>
          <a:ln w="12700">
            <a:solidFill>
              <a:srgbClr val="BFE3EA"/>
            </a:solidFill>
          </a:ln>
        </p:spPr>
        <p:txBody>
          <a:bodyPr wrap="none" lIns="0" tIns="0" rIns="0" bIns="0" anchor="ctr"/>
          <a:lstStyle/>
          <a:p>
            <a:pPr algn="ctr"/>
            <a:r>
              <a:rPr lang="fr-FR" sz="1600" b="1" dirty="0">
                <a:solidFill>
                  <a:srgbClr val="1A6A77"/>
                </a:solidFill>
                <a:latin typeface="Arial"/>
              </a:rPr>
              <a:t>← Retour</a:t>
            </a:r>
          </a:p>
        </p:txBody>
      </p:sp>
    </p:spTree>
    <p:extLst>
      <p:ext uri="{BB962C8B-B14F-4D97-AF65-F5344CB8AC3E}">
        <p14:creationId xmlns:p14="http://schemas.microsoft.com/office/powerpoint/2010/main" val="3526250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TextBox 101"/>
          <p:cNvSpPr txBox="1"/>
          <p:nvPr/>
        </p:nvSpPr>
        <p:spPr>
          <a:xfrm>
            <a:off x="1054100" y="825500"/>
            <a:ext cx="12700000" cy="304800"/>
          </a:xfrm>
          <a:prstGeom prst="rect">
            <a:avLst/>
          </a:prstGeom>
          <a:noFill/>
        </p:spPr>
        <p:txBody>
          <a:bodyPr wrap="square" lIns="0" tIns="0" rIns="0" bIns="0" anchor="t">
            <a:noAutofit/>
          </a:bodyPr>
          <a:lstStyle/>
          <a:p>
            <a:pPr algn="l">
              <a:buNone/>
            </a:pPr>
            <a:r>
              <a:rPr lang="fr-FR" sz="1400" b="1" spc="300" dirty="0">
                <a:solidFill>
                  <a:srgbClr val="1A6A77"/>
                </a:solidFill>
                <a:latin typeface="Arial"/>
              </a:rPr>
              <a:t>ACTE 05 · ÉTAPE 7 · MESURE DE PERFORMANCE</a:t>
            </a:r>
          </a:p>
          <a:p>
            <a:pPr algn="l">
              <a:buNone/>
            </a:pPr>
            <a:endParaRPr lang="fr-FR" sz="1400" b="1" spc="300" dirty="0">
              <a:solidFill>
                <a:srgbClr val="1A6A77"/>
              </a:solidFill>
              <a:latin typeface="Arial"/>
            </a:endParaRPr>
          </a:p>
        </p:txBody>
      </p:sp>
      <p:sp>
        <p:nvSpPr>
          <p:cNvPr id="102" name="TextBox 102"/>
          <p:cNvSpPr txBox="1"/>
          <p:nvPr/>
        </p:nvSpPr>
        <p:spPr>
          <a:xfrm>
            <a:off x="1054100" y="1524000"/>
            <a:ext cx="16192500" cy="1016000"/>
          </a:xfrm>
          <a:prstGeom prst="rect">
            <a:avLst/>
          </a:prstGeom>
          <a:noFill/>
        </p:spPr>
        <p:txBody>
          <a:bodyPr wrap="square" lIns="0" tIns="0" rIns="0" bIns="0" anchor="t">
            <a:noAutofit/>
          </a:bodyPr>
          <a:lstStyle/>
          <a:p>
            <a:pPr algn="l">
              <a:buNone/>
            </a:pPr>
            <a:r>
              <a:rPr lang="fr-FR" sz="5000" b="1" dirty="0">
                <a:solidFill>
                  <a:srgbClr val="000000"/>
                </a:solidFill>
                <a:latin typeface="Arial"/>
              </a:rPr>
              <a:t>AUDIT D’ÉQUITÉ</a:t>
            </a:r>
          </a:p>
        </p:txBody>
      </p:sp>
      <p:sp>
        <p:nvSpPr>
          <p:cNvPr id="103" name="Shape 103"/>
          <p:cNvSpPr/>
          <p:nvPr/>
        </p:nvSpPr>
        <p:spPr>
          <a:xfrm>
            <a:off x="1054100" y="2743200"/>
            <a:ext cx="1143000" cy="38100"/>
          </a:xfrm>
          <a:prstGeom prst="rect">
            <a:avLst/>
          </a:prstGeom>
          <a:solidFill>
            <a:srgbClr val="56B9CA"/>
          </a:solidFill>
          <a:ln>
            <a:noFill/>
          </a:ln>
        </p:spPr>
        <p:txBody>
          <a:bodyPr/>
          <a:lstStyle/>
          <a:p>
            <a:endParaRPr/>
          </a:p>
        </p:txBody>
      </p:sp>
      <p:sp>
        <p:nvSpPr>
          <p:cNvPr id="127" name="TextBox 127"/>
          <p:cNvSpPr txBox="1"/>
          <p:nvPr/>
        </p:nvSpPr>
        <p:spPr>
          <a:xfrm>
            <a:off x="17048886" y="9309100"/>
            <a:ext cx="273913" cy="304800"/>
          </a:xfrm>
          <a:prstGeom prst="rect">
            <a:avLst/>
          </a:prstGeom>
          <a:noFill/>
        </p:spPr>
        <p:txBody>
          <a:bodyPr wrap="none" lIns="0" tIns="0" rIns="0" bIns="0" anchor="ctr" anchorCtr="0">
            <a:noAutofit/>
          </a:bodyPr>
          <a:lstStyle/>
          <a:p>
            <a:pPr algn="r">
              <a:buNone/>
            </a:pPr>
            <a:r>
              <a:rPr lang="fr-FR" sz="1400" b="1">
                <a:solidFill>
                  <a:srgbClr val="56B9CA"/>
                </a:solidFill>
                <a:latin typeface="Arial"/>
                <a:cs typeface="Arial"/>
              </a:rPr>
              <a:t>27</a:t>
            </a:r>
            <a:endParaRPr lang="fr-FR" sz="1400" b="1" dirty="0">
              <a:solidFill>
                <a:srgbClr val="56B9CA"/>
              </a:solidFill>
              <a:latin typeface="Arial"/>
              <a:cs typeface="Arial"/>
            </a:endParaRPr>
          </a:p>
        </p:txBody>
      </p:sp>
      <p:sp>
        <p:nvSpPr>
          <p:cNvPr id="707" name="Shape 708"/>
          <p:cNvSpPr/>
          <p:nvPr/>
        </p:nvSpPr>
        <p:spPr>
          <a:xfrm>
            <a:off x="1054100" y="8661400"/>
            <a:ext cx="15824200" cy="939800"/>
          </a:xfrm>
          <a:prstGeom prst="roundRect">
            <a:avLst/>
          </a:prstGeom>
          <a:solidFill>
            <a:srgbClr val="EAF5F7"/>
          </a:solidFill>
          <a:ln>
            <a:noFill/>
          </a:ln>
        </p:spPr>
        <p:txBody>
          <a:bodyPr wrap="square" lIns="0" tIns="0" rIns="0" bIns="0" anchor="ctr" anchorCtr="0">
            <a:noAutofit/>
          </a:bodyPr>
          <a:lstStyle/>
          <a:p>
            <a:pPr algn="ctr">
              <a:lnSpc>
                <a:spcPts val="2400"/>
              </a:lnSpc>
              <a:buNone/>
            </a:pPr>
            <a:r>
              <a:rPr lang="fr-FR" sz="1800" b="1" dirty="0">
                <a:solidFill>
                  <a:srgbClr val="0F4A54"/>
                </a:solidFill>
                <a:latin typeface="Arial"/>
              </a:rPr>
              <a:t>Écart de rappel de 2 points entre femmes et hommes, 3 points entre boursiers et non-boursiers : aucun groupe n’est moins bien détecté.</a:t>
            </a:r>
          </a:p>
        </p:txBody>
      </p:sp>
      <p:sp>
        <p:nvSpPr>
          <p:cNvPr id="740" name="TextBox 740"/>
          <p:cNvSpPr txBox="1"/>
          <p:nvPr/>
        </p:nvSpPr>
        <p:spPr>
          <a:xfrm>
            <a:off x="1054100" y="3149600"/>
            <a:ext cx="7620000" cy="304800"/>
          </a:xfrm>
          <a:prstGeom prst="rect">
            <a:avLst/>
          </a:prstGeom>
          <a:noFill/>
        </p:spPr>
        <p:txBody>
          <a:bodyPr wrap="square" lIns="0" tIns="0" rIns="0" bIns="0" anchor="t">
            <a:noAutofit/>
          </a:bodyPr>
          <a:lstStyle/>
          <a:p>
            <a:pPr algn="l">
              <a:buNone/>
            </a:pPr>
            <a:r>
              <a:rPr lang="fr-FR" sz="1500" b="1" spc="80" dirty="0">
                <a:solidFill>
                  <a:srgbClr val="1A6A77"/>
                </a:solidFill>
                <a:latin typeface="Arial"/>
              </a:rPr>
              <a:t>SEXE DÉCLARÉ</a:t>
            </a:r>
          </a:p>
        </p:txBody>
      </p:sp>
      <p:sp>
        <p:nvSpPr>
          <p:cNvPr id="741" name="TextBox 741"/>
          <p:cNvSpPr txBox="1"/>
          <p:nvPr/>
        </p:nvSpPr>
        <p:spPr>
          <a:xfrm>
            <a:off x="9232900" y="3149600"/>
            <a:ext cx="7620000" cy="304800"/>
          </a:xfrm>
          <a:prstGeom prst="rect">
            <a:avLst/>
          </a:prstGeom>
          <a:noFill/>
        </p:spPr>
        <p:txBody>
          <a:bodyPr wrap="square" lIns="0" tIns="0" rIns="0" bIns="0" anchor="t">
            <a:noAutofit/>
          </a:bodyPr>
          <a:lstStyle/>
          <a:p>
            <a:pPr algn="l">
              <a:buNone/>
            </a:pPr>
            <a:r>
              <a:rPr lang="fr-FR" sz="1500" b="1" spc="80" dirty="0">
                <a:solidFill>
                  <a:srgbClr val="1A6A77"/>
                </a:solidFill>
                <a:latin typeface="Arial"/>
              </a:rPr>
              <a:t>STATUT DE BOURSIER</a:t>
            </a:r>
          </a:p>
        </p:txBody>
      </p:sp>
      <p:sp>
        <p:nvSpPr>
          <p:cNvPr id="742" name="Shape 742"/>
          <p:cNvSpPr/>
          <p:nvPr/>
        </p:nvSpPr>
        <p:spPr>
          <a:xfrm>
            <a:off x="9232900" y="6959600"/>
            <a:ext cx="8001000" cy="1473200"/>
          </a:xfrm>
          <a:prstGeom prst="roundRect">
            <a:avLst/>
          </a:prstGeom>
          <a:solidFill>
            <a:srgbClr val="EAF5F7"/>
          </a:solidFill>
          <a:ln>
            <a:noFill/>
          </a:ln>
        </p:spPr>
        <p:txBody>
          <a:bodyPr wrap="square" lIns="0" tIns="0" rIns="0" bIns="0" anchor="ctr">
            <a:noAutofit/>
          </a:bodyPr>
          <a:lstStyle/>
          <a:p>
            <a:endParaRPr/>
          </a:p>
        </p:txBody>
      </p:sp>
      <p:sp>
        <p:nvSpPr>
          <p:cNvPr id="743" name="TextBox 743"/>
          <p:cNvSpPr txBox="1"/>
          <p:nvPr/>
        </p:nvSpPr>
        <p:spPr>
          <a:xfrm>
            <a:off x="9588500" y="7086600"/>
            <a:ext cx="7289800" cy="1219200"/>
          </a:xfrm>
          <a:prstGeom prst="rect">
            <a:avLst/>
          </a:prstGeom>
          <a:noFill/>
        </p:spPr>
        <p:txBody>
          <a:bodyPr wrap="square" lIns="0" tIns="0" rIns="0" bIns="0" anchor="ctr">
            <a:noAutofit/>
          </a:bodyPr>
          <a:lstStyle/>
          <a:p>
            <a:pPr marL="171450" indent="-171450" algn="l">
              <a:lnSpc>
                <a:spcPts val="2200"/>
              </a:lnSpc>
              <a:spcBef>
                <a:spcPts val="700"/>
              </a:spcBef>
              <a:buFont typeface="Arial"/>
              <a:buChar char="•"/>
            </a:pPr>
            <a:r>
              <a:rPr lang="fr-FR" sz="1500" dirty="0">
                <a:solidFill>
                  <a:srgbClr val="0F4A54"/>
                </a:solidFill>
                <a:latin typeface="Arial"/>
              </a:rPr>
              <a:t>Sexe déclaré et statut boursier retirés des variables du modèle.</a:t>
            </a:r>
          </a:p>
          <a:p>
            <a:pPr marL="171450" indent="-171450" algn="l">
              <a:lnSpc>
                <a:spcPts val="2200"/>
              </a:lnSpc>
              <a:spcBef>
                <a:spcPts val="700"/>
              </a:spcBef>
              <a:buFont typeface="Arial"/>
              <a:buChar char="•"/>
            </a:pPr>
            <a:r>
              <a:rPr lang="fr-FR" sz="1500" dirty="0">
                <a:solidFill>
                  <a:srgbClr val="0F4A54"/>
                </a:solidFill>
                <a:latin typeface="Arial"/>
              </a:rPr>
              <a:t>Rappel et précision recalculés par modalité au seuil unique 0,42.</a:t>
            </a:r>
          </a:p>
          <a:p>
            <a:pPr marL="171450" indent="-171450" algn="l">
              <a:lnSpc>
                <a:spcPts val="2200"/>
              </a:lnSpc>
              <a:spcBef>
                <a:spcPts val="700"/>
              </a:spcBef>
              <a:buFont typeface="Arial"/>
              <a:buChar char="•"/>
            </a:pPr>
            <a:r>
              <a:rPr lang="fr-FR" sz="1500" dirty="0">
                <a:solidFill>
                  <a:srgbClr val="0F4A54"/>
                </a:solidFill>
                <a:latin typeface="Arial"/>
              </a:rPr>
              <a:t>Modalités « autre » et « non renseigné » : effectifs trop faibles pour conclure.</a:t>
            </a:r>
          </a:p>
        </p:txBody>
      </p:sp>
      <p:graphicFrame>
        <p:nvGraphicFramePr>
          <p:cNvPr id="4" name="Tableau 3">
            <a:extLst>
              <a:ext uri="{FF2B5EF4-FFF2-40B4-BE49-F238E27FC236}">
                <a16:creationId xmlns:a16="http://schemas.microsoft.com/office/drawing/2014/main" id="{7C62A430-F503-4DCA-B4AB-2138879913B0}"/>
              </a:ext>
            </a:extLst>
          </p:cNvPr>
          <p:cNvGraphicFramePr>
            <a:graphicFrameLocks noGrp="1"/>
          </p:cNvGraphicFramePr>
          <p:nvPr>
            <p:extLst>
              <p:ext uri="{D42A27DB-BD31-4B8C-83A1-F6EECF244321}">
                <p14:modId xmlns:p14="http://schemas.microsoft.com/office/powerpoint/2010/main" val="828073092"/>
              </p:ext>
            </p:extLst>
          </p:nvPr>
        </p:nvGraphicFramePr>
        <p:xfrm>
          <a:off x="1054100" y="3581400"/>
          <a:ext cx="7874000" cy="472440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2078545217"/>
                    </a:ext>
                  </a:extLst>
                </a:gridCol>
                <a:gridCol w="1016000">
                  <a:extLst>
                    <a:ext uri="{9D8B030D-6E8A-4147-A177-3AD203B41FA5}">
                      <a16:colId xmlns:a16="http://schemas.microsoft.com/office/drawing/2014/main" val="3832086528"/>
                    </a:ext>
                  </a:extLst>
                </a:gridCol>
                <a:gridCol w="1333500">
                  <a:extLst>
                    <a:ext uri="{9D8B030D-6E8A-4147-A177-3AD203B41FA5}">
                      <a16:colId xmlns:a16="http://schemas.microsoft.com/office/drawing/2014/main" val="2303123224"/>
                    </a:ext>
                  </a:extLst>
                </a:gridCol>
                <a:gridCol w="1079500">
                  <a:extLst>
                    <a:ext uri="{9D8B030D-6E8A-4147-A177-3AD203B41FA5}">
                      <a16:colId xmlns:a16="http://schemas.microsoft.com/office/drawing/2014/main" val="3801426510"/>
                    </a:ext>
                  </a:extLst>
                </a:gridCol>
                <a:gridCol w="1397000">
                  <a:extLst>
                    <a:ext uri="{9D8B030D-6E8A-4147-A177-3AD203B41FA5}">
                      <a16:colId xmlns:a16="http://schemas.microsoft.com/office/drawing/2014/main" val="256748434"/>
                    </a:ext>
                  </a:extLst>
                </a:gridCol>
                <a:gridCol w="1778000">
                  <a:extLst>
                    <a:ext uri="{9D8B030D-6E8A-4147-A177-3AD203B41FA5}">
                      <a16:colId xmlns:a16="http://schemas.microsoft.com/office/drawing/2014/main" val="4946582"/>
                    </a:ext>
                  </a:extLst>
                </a:gridCol>
              </a:tblGrid>
              <a:tr h="787400">
                <a:tc>
                  <a:txBody>
                    <a:bodyPr/>
                    <a:lstStyle/>
                    <a:p>
                      <a:pPr algn="l">
                        <a:buNone/>
                      </a:pPr>
                      <a:r>
                        <a:rPr lang="fr-FR" sz="1400" b="1" dirty="0">
                          <a:solidFill>
                            <a:srgbClr val="FFFFFF"/>
                          </a:solidFill>
                          <a:latin typeface="Arial"/>
                        </a:rPr>
                        <a:t>GROUPE</a:t>
                      </a:r>
                    </a:p>
                  </a:txBody>
                  <a:tcPr marL="57150" marR="57150" anchor="ctr">
                    <a:solidFill>
                      <a:srgbClr val="1A5A66"/>
                    </a:solidFill>
                  </a:tcPr>
                </a:tc>
                <a:tc>
                  <a:txBody>
                    <a:bodyPr/>
                    <a:lstStyle/>
                    <a:p>
                      <a:pPr algn="r">
                        <a:buNone/>
                      </a:pPr>
                      <a:r>
                        <a:rPr lang="fr-FR" sz="1400" b="1" dirty="0">
                          <a:solidFill>
                            <a:srgbClr val="FFFFFF"/>
                          </a:solidFill>
                          <a:latin typeface="Arial"/>
                        </a:rPr>
                        <a:t>EFFECTIF</a:t>
                      </a:r>
                    </a:p>
                  </a:txBody>
                  <a:tcPr marL="57150" marR="57150" anchor="ctr">
                    <a:solidFill>
                      <a:srgbClr val="1A5A66"/>
                    </a:solidFill>
                  </a:tcPr>
                </a:tc>
                <a:tc>
                  <a:txBody>
                    <a:bodyPr/>
                    <a:lstStyle/>
                    <a:p>
                      <a:pPr algn="r">
                        <a:buNone/>
                      </a:pPr>
                      <a:r>
                        <a:rPr lang="fr-FR" sz="1400" b="1" dirty="0">
                          <a:solidFill>
                            <a:srgbClr val="FFFFFF"/>
                          </a:solidFill>
                          <a:latin typeface="Arial"/>
                        </a:rPr>
                        <a:t>DÉCROCH.</a:t>
                      </a:r>
                    </a:p>
                  </a:txBody>
                  <a:tcPr marL="57150" marR="57150" anchor="ctr">
                    <a:solidFill>
                      <a:srgbClr val="1A5A66"/>
                    </a:solidFill>
                  </a:tcPr>
                </a:tc>
                <a:tc>
                  <a:txBody>
                    <a:bodyPr/>
                    <a:lstStyle/>
                    <a:p>
                      <a:pPr algn="r">
                        <a:buNone/>
                      </a:pPr>
                      <a:r>
                        <a:rPr lang="fr-FR" sz="1400" b="1" dirty="0">
                          <a:solidFill>
                            <a:srgbClr val="FFFFFF"/>
                          </a:solidFill>
                          <a:latin typeface="Arial"/>
                        </a:rPr>
                        <a:t>RAPPEL</a:t>
                      </a:r>
                    </a:p>
                  </a:txBody>
                  <a:tcPr marL="57150" marR="57150" anchor="ctr">
                    <a:solidFill>
                      <a:srgbClr val="1A5A66"/>
                    </a:solidFill>
                  </a:tcPr>
                </a:tc>
                <a:tc>
                  <a:txBody>
                    <a:bodyPr/>
                    <a:lstStyle/>
                    <a:p>
                      <a:pPr algn="r">
                        <a:buNone/>
                      </a:pPr>
                      <a:r>
                        <a:rPr lang="fr-FR" sz="1400" b="1" dirty="0">
                          <a:solidFill>
                            <a:srgbClr val="FFFFFF"/>
                          </a:solidFill>
                          <a:latin typeface="Arial"/>
                        </a:rPr>
                        <a:t>PRÉCISION</a:t>
                      </a:r>
                    </a:p>
                  </a:txBody>
                  <a:tcPr marL="57150" marR="57150" anchor="ctr">
                    <a:solidFill>
                      <a:srgbClr val="1A5A66"/>
                    </a:solidFill>
                  </a:tcPr>
                </a:tc>
                <a:tc>
                  <a:txBody>
                    <a:bodyPr/>
                    <a:lstStyle/>
                    <a:p>
                      <a:pPr algn="r">
                        <a:buNone/>
                      </a:pPr>
                      <a:r>
                        <a:rPr lang="fr-FR" sz="1400" b="1" dirty="0">
                          <a:solidFill>
                            <a:srgbClr val="FFFFFF"/>
                          </a:solidFill>
                          <a:latin typeface="Arial"/>
                        </a:rPr>
                        <a:t>ÉCART AU GLOBAL</a:t>
                      </a:r>
                    </a:p>
                  </a:txBody>
                  <a:tcPr marL="57150" marR="57150" anchor="ctr">
                    <a:solidFill>
                      <a:srgbClr val="1A5A66"/>
                    </a:solidFill>
                  </a:tcPr>
                </a:tc>
                <a:extLst>
                  <a:ext uri="{0D108BD9-81ED-4DB2-BD59-A6C34878D82A}">
                    <a16:rowId xmlns:a16="http://schemas.microsoft.com/office/drawing/2014/main" val="2062865284"/>
                  </a:ext>
                </a:extLst>
              </a:tr>
              <a:tr h="787400">
                <a:tc>
                  <a:txBody>
                    <a:bodyPr/>
                    <a:lstStyle/>
                    <a:p>
                      <a:pPr algn="l"/>
                      <a:r>
                        <a:rPr lang="fr-FR" sz="1700" b="0" dirty="0">
                          <a:solidFill>
                            <a:srgbClr val="0F4A54"/>
                          </a:solidFill>
                          <a:latin typeface="Arial"/>
                          <a:cs typeface="Arial"/>
                        </a:rPr>
                        <a:t>Ensemble</a:t>
                      </a:r>
                    </a:p>
                  </a:txBody>
                  <a:tcPr marL="57150" marR="57150" anchor="ctr">
                    <a:solidFill>
                      <a:srgbClr val="DCEEF2"/>
                    </a:solidFill>
                  </a:tcPr>
                </a:tc>
                <a:tc>
                  <a:txBody>
                    <a:bodyPr/>
                    <a:lstStyle/>
                    <a:p>
                      <a:pPr algn="r"/>
                      <a:r>
                        <a:rPr lang="fr-FR" sz="1700" b="0">
                          <a:solidFill>
                            <a:srgbClr val="0F4A54"/>
                          </a:solidFill>
                          <a:latin typeface="Arial"/>
                          <a:cs typeface="Arial"/>
                        </a:rPr>
                        <a:t>1 040</a:t>
                      </a:r>
                    </a:p>
                  </a:txBody>
                  <a:tcPr marL="57150" marR="57150" anchor="ctr">
                    <a:solidFill>
                      <a:srgbClr val="DCEEF2"/>
                    </a:solidFill>
                  </a:tcPr>
                </a:tc>
                <a:tc>
                  <a:txBody>
                    <a:bodyPr/>
                    <a:lstStyle/>
                    <a:p>
                      <a:pPr algn="r"/>
                      <a:r>
                        <a:rPr lang="fr-FR" sz="1700" b="0" dirty="0">
                          <a:solidFill>
                            <a:srgbClr val="0F4A54"/>
                          </a:solidFill>
                          <a:latin typeface="Arial"/>
                          <a:cs typeface="Arial"/>
                        </a:rPr>
                        <a:t>296</a:t>
                      </a:r>
                    </a:p>
                  </a:txBody>
                  <a:tcPr marL="57150" marR="57150" anchor="ctr">
                    <a:solidFill>
                      <a:srgbClr val="DCEEF2"/>
                    </a:solidFill>
                  </a:tcPr>
                </a:tc>
                <a:tc>
                  <a:txBody>
                    <a:bodyPr/>
                    <a:lstStyle/>
                    <a:p>
                      <a:pPr algn="r"/>
                      <a:r>
                        <a:rPr lang="fr-FR" sz="1700" b="0">
                          <a:solidFill>
                            <a:srgbClr val="0F4A54"/>
                          </a:solidFill>
                          <a:latin typeface="Arial"/>
                          <a:cs typeface="Arial"/>
                        </a:rPr>
                        <a:t>79 %</a:t>
                      </a:r>
                    </a:p>
                  </a:txBody>
                  <a:tcPr marL="57150" marR="57150" anchor="ctr">
                    <a:solidFill>
                      <a:srgbClr val="DCEEF2"/>
                    </a:solidFill>
                  </a:tcPr>
                </a:tc>
                <a:tc>
                  <a:txBody>
                    <a:bodyPr/>
                    <a:lstStyle/>
                    <a:p>
                      <a:pPr algn="r"/>
                      <a:r>
                        <a:rPr lang="fr-FR" sz="1700" b="0">
                          <a:solidFill>
                            <a:srgbClr val="0F4A54"/>
                          </a:solidFill>
                          <a:latin typeface="Arial"/>
                          <a:cs typeface="Arial"/>
                        </a:rPr>
                        <a:t>77 %</a:t>
                      </a:r>
                    </a:p>
                  </a:txBody>
                  <a:tcPr marL="57150" marR="57150" anchor="ctr">
                    <a:solidFill>
                      <a:srgbClr val="DCEEF2"/>
                    </a:solidFill>
                  </a:tcPr>
                </a:tc>
                <a:tc>
                  <a:txBody>
                    <a:bodyPr/>
                    <a:lstStyle/>
                    <a:p>
                      <a:pPr algn="r">
                        <a:buNone/>
                      </a:pPr>
                      <a:r>
                        <a:rPr lang="fr-FR" sz="1700" b="0" dirty="0">
                          <a:solidFill>
                            <a:srgbClr val="0F4A54"/>
                          </a:solidFill>
                          <a:latin typeface="Arial"/>
                        </a:rPr>
                        <a:t>Référence</a:t>
                      </a:r>
                    </a:p>
                  </a:txBody>
                  <a:tcPr marL="57150" marR="57150" anchor="ctr">
                    <a:solidFill>
                      <a:srgbClr val="DCEEF2"/>
                    </a:solidFill>
                  </a:tcPr>
                </a:tc>
                <a:extLst>
                  <a:ext uri="{0D108BD9-81ED-4DB2-BD59-A6C34878D82A}">
                    <a16:rowId xmlns:a16="http://schemas.microsoft.com/office/drawing/2014/main" val="469760286"/>
                  </a:ext>
                </a:extLst>
              </a:tr>
              <a:tr h="787400">
                <a:tc>
                  <a:txBody>
                    <a:bodyPr/>
                    <a:lstStyle/>
                    <a:p>
                      <a:pPr algn="l"/>
                      <a:r>
                        <a:rPr lang="fr-FR" sz="1700" b="0" dirty="0">
                          <a:solidFill>
                            <a:srgbClr val="404040"/>
                          </a:solidFill>
                          <a:latin typeface="Arial"/>
                          <a:cs typeface="Arial"/>
                        </a:rPr>
                        <a:t>Femme</a:t>
                      </a:r>
                    </a:p>
                  </a:txBody>
                  <a:tcPr marL="57150" marR="57150" anchor="ctr">
                    <a:solidFill>
                      <a:srgbClr val="FFFFFF"/>
                    </a:solidFill>
                  </a:tcPr>
                </a:tc>
                <a:tc>
                  <a:txBody>
                    <a:bodyPr/>
                    <a:lstStyle/>
                    <a:p>
                      <a:pPr algn="r"/>
                      <a:r>
                        <a:rPr lang="fr-FR" sz="1700" b="0">
                          <a:solidFill>
                            <a:srgbClr val="404040"/>
                          </a:solidFill>
                          <a:latin typeface="Arial"/>
                          <a:cs typeface="Arial"/>
                        </a:rPr>
                        <a:t>574</a:t>
                      </a:r>
                    </a:p>
                  </a:txBody>
                  <a:tcPr marL="57150" marR="57150" anchor="ctr">
                    <a:solidFill>
                      <a:srgbClr val="FFFFFF"/>
                    </a:solidFill>
                  </a:tcPr>
                </a:tc>
                <a:tc>
                  <a:txBody>
                    <a:bodyPr/>
                    <a:lstStyle/>
                    <a:p>
                      <a:pPr algn="r"/>
                      <a:r>
                        <a:rPr lang="fr-FR" sz="1700" b="0" dirty="0">
                          <a:solidFill>
                            <a:srgbClr val="404040"/>
                          </a:solidFill>
                          <a:latin typeface="Arial"/>
                          <a:cs typeface="Arial"/>
                        </a:rPr>
                        <a:t>166</a:t>
                      </a:r>
                    </a:p>
                  </a:txBody>
                  <a:tcPr marL="57150" marR="57150" anchor="ctr">
                    <a:solidFill>
                      <a:srgbClr val="FFFFFF"/>
                    </a:solidFill>
                  </a:tcPr>
                </a:tc>
                <a:tc>
                  <a:txBody>
                    <a:bodyPr/>
                    <a:lstStyle/>
                    <a:p>
                      <a:pPr algn="r"/>
                      <a:r>
                        <a:rPr lang="fr-FR" sz="1700" b="0" dirty="0">
                          <a:solidFill>
                            <a:srgbClr val="404040"/>
                          </a:solidFill>
                          <a:latin typeface="Arial"/>
                          <a:cs typeface="Arial"/>
                        </a:rPr>
                        <a:t>79 %</a:t>
                      </a:r>
                    </a:p>
                  </a:txBody>
                  <a:tcPr marL="57150" marR="57150" anchor="ctr">
                    <a:solidFill>
                      <a:srgbClr val="FFFFFF"/>
                    </a:solidFill>
                  </a:tcPr>
                </a:tc>
                <a:tc>
                  <a:txBody>
                    <a:bodyPr/>
                    <a:lstStyle/>
                    <a:p>
                      <a:pPr algn="r"/>
                      <a:r>
                        <a:rPr lang="fr-FR" sz="1700" b="0">
                          <a:solidFill>
                            <a:srgbClr val="404040"/>
                          </a:solidFill>
                          <a:latin typeface="Arial"/>
                          <a:cs typeface="Arial"/>
                        </a:rPr>
                        <a:t>78 %</a:t>
                      </a:r>
                    </a:p>
                  </a:txBody>
                  <a:tcPr marL="57150" marR="57150" anchor="ctr">
                    <a:solidFill>
                      <a:srgbClr val="FFFFFF"/>
                    </a:solidFill>
                  </a:tcPr>
                </a:tc>
                <a:tc>
                  <a:txBody>
                    <a:bodyPr/>
                    <a:lstStyle/>
                    <a:p>
                      <a:pPr algn="r">
                        <a:buNone/>
                      </a:pPr>
                      <a:r>
                        <a:rPr lang="fr-FR" sz="1700" b="0" dirty="0">
                          <a:solidFill>
                            <a:srgbClr val="404040"/>
                          </a:solidFill>
                          <a:latin typeface="Arial"/>
                        </a:rPr>
                        <a:t>+ 0 pt</a:t>
                      </a:r>
                    </a:p>
                  </a:txBody>
                  <a:tcPr marL="57150" marR="57150" anchor="ctr">
                    <a:solidFill>
                      <a:srgbClr val="FFFFFF"/>
                    </a:solidFill>
                  </a:tcPr>
                </a:tc>
                <a:extLst>
                  <a:ext uri="{0D108BD9-81ED-4DB2-BD59-A6C34878D82A}">
                    <a16:rowId xmlns:a16="http://schemas.microsoft.com/office/drawing/2014/main" val="666198709"/>
                  </a:ext>
                </a:extLst>
              </a:tr>
              <a:tr h="787400">
                <a:tc>
                  <a:txBody>
                    <a:bodyPr/>
                    <a:lstStyle/>
                    <a:p>
                      <a:pPr algn="l"/>
                      <a:r>
                        <a:rPr lang="fr-FR" sz="1700" b="0" dirty="0">
                          <a:solidFill>
                            <a:srgbClr val="404040"/>
                          </a:solidFill>
                          <a:latin typeface="Arial"/>
                          <a:cs typeface="Arial"/>
                        </a:rPr>
                        <a:t>Homme</a:t>
                      </a:r>
                    </a:p>
                  </a:txBody>
                  <a:tcPr marL="57150" marR="57150" anchor="ctr">
                    <a:solidFill>
                      <a:srgbClr val="F5FAFB"/>
                    </a:solidFill>
                  </a:tcPr>
                </a:tc>
                <a:tc>
                  <a:txBody>
                    <a:bodyPr/>
                    <a:lstStyle/>
                    <a:p>
                      <a:pPr algn="r"/>
                      <a:r>
                        <a:rPr lang="fr-FR" sz="1700" b="0">
                          <a:solidFill>
                            <a:srgbClr val="404040"/>
                          </a:solidFill>
                          <a:latin typeface="Arial"/>
                          <a:cs typeface="Arial"/>
                        </a:rPr>
                        <a:t>450</a:t>
                      </a:r>
                    </a:p>
                  </a:txBody>
                  <a:tcPr marL="57150" marR="57150" anchor="ctr">
                    <a:solidFill>
                      <a:srgbClr val="F5FAFB"/>
                    </a:solidFill>
                  </a:tcPr>
                </a:tc>
                <a:tc>
                  <a:txBody>
                    <a:bodyPr/>
                    <a:lstStyle/>
                    <a:p>
                      <a:pPr algn="r"/>
                      <a:r>
                        <a:rPr lang="fr-FR" sz="1700" b="0">
                          <a:solidFill>
                            <a:srgbClr val="404040"/>
                          </a:solidFill>
                          <a:latin typeface="Arial"/>
                          <a:cs typeface="Arial"/>
                        </a:rPr>
                        <a:t>124</a:t>
                      </a:r>
                    </a:p>
                  </a:txBody>
                  <a:tcPr marL="57150" marR="57150" anchor="ctr">
                    <a:solidFill>
                      <a:srgbClr val="F5FAFB"/>
                    </a:solidFill>
                  </a:tcPr>
                </a:tc>
                <a:tc>
                  <a:txBody>
                    <a:bodyPr/>
                    <a:lstStyle/>
                    <a:p>
                      <a:pPr algn="r"/>
                      <a:r>
                        <a:rPr lang="fr-FR" sz="1700" b="0" dirty="0">
                          <a:solidFill>
                            <a:srgbClr val="404040"/>
                          </a:solidFill>
                          <a:latin typeface="Arial"/>
                          <a:cs typeface="Arial"/>
                        </a:rPr>
                        <a:t>77 %</a:t>
                      </a:r>
                    </a:p>
                  </a:txBody>
                  <a:tcPr marL="57150" marR="57150" anchor="ctr">
                    <a:solidFill>
                      <a:srgbClr val="F5FAFB"/>
                    </a:solidFill>
                  </a:tcPr>
                </a:tc>
                <a:tc>
                  <a:txBody>
                    <a:bodyPr/>
                    <a:lstStyle/>
                    <a:p>
                      <a:pPr algn="r"/>
                      <a:r>
                        <a:rPr lang="fr-FR" sz="1700" b="0">
                          <a:solidFill>
                            <a:srgbClr val="404040"/>
                          </a:solidFill>
                          <a:latin typeface="Arial"/>
                          <a:cs typeface="Arial"/>
                        </a:rPr>
                        <a:t>74 %</a:t>
                      </a:r>
                    </a:p>
                  </a:txBody>
                  <a:tcPr marL="57150" marR="57150" anchor="ctr">
                    <a:solidFill>
                      <a:srgbClr val="F5FAFB"/>
                    </a:solidFill>
                  </a:tcPr>
                </a:tc>
                <a:tc>
                  <a:txBody>
                    <a:bodyPr/>
                    <a:lstStyle/>
                    <a:p>
                      <a:pPr algn="r">
                        <a:buNone/>
                      </a:pPr>
                      <a:r>
                        <a:rPr lang="fr-FR" sz="1700" b="0" dirty="0">
                          <a:solidFill>
                            <a:srgbClr val="404040"/>
                          </a:solidFill>
                          <a:latin typeface="Arial"/>
                        </a:rPr>
                        <a:t>− 2 pt</a:t>
                      </a:r>
                    </a:p>
                  </a:txBody>
                  <a:tcPr marL="57150" marR="57150" anchor="ctr">
                    <a:solidFill>
                      <a:srgbClr val="F5FAFB"/>
                    </a:solidFill>
                  </a:tcPr>
                </a:tc>
                <a:extLst>
                  <a:ext uri="{0D108BD9-81ED-4DB2-BD59-A6C34878D82A}">
                    <a16:rowId xmlns:a16="http://schemas.microsoft.com/office/drawing/2014/main" val="3319209919"/>
                  </a:ext>
                </a:extLst>
              </a:tr>
              <a:tr h="787400">
                <a:tc>
                  <a:txBody>
                    <a:bodyPr/>
                    <a:lstStyle/>
                    <a:p>
                      <a:pPr algn="l"/>
                      <a:r>
                        <a:rPr lang="fr-FR" sz="1700" b="0" dirty="0">
                          <a:solidFill>
                            <a:srgbClr val="404040"/>
                          </a:solidFill>
                          <a:latin typeface="Arial"/>
                          <a:cs typeface="Arial"/>
                        </a:rPr>
                        <a:t>Autre</a:t>
                      </a:r>
                    </a:p>
                  </a:txBody>
                  <a:tcPr marL="57150" marR="57150" anchor="ctr">
                    <a:solidFill>
                      <a:srgbClr val="FFFFFF"/>
                    </a:solidFill>
                  </a:tcPr>
                </a:tc>
                <a:tc>
                  <a:txBody>
                    <a:bodyPr/>
                    <a:lstStyle/>
                    <a:p>
                      <a:pPr algn="r"/>
                      <a:r>
                        <a:rPr lang="fr-FR" sz="1700" b="0" dirty="0">
                          <a:solidFill>
                            <a:srgbClr val="404040"/>
                          </a:solidFill>
                          <a:latin typeface="Arial"/>
                          <a:cs typeface="Arial"/>
                        </a:rPr>
                        <a:t>10</a:t>
                      </a:r>
                    </a:p>
                  </a:txBody>
                  <a:tcPr marL="57150" marR="57150" anchor="ctr">
                    <a:solidFill>
                      <a:srgbClr val="FFFFFF"/>
                    </a:solidFill>
                  </a:tcPr>
                </a:tc>
                <a:tc>
                  <a:txBody>
                    <a:bodyPr/>
                    <a:lstStyle/>
                    <a:p>
                      <a:pPr algn="r"/>
                      <a:r>
                        <a:rPr lang="fr-FR" sz="1700" b="0" dirty="0">
                          <a:solidFill>
                            <a:srgbClr val="404040"/>
                          </a:solidFill>
                          <a:latin typeface="Arial"/>
                          <a:cs typeface="Arial"/>
                        </a:rPr>
                        <a:t>4</a:t>
                      </a:r>
                    </a:p>
                  </a:txBody>
                  <a:tcPr marL="57150" marR="57150" anchor="ctr">
                    <a:solidFill>
                      <a:srgbClr val="FFFFFF"/>
                    </a:solidFill>
                  </a:tcPr>
                </a:tc>
                <a:tc>
                  <a:txBody>
                    <a:bodyPr/>
                    <a:lstStyle/>
                    <a:p>
                      <a:pPr algn="r"/>
                      <a:r>
                        <a:rPr lang="fr-FR" sz="1700" b="0" dirty="0">
                          <a:solidFill>
                            <a:srgbClr val="404040"/>
                          </a:solidFill>
                          <a:latin typeface="Arial"/>
                          <a:cs typeface="Arial"/>
                        </a:rPr>
                        <a:t>100 %</a:t>
                      </a:r>
                    </a:p>
                  </a:txBody>
                  <a:tcPr marL="57150" marR="57150" anchor="ctr">
                    <a:solidFill>
                      <a:srgbClr val="FFFFFF"/>
                    </a:solidFill>
                  </a:tcPr>
                </a:tc>
                <a:tc>
                  <a:txBody>
                    <a:bodyPr/>
                    <a:lstStyle/>
                    <a:p>
                      <a:pPr algn="r"/>
                      <a:r>
                        <a:rPr lang="fr-FR" sz="1700" b="0">
                          <a:solidFill>
                            <a:srgbClr val="404040"/>
                          </a:solidFill>
                          <a:latin typeface="Arial"/>
                          <a:cs typeface="Arial"/>
                        </a:rPr>
                        <a:t>100 %</a:t>
                      </a:r>
                    </a:p>
                  </a:txBody>
                  <a:tcPr marL="57150" marR="57150" anchor="ctr">
                    <a:solidFill>
                      <a:srgbClr val="FFFFFF"/>
                    </a:solidFill>
                  </a:tcPr>
                </a:tc>
                <a:tc>
                  <a:txBody>
                    <a:bodyPr/>
                    <a:lstStyle/>
                    <a:p>
                      <a:pPr algn="r">
                        <a:buNone/>
                      </a:pPr>
                      <a:r>
                        <a:rPr lang="fr-FR" sz="1700" b="0" dirty="0">
                          <a:solidFill>
                            <a:srgbClr val="6F6F6F"/>
                          </a:solidFill>
                          <a:latin typeface="Arial"/>
                        </a:rPr>
                        <a:t>non concluant</a:t>
                      </a:r>
                    </a:p>
                  </a:txBody>
                  <a:tcPr marL="57150" marR="57150" anchor="ctr">
                    <a:solidFill>
                      <a:srgbClr val="FFFFFF"/>
                    </a:solidFill>
                  </a:tcPr>
                </a:tc>
                <a:extLst>
                  <a:ext uri="{0D108BD9-81ED-4DB2-BD59-A6C34878D82A}">
                    <a16:rowId xmlns:a16="http://schemas.microsoft.com/office/drawing/2014/main" val="501721075"/>
                  </a:ext>
                </a:extLst>
              </a:tr>
              <a:tr h="787400">
                <a:tc>
                  <a:txBody>
                    <a:bodyPr/>
                    <a:lstStyle/>
                    <a:p>
                      <a:pPr algn="l"/>
                      <a:r>
                        <a:rPr lang="fr-FR" sz="1700" b="0">
                          <a:solidFill>
                            <a:srgbClr val="404040"/>
                          </a:solidFill>
                          <a:latin typeface="Arial"/>
                          <a:cs typeface="Arial"/>
                        </a:rPr>
                        <a:t>Non renseigné</a:t>
                      </a:r>
                    </a:p>
                  </a:txBody>
                  <a:tcPr marL="57150" marR="57150" anchor="ctr">
                    <a:solidFill>
                      <a:srgbClr val="F5FAFB"/>
                    </a:solidFill>
                  </a:tcPr>
                </a:tc>
                <a:tc>
                  <a:txBody>
                    <a:bodyPr/>
                    <a:lstStyle/>
                    <a:p>
                      <a:pPr algn="r"/>
                      <a:r>
                        <a:rPr lang="fr-FR" sz="1700" b="0">
                          <a:solidFill>
                            <a:srgbClr val="404040"/>
                          </a:solidFill>
                          <a:latin typeface="Arial"/>
                          <a:cs typeface="Arial"/>
                        </a:rPr>
                        <a:t>6</a:t>
                      </a:r>
                    </a:p>
                  </a:txBody>
                  <a:tcPr marL="57150" marR="57150" anchor="ctr">
                    <a:solidFill>
                      <a:srgbClr val="F5FAFB"/>
                    </a:solidFill>
                  </a:tcPr>
                </a:tc>
                <a:tc>
                  <a:txBody>
                    <a:bodyPr/>
                    <a:lstStyle/>
                    <a:p>
                      <a:pPr algn="r"/>
                      <a:r>
                        <a:rPr lang="fr-FR" sz="1700" b="0" dirty="0">
                          <a:solidFill>
                            <a:srgbClr val="404040"/>
                          </a:solidFill>
                          <a:latin typeface="Arial"/>
                          <a:cs typeface="Arial"/>
                        </a:rPr>
                        <a:t>2</a:t>
                      </a:r>
                    </a:p>
                  </a:txBody>
                  <a:tcPr marL="57150" marR="57150" anchor="ctr">
                    <a:solidFill>
                      <a:srgbClr val="F5FAFB"/>
                    </a:solidFill>
                  </a:tcPr>
                </a:tc>
                <a:tc>
                  <a:txBody>
                    <a:bodyPr/>
                    <a:lstStyle/>
                    <a:p>
                      <a:pPr algn="r"/>
                      <a:r>
                        <a:rPr lang="fr-FR" sz="1700" b="0" dirty="0">
                          <a:solidFill>
                            <a:srgbClr val="404040"/>
                          </a:solidFill>
                          <a:latin typeface="Arial"/>
                          <a:cs typeface="Arial"/>
                        </a:rPr>
                        <a:t>100 %</a:t>
                      </a:r>
                    </a:p>
                  </a:txBody>
                  <a:tcPr marL="57150" marR="57150" anchor="ctr">
                    <a:solidFill>
                      <a:srgbClr val="F5FAFB"/>
                    </a:solidFill>
                  </a:tcPr>
                </a:tc>
                <a:tc>
                  <a:txBody>
                    <a:bodyPr/>
                    <a:lstStyle/>
                    <a:p>
                      <a:pPr algn="r"/>
                      <a:r>
                        <a:rPr lang="fr-FR" sz="1700" b="0" dirty="0">
                          <a:solidFill>
                            <a:srgbClr val="404040"/>
                          </a:solidFill>
                          <a:latin typeface="Arial"/>
                          <a:cs typeface="Arial"/>
                        </a:rPr>
                        <a:t>67 %</a:t>
                      </a:r>
                    </a:p>
                  </a:txBody>
                  <a:tcPr marL="57150" marR="57150" anchor="ctr">
                    <a:solidFill>
                      <a:srgbClr val="F5FAFB"/>
                    </a:solidFill>
                  </a:tcPr>
                </a:tc>
                <a:tc>
                  <a:txBody>
                    <a:bodyPr/>
                    <a:lstStyle/>
                    <a:p>
                      <a:pPr algn="r">
                        <a:buNone/>
                      </a:pPr>
                      <a:r>
                        <a:rPr lang="fr-FR" sz="1700" b="0" dirty="0">
                          <a:solidFill>
                            <a:srgbClr val="6F6F6F"/>
                          </a:solidFill>
                          <a:latin typeface="Arial"/>
                        </a:rPr>
                        <a:t>non concluant</a:t>
                      </a:r>
                    </a:p>
                  </a:txBody>
                  <a:tcPr marL="57150" marR="57150" anchor="ctr">
                    <a:solidFill>
                      <a:srgbClr val="F5FAFB"/>
                    </a:solidFill>
                  </a:tcPr>
                </a:tc>
                <a:extLst>
                  <a:ext uri="{0D108BD9-81ED-4DB2-BD59-A6C34878D82A}">
                    <a16:rowId xmlns:a16="http://schemas.microsoft.com/office/drawing/2014/main" val="1536364441"/>
                  </a:ext>
                </a:extLst>
              </a:tr>
            </a:tbl>
          </a:graphicData>
        </a:graphic>
      </p:graphicFrame>
      <p:graphicFrame>
        <p:nvGraphicFramePr>
          <p:cNvPr id="6" name="Tableau 5">
            <a:extLst>
              <a:ext uri="{FF2B5EF4-FFF2-40B4-BE49-F238E27FC236}">
                <a16:creationId xmlns:a16="http://schemas.microsoft.com/office/drawing/2014/main" id="{F77673AA-6D32-46F2-B60B-06C777D3F631}"/>
              </a:ext>
            </a:extLst>
          </p:cNvPr>
          <p:cNvGraphicFramePr>
            <a:graphicFrameLocks noGrp="1"/>
          </p:cNvGraphicFramePr>
          <p:nvPr>
            <p:extLst>
              <p:ext uri="{D42A27DB-BD31-4B8C-83A1-F6EECF244321}">
                <p14:modId xmlns:p14="http://schemas.microsoft.com/office/powerpoint/2010/main" val="2468061749"/>
              </p:ext>
            </p:extLst>
          </p:nvPr>
        </p:nvGraphicFramePr>
        <p:xfrm>
          <a:off x="9232900" y="3581400"/>
          <a:ext cx="8001000" cy="3149600"/>
        </p:xfrm>
        <a:graphic>
          <a:graphicData uri="http://schemas.openxmlformats.org/drawingml/2006/table">
            <a:tbl>
              <a:tblPr firstRow="1" bandRow="1">
                <a:tableStyleId>{5C22544A-7EE6-4342-B048-85BDC9FD1C3A}</a:tableStyleId>
              </a:tblPr>
              <a:tblGrid>
                <a:gridCol w="1358900">
                  <a:extLst>
                    <a:ext uri="{9D8B030D-6E8A-4147-A177-3AD203B41FA5}">
                      <a16:colId xmlns:a16="http://schemas.microsoft.com/office/drawing/2014/main" val="772243813"/>
                    </a:ext>
                  </a:extLst>
                </a:gridCol>
                <a:gridCol w="1054100">
                  <a:extLst>
                    <a:ext uri="{9D8B030D-6E8A-4147-A177-3AD203B41FA5}">
                      <a16:colId xmlns:a16="http://schemas.microsoft.com/office/drawing/2014/main" val="3337606242"/>
                    </a:ext>
                  </a:extLst>
                </a:gridCol>
                <a:gridCol w="1333500">
                  <a:extLst>
                    <a:ext uri="{9D8B030D-6E8A-4147-A177-3AD203B41FA5}">
                      <a16:colId xmlns:a16="http://schemas.microsoft.com/office/drawing/2014/main" val="1772755404"/>
                    </a:ext>
                  </a:extLst>
                </a:gridCol>
                <a:gridCol w="1079500">
                  <a:extLst>
                    <a:ext uri="{9D8B030D-6E8A-4147-A177-3AD203B41FA5}">
                      <a16:colId xmlns:a16="http://schemas.microsoft.com/office/drawing/2014/main" val="341623408"/>
                    </a:ext>
                  </a:extLst>
                </a:gridCol>
                <a:gridCol w="1397000">
                  <a:extLst>
                    <a:ext uri="{9D8B030D-6E8A-4147-A177-3AD203B41FA5}">
                      <a16:colId xmlns:a16="http://schemas.microsoft.com/office/drawing/2014/main" val="4107029649"/>
                    </a:ext>
                  </a:extLst>
                </a:gridCol>
                <a:gridCol w="1778000">
                  <a:extLst>
                    <a:ext uri="{9D8B030D-6E8A-4147-A177-3AD203B41FA5}">
                      <a16:colId xmlns:a16="http://schemas.microsoft.com/office/drawing/2014/main" val="3568094364"/>
                    </a:ext>
                  </a:extLst>
                </a:gridCol>
              </a:tblGrid>
              <a:tr h="787400">
                <a:tc>
                  <a:txBody>
                    <a:bodyPr/>
                    <a:lstStyle/>
                    <a:p>
                      <a:pPr algn="l">
                        <a:buNone/>
                      </a:pPr>
                      <a:r>
                        <a:rPr lang="fr-FR" sz="1400" b="1" dirty="0">
                          <a:solidFill>
                            <a:srgbClr val="FFFFFF"/>
                          </a:solidFill>
                          <a:latin typeface="Arial"/>
                        </a:rPr>
                        <a:t>GROUPE</a:t>
                      </a:r>
                    </a:p>
                  </a:txBody>
                  <a:tcPr marL="57150" marR="57150" anchor="ctr">
                    <a:solidFill>
                      <a:srgbClr val="1A5A66"/>
                    </a:solidFill>
                  </a:tcPr>
                </a:tc>
                <a:tc>
                  <a:txBody>
                    <a:bodyPr/>
                    <a:lstStyle/>
                    <a:p>
                      <a:pPr algn="r">
                        <a:buNone/>
                      </a:pPr>
                      <a:r>
                        <a:rPr lang="fr-FR" sz="1400" b="1" dirty="0">
                          <a:solidFill>
                            <a:srgbClr val="FFFFFF"/>
                          </a:solidFill>
                          <a:latin typeface="Arial"/>
                        </a:rPr>
                        <a:t>EFFECTIF</a:t>
                      </a:r>
                    </a:p>
                  </a:txBody>
                  <a:tcPr marL="57150" marR="57150" anchor="ctr">
                    <a:solidFill>
                      <a:srgbClr val="1A5A66"/>
                    </a:solidFill>
                  </a:tcPr>
                </a:tc>
                <a:tc>
                  <a:txBody>
                    <a:bodyPr/>
                    <a:lstStyle/>
                    <a:p>
                      <a:pPr algn="r">
                        <a:buNone/>
                      </a:pPr>
                      <a:r>
                        <a:rPr lang="fr-FR" sz="1400" b="1" dirty="0">
                          <a:solidFill>
                            <a:srgbClr val="FFFFFF"/>
                          </a:solidFill>
                          <a:latin typeface="Arial"/>
                        </a:rPr>
                        <a:t>DÉCROCH.</a:t>
                      </a:r>
                    </a:p>
                  </a:txBody>
                  <a:tcPr marL="57150" marR="57150" anchor="ctr">
                    <a:solidFill>
                      <a:srgbClr val="1A5A66"/>
                    </a:solidFill>
                  </a:tcPr>
                </a:tc>
                <a:tc>
                  <a:txBody>
                    <a:bodyPr/>
                    <a:lstStyle/>
                    <a:p>
                      <a:pPr algn="r">
                        <a:buNone/>
                      </a:pPr>
                      <a:r>
                        <a:rPr lang="fr-FR" sz="1400" b="1" dirty="0">
                          <a:solidFill>
                            <a:srgbClr val="FFFFFF"/>
                          </a:solidFill>
                          <a:latin typeface="Arial"/>
                        </a:rPr>
                        <a:t>RAPPEL</a:t>
                      </a:r>
                    </a:p>
                  </a:txBody>
                  <a:tcPr marL="57150" marR="57150" anchor="ctr">
                    <a:solidFill>
                      <a:srgbClr val="1A5A66"/>
                    </a:solidFill>
                  </a:tcPr>
                </a:tc>
                <a:tc>
                  <a:txBody>
                    <a:bodyPr/>
                    <a:lstStyle/>
                    <a:p>
                      <a:pPr algn="r">
                        <a:buNone/>
                      </a:pPr>
                      <a:r>
                        <a:rPr lang="fr-FR" sz="1400" b="1" dirty="0">
                          <a:solidFill>
                            <a:srgbClr val="FFFFFF"/>
                          </a:solidFill>
                          <a:latin typeface="Arial"/>
                        </a:rPr>
                        <a:t>PRÉCISION</a:t>
                      </a:r>
                    </a:p>
                  </a:txBody>
                  <a:tcPr marL="57150" marR="57150" anchor="ctr">
                    <a:solidFill>
                      <a:srgbClr val="1A5A66"/>
                    </a:solidFill>
                  </a:tcPr>
                </a:tc>
                <a:tc>
                  <a:txBody>
                    <a:bodyPr/>
                    <a:lstStyle/>
                    <a:p>
                      <a:pPr algn="r">
                        <a:buNone/>
                      </a:pPr>
                      <a:r>
                        <a:rPr lang="fr-FR" sz="1400" b="1" dirty="0">
                          <a:solidFill>
                            <a:srgbClr val="FFFFFF"/>
                          </a:solidFill>
                          <a:latin typeface="Arial"/>
                        </a:rPr>
                        <a:t>ÉCART AU GLOBAL</a:t>
                      </a:r>
                    </a:p>
                  </a:txBody>
                  <a:tcPr marL="57150" marR="57150" anchor="ctr">
                    <a:solidFill>
                      <a:srgbClr val="1A5A66"/>
                    </a:solidFill>
                  </a:tcPr>
                </a:tc>
                <a:extLst>
                  <a:ext uri="{0D108BD9-81ED-4DB2-BD59-A6C34878D82A}">
                    <a16:rowId xmlns:a16="http://schemas.microsoft.com/office/drawing/2014/main" val="393787781"/>
                  </a:ext>
                </a:extLst>
              </a:tr>
              <a:tr h="787400">
                <a:tc>
                  <a:txBody>
                    <a:bodyPr/>
                    <a:lstStyle/>
                    <a:p>
                      <a:pPr algn="l"/>
                      <a:r>
                        <a:rPr lang="fr-FR" sz="1700" b="0" dirty="0">
                          <a:solidFill>
                            <a:srgbClr val="0F4A54"/>
                          </a:solidFill>
                          <a:latin typeface="Arial"/>
                          <a:cs typeface="Arial"/>
                        </a:rPr>
                        <a:t>Ensemble (test)</a:t>
                      </a:r>
                    </a:p>
                  </a:txBody>
                  <a:tcPr marL="57150" marR="57150" anchor="ctr">
                    <a:solidFill>
                      <a:srgbClr val="DCEEF2"/>
                    </a:solidFill>
                  </a:tcPr>
                </a:tc>
                <a:tc>
                  <a:txBody>
                    <a:bodyPr/>
                    <a:lstStyle/>
                    <a:p>
                      <a:pPr algn="r"/>
                      <a:r>
                        <a:rPr lang="fr-FR" sz="1700" b="0" dirty="0">
                          <a:solidFill>
                            <a:srgbClr val="0F4A54"/>
                          </a:solidFill>
                          <a:latin typeface="Arial"/>
                          <a:cs typeface="Arial"/>
                        </a:rPr>
                        <a:t>1 040</a:t>
                      </a:r>
                    </a:p>
                  </a:txBody>
                  <a:tcPr marL="57150" marR="57150" anchor="ctr">
                    <a:solidFill>
                      <a:srgbClr val="DCEEF2"/>
                    </a:solidFill>
                  </a:tcPr>
                </a:tc>
                <a:tc>
                  <a:txBody>
                    <a:bodyPr/>
                    <a:lstStyle/>
                    <a:p>
                      <a:pPr algn="r"/>
                      <a:r>
                        <a:rPr lang="fr-FR" sz="1700" b="0" dirty="0">
                          <a:solidFill>
                            <a:srgbClr val="0F4A54"/>
                          </a:solidFill>
                          <a:latin typeface="Arial"/>
                          <a:cs typeface="Arial"/>
                        </a:rPr>
                        <a:t>296</a:t>
                      </a:r>
                    </a:p>
                  </a:txBody>
                  <a:tcPr marL="57150" marR="57150" anchor="ctr">
                    <a:solidFill>
                      <a:srgbClr val="DCEEF2"/>
                    </a:solidFill>
                  </a:tcPr>
                </a:tc>
                <a:tc>
                  <a:txBody>
                    <a:bodyPr/>
                    <a:lstStyle/>
                    <a:p>
                      <a:pPr algn="r"/>
                      <a:r>
                        <a:rPr lang="fr-FR" sz="1700" b="0" dirty="0">
                          <a:solidFill>
                            <a:srgbClr val="0F4A54"/>
                          </a:solidFill>
                          <a:latin typeface="Arial"/>
                          <a:cs typeface="Arial"/>
                        </a:rPr>
                        <a:t>79 %</a:t>
                      </a:r>
                    </a:p>
                  </a:txBody>
                  <a:tcPr marL="57150" marR="57150" anchor="ctr">
                    <a:solidFill>
                      <a:srgbClr val="DCEEF2"/>
                    </a:solidFill>
                  </a:tcPr>
                </a:tc>
                <a:tc>
                  <a:txBody>
                    <a:bodyPr/>
                    <a:lstStyle/>
                    <a:p>
                      <a:pPr algn="r"/>
                      <a:r>
                        <a:rPr lang="fr-FR" sz="1700" b="0" dirty="0">
                          <a:solidFill>
                            <a:srgbClr val="0F4A54"/>
                          </a:solidFill>
                          <a:latin typeface="Arial"/>
                          <a:cs typeface="Arial"/>
                        </a:rPr>
                        <a:t>77 %</a:t>
                      </a:r>
                    </a:p>
                  </a:txBody>
                  <a:tcPr marL="57150" marR="57150" anchor="ctr">
                    <a:solidFill>
                      <a:srgbClr val="DCEEF2"/>
                    </a:solidFill>
                  </a:tcPr>
                </a:tc>
                <a:tc>
                  <a:txBody>
                    <a:bodyPr/>
                    <a:lstStyle/>
                    <a:p>
                      <a:pPr algn="r">
                        <a:buNone/>
                      </a:pPr>
                      <a:r>
                        <a:rPr lang="fr-FR" sz="1700" b="0" dirty="0">
                          <a:solidFill>
                            <a:srgbClr val="0F4A54"/>
                          </a:solidFill>
                          <a:latin typeface="Arial"/>
                        </a:rPr>
                        <a:t>RÉFÉRENCE</a:t>
                      </a:r>
                    </a:p>
                  </a:txBody>
                  <a:tcPr marL="57150" marR="57150" anchor="ctr">
                    <a:solidFill>
                      <a:srgbClr val="DCEEF2"/>
                    </a:solidFill>
                  </a:tcPr>
                </a:tc>
                <a:extLst>
                  <a:ext uri="{0D108BD9-81ED-4DB2-BD59-A6C34878D82A}">
                    <a16:rowId xmlns:a16="http://schemas.microsoft.com/office/drawing/2014/main" val="3988759832"/>
                  </a:ext>
                </a:extLst>
              </a:tr>
              <a:tr h="787400">
                <a:tc>
                  <a:txBody>
                    <a:bodyPr/>
                    <a:lstStyle/>
                    <a:p>
                      <a:pPr algn="l"/>
                      <a:r>
                        <a:rPr lang="fr-FR" sz="1700" b="0">
                          <a:solidFill>
                            <a:srgbClr val="404040"/>
                          </a:solidFill>
                          <a:latin typeface="Arial"/>
                          <a:cs typeface="Arial"/>
                        </a:rPr>
                        <a:t>Non boursier</a:t>
                      </a:r>
                    </a:p>
                  </a:txBody>
                  <a:tcPr marL="57150" marR="57150" anchor="ctr">
                    <a:solidFill>
                      <a:srgbClr val="FFFFFF"/>
                    </a:solidFill>
                  </a:tcPr>
                </a:tc>
                <a:tc>
                  <a:txBody>
                    <a:bodyPr/>
                    <a:lstStyle/>
                    <a:p>
                      <a:pPr algn="r"/>
                      <a:r>
                        <a:rPr lang="fr-FR" sz="1700" b="0">
                          <a:solidFill>
                            <a:srgbClr val="404040"/>
                          </a:solidFill>
                          <a:latin typeface="Arial"/>
                          <a:cs typeface="Arial"/>
                        </a:rPr>
                        <a:t>673</a:t>
                      </a:r>
                    </a:p>
                  </a:txBody>
                  <a:tcPr marL="57150" marR="57150" anchor="ctr">
                    <a:solidFill>
                      <a:srgbClr val="FFFFFF"/>
                    </a:solidFill>
                  </a:tcPr>
                </a:tc>
                <a:tc>
                  <a:txBody>
                    <a:bodyPr/>
                    <a:lstStyle/>
                    <a:p>
                      <a:pPr algn="r"/>
                      <a:r>
                        <a:rPr lang="fr-FR" sz="1700" b="0" dirty="0">
                          <a:solidFill>
                            <a:srgbClr val="404040"/>
                          </a:solidFill>
                          <a:latin typeface="Arial"/>
                          <a:cs typeface="Arial"/>
                        </a:rPr>
                        <a:t>203</a:t>
                      </a:r>
                    </a:p>
                  </a:txBody>
                  <a:tcPr marL="57150" marR="57150" anchor="ctr">
                    <a:solidFill>
                      <a:srgbClr val="FFFFFF"/>
                    </a:solidFill>
                  </a:tcPr>
                </a:tc>
                <a:tc>
                  <a:txBody>
                    <a:bodyPr/>
                    <a:lstStyle/>
                    <a:p>
                      <a:pPr algn="r"/>
                      <a:r>
                        <a:rPr lang="fr-FR" sz="1700" b="0">
                          <a:solidFill>
                            <a:srgbClr val="404040"/>
                          </a:solidFill>
                          <a:latin typeface="Arial"/>
                          <a:cs typeface="Arial"/>
                        </a:rPr>
                        <a:t>78 %</a:t>
                      </a:r>
                    </a:p>
                  </a:txBody>
                  <a:tcPr marL="57150" marR="57150" anchor="ctr">
                    <a:solidFill>
                      <a:srgbClr val="FFFFFF"/>
                    </a:solidFill>
                  </a:tcPr>
                </a:tc>
                <a:tc>
                  <a:txBody>
                    <a:bodyPr/>
                    <a:lstStyle/>
                    <a:p>
                      <a:pPr algn="r"/>
                      <a:r>
                        <a:rPr lang="fr-FR" sz="1700" b="0">
                          <a:solidFill>
                            <a:srgbClr val="404040"/>
                          </a:solidFill>
                          <a:latin typeface="Arial"/>
                          <a:cs typeface="Arial"/>
                        </a:rPr>
                        <a:t>77 %</a:t>
                      </a:r>
                    </a:p>
                  </a:txBody>
                  <a:tcPr marL="57150" marR="57150" anchor="ctr">
                    <a:solidFill>
                      <a:srgbClr val="FFFFFF"/>
                    </a:solidFill>
                  </a:tcPr>
                </a:tc>
                <a:tc>
                  <a:txBody>
                    <a:bodyPr/>
                    <a:lstStyle/>
                    <a:p>
                      <a:pPr algn="r">
                        <a:buNone/>
                      </a:pPr>
                      <a:r>
                        <a:rPr lang="fr-FR" sz="1700" dirty="0">
                          <a:solidFill>
                            <a:srgbClr val="404040"/>
                          </a:solidFill>
                          <a:latin typeface="Arial"/>
                        </a:rPr>
                        <a:t>− 1 pt</a:t>
                      </a:r>
                    </a:p>
                  </a:txBody>
                  <a:tcPr marL="57150" marR="57150" anchor="ctr">
                    <a:solidFill>
                      <a:srgbClr val="FFFFFF"/>
                    </a:solidFill>
                  </a:tcPr>
                </a:tc>
                <a:extLst>
                  <a:ext uri="{0D108BD9-81ED-4DB2-BD59-A6C34878D82A}">
                    <a16:rowId xmlns:a16="http://schemas.microsoft.com/office/drawing/2014/main" val="120880475"/>
                  </a:ext>
                </a:extLst>
              </a:tr>
              <a:tr h="787400">
                <a:tc>
                  <a:txBody>
                    <a:bodyPr/>
                    <a:lstStyle/>
                    <a:p>
                      <a:pPr algn="l"/>
                      <a:r>
                        <a:rPr lang="fr-FR" sz="1700" b="0" dirty="0">
                          <a:solidFill>
                            <a:srgbClr val="404040"/>
                          </a:solidFill>
                          <a:latin typeface="Arial"/>
                          <a:cs typeface="Arial"/>
                        </a:rPr>
                        <a:t>Boursier</a:t>
                      </a:r>
                    </a:p>
                  </a:txBody>
                  <a:tcPr marL="57150" marR="57150" anchor="ctr">
                    <a:solidFill>
                      <a:srgbClr val="F5FAFB"/>
                    </a:solidFill>
                  </a:tcPr>
                </a:tc>
                <a:tc>
                  <a:txBody>
                    <a:bodyPr/>
                    <a:lstStyle/>
                    <a:p>
                      <a:pPr algn="r"/>
                      <a:r>
                        <a:rPr lang="fr-FR" sz="1700" b="0">
                          <a:solidFill>
                            <a:srgbClr val="404040"/>
                          </a:solidFill>
                          <a:latin typeface="Arial"/>
                          <a:cs typeface="Arial"/>
                        </a:rPr>
                        <a:t>367</a:t>
                      </a:r>
                    </a:p>
                  </a:txBody>
                  <a:tcPr marL="57150" marR="57150" anchor="ctr">
                    <a:solidFill>
                      <a:srgbClr val="F5FAFB"/>
                    </a:solidFill>
                  </a:tcPr>
                </a:tc>
                <a:tc>
                  <a:txBody>
                    <a:bodyPr/>
                    <a:lstStyle/>
                    <a:p>
                      <a:pPr algn="r"/>
                      <a:r>
                        <a:rPr lang="fr-FR" sz="1700" b="0">
                          <a:solidFill>
                            <a:srgbClr val="404040"/>
                          </a:solidFill>
                          <a:latin typeface="Arial"/>
                          <a:cs typeface="Arial"/>
                        </a:rPr>
                        <a:t>93</a:t>
                      </a:r>
                    </a:p>
                  </a:txBody>
                  <a:tcPr marL="57150" marR="57150" anchor="ctr">
                    <a:solidFill>
                      <a:srgbClr val="F5FAFB"/>
                    </a:solidFill>
                  </a:tcPr>
                </a:tc>
                <a:tc>
                  <a:txBody>
                    <a:bodyPr/>
                    <a:lstStyle/>
                    <a:p>
                      <a:pPr algn="r"/>
                      <a:r>
                        <a:rPr lang="fr-FR" sz="1700" b="0">
                          <a:solidFill>
                            <a:srgbClr val="404040"/>
                          </a:solidFill>
                          <a:latin typeface="Arial"/>
                          <a:cs typeface="Arial"/>
                        </a:rPr>
                        <a:t>81 %</a:t>
                      </a:r>
                    </a:p>
                  </a:txBody>
                  <a:tcPr marL="57150" marR="57150" anchor="ctr">
                    <a:solidFill>
                      <a:srgbClr val="F5FAFB"/>
                    </a:solidFill>
                  </a:tcPr>
                </a:tc>
                <a:tc>
                  <a:txBody>
                    <a:bodyPr/>
                    <a:lstStyle/>
                    <a:p>
                      <a:pPr algn="r"/>
                      <a:r>
                        <a:rPr lang="fr-FR" sz="1700" b="0" dirty="0">
                          <a:solidFill>
                            <a:srgbClr val="404040"/>
                          </a:solidFill>
                          <a:latin typeface="Arial"/>
                          <a:cs typeface="Arial"/>
                        </a:rPr>
                        <a:t>76 %</a:t>
                      </a:r>
                    </a:p>
                  </a:txBody>
                  <a:tcPr marL="57150" marR="57150" anchor="ctr">
                    <a:solidFill>
                      <a:srgbClr val="F5FAFB"/>
                    </a:solidFill>
                  </a:tcPr>
                </a:tc>
                <a:tc>
                  <a:txBody>
                    <a:bodyPr/>
                    <a:lstStyle/>
                    <a:p>
                      <a:pPr algn="r">
                        <a:buNone/>
                      </a:pPr>
                      <a:r>
                        <a:rPr lang="fr-FR" sz="1700" dirty="0">
                          <a:solidFill>
                            <a:srgbClr val="404040"/>
                          </a:solidFill>
                          <a:latin typeface="Arial"/>
                        </a:rPr>
                        <a:t>+ 2 pt</a:t>
                      </a:r>
                    </a:p>
                  </a:txBody>
                  <a:tcPr marL="57150" marR="57150" anchor="ctr">
                    <a:solidFill>
                      <a:srgbClr val="F5FAFB"/>
                    </a:solidFill>
                  </a:tcPr>
                </a:tc>
                <a:extLst>
                  <a:ext uri="{0D108BD9-81ED-4DB2-BD59-A6C34878D82A}">
                    <a16:rowId xmlns:a16="http://schemas.microsoft.com/office/drawing/2014/main" val="766223114"/>
                  </a:ext>
                </a:extLst>
              </a:tr>
            </a:tbl>
          </a:graphicData>
        </a:graphic>
      </p:graphicFrame>
      <p:sp>
        <p:nvSpPr>
          <p:cNvPr id="5" name="Bouton retour frise">
            <a:hlinkClick r:id="rId3" action="ppaction://hlinksldjump"/>
            <a:extLst>
              <a:ext uri="{FF2B5EF4-FFF2-40B4-BE49-F238E27FC236}">
                <a16:creationId xmlns:a16="http://schemas.microsoft.com/office/drawing/2014/main" id="{DB12C009-8897-D0EA-32B5-00AAAA593193}"/>
              </a:ext>
            </a:extLst>
          </p:cNvPr>
          <p:cNvSpPr/>
          <p:nvPr/>
        </p:nvSpPr>
        <p:spPr>
          <a:xfrm>
            <a:off x="15687040" y="711200"/>
            <a:ext cx="1559560" cy="457200"/>
          </a:xfrm>
          <a:prstGeom prst="roundRect">
            <a:avLst>
              <a:gd name="adj" fmla="val 50000"/>
            </a:avLst>
          </a:prstGeom>
          <a:solidFill>
            <a:srgbClr val="EAF5F7"/>
          </a:solidFill>
          <a:ln w="12700">
            <a:solidFill>
              <a:srgbClr val="BFE3EA"/>
            </a:solidFill>
          </a:ln>
        </p:spPr>
        <p:txBody>
          <a:bodyPr wrap="none" lIns="0" tIns="0" rIns="0" bIns="0" anchor="ctr"/>
          <a:lstStyle/>
          <a:p>
            <a:pPr algn="ctr"/>
            <a:r>
              <a:rPr lang="fr-FR" sz="1600" b="1" dirty="0">
                <a:solidFill>
                  <a:srgbClr val="1A6A77"/>
                </a:solidFill>
                <a:latin typeface="Arial"/>
              </a:rPr>
              <a:t>← Retour</a:t>
            </a:r>
          </a:p>
        </p:txBody>
      </p:sp>
    </p:spTree>
    <p:extLst>
      <p:ext uri="{BB962C8B-B14F-4D97-AF65-F5344CB8AC3E}">
        <p14:creationId xmlns:p14="http://schemas.microsoft.com/office/powerpoint/2010/main" val="3097202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56B9CA"/>
        </a:solidFill>
        <a:effectLst/>
      </p:bgPr>
    </p:bg>
    <p:spTree>
      <p:nvGrpSpPr>
        <p:cNvPr id="1" name=""/>
        <p:cNvGrpSpPr/>
        <p:nvPr/>
      </p:nvGrpSpPr>
      <p:grpSpPr>
        <a:xfrm>
          <a:off x="0" y="0"/>
          <a:ext cx="0" cy="0"/>
          <a:chOff x="0" y="0"/>
          <a:chExt cx="0" cy="0"/>
        </a:xfrm>
      </p:grpSpPr>
      <p:sp>
        <p:nvSpPr>
          <p:cNvPr id="2" name="TextBox 1"/>
          <p:cNvSpPr txBox="1"/>
          <p:nvPr/>
        </p:nvSpPr>
        <p:spPr>
          <a:xfrm>
            <a:off x="13076188" y="723900"/>
            <a:ext cx="4894793" cy="4038600"/>
          </a:xfrm>
          <a:prstGeom prst="rect">
            <a:avLst/>
          </a:prstGeom>
          <a:noFill/>
        </p:spPr>
        <p:txBody>
          <a:bodyPr wrap="square" lIns="27432" tIns="27432" rIns="27432" bIns="27432" anchor="t">
            <a:noAutofit/>
          </a:bodyPr>
          <a:lstStyle/>
          <a:p>
            <a:pPr algn="l">
              <a:lnSpc>
                <a:spcPct val="70950"/>
              </a:lnSpc>
            </a:pPr>
            <a:r>
              <a:rPr lang="fr-FR" sz="31500" b="1" noProof="0" dirty="0">
                <a:solidFill>
                  <a:srgbClr val="FFFFFF"/>
                </a:solidFill>
                <a:latin typeface="Arial"/>
              </a:rPr>
              <a:t>06</a:t>
            </a:r>
          </a:p>
        </p:txBody>
      </p:sp>
      <p:sp>
        <p:nvSpPr>
          <p:cNvPr id="3" name="TextBox 2"/>
          <p:cNvSpPr txBox="1"/>
          <p:nvPr/>
        </p:nvSpPr>
        <p:spPr>
          <a:xfrm>
            <a:off x="1047750" y="1047750"/>
            <a:ext cx="3000000" cy="333375"/>
          </a:xfrm>
          <a:prstGeom prst="rect">
            <a:avLst/>
          </a:prstGeom>
          <a:noFill/>
        </p:spPr>
        <p:txBody>
          <a:bodyPr wrap="square" lIns="27432" tIns="27432" rIns="27432" bIns="27432" anchor="t">
            <a:noAutofit/>
          </a:bodyPr>
          <a:lstStyle/>
          <a:p>
            <a:pPr algn="l"/>
            <a:r>
              <a:rPr lang="fr-FR" sz="1950" b="1" spc="273" noProof="0" dirty="0">
                <a:solidFill>
                  <a:srgbClr val="FFFFFF"/>
                </a:solidFill>
                <a:latin typeface="Arial"/>
              </a:rPr>
              <a:t>Acte 06</a:t>
            </a:r>
          </a:p>
        </p:txBody>
      </p:sp>
      <p:sp>
        <p:nvSpPr>
          <p:cNvPr id="4" name="TextBox 3"/>
          <p:cNvSpPr txBox="1"/>
          <p:nvPr/>
        </p:nvSpPr>
        <p:spPr>
          <a:xfrm>
            <a:off x="1047750" y="1609725"/>
            <a:ext cx="11582400" cy="1005519"/>
          </a:xfrm>
          <a:prstGeom prst="rect">
            <a:avLst/>
          </a:prstGeom>
          <a:noFill/>
        </p:spPr>
        <p:txBody>
          <a:bodyPr wrap="square" lIns="27432" tIns="27432" rIns="27432" bIns="27432" anchor="t">
            <a:noAutofit/>
          </a:bodyPr>
          <a:lstStyle/>
          <a:p>
            <a:pPr algn="l">
              <a:lnSpc>
                <a:spcPct val="74520"/>
              </a:lnSpc>
            </a:pPr>
            <a:r>
              <a:rPr lang="fr-FR" sz="8250" b="1" spc="-124" noProof="0" dirty="0">
                <a:solidFill>
                  <a:srgbClr val="FFFFFF"/>
                </a:solidFill>
                <a:latin typeface="Arial"/>
              </a:rPr>
              <a:t>Industrialiser</a:t>
            </a:r>
          </a:p>
        </p:txBody>
      </p:sp>
      <p:sp>
        <p:nvSpPr>
          <p:cNvPr id="5" name="TextBox 4"/>
          <p:cNvSpPr txBox="1"/>
          <p:nvPr/>
        </p:nvSpPr>
        <p:spPr>
          <a:xfrm>
            <a:off x="1047750" y="3014663"/>
            <a:ext cx="10200000" cy="625143"/>
          </a:xfrm>
          <a:prstGeom prst="rect">
            <a:avLst/>
          </a:prstGeom>
          <a:noFill/>
        </p:spPr>
        <p:txBody>
          <a:bodyPr wrap="square" lIns="27432" tIns="27432" rIns="27432" bIns="27432" anchor="t">
            <a:noAutofit/>
          </a:bodyPr>
          <a:lstStyle/>
          <a:p>
            <a:pPr algn="l">
              <a:lnSpc>
                <a:spcPct val="128140"/>
              </a:lnSpc>
            </a:pPr>
            <a:r>
              <a:rPr lang="fr-FR" sz="2850" b="0" noProof="0" dirty="0">
                <a:solidFill>
                  <a:srgbClr val="FFFFFF"/>
                </a:solidFill>
                <a:latin typeface="Arial"/>
              </a:rPr>
              <a:t>Architecture cible, démonstration, dérive</a:t>
            </a:r>
          </a:p>
        </p:txBody>
      </p:sp>
      <p:sp>
        <p:nvSpPr>
          <p:cNvPr id="6" name="TextBox 5"/>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FFFFFF"/>
                </a:solidFill>
                <a:latin typeface="Arial"/>
                <a:cs typeface="Arial"/>
              </a:rPr>
              <a:t>28</a:t>
            </a:r>
            <a:endParaRPr lang="fr-FR" sz="1400" b="1" noProof="0" dirty="0">
              <a:solidFill>
                <a:srgbClr val="FFFFFF"/>
              </a:solidFill>
              <a:latin typeface="Arial"/>
              <a:cs typeface="Arial"/>
            </a:endParaRPr>
          </a:p>
        </p:txBody>
      </p:sp>
    </p:spTree>
    <p:extLst>
      <p:ext uri="{BB962C8B-B14F-4D97-AF65-F5344CB8AC3E}">
        <p14:creationId xmlns:p14="http://schemas.microsoft.com/office/powerpoint/2010/main" val="2159020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teal.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ACTE 06 · ARCHITECTURE CIBLE</a:t>
            </a:r>
          </a:p>
        </p:txBody>
      </p:sp>
      <p:sp>
        <p:nvSpPr>
          <p:cNvPr id="4" name="TextBox 3"/>
          <p:cNvSpPr txBox="1"/>
          <p:nvPr/>
        </p:nvSpPr>
        <p:spPr>
          <a:xfrm>
            <a:off x="1047750" y="1619250"/>
            <a:ext cx="16192500" cy="754380"/>
          </a:xfrm>
          <a:prstGeom prst="rect">
            <a:avLst/>
          </a:prstGeom>
          <a:noFill/>
        </p:spPr>
        <p:txBody>
          <a:bodyPr wrap="square" lIns="27432" tIns="27432" rIns="27432" bIns="27432" anchor="t">
            <a:noAutofit/>
          </a:bodyPr>
          <a:lstStyle/>
          <a:p>
            <a:pPr algn="l">
              <a:lnSpc>
                <a:spcPct val="100000"/>
              </a:lnSpc>
            </a:pPr>
            <a:r>
              <a:rPr lang="fr-FR" sz="3400" b="1" spc="-45" dirty="0">
                <a:solidFill>
                  <a:srgbClr val="000000"/>
                </a:solidFill>
                <a:latin typeface="Arial"/>
              </a:rPr>
              <a:t>La chaîne d'inférence, du SI scolarité au tuteur</a:t>
            </a:r>
          </a:p>
        </p:txBody>
      </p:sp>
      <p:sp>
        <p:nvSpPr>
          <p:cNvPr id="5" name="Rectangle 4"/>
          <p:cNvSpPr/>
          <p:nvPr/>
        </p:nvSpPr>
        <p:spPr>
          <a:xfrm>
            <a:off x="1047750" y="2526030"/>
            <a:ext cx="1143000" cy="1905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8" name="TextBox 7"/>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a:solidFill>
                  <a:srgbClr val="56B9CA"/>
                </a:solidFill>
                <a:latin typeface="Arial"/>
                <a:cs typeface="Arial"/>
              </a:rPr>
              <a:t>29</a:t>
            </a:r>
            <a:endParaRPr lang="fr-FR" sz="1400" b="1" dirty="0">
              <a:solidFill>
                <a:srgbClr val="56B9CA"/>
              </a:solidFill>
              <a:latin typeface="Arial"/>
              <a:cs typeface="Arial"/>
            </a:endParaRPr>
          </a:p>
        </p:txBody>
      </p:sp>
      <p:sp>
        <p:nvSpPr>
          <p:cNvPr id="101" name="Panel"/>
          <p:cNvSpPr/>
          <p:nvPr/>
        </p:nvSpPr>
        <p:spPr>
          <a:xfrm>
            <a:off x="1054100" y="2921000"/>
            <a:ext cx="3175000" cy="4318000"/>
          </a:xfrm>
          <a:prstGeom prst="roundRect">
            <a:avLst>
              <a:gd name="adj" fmla="val 4000"/>
            </a:avLst>
          </a:prstGeom>
          <a:solidFill>
            <a:srgbClr val="F5F7F8"/>
          </a:solidFill>
          <a:ln>
            <a:noFill/>
          </a:ln>
        </p:spPr>
        <p:txBody>
          <a:bodyPr wrap="square" lIns="91440" tIns="45720" rIns="91440" bIns="45720" anchor="ctr">
            <a:normAutofit/>
          </a:bodyPr>
          <a:lstStyle/>
          <a:p>
            <a:endParaRPr/>
          </a:p>
        </p:txBody>
      </p:sp>
      <p:sp>
        <p:nvSpPr>
          <p:cNvPr id="102" name="Label 102"/>
          <p:cNvSpPr txBox="1"/>
          <p:nvPr/>
        </p:nvSpPr>
        <p:spPr>
          <a:xfrm>
            <a:off x="1231900" y="3073400"/>
            <a:ext cx="2819400" cy="254000"/>
          </a:xfrm>
          <a:prstGeom prst="rect">
            <a:avLst/>
          </a:prstGeom>
          <a:noFill/>
        </p:spPr>
        <p:txBody>
          <a:bodyPr wrap="square" lIns="0" tIns="0" rIns="0" bIns="0" anchor="t"/>
          <a:lstStyle/>
          <a:p>
            <a:pPr algn="l">
              <a:lnSpc>
                <a:spcPct val="105000"/>
              </a:lnSpc>
              <a:buNone/>
            </a:pPr>
            <a:r>
              <a:rPr lang="fr-FR" sz="1500" b="1" dirty="0">
                <a:solidFill>
                  <a:srgbClr val="6F6F6F"/>
                </a:solidFill>
                <a:latin typeface="Arial"/>
              </a:rPr>
              <a:t>ÉTABLISSEMENT</a:t>
            </a:r>
          </a:p>
        </p:txBody>
      </p:sp>
      <p:sp>
        <p:nvSpPr>
          <p:cNvPr id="103" name="Panel"/>
          <p:cNvSpPr/>
          <p:nvPr/>
        </p:nvSpPr>
        <p:spPr>
          <a:xfrm>
            <a:off x="4521200" y="2921000"/>
            <a:ext cx="4762500" cy="4318000"/>
          </a:xfrm>
          <a:prstGeom prst="roundRect">
            <a:avLst>
              <a:gd name="adj" fmla="val 4000"/>
            </a:avLst>
          </a:prstGeom>
          <a:solidFill>
            <a:srgbClr val="F5F7F8"/>
          </a:solidFill>
          <a:ln>
            <a:noFill/>
          </a:ln>
        </p:spPr>
        <p:txBody>
          <a:bodyPr wrap="square" lIns="91440" tIns="45720" rIns="91440" bIns="45720" anchor="ctr">
            <a:normAutofit/>
          </a:bodyPr>
          <a:lstStyle/>
          <a:p>
            <a:endParaRPr/>
          </a:p>
        </p:txBody>
      </p:sp>
      <p:sp>
        <p:nvSpPr>
          <p:cNvPr id="104" name="Label 104"/>
          <p:cNvSpPr txBox="1"/>
          <p:nvPr/>
        </p:nvSpPr>
        <p:spPr>
          <a:xfrm>
            <a:off x="4699000" y="3073400"/>
            <a:ext cx="4406900" cy="254000"/>
          </a:xfrm>
          <a:prstGeom prst="rect">
            <a:avLst/>
          </a:prstGeom>
          <a:noFill/>
        </p:spPr>
        <p:txBody>
          <a:bodyPr wrap="square" lIns="0" tIns="0" rIns="0" bIns="0" anchor="t"/>
          <a:lstStyle/>
          <a:p>
            <a:pPr algn="l">
              <a:lnSpc>
                <a:spcPct val="105000"/>
              </a:lnSpc>
              <a:buNone/>
            </a:pPr>
            <a:r>
              <a:rPr lang="fr-FR" sz="1500" b="1" dirty="0">
                <a:solidFill>
                  <a:srgbClr val="6F6F6F"/>
                </a:solidFill>
                <a:latin typeface="Arial"/>
              </a:rPr>
              <a:t>ZONE D'INTÉGRATION · À CÂBLER PAR LA DSI</a:t>
            </a:r>
          </a:p>
        </p:txBody>
      </p:sp>
      <p:sp>
        <p:nvSpPr>
          <p:cNvPr id="105" name="Panel"/>
          <p:cNvSpPr/>
          <p:nvPr/>
        </p:nvSpPr>
        <p:spPr>
          <a:xfrm>
            <a:off x="9575800" y="2921000"/>
            <a:ext cx="3683000" cy="4318000"/>
          </a:xfrm>
          <a:prstGeom prst="roundRect">
            <a:avLst>
              <a:gd name="adj" fmla="val 4000"/>
            </a:avLst>
          </a:prstGeom>
          <a:solidFill>
            <a:srgbClr val="F5F7F8"/>
          </a:solidFill>
          <a:ln>
            <a:noFill/>
          </a:ln>
        </p:spPr>
        <p:txBody>
          <a:bodyPr wrap="square" lIns="91440" tIns="45720" rIns="91440" bIns="45720" anchor="ctr">
            <a:normAutofit/>
          </a:bodyPr>
          <a:lstStyle/>
          <a:p>
            <a:endParaRPr/>
          </a:p>
        </p:txBody>
      </p:sp>
      <p:sp>
        <p:nvSpPr>
          <p:cNvPr id="106" name="Label 106"/>
          <p:cNvSpPr txBox="1"/>
          <p:nvPr/>
        </p:nvSpPr>
        <p:spPr>
          <a:xfrm>
            <a:off x="9753600" y="3073400"/>
            <a:ext cx="3327400" cy="254000"/>
          </a:xfrm>
          <a:prstGeom prst="rect">
            <a:avLst/>
          </a:prstGeom>
          <a:noFill/>
        </p:spPr>
        <p:txBody>
          <a:bodyPr wrap="square" lIns="0" tIns="0" rIns="0" bIns="0" anchor="t"/>
          <a:lstStyle/>
          <a:p>
            <a:pPr algn="l">
              <a:lnSpc>
                <a:spcPct val="105000"/>
              </a:lnSpc>
              <a:buNone/>
            </a:pPr>
            <a:r>
              <a:rPr lang="fr-FR" sz="1500" b="1" dirty="0">
                <a:solidFill>
                  <a:srgbClr val="6F6F6F"/>
                </a:solidFill>
                <a:latin typeface="Arial"/>
              </a:rPr>
              <a:t>PILE DECROCHAGE-L1 · LIVRÉ V1</a:t>
            </a:r>
          </a:p>
        </p:txBody>
      </p:sp>
      <p:sp>
        <p:nvSpPr>
          <p:cNvPr id="107" name="Panel"/>
          <p:cNvSpPr/>
          <p:nvPr/>
        </p:nvSpPr>
        <p:spPr>
          <a:xfrm>
            <a:off x="13550900" y="2921000"/>
            <a:ext cx="3683000" cy="4318000"/>
          </a:xfrm>
          <a:prstGeom prst="roundRect">
            <a:avLst>
              <a:gd name="adj" fmla="val 4000"/>
            </a:avLst>
          </a:prstGeom>
          <a:solidFill>
            <a:srgbClr val="F5F7F8"/>
          </a:solidFill>
          <a:ln>
            <a:noFill/>
          </a:ln>
        </p:spPr>
        <p:txBody>
          <a:bodyPr wrap="square" lIns="91440" tIns="45720" rIns="91440" bIns="45720" anchor="ctr">
            <a:normAutofit/>
          </a:bodyPr>
          <a:lstStyle/>
          <a:p>
            <a:endParaRPr/>
          </a:p>
        </p:txBody>
      </p:sp>
      <p:sp>
        <p:nvSpPr>
          <p:cNvPr id="108" name="Label 108"/>
          <p:cNvSpPr txBox="1"/>
          <p:nvPr/>
        </p:nvSpPr>
        <p:spPr>
          <a:xfrm>
            <a:off x="13728700" y="3073400"/>
            <a:ext cx="3327400" cy="254000"/>
          </a:xfrm>
          <a:prstGeom prst="rect">
            <a:avLst/>
          </a:prstGeom>
          <a:noFill/>
        </p:spPr>
        <p:txBody>
          <a:bodyPr wrap="square" lIns="0" tIns="0" rIns="0" bIns="0" anchor="t"/>
          <a:lstStyle/>
          <a:p>
            <a:pPr algn="l">
              <a:lnSpc>
                <a:spcPct val="105000"/>
              </a:lnSpc>
              <a:buNone/>
            </a:pPr>
            <a:r>
              <a:rPr lang="fr-FR" sz="1500" b="1" dirty="0">
                <a:solidFill>
                  <a:srgbClr val="6F6F6F"/>
                </a:solidFill>
                <a:latin typeface="Arial"/>
              </a:rPr>
              <a:t>ÉQUIPE PÉDAGOGIQUE</a:t>
            </a:r>
          </a:p>
        </p:txBody>
      </p:sp>
      <p:sp>
        <p:nvSpPr>
          <p:cNvPr id="109" name="SI"/>
          <p:cNvSpPr/>
          <p:nvPr/>
        </p:nvSpPr>
        <p:spPr>
          <a:xfrm>
            <a:off x="1181100" y="3403600"/>
            <a:ext cx="2921000" cy="3708400"/>
          </a:xfrm>
          <a:prstGeom prst="roundRect">
            <a:avLst>
              <a:gd name="adj" fmla="val 6000"/>
            </a:avLst>
          </a:prstGeom>
          <a:solidFill>
            <a:srgbClr val="F3E2FA"/>
          </a:solidFill>
          <a:ln w="19050">
            <a:solidFill>
              <a:srgbClr val="8E44AD"/>
            </a:solidFill>
          </a:ln>
        </p:spPr>
        <p:txBody>
          <a:bodyPr wrap="square" lIns="91440" tIns="45720" rIns="91440" bIns="45720" anchor="ctr">
            <a:normAutofit/>
          </a:bodyPr>
          <a:lstStyle/>
          <a:p>
            <a:pPr algn="ctr">
              <a:lnSpc>
                <a:spcPct val="105000"/>
              </a:lnSpc>
              <a:buNone/>
            </a:pPr>
            <a:r>
              <a:rPr lang="fr-FR" sz="1800" b="1" dirty="0">
                <a:solidFill>
                  <a:srgbClr val="8E44AD"/>
                </a:solidFill>
                <a:latin typeface="Arial"/>
              </a:rPr>
              <a:t>SI scolarité</a:t>
            </a:r>
          </a:p>
          <a:p>
            <a:pPr algn="ctr">
              <a:lnSpc>
                <a:spcPct val="105000"/>
              </a:lnSpc>
              <a:spcBef>
                <a:spcPts val="400"/>
              </a:spcBef>
              <a:buNone/>
            </a:pPr>
            <a:r>
              <a:rPr lang="fr-FR" sz="1600" b="0" dirty="0">
                <a:solidFill>
                  <a:srgbClr val="4A4A4A"/>
                </a:solidFill>
                <a:latin typeface="Arial"/>
              </a:rPr>
              <a:t>Dossiers étudiants</a:t>
            </a:r>
          </a:p>
          <a:p>
            <a:pPr algn="ctr">
              <a:lnSpc>
                <a:spcPct val="105000"/>
              </a:lnSpc>
              <a:buNone/>
            </a:pPr>
            <a:r>
              <a:rPr lang="fr-FR" sz="1600" b="0" dirty="0">
                <a:solidFill>
                  <a:srgbClr val="4A4A4A"/>
                </a:solidFill>
                <a:latin typeface="Arial"/>
              </a:rPr>
              <a:t>Export cohorte CSV · mi-S1</a:t>
            </a:r>
          </a:p>
        </p:txBody>
      </p:sp>
      <p:sp>
        <p:nvSpPr>
          <p:cNvPr id="110" name="Connecteur"/>
          <p:cNvSpPr/>
          <p:nvPr/>
        </p:nvSpPr>
        <p:spPr>
          <a:xfrm>
            <a:off x="4648200" y="3403600"/>
            <a:ext cx="4508500" cy="1333500"/>
          </a:xfrm>
          <a:prstGeom prst="roundRect">
            <a:avLst>
              <a:gd name="adj" fmla="val 6000"/>
            </a:avLst>
          </a:prstGeom>
          <a:solidFill>
            <a:srgbClr val="FCEFCB"/>
          </a:solidFill>
          <a:ln w="19050">
            <a:solidFill>
              <a:srgbClr val="D07E0A"/>
            </a:solidFill>
            <a:prstDash val="dash"/>
          </a:ln>
        </p:spPr>
        <p:txBody>
          <a:bodyPr wrap="square" lIns="91440" tIns="45720" rIns="91440" bIns="45720" anchor="ctr">
            <a:normAutofit/>
          </a:bodyPr>
          <a:lstStyle/>
          <a:p>
            <a:pPr algn="ctr">
              <a:lnSpc>
                <a:spcPct val="105000"/>
              </a:lnSpc>
              <a:buNone/>
            </a:pPr>
            <a:r>
              <a:rPr lang="fr-FR" sz="1800" b="1" dirty="0">
                <a:solidFill>
                  <a:srgbClr val="D07E0A"/>
                </a:solidFill>
                <a:latin typeface="Arial"/>
              </a:rPr>
              <a:t>Connecteur SI / mapping</a:t>
            </a:r>
          </a:p>
          <a:p>
            <a:pPr algn="ctr">
              <a:lnSpc>
                <a:spcPct val="105000"/>
              </a:lnSpc>
              <a:spcBef>
                <a:spcPts val="400"/>
              </a:spcBef>
              <a:buNone/>
            </a:pPr>
            <a:r>
              <a:rPr lang="fr-FR" sz="1600" b="0" dirty="0">
                <a:solidFill>
                  <a:srgbClr val="4A4A4A"/>
                </a:solidFill>
                <a:latin typeface="Arial"/>
              </a:rPr>
              <a:t>vers le contrat PredictEtudiantForm</a:t>
            </a:r>
          </a:p>
        </p:txBody>
      </p:sp>
      <p:sp>
        <p:nvSpPr>
          <p:cNvPr id="111" name="Gateway"/>
          <p:cNvSpPr/>
          <p:nvPr/>
        </p:nvSpPr>
        <p:spPr>
          <a:xfrm>
            <a:off x="4648200" y="4940300"/>
            <a:ext cx="2159000" cy="2171700"/>
          </a:xfrm>
          <a:prstGeom prst="roundRect">
            <a:avLst>
              <a:gd name="adj" fmla="val 6000"/>
            </a:avLst>
          </a:prstGeom>
          <a:solidFill>
            <a:srgbClr val="FCEFCB"/>
          </a:solidFill>
          <a:ln w="19050">
            <a:solidFill>
              <a:srgbClr val="D07E0A"/>
            </a:solidFill>
            <a:prstDash val="dash"/>
          </a:ln>
        </p:spPr>
        <p:txBody>
          <a:bodyPr wrap="square" lIns="91440" tIns="45720" rIns="91440" bIns="45720" anchor="ctr">
            <a:normAutofit/>
          </a:bodyPr>
          <a:lstStyle/>
          <a:p>
            <a:pPr algn="ctr">
              <a:lnSpc>
                <a:spcPct val="105000"/>
              </a:lnSpc>
              <a:buNone/>
            </a:pPr>
            <a:r>
              <a:rPr lang="fr-FR" sz="1600" b="1" dirty="0">
                <a:solidFill>
                  <a:srgbClr val="D07E0A"/>
                </a:solidFill>
                <a:latin typeface="Arial"/>
              </a:rPr>
              <a:t>Gateway + TLS</a:t>
            </a:r>
          </a:p>
          <a:p>
            <a:pPr algn="ctr">
              <a:lnSpc>
                <a:spcPct val="105000"/>
              </a:lnSpc>
              <a:spcBef>
                <a:spcPts val="400"/>
              </a:spcBef>
              <a:buNone/>
            </a:pPr>
            <a:r>
              <a:rPr lang="fr-FR" sz="1600" b="0" dirty="0">
                <a:solidFill>
                  <a:srgbClr val="4A4A4A"/>
                </a:solidFill>
                <a:latin typeface="Arial"/>
              </a:rPr>
              <a:t>HTTPS, entrée unique</a:t>
            </a:r>
          </a:p>
        </p:txBody>
      </p:sp>
      <p:sp>
        <p:nvSpPr>
          <p:cNvPr id="112" name="IAM"/>
          <p:cNvSpPr/>
          <p:nvPr/>
        </p:nvSpPr>
        <p:spPr>
          <a:xfrm>
            <a:off x="6997700" y="4940300"/>
            <a:ext cx="2159000" cy="2171700"/>
          </a:xfrm>
          <a:prstGeom prst="roundRect">
            <a:avLst>
              <a:gd name="adj" fmla="val 6000"/>
            </a:avLst>
          </a:prstGeom>
          <a:solidFill>
            <a:srgbClr val="FCEFCB"/>
          </a:solidFill>
          <a:ln w="19050">
            <a:solidFill>
              <a:srgbClr val="D07E0A"/>
            </a:solidFill>
            <a:prstDash val="dash"/>
          </a:ln>
        </p:spPr>
        <p:txBody>
          <a:bodyPr wrap="square" lIns="91440" tIns="45720" rIns="91440" bIns="45720" anchor="ctr">
            <a:normAutofit/>
          </a:bodyPr>
          <a:lstStyle/>
          <a:p>
            <a:pPr algn="ctr">
              <a:lnSpc>
                <a:spcPct val="105000"/>
              </a:lnSpc>
              <a:buNone/>
            </a:pPr>
            <a:r>
              <a:rPr lang="fr-FR" sz="1600" b="1" dirty="0">
                <a:solidFill>
                  <a:srgbClr val="D07E0A"/>
                </a:solidFill>
                <a:latin typeface="Arial"/>
              </a:rPr>
              <a:t>IAM</a:t>
            </a:r>
          </a:p>
          <a:p>
            <a:pPr algn="ctr">
              <a:lnSpc>
                <a:spcPct val="105000"/>
              </a:lnSpc>
              <a:spcBef>
                <a:spcPts val="400"/>
              </a:spcBef>
              <a:buNone/>
            </a:pPr>
            <a:r>
              <a:rPr lang="fr-FR" sz="1600" b="0" dirty="0">
                <a:solidFill>
                  <a:srgbClr val="4A4A4A"/>
                </a:solidFill>
                <a:latin typeface="Arial"/>
              </a:rPr>
              <a:t>OAuth2 M2M · OIDC</a:t>
            </a:r>
          </a:p>
        </p:txBody>
      </p:sp>
      <p:sp>
        <p:nvSpPr>
          <p:cNvPr id="113" name="API"/>
          <p:cNvSpPr/>
          <p:nvPr/>
        </p:nvSpPr>
        <p:spPr>
          <a:xfrm>
            <a:off x="9702800" y="4038600"/>
            <a:ext cx="3429000" cy="1168400"/>
          </a:xfrm>
          <a:prstGeom prst="roundRect">
            <a:avLst>
              <a:gd name="adj" fmla="val 6000"/>
            </a:avLst>
          </a:prstGeom>
          <a:solidFill>
            <a:srgbClr val="DCF1E0"/>
          </a:solidFill>
          <a:ln w="19050">
            <a:solidFill>
              <a:srgbClr val="1E7B34"/>
            </a:solidFill>
          </a:ln>
        </p:spPr>
        <p:txBody>
          <a:bodyPr wrap="square" lIns="91440" tIns="45720" rIns="91440" bIns="45720" anchor="ctr">
            <a:normAutofit fontScale="92500" lnSpcReduction="10000"/>
          </a:bodyPr>
          <a:lstStyle/>
          <a:p>
            <a:pPr algn="ctr">
              <a:lnSpc>
                <a:spcPct val="105000"/>
              </a:lnSpc>
              <a:buNone/>
            </a:pPr>
            <a:r>
              <a:rPr lang="fr-FR" sz="1800" b="1" dirty="0">
                <a:solidFill>
                  <a:srgbClr val="1E7B34"/>
                </a:solidFill>
                <a:latin typeface="Arial"/>
              </a:rPr>
              <a:t>API d'inférence (FastAPI)</a:t>
            </a:r>
          </a:p>
          <a:p>
            <a:pPr algn="ctr">
              <a:lnSpc>
                <a:spcPct val="105000"/>
              </a:lnSpc>
              <a:spcBef>
                <a:spcPts val="400"/>
              </a:spcBef>
              <a:buNone/>
            </a:pPr>
            <a:r>
              <a:rPr lang="fr-FR" sz="1600" b="0" dirty="0">
                <a:solidFill>
                  <a:srgbClr val="4A4A4A"/>
                </a:solidFill>
                <a:latin typeface="Arial"/>
              </a:rPr>
              <a:t>POST /v1/predict-cohorte</a:t>
            </a:r>
          </a:p>
          <a:p>
            <a:pPr algn="ctr">
              <a:lnSpc>
                <a:spcPct val="105000"/>
              </a:lnSpc>
              <a:spcBef>
                <a:spcPts val="400"/>
              </a:spcBef>
              <a:buNone/>
            </a:pPr>
            <a:r>
              <a:rPr lang="fr-FR" sz="1600" b="0" dirty="0">
                <a:solidFill>
                  <a:srgbClr val="4A4A4A"/>
                </a:solidFill>
                <a:latin typeface="Arial"/>
              </a:rPr>
              <a:t>clé X-API-Key</a:t>
            </a:r>
          </a:p>
          <a:p>
            <a:pPr algn="ctr">
              <a:lnSpc>
                <a:spcPct val="105000"/>
              </a:lnSpc>
              <a:buNone/>
            </a:pPr>
            <a:r>
              <a:rPr lang="fr-FR" sz="1600" b="0" dirty="0">
                <a:solidFill>
                  <a:srgbClr val="4A4A4A"/>
                </a:solidFill>
                <a:latin typeface="Arial"/>
              </a:rPr>
              <a:t>proba + note + facteurs</a:t>
            </a:r>
          </a:p>
        </p:txBody>
      </p:sp>
      <p:sp>
        <p:nvSpPr>
          <p:cNvPr id="114" name="Artefacts"/>
          <p:cNvSpPr/>
          <p:nvPr/>
        </p:nvSpPr>
        <p:spPr>
          <a:xfrm>
            <a:off x="9702800" y="3352800"/>
            <a:ext cx="3429000" cy="609600"/>
          </a:xfrm>
          <a:prstGeom prst="roundRect">
            <a:avLst>
              <a:gd name="adj" fmla="val 6000"/>
            </a:avLst>
          </a:prstGeom>
          <a:solidFill>
            <a:srgbClr val="DCF1E0"/>
          </a:solidFill>
          <a:ln w="19050">
            <a:solidFill>
              <a:srgbClr val="1E7B34"/>
            </a:solidFill>
          </a:ln>
        </p:spPr>
        <p:txBody>
          <a:bodyPr wrap="square" lIns="91440" tIns="45720" rIns="91440" bIns="45720" anchor="ctr">
            <a:normAutofit fontScale="92500" lnSpcReduction="10000"/>
          </a:bodyPr>
          <a:lstStyle/>
          <a:p>
            <a:pPr algn="ctr">
              <a:lnSpc>
                <a:spcPct val="105000"/>
              </a:lnSpc>
              <a:buNone/>
            </a:pPr>
            <a:r>
              <a:rPr lang="fr-FR" sz="1600" b="1" dirty="0">
                <a:solidFill>
                  <a:srgbClr val="1E7B34"/>
                </a:solidFill>
                <a:latin typeface="Arial"/>
              </a:rPr>
              <a:t>Artefacts modèle (:ro)</a:t>
            </a:r>
          </a:p>
          <a:p>
            <a:pPr algn="ctr">
              <a:lnSpc>
                <a:spcPct val="105000"/>
              </a:lnSpc>
              <a:spcBef>
                <a:spcPts val="400"/>
              </a:spcBef>
              <a:buNone/>
            </a:pPr>
            <a:r>
              <a:rPr lang="fr-FR" sz="1600" b="0" dirty="0">
                <a:solidFill>
                  <a:srgbClr val="4A4A4A"/>
                </a:solidFill>
                <a:latin typeface="Arial"/>
              </a:rPr>
              <a:t>classifieur + régresseur </a:t>
            </a:r>
            <a:r>
              <a:rPr lang="fr-FR" sz="1600" b="0">
                <a:solidFill>
                  <a:srgbClr val="4A4A4A"/>
                </a:solidFill>
                <a:latin typeface="Arial"/>
              </a:rPr>
              <a:t>+ fiche</a:t>
            </a:r>
            <a:endParaRPr lang="fr-FR" sz="1400" b="0" dirty="0">
              <a:solidFill>
                <a:srgbClr val="4A4A4A"/>
              </a:solidFill>
              <a:latin typeface="Arial"/>
            </a:endParaRPr>
          </a:p>
        </p:txBody>
      </p:sp>
      <p:sp>
        <p:nvSpPr>
          <p:cNvPr id="115" name="Restitution"/>
          <p:cNvSpPr/>
          <p:nvPr/>
        </p:nvSpPr>
        <p:spPr>
          <a:xfrm>
            <a:off x="13677900" y="3403600"/>
            <a:ext cx="3429000" cy="1778000"/>
          </a:xfrm>
          <a:prstGeom prst="roundRect">
            <a:avLst>
              <a:gd name="adj" fmla="val 6000"/>
            </a:avLst>
          </a:prstGeom>
          <a:solidFill>
            <a:srgbClr val="F3E2FA"/>
          </a:solidFill>
          <a:ln w="19050">
            <a:solidFill>
              <a:srgbClr val="8E44AD"/>
            </a:solidFill>
          </a:ln>
        </p:spPr>
        <p:txBody>
          <a:bodyPr wrap="square" lIns="91440" tIns="45720" rIns="91440" bIns="45720" anchor="ctr">
            <a:normAutofit/>
          </a:bodyPr>
          <a:lstStyle/>
          <a:p>
            <a:pPr algn="ctr">
              <a:lnSpc>
                <a:spcPct val="105000"/>
              </a:lnSpc>
              <a:buNone/>
            </a:pPr>
            <a:r>
              <a:rPr lang="fr-FR" sz="1800" b="1" dirty="0">
                <a:solidFill>
                  <a:srgbClr val="8E44AD"/>
                </a:solidFill>
                <a:latin typeface="Arial"/>
              </a:rPr>
              <a:t>Restitution des scores</a:t>
            </a:r>
          </a:p>
          <a:p>
            <a:pPr algn="ctr">
              <a:lnSpc>
                <a:spcPct val="105000"/>
              </a:lnSpc>
              <a:spcBef>
                <a:spcPts val="400"/>
              </a:spcBef>
              <a:buNone/>
            </a:pPr>
            <a:r>
              <a:rPr lang="fr-FR" sz="1600" b="0" dirty="0">
                <a:solidFill>
                  <a:srgbClr val="4A4A4A"/>
                </a:solidFill>
                <a:latin typeface="Arial"/>
              </a:rPr>
              <a:t>proba · note · top facteurs</a:t>
            </a:r>
          </a:p>
        </p:txBody>
      </p:sp>
      <p:sp>
        <p:nvSpPr>
          <p:cNvPr id="116" name="Decision"/>
          <p:cNvSpPr/>
          <p:nvPr/>
        </p:nvSpPr>
        <p:spPr>
          <a:xfrm>
            <a:off x="13677900" y="5384800"/>
            <a:ext cx="3429000" cy="1727200"/>
          </a:xfrm>
          <a:prstGeom prst="roundRect">
            <a:avLst>
              <a:gd name="adj" fmla="val 6000"/>
            </a:avLst>
          </a:prstGeom>
          <a:solidFill>
            <a:srgbClr val="F3E2FA"/>
          </a:solidFill>
          <a:ln w="19050">
            <a:solidFill>
              <a:srgbClr val="8E44AD"/>
            </a:solidFill>
          </a:ln>
        </p:spPr>
        <p:txBody>
          <a:bodyPr wrap="square" lIns="91440" tIns="45720" rIns="91440" bIns="45720" anchor="ctr">
            <a:normAutofit/>
          </a:bodyPr>
          <a:lstStyle/>
          <a:p>
            <a:pPr algn="ctr">
              <a:lnSpc>
                <a:spcPct val="105000"/>
              </a:lnSpc>
              <a:buNone/>
            </a:pPr>
            <a:r>
              <a:rPr lang="fr-FR" sz="1600" b="1" dirty="0">
                <a:solidFill>
                  <a:srgbClr val="8E44AD"/>
                </a:solidFill>
                <a:latin typeface="Arial"/>
              </a:rPr>
              <a:t>Décision d'accompagnement</a:t>
            </a:r>
          </a:p>
          <a:p>
            <a:pPr algn="ctr">
              <a:lnSpc>
                <a:spcPct val="105000"/>
              </a:lnSpc>
              <a:spcBef>
                <a:spcPts val="400"/>
              </a:spcBef>
              <a:buNone/>
            </a:pPr>
            <a:r>
              <a:rPr lang="fr-FR" sz="1600" b="0" dirty="0">
                <a:solidFill>
                  <a:srgbClr val="4A4A4A"/>
                </a:solidFill>
                <a:latin typeface="Arial"/>
              </a:rPr>
              <a:t>humaine — art. 22</a:t>
            </a:r>
          </a:p>
        </p:txBody>
      </p:sp>
      <p:sp>
        <p:nvSpPr>
          <p:cNvPr id="120" name="Label 120"/>
          <p:cNvSpPr txBox="1"/>
          <p:nvPr/>
        </p:nvSpPr>
        <p:spPr>
          <a:xfrm>
            <a:off x="2971800" y="7340600"/>
            <a:ext cx="2794000" cy="304800"/>
          </a:xfrm>
          <a:prstGeom prst="rect">
            <a:avLst/>
          </a:prstGeom>
          <a:noFill/>
        </p:spPr>
        <p:txBody>
          <a:bodyPr wrap="square" lIns="0" tIns="0" rIns="0" bIns="0" anchor="t"/>
          <a:lstStyle/>
          <a:p>
            <a:pPr algn="ctr">
              <a:lnSpc>
                <a:spcPct val="105000"/>
              </a:lnSpc>
              <a:buNone/>
            </a:pPr>
            <a:r>
              <a:rPr lang="fr-FR" sz="1600" b="1" dirty="0">
                <a:solidFill>
                  <a:srgbClr val="8E44AD"/>
                </a:solidFill>
                <a:latin typeface="Arial"/>
              </a:rPr>
              <a:t>Export CSV</a:t>
            </a:r>
          </a:p>
        </p:txBody>
      </p:sp>
      <p:sp>
        <p:nvSpPr>
          <p:cNvPr id="121" name="Label 121"/>
          <p:cNvSpPr txBox="1"/>
          <p:nvPr/>
        </p:nvSpPr>
        <p:spPr>
          <a:xfrm>
            <a:off x="8026400" y="7340600"/>
            <a:ext cx="2794000" cy="304800"/>
          </a:xfrm>
          <a:prstGeom prst="rect">
            <a:avLst/>
          </a:prstGeom>
          <a:noFill/>
        </p:spPr>
        <p:txBody>
          <a:bodyPr wrap="square" lIns="0" tIns="0" rIns="0" bIns="0" anchor="t"/>
          <a:lstStyle/>
          <a:p>
            <a:pPr algn="ctr">
              <a:lnSpc>
                <a:spcPct val="105000"/>
              </a:lnSpc>
              <a:buNone/>
            </a:pPr>
            <a:r>
              <a:rPr lang="fr-FR" sz="1600" b="1" dirty="0">
                <a:solidFill>
                  <a:srgbClr val="D07E0A"/>
                </a:solidFill>
                <a:latin typeface="Arial"/>
              </a:rPr>
              <a:t>requête authentifiée</a:t>
            </a:r>
          </a:p>
        </p:txBody>
      </p:sp>
      <p:sp>
        <p:nvSpPr>
          <p:cNvPr id="122" name="Label 122"/>
          <p:cNvSpPr txBox="1"/>
          <p:nvPr/>
        </p:nvSpPr>
        <p:spPr>
          <a:xfrm>
            <a:off x="12001500" y="7340600"/>
            <a:ext cx="2794000" cy="304800"/>
          </a:xfrm>
          <a:prstGeom prst="rect">
            <a:avLst/>
          </a:prstGeom>
          <a:noFill/>
        </p:spPr>
        <p:txBody>
          <a:bodyPr wrap="square" lIns="0" tIns="0" rIns="0" bIns="0" anchor="t"/>
          <a:lstStyle/>
          <a:p>
            <a:pPr algn="ctr">
              <a:lnSpc>
                <a:spcPct val="105000"/>
              </a:lnSpc>
              <a:buNone/>
            </a:pPr>
            <a:r>
              <a:rPr lang="fr-FR" sz="1600" b="1" dirty="0">
                <a:solidFill>
                  <a:srgbClr val="1E7B34"/>
                </a:solidFill>
                <a:latin typeface="Arial"/>
              </a:rPr>
              <a:t>réponse JSON</a:t>
            </a:r>
          </a:p>
        </p:txBody>
      </p:sp>
      <p:sp>
        <p:nvSpPr>
          <p:cNvPr id="201" name="Prometheus"/>
          <p:cNvSpPr/>
          <p:nvPr/>
        </p:nvSpPr>
        <p:spPr>
          <a:xfrm>
            <a:off x="9702800" y="5816600"/>
            <a:ext cx="3429000" cy="584200"/>
          </a:xfrm>
          <a:prstGeom prst="roundRect">
            <a:avLst>
              <a:gd name="adj" fmla="val 6000"/>
            </a:avLst>
          </a:prstGeom>
          <a:solidFill>
            <a:srgbClr val="DCF1E0"/>
          </a:solidFill>
          <a:ln w="19050">
            <a:solidFill>
              <a:srgbClr val="1E7B34"/>
            </a:solidFill>
          </a:ln>
        </p:spPr>
        <p:txBody>
          <a:bodyPr wrap="square" lIns="45720" tIns="45720" rIns="45720" bIns="45720" anchor="ctr">
            <a:normAutofit lnSpcReduction="10000"/>
          </a:bodyPr>
          <a:lstStyle/>
          <a:p>
            <a:pPr algn="ctr">
              <a:lnSpc>
                <a:spcPct val="105000"/>
              </a:lnSpc>
              <a:buNone/>
            </a:pPr>
            <a:r>
              <a:rPr lang="fr-FR" sz="1600" b="1" dirty="0">
                <a:solidFill>
                  <a:srgbClr val="1E7B34"/>
                </a:solidFill>
                <a:latin typeface="Arial"/>
              </a:rPr>
              <a:t>prometheus</a:t>
            </a:r>
          </a:p>
          <a:p>
            <a:pPr algn="ctr">
              <a:lnSpc>
                <a:spcPct val="105000"/>
              </a:lnSpc>
              <a:buNone/>
            </a:pPr>
            <a:r>
              <a:rPr lang="fr-FR" sz="1600" b="0" dirty="0">
                <a:solidFill>
                  <a:srgbClr val="4A4A4A"/>
                </a:solidFill>
                <a:latin typeface="Arial"/>
              </a:rPr>
              <a:t>scrape 15 s · 7 règles</a:t>
            </a:r>
          </a:p>
        </p:txBody>
      </p:sp>
      <p:sp>
        <p:nvSpPr>
          <p:cNvPr id="202" name="Grafana"/>
          <p:cNvSpPr/>
          <p:nvPr/>
        </p:nvSpPr>
        <p:spPr>
          <a:xfrm>
            <a:off x="9702800" y="6502400"/>
            <a:ext cx="3429000" cy="584200"/>
          </a:xfrm>
          <a:prstGeom prst="roundRect">
            <a:avLst>
              <a:gd name="adj" fmla="val 6000"/>
            </a:avLst>
          </a:prstGeom>
          <a:solidFill>
            <a:srgbClr val="DCF1E0"/>
          </a:solidFill>
          <a:ln w="19050">
            <a:solidFill>
              <a:srgbClr val="1E7B34"/>
            </a:solidFill>
          </a:ln>
        </p:spPr>
        <p:txBody>
          <a:bodyPr wrap="square" lIns="45720" tIns="45720" rIns="45720" bIns="45720" anchor="ctr">
            <a:normAutofit lnSpcReduction="10000"/>
          </a:bodyPr>
          <a:lstStyle/>
          <a:p>
            <a:pPr algn="ctr">
              <a:lnSpc>
                <a:spcPct val="105000"/>
              </a:lnSpc>
              <a:buNone/>
            </a:pPr>
            <a:r>
              <a:rPr lang="fr-FR" sz="1600" b="1" dirty="0">
                <a:solidFill>
                  <a:srgbClr val="1E7B34"/>
                </a:solidFill>
                <a:latin typeface="Arial"/>
              </a:rPr>
              <a:t>grafana</a:t>
            </a:r>
          </a:p>
          <a:p>
            <a:pPr algn="ctr">
              <a:lnSpc>
                <a:spcPct val="105000"/>
              </a:lnSpc>
              <a:buNone/>
            </a:pPr>
            <a:r>
              <a:rPr lang="fr-FR" sz="1600" b="0" dirty="0">
                <a:solidFill>
                  <a:srgbClr val="4A4A4A"/>
                </a:solidFill>
                <a:latin typeface="Arial"/>
              </a:rPr>
              <a:t>dashboards provisionnés</a:t>
            </a:r>
          </a:p>
        </p:txBody>
      </p:sp>
      <p:sp>
        <p:nvSpPr>
          <p:cNvPr id="302" name="Label metrics"/>
          <p:cNvSpPr txBox="1"/>
          <p:nvPr/>
        </p:nvSpPr>
        <p:spPr>
          <a:xfrm>
            <a:off x="10312400" y="5359400"/>
            <a:ext cx="2730500" cy="279400"/>
          </a:xfrm>
          <a:prstGeom prst="rect">
            <a:avLst/>
          </a:prstGeom>
          <a:noFill/>
        </p:spPr>
        <p:txBody>
          <a:bodyPr wrap="square" lIns="0" tIns="0" rIns="0" bIns="0" anchor="ctr"/>
          <a:lstStyle/>
          <a:p>
            <a:pPr algn="l">
              <a:lnSpc>
                <a:spcPct val="105000"/>
              </a:lnSpc>
              <a:buNone/>
            </a:pPr>
            <a:r>
              <a:rPr lang="fr-FR" sz="1500" b="0" dirty="0">
                <a:solidFill>
                  <a:srgbClr val="1E7B34"/>
                </a:solidFill>
                <a:latin typeface="Arial"/>
              </a:rPr>
              <a:t>scrape /metrics · 15 s</a:t>
            </a:r>
          </a:p>
        </p:txBody>
      </p:sp>
      <p:sp>
        <p:nvSpPr>
          <p:cNvPr id="303" name="Cadre legende"/>
          <p:cNvSpPr/>
          <p:nvPr/>
        </p:nvSpPr>
        <p:spPr>
          <a:xfrm>
            <a:off x="1054100" y="7696200"/>
            <a:ext cx="5461000" cy="1473200"/>
          </a:xfrm>
          <a:prstGeom prst="roundRect">
            <a:avLst>
              <a:gd name="adj" fmla="val 4000"/>
            </a:avLst>
          </a:prstGeom>
          <a:noFill/>
          <a:ln w="19050">
            <a:solidFill>
              <a:srgbClr val="56B9CA"/>
            </a:solidFill>
          </a:ln>
        </p:spPr>
        <p:txBody>
          <a:bodyPr wrap="square" lIns="45720" tIns="45720" rIns="45720" bIns="45720" anchor="ctr"/>
          <a:lstStyle/>
          <a:p>
            <a:endParaRPr/>
          </a:p>
        </p:txBody>
      </p:sp>
      <p:sp>
        <p:nvSpPr>
          <p:cNvPr id="304" name="Titre legende"/>
          <p:cNvSpPr txBox="1"/>
          <p:nvPr/>
        </p:nvSpPr>
        <p:spPr>
          <a:xfrm>
            <a:off x="1282700" y="7797800"/>
            <a:ext cx="2540000" cy="279400"/>
          </a:xfrm>
          <a:prstGeom prst="rect">
            <a:avLst/>
          </a:prstGeom>
          <a:noFill/>
        </p:spPr>
        <p:txBody>
          <a:bodyPr wrap="square" lIns="0" tIns="0" rIns="0" bIns="0" anchor="ctr"/>
          <a:lstStyle/>
          <a:p>
            <a:pPr algn="l">
              <a:lnSpc>
                <a:spcPct val="105000"/>
              </a:lnSpc>
              <a:buNone/>
            </a:pPr>
            <a:r>
              <a:rPr lang="fr-FR" sz="1500" b="1" dirty="0">
                <a:solidFill>
                  <a:srgbClr val="1A6A77"/>
                </a:solidFill>
                <a:latin typeface="Arial"/>
              </a:rPr>
              <a:t>LÉGENDE</a:t>
            </a:r>
          </a:p>
        </p:txBody>
      </p:sp>
      <p:sp>
        <p:nvSpPr>
          <p:cNvPr id="305" name="Chip"/>
          <p:cNvSpPr/>
          <p:nvPr/>
        </p:nvSpPr>
        <p:spPr>
          <a:xfrm>
            <a:off x="1282700" y="8204200"/>
            <a:ext cx="330200" cy="215900"/>
          </a:xfrm>
          <a:prstGeom prst="roundRect">
            <a:avLst>
              <a:gd name="adj" fmla="val 20000"/>
            </a:avLst>
          </a:prstGeom>
          <a:solidFill>
            <a:srgbClr val="DCF1E0"/>
          </a:solidFill>
          <a:ln w="19050">
            <a:solidFill>
              <a:srgbClr val="1E7B34"/>
            </a:solidFill>
          </a:ln>
        </p:spPr>
        <p:txBody>
          <a:bodyPr wrap="square" lIns="45720" tIns="45720" rIns="45720" bIns="45720" anchor="ctr"/>
          <a:lstStyle/>
          <a:p>
            <a:endParaRPr/>
          </a:p>
        </p:txBody>
      </p:sp>
      <p:sp>
        <p:nvSpPr>
          <p:cNvPr id="306" name="Legende txt"/>
          <p:cNvSpPr txBox="1"/>
          <p:nvPr/>
        </p:nvSpPr>
        <p:spPr>
          <a:xfrm>
            <a:off x="1739900" y="8166100"/>
            <a:ext cx="4445000" cy="304800"/>
          </a:xfrm>
          <a:prstGeom prst="rect">
            <a:avLst/>
          </a:prstGeom>
          <a:noFill/>
        </p:spPr>
        <p:txBody>
          <a:bodyPr wrap="square" lIns="0" tIns="0" rIns="0" bIns="0" anchor="ctr"/>
          <a:lstStyle/>
          <a:p>
            <a:pPr algn="l">
              <a:lnSpc>
                <a:spcPct val="105000"/>
              </a:lnSpc>
              <a:buNone/>
            </a:pPr>
            <a:r>
              <a:rPr lang="fr-FR" sz="1600" b="0" dirty="0">
                <a:solidFill>
                  <a:srgbClr val="4A4A4A"/>
                </a:solidFill>
                <a:latin typeface="Arial"/>
              </a:rPr>
              <a:t>Livré V1 — ça fait autorité</a:t>
            </a:r>
          </a:p>
        </p:txBody>
      </p:sp>
      <p:sp>
        <p:nvSpPr>
          <p:cNvPr id="307" name="Chip"/>
          <p:cNvSpPr/>
          <p:nvPr/>
        </p:nvSpPr>
        <p:spPr>
          <a:xfrm>
            <a:off x="1282700" y="8534400"/>
            <a:ext cx="330200" cy="215900"/>
          </a:xfrm>
          <a:prstGeom prst="roundRect">
            <a:avLst>
              <a:gd name="adj" fmla="val 20000"/>
            </a:avLst>
          </a:prstGeom>
          <a:solidFill>
            <a:srgbClr val="FCEFCB"/>
          </a:solidFill>
          <a:ln w="19050">
            <a:solidFill>
              <a:srgbClr val="D07E0A"/>
            </a:solidFill>
            <a:prstDash val="dash"/>
          </a:ln>
        </p:spPr>
        <p:txBody>
          <a:bodyPr wrap="square" lIns="45720" tIns="45720" rIns="45720" bIns="45720" anchor="ctr"/>
          <a:lstStyle/>
          <a:p>
            <a:endParaRPr/>
          </a:p>
        </p:txBody>
      </p:sp>
      <p:sp>
        <p:nvSpPr>
          <p:cNvPr id="308" name="Legende txt"/>
          <p:cNvSpPr txBox="1"/>
          <p:nvPr/>
        </p:nvSpPr>
        <p:spPr>
          <a:xfrm>
            <a:off x="1739900" y="8496300"/>
            <a:ext cx="4445000" cy="304800"/>
          </a:xfrm>
          <a:prstGeom prst="rect">
            <a:avLst/>
          </a:prstGeom>
          <a:noFill/>
        </p:spPr>
        <p:txBody>
          <a:bodyPr wrap="square" lIns="0" tIns="0" rIns="0" bIns="0" anchor="ctr"/>
          <a:lstStyle/>
          <a:p>
            <a:pPr algn="l">
              <a:lnSpc>
                <a:spcPct val="105000"/>
              </a:lnSpc>
              <a:buNone/>
            </a:pPr>
            <a:r>
              <a:rPr lang="fr-FR" sz="1600" b="0" dirty="0">
                <a:solidFill>
                  <a:srgbClr val="4A4A4A"/>
                </a:solidFill>
                <a:latin typeface="Arial"/>
              </a:rPr>
              <a:t>À câbler — hors périmètre livré</a:t>
            </a:r>
          </a:p>
        </p:txBody>
      </p:sp>
      <p:sp>
        <p:nvSpPr>
          <p:cNvPr id="309" name="Chip"/>
          <p:cNvSpPr/>
          <p:nvPr/>
        </p:nvSpPr>
        <p:spPr>
          <a:xfrm>
            <a:off x="1282700" y="8864600"/>
            <a:ext cx="330200" cy="215900"/>
          </a:xfrm>
          <a:prstGeom prst="roundRect">
            <a:avLst>
              <a:gd name="adj" fmla="val 20000"/>
            </a:avLst>
          </a:prstGeom>
          <a:solidFill>
            <a:srgbClr val="F3E2FA"/>
          </a:solidFill>
          <a:ln w="19050">
            <a:solidFill>
              <a:srgbClr val="8E44AD"/>
            </a:solidFill>
          </a:ln>
        </p:spPr>
        <p:txBody>
          <a:bodyPr wrap="square" lIns="45720" tIns="45720" rIns="45720" bIns="45720" anchor="ctr"/>
          <a:lstStyle/>
          <a:p>
            <a:endParaRPr/>
          </a:p>
        </p:txBody>
      </p:sp>
      <p:sp>
        <p:nvSpPr>
          <p:cNvPr id="310" name="Legende txt"/>
          <p:cNvSpPr txBox="1"/>
          <p:nvPr/>
        </p:nvSpPr>
        <p:spPr>
          <a:xfrm>
            <a:off x="1739900" y="8826500"/>
            <a:ext cx="4445000" cy="304800"/>
          </a:xfrm>
          <a:prstGeom prst="rect">
            <a:avLst/>
          </a:prstGeom>
          <a:noFill/>
        </p:spPr>
        <p:txBody>
          <a:bodyPr wrap="square" lIns="0" tIns="0" rIns="0" bIns="0" anchor="ctr"/>
          <a:lstStyle/>
          <a:p>
            <a:pPr algn="l">
              <a:lnSpc>
                <a:spcPct val="105000"/>
              </a:lnSpc>
              <a:buNone/>
            </a:pPr>
            <a:r>
              <a:rPr lang="fr-FR" sz="1600" b="0" dirty="0">
                <a:solidFill>
                  <a:srgbClr val="4A4A4A"/>
                </a:solidFill>
                <a:latin typeface="Arial"/>
              </a:rPr>
              <a:t>Acteur — humain / système externe</a:t>
            </a:r>
          </a:p>
        </p:txBody>
      </p:sp>
      <p:sp>
        <p:nvSpPr>
          <p:cNvPr id="117" name="Fleche 1"/>
          <p:cNvSpPr/>
          <p:nvPr/>
        </p:nvSpPr>
        <p:spPr>
          <a:xfrm>
            <a:off x="4146550" y="3924300"/>
            <a:ext cx="457200" cy="279400"/>
          </a:xfrm>
          <a:prstGeom prst="rightArrow">
            <a:avLst/>
          </a:prstGeom>
          <a:solidFill>
            <a:srgbClr val="8E44AD"/>
          </a:solidFill>
          <a:ln>
            <a:noFill/>
          </a:ln>
        </p:spPr>
        <p:txBody>
          <a:bodyPr/>
          <a:lstStyle/>
          <a:p>
            <a:endParaRPr/>
          </a:p>
        </p:txBody>
      </p:sp>
      <p:sp>
        <p:nvSpPr>
          <p:cNvPr id="118" name="Fleche 2"/>
          <p:cNvSpPr/>
          <p:nvPr/>
        </p:nvSpPr>
        <p:spPr>
          <a:xfrm>
            <a:off x="9201150" y="4635500"/>
            <a:ext cx="457200" cy="279400"/>
          </a:xfrm>
          <a:prstGeom prst="rightArrow">
            <a:avLst/>
          </a:prstGeom>
          <a:solidFill>
            <a:srgbClr val="D07E0A"/>
          </a:solidFill>
          <a:ln>
            <a:noFill/>
          </a:ln>
        </p:spPr>
        <p:txBody>
          <a:bodyPr/>
          <a:lstStyle/>
          <a:p>
            <a:endParaRPr/>
          </a:p>
        </p:txBody>
      </p:sp>
      <p:sp>
        <p:nvSpPr>
          <p:cNvPr id="119" name="Fleche 3"/>
          <p:cNvSpPr/>
          <p:nvPr/>
        </p:nvSpPr>
        <p:spPr>
          <a:xfrm>
            <a:off x="13176250" y="4521200"/>
            <a:ext cx="457200" cy="279400"/>
          </a:xfrm>
          <a:prstGeom prst="rightArrow">
            <a:avLst/>
          </a:prstGeom>
          <a:solidFill>
            <a:srgbClr val="1E7B34"/>
          </a:solidFill>
          <a:ln>
            <a:noFill/>
          </a:ln>
        </p:spPr>
        <p:txBody>
          <a:bodyPr/>
          <a:lstStyle/>
          <a:p>
            <a:endParaRPr/>
          </a:p>
        </p:txBody>
      </p:sp>
      <p:sp>
        <p:nvSpPr>
          <p:cNvPr id="301" name="Fleche metrics"/>
          <p:cNvSpPr/>
          <p:nvPr/>
        </p:nvSpPr>
        <p:spPr>
          <a:xfrm>
            <a:off x="9956800" y="5334000"/>
            <a:ext cx="254000" cy="355600"/>
          </a:xfrm>
          <a:prstGeom prst="upArrow">
            <a:avLst/>
          </a:prstGeom>
          <a:solidFill>
            <a:srgbClr val="1E7B34"/>
          </a:solidFill>
          <a:ln>
            <a:noFill/>
          </a:ln>
        </p:spPr>
        <p:txBody>
          <a:bodyPr wrap="square" lIns="45720" tIns="45720" rIns="45720" bIns="45720" anchor="ctr"/>
          <a:lstStyle/>
          <a:p>
            <a:endParaRPr/>
          </a:p>
        </p:txBody>
      </p:sp>
    </p:spTree>
    <p:extLst>
      <p:ext uri="{BB962C8B-B14F-4D97-AF65-F5344CB8AC3E}">
        <p14:creationId xmlns:p14="http://schemas.microsoft.com/office/powerpoint/2010/main" val="32599723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56B9CA"/>
        </a:solidFill>
        <a:effectLst/>
      </p:bgPr>
    </p:bg>
    <p:spTree>
      <p:nvGrpSpPr>
        <p:cNvPr id="1" name=""/>
        <p:cNvGrpSpPr/>
        <p:nvPr/>
      </p:nvGrpSpPr>
      <p:grpSpPr>
        <a:xfrm>
          <a:off x="0" y="0"/>
          <a:ext cx="0" cy="0"/>
          <a:chOff x="0" y="0"/>
          <a:chExt cx="0" cy="0"/>
        </a:xfrm>
      </p:grpSpPr>
      <p:pic>
        <p:nvPicPr>
          <p:cNvPr id="2" name="Picture 1" descr="logo-white.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62" noProof="0" dirty="0">
                <a:solidFill>
                  <a:srgbClr val="FFFFFF"/>
                </a:solidFill>
                <a:latin typeface="Arial"/>
              </a:rPr>
              <a:t>ACTE 06 · DÉMONSTRATION</a:t>
            </a:r>
          </a:p>
        </p:txBody>
      </p:sp>
      <p:sp>
        <p:nvSpPr>
          <p:cNvPr id="4" name="TextBox 3"/>
          <p:cNvSpPr txBox="1"/>
          <p:nvPr/>
        </p:nvSpPr>
        <p:spPr>
          <a:xfrm>
            <a:off x="1047750" y="1778000"/>
            <a:ext cx="6600000" cy="1276350"/>
          </a:xfrm>
          <a:prstGeom prst="rect">
            <a:avLst/>
          </a:prstGeom>
          <a:noFill/>
        </p:spPr>
        <p:txBody>
          <a:bodyPr wrap="square" lIns="27432" tIns="27432" rIns="27432" bIns="27432" anchor="t">
            <a:noAutofit/>
          </a:bodyPr>
          <a:lstStyle/>
          <a:p>
            <a:pPr algn="l">
              <a:lnSpc>
                <a:spcPct val="85000"/>
              </a:lnSpc>
            </a:pPr>
            <a:r>
              <a:rPr lang="fr-FR" sz="9750" b="1" spc="-195" noProof="0" dirty="0">
                <a:solidFill>
                  <a:srgbClr val="FFFFFF"/>
                </a:solidFill>
                <a:latin typeface="Arial"/>
              </a:rPr>
              <a:t>Démo</a:t>
            </a:r>
          </a:p>
        </p:txBody>
      </p:sp>
      <p:sp>
        <p:nvSpPr>
          <p:cNvPr id="5" name="TextBox 4"/>
          <p:cNvSpPr txBox="1"/>
          <p:nvPr/>
        </p:nvSpPr>
        <p:spPr>
          <a:xfrm>
            <a:off x="1054100" y="3276600"/>
            <a:ext cx="5080000" cy="1097280"/>
          </a:xfrm>
          <a:prstGeom prst="rect">
            <a:avLst/>
          </a:prstGeom>
          <a:noFill/>
        </p:spPr>
        <p:txBody>
          <a:bodyPr wrap="square" lIns="27432" tIns="27432" rIns="27432" bIns="27432" anchor="t">
            <a:noAutofit/>
          </a:bodyPr>
          <a:lstStyle/>
          <a:p>
            <a:pPr algn="l">
              <a:lnSpc>
                <a:spcPct val="120000"/>
              </a:lnSpc>
            </a:pPr>
            <a:r>
              <a:rPr lang="fr-FR" sz="2200" b="0" dirty="0">
                <a:solidFill>
                  <a:srgbClr val="FFFFFF"/>
                </a:solidFill>
                <a:latin typeface="Arial"/>
              </a:rPr>
              <a:t>Le service d'inférence et son client, en direct.</a:t>
            </a:r>
          </a:p>
        </p:txBody>
      </p:sp>
      <p:sp>
        <p:nvSpPr>
          <p:cNvPr id="8" name="TextBox 7"/>
          <p:cNvSpPr txBox="1"/>
          <p:nvPr/>
        </p:nvSpPr>
        <p:spPr>
          <a:xfrm>
            <a:off x="1054100" y="4724400"/>
            <a:ext cx="5080000" cy="333375"/>
          </a:xfrm>
          <a:prstGeom prst="rect">
            <a:avLst/>
          </a:prstGeom>
          <a:noFill/>
        </p:spPr>
        <p:txBody>
          <a:bodyPr wrap="square" lIns="27432" tIns="27432" rIns="27432" bIns="27432" anchor="t">
            <a:noAutofit/>
          </a:bodyPr>
          <a:lstStyle/>
          <a:p>
            <a:pPr algn="l"/>
            <a:r>
              <a:rPr lang="fr-FR" sz="1800" b="1" spc="162" noProof="0" dirty="0">
                <a:solidFill>
                  <a:srgbClr val="FFFFFF"/>
                </a:solidFill>
                <a:latin typeface="Arial"/>
              </a:rPr>
              <a:t>LA PILE</a:t>
            </a:r>
          </a:p>
        </p:txBody>
      </p:sp>
      <p:sp>
        <p:nvSpPr>
          <p:cNvPr id="9" name="TextBox 8"/>
          <p:cNvSpPr txBox="1"/>
          <p:nvPr/>
        </p:nvSpPr>
        <p:spPr>
          <a:xfrm>
            <a:off x="1054100" y="5105400"/>
            <a:ext cx="5207000" cy="1524000"/>
          </a:xfrm>
          <a:prstGeom prst="rect">
            <a:avLst/>
          </a:prstGeom>
          <a:noFill/>
        </p:spPr>
        <p:txBody>
          <a:bodyPr wrap="square" lIns="27432" tIns="27432" rIns="27432" bIns="27432" anchor="t">
            <a:noAutofit/>
          </a:bodyPr>
          <a:lstStyle/>
          <a:p>
            <a:pPr marL="200025" indent="-200025" algn="l">
              <a:lnSpc>
                <a:spcPct val="115000"/>
              </a:lnSpc>
              <a:spcBef>
                <a:spcPts val="500"/>
              </a:spcBef>
              <a:buFont typeface="Arial"/>
              <a:buChar char="•"/>
            </a:pPr>
            <a:r>
              <a:rPr lang="fr-FR" sz="1500" b="0" dirty="0">
                <a:solidFill>
                  <a:srgbClr val="FFFFFF"/>
                </a:solidFill>
                <a:latin typeface="Arial"/>
              </a:rPr>
              <a:t>API FastAPI — scoring d'une campagne</a:t>
            </a:r>
          </a:p>
          <a:p>
            <a:pPr marL="200025" indent="-200025" algn="l">
              <a:lnSpc>
                <a:spcPct val="115000"/>
              </a:lnSpc>
              <a:spcBef>
                <a:spcPts val="500"/>
              </a:spcBef>
              <a:buFont typeface="Arial"/>
              <a:buChar char="•"/>
            </a:pPr>
            <a:r>
              <a:rPr lang="fr-FR" sz="1500" b="0" dirty="0">
                <a:solidFill>
                  <a:srgbClr val="FFFFFF"/>
                </a:solidFill>
                <a:latin typeface="Arial"/>
              </a:rPr>
              <a:t>Prometheus — métriques du service</a:t>
            </a:r>
          </a:p>
          <a:p>
            <a:pPr marL="200025" indent="-200025" algn="l">
              <a:lnSpc>
                <a:spcPct val="115000"/>
              </a:lnSpc>
              <a:spcBef>
                <a:spcPts val="500"/>
              </a:spcBef>
              <a:buFont typeface="Arial"/>
              <a:buChar char="•"/>
            </a:pPr>
            <a:r>
              <a:rPr lang="fr-FR" sz="1500" b="0" dirty="0">
                <a:solidFill>
                  <a:srgbClr val="FFFFFF"/>
                </a:solidFill>
                <a:latin typeface="Arial"/>
              </a:rPr>
              <a:t>Grafana — tableau de bord temps réel</a:t>
            </a:r>
          </a:p>
          <a:p>
            <a:pPr marL="200025" indent="-200025" algn="l">
              <a:lnSpc>
                <a:spcPct val="115000"/>
              </a:lnSpc>
              <a:spcBef>
                <a:spcPts val="500"/>
              </a:spcBef>
              <a:buFont typeface="Arial"/>
              <a:buChar char="•"/>
            </a:pPr>
            <a:r>
              <a:rPr lang="fr-FR" sz="1500" b="0" dirty="0">
                <a:solidFill>
                  <a:srgbClr val="FFFFFF"/>
                </a:solidFill>
                <a:latin typeface="Arial"/>
              </a:rPr>
              <a:t>Client web — interface de démonstration</a:t>
            </a:r>
          </a:p>
        </p:txBody>
      </p:sp>
      <p:sp>
        <p:nvSpPr>
          <p:cNvPr id="10" name="Rectangle 9"/>
          <p:cNvSpPr/>
          <p:nvPr/>
        </p:nvSpPr>
        <p:spPr>
          <a:xfrm>
            <a:off x="1054100" y="8534400"/>
            <a:ext cx="5207000" cy="9525"/>
          </a:xfrm>
          <a:prstGeom prst="rect">
            <a:avLst/>
          </a:prstGeom>
          <a:solidFill>
            <a:srgbClr val="FFFFF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3" name="Rounded Rectangle 12"/>
          <p:cNvSpPr/>
          <p:nvPr/>
        </p:nvSpPr>
        <p:spPr>
          <a:xfrm>
            <a:off x="6604000" y="1663700"/>
            <a:ext cx="11303000" cy="6946900"/>
          </a:xfrm>
          <a:prstGeom prst="roundRect">
            <a:avLst>
              <a:gd name="adj" fmla="val 1440"/>
            </a:avLst>
          </a:prstGeom>
          <a:solidFill>
            <a:srgbClr val="FFFFFF"/>
          </a:solidFill>
          <a:ln w="19050">
            <a:solidFill>
              <a:srgbClr val="1A6A7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pic>
        <p:nvPicPr>
          <p:cNvPr id="14" name="Picture 13" descr="maquette-client.png"/>
          <p:cNvPicPr>
            <a:picLocks noChangeAspect="1"/>
          </p:cNvPicPr>
          <p:nvPr/>
        </p:nvPicPr>
        <p:blipFill>
          <a:blip r:embed="rId4"/>
          <a:stretch>
            <a:fillRect/>
          </a:stretch>
        </p:blipFill>
        <p:spPr>
          <a:xfrm>
            <a:off x="6807200" y="2273300"/>
            <a:ext cx="10896600" cy="5727700"/>
          </a:xfrm>
          <a:prstGeom prst="rect">
            <a:avLst/>
          </a:prstGeom>
        </p:spPr>
      </p:pic>
      <p:sp>
        <p:nvSpPr>
          <p:cNvPr id="15" name="ZoneTexte 14">
            <a:extLst>
              <a:ext uri="{FF2B5EF4-FFF2-40B4-BE49-F238E27FC236}">
                <a16:creationId xmlns:a16="http://schemas.microsoft.com/office/drawing/2014/main" id="{54BA63DE-94D5-4706-9318-38A1E60BBC7A}"/>
              </a:ext>
            </a:extLst>
          </p:cNvPr>
          <p:cNvSpPr txBox="1"/>
          <p:nvPr/>
        </p:nvSpPr>
        <p:spPr>
          <a:xfrm>
            <a:off x="17048886" y="9309100"/>
            <a:ext cx="273913" cy="304800"/>
          </a:xfrm>
          <a:prstGeom prst="rect">
            <a:avLst/>
          </a:prstGeom>
          <a:noFill/>
        </p:spPr>
        <p:txBody>
          <a:bodyPr vertOverflow="overflow" vert="horz" wrap="none" rtlCol="0" anchor="ctr" anchorCtr="0">
            <a:noAutofit/>
          </a:bodyPr>
          <a:lstStyle/>
          <a:p>
            <a:pPr algn="l"/>
            <a:r>
              <a:rPr lang="fr-FR" sz="1400" b="1">
                <a:solidFill>
                  <a:srgbClr val="FFFFFF"/>
                </a:solidFill>
                <a:latin typeface="Arial"/>
                <a:cs typeface="Arial"/>
              </a:rPr>
              <a:t>30</a:t>
            </a:r>
          </a:p>
        </p:txBody>
      </p:sp>
      <p:sp>
        <p:nvSpPr>
          <p:cNvPr id="16" name="ZoneTexte 15">
            <a:extLst>
              <a:ext uri="{FF2B5EF4-FFF2-40B4-BE49-F238E27FC236}">
                <a16:creationId xmlns:a16="http://schemas.microsoft.com/office/drawing/2014/main" id="{2ED947FC-65F0-407E-BA5F-985E26365111}"/>
              </a:ext>
            </a:extLst>
          </p:cNvPr>
          <p:cNvSpPr txBox="1"/>
          <p:nvPr/>
        </p:nvSpPr>
        <p:spPr>
          <a:xfrm>
            <a:off x="1054100" y="6807200"/>
            <a:ext cx="5080000" cy="369332"/>
          </a:xfrm>
          <a:prstGeom prst="rect">
            <a:avLst/>
          </a:prstGeom>
          <a:noFill/>
        </p:spPr>
        <p:txBody>
          <a:bodyPr vertOverflow="overflow" vert="horz" wrap="square" lIns="27432" tIns="0" rIns="27432" bIns="0" rtlCol="0" anchor="t">
            <a:spAutoFit/>
          </a:bodyPr>
          <a:lstStyle/>
          <a:p>
            <a:pPr algn="l">
              <a:buNone/>
            </a:pPr>
            <a:r>
              <a:rPr lang="fr-FR" sz="1800" b="1" spc="162" dirty="0">
                <a:solidFill>
                  <a:srgbClr val="FFFFFF"/>
                </a:solidFill>
                <a:latin typeface="Arial"/>
              </a:rPr>
              <a:t>LE CLIENT DE DÉMO</a:t>
            </a:r>
          </a:p>
        </p:txBody>
      </p:sp>
      <p:sp>
        <p:nvSpPr>
          <p:cNvPr id="17" name="ZoneTexte 16">
            <a:extLst>
              <a:ext uri="{FF2B5EF4-FFF2-40B4-BE49-F238E27FC236}">
                <a16:creationId xmlns:a16="http://schemas.microsoft.com/office/drawing/2014/main" id="{CA7DC513-8E19-4DC9-B22C-9A0DACEA5ABF}"/>
              </a:ext>
            </a:extLst>
          </p:cNvPr>
          <p:cNvSpPr txBox="1"/>
          <p:nvPr/>
        </p:nvSpPr>
        <p:spPr>
          <a:xfrm>
            <a:off x="1054100" y="7213600"/>
            <a:ext cx="5207000" cy="902042"/>
          </a:xfrm>
          <a:prstGeom prst="rect">
            <a:avLst/>
          </a:prstGeom>
          <a:noFill/>
        </p:spPr>
        <p:txBody>
          <a:bodyPr vertOverflow="overflow" vert="horz" wrap="square" lIns="27432" tIns="0" rIns="27432" bIns="0" rtlCol="0" anchor="t">
            <a:spAutoFit/>
          </a:bodyPr>
          <a:lstStyle/>
          <a:p>
            <a:pPr marL="200025" indent="-200025" algn="l">
              <a:lnSpc>
                <a:spcPct val="115000"/>
              </a:lnSpc>
              <a:spcBef>
                <a:spcPts val="500"/>
              </a:spcBef>
              <a:buFont typeface="Arial"/>
              <a:buChar char="•"/>
            </a:pPr>
            <a:r>
              <a:rPr lang="fr-FR" sz="1500" b="0" dirty="0">
                <a:solidFill>
                  <a:srgbClr val="FFFFFF"/>
                </a:solidFill>
                <a:latin typeface="Arial"/>
              </a:rPr>
              <a:t>Dépôt d'un fichier de cohorte (CSV)</a:t>
            </a:r>
          </a:p>
          <a:p>
            <a:pPr marL="200025" indent="-200025" algn="l">
              <a:lnSpc>
                <a:spcPct val="115000"/>
              </a:lnSpc>
              <a:spcBef>
                <a:spcPts val="500"/>
              </a:spcBef>
              <a:buFont typeface="Arial"/>
              <a:buChar char="•"/>
            </a:pPr>
            <a:r>
              <a:rPr lang="fr-FR" sz="1500" b="0" dirty="0">
                <a:solidFill>
                  <a:srgbClr val="FFFFFF"/>
                </a:solidFill>
                <a:latin typeface="Arial"/>
              </a:rPr>
              <a:t>Score et seuil ligne à ligne</a:t>
            </a:r>
          </a:p>
          <a:p>
            <a:pPr marL="200025" indent="-200025" algn="l">
              <a:lnSpc>
                <a:spcPct val="115000"/>
              </a:lnSpc>
              <a:spcBef>
                <a:spcPts val="500"/>
              </a:spcBef>
              <a:buFont typeface="Arial"/>
              <a:buChar char="•"/>
            </a:pPr>
            <a:r>
              <a:rPr lang="fr-FR" sz="1500" dirty="0">
                <a:solidFill>
                  <a:srgbClr val="FFFFFF"/>
                </a:solidFill>
                <a:latin typeface="Arial"/>
              </a:rPr>
              <a:t>Test avec erreurs et dérive</a:t>
            </a:r>
            <a:endParaRPr lang="fr-FR" sz="1500" b="0" dirty="0">
              <a:solidFill>
                <a:srgbClr val="FFFFFF"/>
              </a:solidFill>
              <a:latin typeface="Arial"/>
            </a:endParaRPr>
          </a:p>
        </p:txBody>
      </p:sp>
    </p:spTree>
    <p:extLst>
      <p:ext uri="{BB962C8B-B14F-4D97-AF65-F5344CB8AC3E}">
        <p14:creationId xmlns:p14="http://schemas.microsoft.com/office/powerpoint/2010/main" val="3571044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teal.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ACTE 06 · DÉRIVE</a:t>
            </a:r>
          </a:p>
        </p:txBody>
      </p:sp>
      <p:sp>
        <p:nvSpPr>
          <p:cNvPr id="4" name="TextBox 3"/>
          <p:cNvSpPr txBox="1"/>
          <p:nvPr/>
        </p:nvSpPr>
        <p:spPr>
          <a:xfrm>
            <a:off x="1047750" y="1619250"/>
            <a:ext cx="16192500" cy="1440180"/>
          </a:xfrm>
          <a:prstGeom prst="rect">
            <a:avLst/>
          </a:prstGeom>
          <a:noFill/>
        </p:spPr>
        <p:txBody>
          <a:bodyPr wrap="square" lIns="27432" tIns="27432" rIns="27432" bIns="27432" anchor="t">
            <a:noAutofit/>
          </a:bodyPr>
          <a:lstStyle/>
          <a:p>
            <a:pPr algn="l">
              <a:lnSpc>
                <a:spcPct val="100000"/>
              </a:lnSpc>
            </a:pPr>
            <a:r>
              <a:rPr lang="fr-FR" sz="4500" b="1" spc="-45" dirty="0">
                <a:solidFill>
                  <a:srgbClr val="000000"/>
                </a:solidFill>
                <a:latin typeface="Arial"/>
              </a:rPr>
              <a:t>Mesurer la dérive sans automatiser la décision</a:t>
            </a:r>
          </a:p>
        </p:txBody>
      </p:sp>
      <p:sp>
        <p:nvSpPr>
          <p:cNvPr id="5" name="Rectangle 4"/>
          <p:cNvSpPr/>
          <p:nvPr/>
        </p:nvSpPr>
        <p:spPr>
          <a:xfrm>
            <a:off x="1047750" y="2603500"/>
            <a:ext cx="1143000" cy="1905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7" name="TextBox 6"/>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31</a:t>
            </a:r>
            <a:endParaRPr lang="fr-FR" sz="1400" b="1" noProof="0" dirty="0">
              <a:solidFill>
                <a:srgbClr val="56B9CA"/>
              </a:solidFill>
              <a:latin typeface="Arial"/>
              <a:cs typeface="Arial"/>
            </a:endParaRPr>
          </a:p>
        </p:txBody>
      </p:sp>
      <p:sp>
        <p:nvSpPr>
          <p:cNvPr id="8" name="Rounded Rectangle 7"/>
          <p:cNvSpPr/>
          <p:nvPr/>
        </p:nvSpPr>
        <p:spPr>
          <a:xfrm>
            <a:off x="1047750" y="3200400"/>
            <a:ext cx="7858125" cy="4000500"/>
          </a:xfrm>
          <a:prstGeom prst="roundRect">
            <a:avLst>
              <a:gd name="adj" fmla="val 4000"/>
            </a:avLst>
          </a:prstGeom>
          <a:solidFill>
            <a:srgbClr val="E4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9" name="TextBox 8"/>
          <p:cNvSpPr txBox="1"/>
          <p:nvPr/>
        </p:nvSpPr>
        <p:spPr>
          <a:xfrm>
            <a:off x="1428750" y="3556000"/>
            <a:ext cx="7096125"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CE QUI EST MESURÉ</a:t>
            </a:r>
          </a:p>
        </p:txBody>
      </p:sp>
      <p:sp>
        <p:nvSpPr>
          <p:cNvPr id="10" name="TextBox 9"/>
          <p:cNvSpPr txBox="1"/>
          <p:nvPr/>
        </p:nvSpPr>
        <p:spPr>
          <a:xfrm>
            <a:off x="1428750" y="4051300"/>
            <a:ext cx="7096125" cy="2689225"/>
          </a:xfrm>
          <a:prstGeom prst="rect">
            <a:avLst/>
          </a:prstGeom>
          <a:noFill/>
        </p:spPr>
        <p:txBody>
          <a:bodyPr wrap="square" lIns="27432" tIns="27432" rIns="27432" bIns="27432" anchor="t">
            <a:noAutofit/>
          </a:bodyPr>
          <a:lstStyle/>
          <a:p>
            <a:pPr algn="l">
              <a:lnSpc>
                <a:spcPct val="128000"/>
              </a:lnSpc>
              <a:spcAft>
                <a:spcPts val="900"/>
              </a:spcAft>
            </a:pPr>
            <a:r>
              <a:rPr lang="fr-FR" sz="1800" b="0" dirty="0">
                <a:solidFill>
                  <a:srgbClr val="4A4A4A"/>
                </a:solidFill>
                <a:latin typeface="Arial"/>
              </a:rPr>
              <a:t>PSI — écart de distribution entre la cohorte scorée et la référence figée avec l'artefact — complété par un test de Kolmogorov-Smirnov.</a:t>
            </a:r>
          </a:p>
          <a:p>
            <a:pPr algn="l">
              <a:lnSpc>
                <a:spcPct val="100000"/>
              </a:lnSpc>
              <a:spcBef>
                <a:spcPts val="600"/>
              </a:spcBef>
              <a:spcAft>
                <a:spcPts val="500"/>
              </a:spcAft>
              <a:buNone/>
            </a:pPr>
            <a:r>
              <a:rPr lang="fr-FR" sz="1500" b="1" spc="80" dirty="0">
                <a:solidFill>
                  <a:srgbClr val="1A6A77"/>
                </a:solidFill>
                <a:latin typeface="Arial"/>
              </a:rPr>
              <a:t>TROIS BORNES PAR DÉFAUT</a:t>
            </a:r>
          </a:p>
          <a:p>
            <a:pPr marL="228600" indent="-228600" algn="l">
              <a:lnSpc>
                <a:spcPct val="115000"/>
              </a:lnSpc>
              <a:spcBef>
                <a:spcPts val="400"/>
              </a:spcBef>
              <a:spcAft>
                <a:spcPts val="400"/>
              </a:spcAft>
              <a:buClr>
                <a:srgbClr val="1A6A77"/>
              </a:buClr>
              <a:buFont typeface="Arial"/>
              <a:buChar char="•"/>
            </a:pPr>
            <a:r>
              <a:rPr lang="fr-FR" sz="1800" b="0" dirty="0">
                <a:solidFill>
                  <a:srgbClr val="1F2937"/>
                </a:solidFill>
                <a:latin typeface="Arial"/>
              </a:rPr>
              <a:t>Surveiller à </a:t>
            </a:r>
            <a:r>
              <a:rPr lang="fr-FR" sz="1800" b="1" dirty="0">
                <a:solidFill>
                  <a:srgbClr val="1A6A77"/>
                </a:solidFill>
                <a:latin typeface="Arial"/>
              </a:rPr>
              <a:t>PSI &gt; 0,10</a:t>
            </a:r>
          </a:p>
          <a:p>
            <a:pPr marL="228600" indent="-228600" algn="l">
              <a:lnSpc>
                <a:spcPct val="115000"/>
              </a:lnSpc>
              <a:spcBef>
                <a:spcPts val="400"/>
              </a:spcBef>
              <a:spcAft>
                <a:spcPts val="400"/>
              </a:spcAft>
              <a:buClr>
                <a:srgbClr val="1A6A77"/>
              </a:buClr>
              <a:buFont typeface="Arial"/>
              <a:buChar char="•"/>
            </a:pPr>
            <a:r>
              <a:rPr lang="fr-FR" sz="1800" b="0" dirty="0">
                <a:solidFill>
                  <a:srgbClr val="1F2937"/>
                </a:solidFill>
                <a:latin typeface="Arial"/>
              </a:rPr>
              <a:t>Alerter à </a:t>
            </a:r>
            <a:r>
              <a:rPr lang="fr-FR" sz="1800" b="1" dirty="0">
                <a:solidFill>
                  <a:srgbClr val="1A6A77"/>
                </a:solidFill>
                <a:latin typeface="Arial"/>
              </a:rPr>
              <a:t>PSI &gt; 0,25</a:t>
            </a:r>
          </a:p>
          <a:p>
            <a:pPr marL="228600" indent="-228600" algn="l">
              <a:lnSpc>
                <a:spcPct val="115000"/>
              </a:lnSpc>
              <a:spcBef>
                <a:spcPts val="400"/>
              </a:spcBef>
              <a:spcAft>
                <a:spcPts val="400"/>
              </a:spcAft>
              <a:buClr>
                <a:srgbClr val="1A6A77"/>
              </a:buClr>
              <a:buFont typeface="Arial"/>
              <a:buChar char="•"/>
            </a:pPr>
            <a:r>
              <a:rPr lang="fr-FR" sz="1800" b="0" dirty="0">
                <a:solidFill>
                  <a:srgbClr val="1F2937"/>
                </a:solidFill>
                <a:latin typeface="Arial"/>
              </a:rPr>
              <a:t>Pas de mesure sous </a:t>
            </a:r>
            <a:r>
              <a:rPr lang="fr-FR" sz="1800" b="1" dirty="0">
                <a:solidFill>
                  <a:srgbClr val="1A6A77"/>
                </a:solidFill>
                <a:latin typeface="Arial"/>
              </a:rPr>
              <a:t>200 dossiers</a:t>
            </a:r>
          </a:p>
        </p:txBody>
      </p:sp>
      <p:sp>
        <p:nvSpPr>
          <p:cNvPr id="11" name="Rounded Rectangle 10"/>
          <p:cNvSpPr/>
          <p:nvPr/>
        </p:nvSpPr>
        <p:spPr>
          <a:xfrm>
            <a:off x="9382125" y="3200400"/>
            <a:ext cx="7858125" cy="4000500"/>
          </a:xfrm>
          <a:prstGeom prst="roundRect">
            <a:avLst>
              <a:gd name="adj" fmla="val 4000"/>
            </a:avLst>
          </a:prstGeom>
          <a:solidFill>
            <a:srgbClr val="E4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2" name="TextBox 11"/>
          <p:cNvSpPr txBox="1"/>
          <p:nvPr/>
        </p:nvSpPr>
        <p:spPr>
          <a:xfrm>
            <a:off x="9763125" y="3556000"/>
            <a:ext cx="7096125"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CE QUI EN EST FAIT</a:t>
            </a:r>
          </a:p>
        </p:txBody>
      </p:sp>
      <p:sp>
        <p:nvSpPr>
          <p:cNvPr id="13" name="TextBox 12"/>
          <p:cNvSpPr txBox="1"/>
          <p:nvPr/>
        </p:nvSpPr>
        <p:spPr>
          <a:xfrm>
            <a:off x="9763125" y="4051300"/>
            <a:ext cx="7096125" cy="2000504"/>
          </a:xfrm>
          <a:prstGeom prst="rect">
            <a:avLst/>
          </a:prstGeom>
          <a:noFill/>
        </p:spPr>
        <p:txBody>
          <a:bodyPr wrap="square" lIns="27432" tIns="27432" rIns="27432" bIns="27432" anchor="t">
            <a:noAutofit/>
          </a:bodyPr>
          <a:lstStyle/>
          <a:p>
            <a:pPr algn="l">
              <a:lnSpc>
                <a:spcPct val="128000"/>
              </a:lnSpc>
              <a:spcAft>
                <a:spcPts val="800"/>
              </a:spcAft>
            </a:pPr>
            <a:r>
              <a:rPr lang="fr-FR" sz="1800" b="0" dirty="0">
                <a:solidFill>
                  <a:srgbClr val="4A4A4A"/>
                </a:solidFill>
                <a:latin typeface="Arial"/>
              </a:rPr>
              <a:t>Le bilan est renvoyé dans la même réponse que les prédictions : le client est informé sans surveillance continue.</a:t>
            </a:r>
          </a:p>
          <a:p>
            <a:pPr marL="171450" algn="l">
              <a:lnSpc>
                <a:spcPct val="128000"/>
              </a:lnSpc>
              <a:spcBef>
                <a:spcPts val="1400"/>
              </a:spcBef>
              <a:buNone/>
            </a:pPr>
            <a:r>
              <a:rPr lang="fr-FR" sz="2000" b="1" dirty="0">
                <a:solidFill>
                  <a:srgbClr val="1A6A77"/>
                </a:solidFill>
                <a:latin typeface="Arial"/>
              </a:rPr>
              <a:t>Un signal, pas un verdict</a:t>
            </a:r>
          </a:p>
          <a:p>
            <a:pPr marL="171450" algn="l">
              <a:lnSpc>
                <a:spcPct val="128000"/>
              </a:lnSpc>
              <a:spcBef>
                <a:spcPts val="300"/>
              </a:spcBef>
              <a:buNone/>
            </a:pPr>
            <a:r>
              <a:rPr lang="fr-FR" sz="1800" b="0" dirty="0">
                <a:solidFill>
                  <a:srgbClr val="4A4A4A"/>
                </a:solidFill>
                <a:latin typeface="Arial"/>
              </a:rPr>
              <a:t>c'est l'établissement qui sollicite un contrôle ou un réentraînement.</a:t>
            </a:r>
          </a:p>
        </p:txBody>
      </p:sp>
      <p:sp>
        <p:nvSpPr>
          <p:cNvPr id="14" name="Rounded Rectangle 13"/>
          <p:cNvSpPr/>
          <p:nvPr/>
        </p:nvSpPr>
        <p:spPr>
          <a:xfrm>
            <a:off x="1047750" y="7432675"/>
            <a:ext cx="16192500" cy="1440180"/>
          </a:xfrm>
          <a:prstGeom prst="roundRect">
            <a:avLst>
              <a:gd name="adj" fmla="val 4000"/>
            </a:avLst>
          </a:prstGeom>
          <a:solidFill>
            <a:srgbClr val="1A6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5" name="TextBox 14"/>
          <p:cNvSpPr txBox="1"/>
          <p:nvPr/>
        </p:nvSpPr>
        <p:spPr>
          <a:xfrm>
            <a:off x="1477518" y="7432675"/>
            <a:ext cx="15332964" cy="1320800"/>
          </a:xfrm>
          <a:prstGeom prst="rect">
            <a:avLst/>
          </a:prstGeom>
          <a:noFill/>
        </p:spPr>
        <p:txBody>
          <a:bodyPr wrap="square" lIns="27432" tIns="27432" rIns="27432" bIns="27432" anchor="ctr">
            <a:noAutofit/>
          </a:bodyPr>
          <a:lstStyle/>
          <a:p>
            <a:pPr algn="l">
              <a:lnSpc>
                <a:spcPct val="122000"/>
              </a:lnSpc>
              <a:spcAft>
                <a:spcPts val="700"/>
              </a:spcAft>
            </a:pPr>
            <a:r>
              <a:rPr lang="fr-FR" sz="1800" b="1" spc="162" noProof="0" dirty="0">
                <a:solidFill>
                  <a:srgbClr val="9FD4DE"/>
                </a:solidFill>
                <a:latin typeface="Arial"/>
              </a:rPr>
              <a:t>POURQUOI PAR COHORTE ET NON EN CONTINU</a:t>
            </a:r>
          </a:p>
          <a:p>
            <a:pPr algn="l">
              <a:lnSpc>
                <a:spcPct val="122000"/>
              </a:lnSpc>
              <a:spcAft>
                <a:spcPts val="700"/>
              </a:spcAft>
            </a:pPr>
            <a:r>
              <a:rPr lang="fr-FR" sz="2100" b="0" noProof="0" dirty="0">
                <a:solidFill>
                  <a:srgbClr val="FFFFFF"/>
                </a:solidFill>
                <a:latin typeface="Arial"/>
              </a:rPr>
              <a:t>Le régime réel est une extraction annuelle : un flux de dérive en temps réel donnerait l'illusion d'un suivi sans objet — coûteux et trompeur</a:t>
            </a:r>
          </a:p>
        </p:txBody>
      </p:sp>
      <p:sp>
        <p:nvSpPr>
          <p:cNvPr id="6" name="Rectangle 5">
            <a:extLst>
              <a:ext uri="{FF2B5EF4-FFF2-40B4-BE49-F238E27FC236}">
                <a16:creationId xmlns:a16="http://schemas.microsoft.com/office/drawing/2014/main" id="{61016CFE-9485-441A-BFE1-E187039A7AE7}"/>
              </a:ext>
            </a:extLst>
          </p:cNvPr>
          <p:cNvSpPr/>
          <p:nvPr/>
        </p:nvSpPr>
        <p:spPr>
          <a:xfrm>
            <a:off x="9766300" y="5181600"/>
            <a:ext cx="50800" cy="838200"/>
          </a:xfrm>
          <a:prstGeom prst="rect">
            <a:avLst/>
          </a:prstGeom>
          <a:solidFill>
            <a:srgbClr val="1A6A77"/>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fr-FR"/>
          </a:p>
        </p:txBody>
      </p:sp>
    </p:spTree>
    <p:extLst>
      <p:ext uri="{BB962C8B-B14F-4D97-AF65-F5344CB8AC3E}">
        <p14:creationId xmlns:p14="http://schemas.microsoft.com/office/powerpoint/2010/main" val="36133469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56B9CA"/>
        </a:solidFill>
        <a:effectLst/>
      </p:bgPr>
    </p:bg>
    <p:spTree>
      <p:nvGrpSpPr>
        <p:cNvPr id="1" name=""/>
        <p:cNvGrpSpPr/>
        <p:nvPr/>
      </p:nvGrpSpPr>
      <p:grpSpPr>
        <a:xfrm>
          <a:off x="0" y="0"/>
          <a:ext cx="0" cy="0"/>
          <a:chOff x="0" y="0"/>
          <a:chExt cx="0" cy="0"/>
        </a:xfrm>
      </p:grpSpPr>
      <p:sp>
        <p:nvSpPr>
          <p:cNvPr id="2" name="TextBox 1"/>
          <p:cNvSpPr txBox="1"/>
          <p:nvPr/>
        </p:nvSpPr>
        <p:spPr>
          <a:xfrm>
            <a:off x="13076188" y="723900"/>
            <a:ext cx="4894793" cy="4038600"/>
          </a:xfrm>
          <a:prstGeom prst="rect">
            <a:avLst/>
          </a:prstGeom>
          <a:noFill/>
        </p:spPr>
        <p:txBody>
          <a:bodyPr wrap="square" lIns="27432" tIns="27432" rIns="27432" bIns="27432" anchor="t">
            <a:noAutofit/>
          </a:bodyPr>
          <a:lstStyle/>
          <a:p>
            <a:pPr algn="l">
              <a:lnSpc>
                <a:spcPct val="70950"/>
              </a:lnSpc>
            </a:pPr>
            <a:r>
              <a:rPr lang="fr-FR" sz="31500" b="1" noProof="0" dirty="0">
                <a:solidFill>
                  <a:srgbClr val="FFFFFF"/>
                </a:solidFill>
                <a:latin typeface="Arial"/>
              </a:rPr>
              <a:t>07</a:t>
            </a:r>
          </a:p>
        </p:txBody>
      </p:sp>
      <p:sp>
        <p:nvSpPr>
          <p:cNvPr id="3" name="TextBox 2"/>
          <p:cNvSpPr txBox="1"/>
          <p:nvPr/>
        </p:nvSpPr>
        <p:spPr>
          <a:xfrm>
            <a:off x="1047750" y="1047750"/>
            <a:ext cx="3000000" cy="333375"/>
          </a:xfrm>
          <a:prstGeom prst="rect">
            <a:avLst/>
          </a:prstGeom>
          <a:noFill/>
        </p:spPr>
        <p:txBody>
          <a:bodyPr wrap="square" lIns="27432" tIns="27432" rIns="27432" bIns="27432" anchor="t">
            <a:noAutofit/>
          </a:bodyPr>
          <a:lstStyle/>
          <a:p>
            <a:pPr algn="l"/>
            <a:r>
              <a:rPr lang="fr-FR" sz="1950" b="1" spc="273" noProof="0" dirty="0">
                <a:solidFill>
                  <a:srgbClr val="FFFFFF"/>
                </a:solidFill>
                <a:latin typeface="Arial"/>
              </a:rPr>
              <a:t>Acte 07</a:t>
            </a:r>
          </a:p>
        </p:txBody>
      </p:sp>
      <p:sp>
        <p:nvSpPr>
          <p:cNvPr id="4" name="TextBox 3"/>
          <p:cNvSpPr txBox="1"/>
          <p:nvPr/>
        </p:nvSpPr>
        <p:spPr>
          <a:xfrm>
            <a:off x="1047750" y="1609725"/>
            <a:ext cx="11582400" cy="852202"/>
          </a:xfrm>
          <a:prstGeom prst="rect">
            <a:avLst/>
          </a:prstGeom>
          <a:noFill/>
        </p:spPr>
        <p:txBody>
          <a:bodyPr wrap="square" lIns="27432" tIns="27432" rIns="27432" bIns="27432" anchor="t">
            <a:noAutofit/>
          </a:bodyPr>
          <a:lstStyle/>
          <a:p>
            <a:pPr algn="l">
              <a:lnSpc>
                <a:spcPct val="74520"/>
              </a:lnSpc>
            </a:pPr>
            <a:r>
              <a:rPr lang="fr-FR" sz="6900" b="1" spc="-124" noProof="0" dirty="0">
                <a:solidFill>
                  <a:srgbClr val="FFFFFF"/>
                </a:solidFill>
                <a:latin typeface="Arial"/>
              </a:rPr>
              <a:t>Conclure</a:t>
            </a:r>
          </a:p>
        </p:txBody>
      </p:sp>
      <p:sp>
        <p:nvSpPr>
          <p:cNvPr id="5" name="TextBox 4"/>
          <p:cNvSpPr txBox="1"/>
          <p:nvPr/>
        </p:nvSpPr>
        <p:spPr>
          <a:xfrm>
            <a:off x="1047750" y="3014663"/>
            <a:ext cx="15240000" cy="1270000"/>
          </a:xfrm>
          <a:prstGeom prst="rect">
            <a:avLst/>
          </a:prstGeom>
          <a:noFill/>
        </p:spPr>
        <p:txBody>
          <a:bodyPr wrap="square" lIns="27432" tIns="27432" rIns="27432" bIns="27432" anchor="t">
            <a:noAutofit/>
          </a:bodyPr>
          <a:lstStyle/>
          <a:p>
            <a:pPr algn="l">
              <a:lnSpc>
                <a:spcPct val="128140"/>
              </a:lnSpc>
            </a:pPr>
            <a:r>
              <a:rPr lang="fr-FR" sz="2850" b="0" noProof="0" dirty="0">
                <a:solidFill>
                  <a:srgbClr val="FFFFFF"/>
                </a:solidFill>
                <a:latin typeface="Arial"/>
              </a:rPr>
              <a:t>Usage et limites, recommandations, perspectives</a:t>
            </a:r>
          </a:p>
        </p:txBody>
      </p:sp>
      <p:sp>
        <p:nvSpPr>
          <p:cNvPr id="6" name="TextBox 5"/>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FFFFFF"/>
                </a:solidFill>
                <a:latin typeface="Arial"/>
                <a:cs typeface="Arial"/>
              </a:rPr>
              <a:t>32</a:t>
            </a:r>
            <a:endParaRPr lang="fr-FR" sz="1400" b="1" noProof="0" dirty="0">
              <a:solidFill>
                <a:srgbClr val="FFFFFF"/>
              </a:solidFill>
              <a:latin typeface="Arial"/>
              <a:cs typeface="Arial"/>
            </a:endParaRPr>
          </a:p>
        </p:txBody>
      </p:sp>
    </p:spTree>
    <p:extLst>
      <p:ext uri="{BB962C8B-B14F-4D97-AF65-F5344CB8AC3E}">
        <p14:creationId xmlns:p14="http://schemas.microsoft.com/office/powerpoint/2010/main" val="3098105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teal.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ACTE 07 · USAGE</a:t>
            </a:r>
          </a:p>
        </p:txBody>
      </p:sp>
      <p:sp>
        <p:nvSpPr>
          <p:cNvPr id="4" name="TextBox 3"/>
          <p:cNvSpPr txBox="1"/>
          <p:nvPr/>
        </p:nvSpPr>
        <p:spPr>
          <a:xfrm>
            <a:off x="1047750" y="1619250"/>
            <a:ext cx="16192500" cy="754380"/>
          </a:xfrm>
          <a:prstGeom prst="rect">
            <a:avLst/>
          </a:prstGeom>
          <a:noFill/>
        </p:spPr>
        <p:txBody>
          <a:bodyPr wrap="square" lIns="27432" tIns="27432" rIns="27432" bIns="27432" anchor="t">
            <a:noAutofit/>
          </a:bodyPr>
          <a:lstStyle/>
          <a:p>
            <a:pPr algn="l"/>
            <a:r>
              <a:rPr lang="fr-FR" sz="4200" b="1" noProof="0" dirty="0">
                <a:solidFill>
                  <a:srgbClr val="000000"/>
                </a:solidFill>
                <a:latin typeface="Arial"/>
              </a:rPr>
              <a:t>L'outil rend une probabilité, l'humain décide</a:t>
            </a:r>
          </a:p>
        </p:txBody>
      </p:sp>
      <p:sp>
        <p:nvSpPr>
          <p:cNvPr id="5" name="Rectangle 4"/>
          <p:cNvSpPr/>
          <p:nvPr/>
        </p:nvSpPr>
        <p:spPr>
          <a:xfrm>
            <a:off x="1047750" y="2526030"/>
            <a:ext cx="1143000" cy="1905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7" name="TextBox 6"/>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33</a:t>
            </a:r>
            <a:endParaRPr lang="fr-FR" sz="1400" b="1" noProof="0" dirty="0">
              <a:solidFill>
                <a:srgbClr val="56B9CA"/>
              </a:solidFill>
              <a:latin typeface="Arial"/>
              <a:cs typeface="Arial"/>
            </a:endParaRPr>
          </a:p>
        </p:txBody>
      </p:sp>
      <p:sp>
        <p:nvSpPr>
          <p:cNvPr id="60" name="TextBox Lead"/>
          <p:cNvSpPr txBox="1"/>
          <p:nvPr/>
        </p:nvSpPr>
        <p:spPr>
          <a:xfrm>
            <a:off x="1054100" y="2692400"/>
            <a:ext cx="16192500" cy="787400"/>
          </a:xfrm>
          <a:prstGeom prst="rect">
            <a:avLst/>
          </a:prstGeom>
          <a:noFill/>
        </p:spPr>
        <p:txBody>
          <a:bodyPr wrap="square" lIns="0" tIns="0" rIns="0" bIns="0" anchor="t">
            <a:noAutofit/>
          </a:bodyPr>
          <a:lstStyle/>
          <a:p>
            <a:pPr algn="l">
              <a:lnSpc>
                <a:spcPct val="125000"/>
              </a:lnSpc>
            </a:pPr>
            <a:r>
              <a:rPr lang="fr-FR" sz="1900" b="0" noProof="0" dirty="0">
                <a:solidFill>
                  <a:srgbClr val="3F3F3F"/>
                </a:solidFill>
                <a:latin typeface="Arial"/>
              </a:rPr>
              <a:t>La décision d'accompagnement reste humaine : seule l'équipe pédagogique est habilitée à la prendre.</a:t>
            </a:r>
          </a:p>
        </p:txBody>
      </p:sp>
      <p:sp>
        <p:nvSpPr>
          <p:cNvPr id="200" name="Rounded Rectangle 200"/>
          <p:cNvSpPr/>
          <p:nvPr/>
        </p:nvSpPr>
        <p:spPr>
          <a:xfrm>
            <a:off x="1054100" y="3627120"/>
            <a:ext cx="7874000" cy="3307080"/>
          </a:xfrm>
          <a:prstGeom prst="roundRect">
            <a:avLst>
              <a:gd name="adj" fmla="val 4000"/>
            </a:avLst>
          </a:prstGeom>
          <a:solidFill>
            <a:srgbClr val="E4F3F7"/>
          </a:solidFill>
          <a:ln>
            <a:noFill/>
          </a:ln>
        </p:spPr>
        <p:txBody>
          <a:bodyPr/>
          <a:lstStyle/>
          <a:p>
            <a:endParaRPr/>
          </a:p>
        </p:txBody>
      </p:sp>
      <p:sp>
        <p:nvSpPr>
          <p:cNvPr id="201" name="TextBox 201"/>
          <p:cNvSpPr txBox="1"/>
          <p:nvPr/>
        </p:nvSpPr>
        <p:spPr>
          <a:xfrm>
            <a:off x="1435100" y="3937000"/>
            <a:ext cx="7112000" cy="304800"/>
          </a:xfrm>
          <a:prstGeom prst="rect">
            <a:avLst/>
          </a:prstGeom>
          <a:noFill/>
        </p:spPr>
        <p:txBody>
          <a:bodyPr wrap="square" lIns="0" tIns="0" rIns="0" bIns="0" anchor="t">
            <a:noAutofit/>
          </a:bodyPr>
          <a:lstStyle/>
          <a:p>
            <a:pPr algn="l"/>
            <a:r>
              <a:rPr lang="fr-FR" sz="1800" b="1" spc="162" noProof="0" dirty="0">
                <a:solidFill>
                  <a:srgbClr val="1A6A77"/>
                </a:solidFill>
                <a:latin typeface="Arial"/>
              </a:rPr>
              <a:t>CE QUE REND LE SERVICE</a:t>
            </a:r>
          </a:p>
        </p:txBody>
      </p:sp>
      <p:sp>
        <p:nvSpPr>
          <p:cNvPr id="202" name="TextBox 202"/>
          <p:cNvSpPr txBox="1"/>
          <p:nvPr/>
        </p:nvSpPr>
        <p:spPr>
          <a:xfrm>
            <a:off x="1435100" y="4419600"/>
            <a:ext cx="7112000" cy="2032000"/>
          </a:xfrm>
          <a:prstGeom prst="rect">
            <a:avLst/>
          </a:prstGeom>
          <a:noFill/>
        </p:spPr>
        <p:txBody>
          <a:bodyPr wrap="square" lIns="0" tIns="0" rIns="0" bIns="0" anchor="t">
            <a:noAutofit/>
          </a:bodyPr>
          <a:lstStyle/>
          <a:p>
            <a:pPr marL="228600" indent="-228600">
              <a:lnSpc>
                <a:spcPct val="128000"/>
              </a:lnSpc>
              <a:spcAft>
                <a:spcPts val="700"/>
              </a:spcAft>
              <a:buFont typeface="Arial"/>
              <a:buChar char="•"/>
            </a:pPr>
            <a:r>
              <a:rPr lang="fr-FR" sz="1850" b="1" dirty="0">
                <a:solidFill>
                  <a:srgbClr val="1A6A77"/>
                </a:solidFill>
                <a:latin typeface="Arial"/>
              </a:rPr>
              <a:t>Une campagne par an à mi-S1 qui fournit une probabilité de décrochage par étudiant</a:t>
            </a:r>
          </a:p>
          <a:p>
            <a:pPr marL="228600" indent="-228600" algn="l">
              <a:lnSpc>
                <a:spcPct val="128000"/>
              </a:lnSpc>
              <a:spcAft>
                <a:spcPts val="700"/>
              </a:spcAft>
              <a:buFont typeface="Arial"/>
              <a:buChar char="•"/>
            </a:pPr>
            <a:r>
              <a:rPr lang="fr-FR" sz="1850" noProof="0" dirty="0">
                <a:solidFill>
                  <a:srgbClr val="4A4A4A"/>
                </a:solidFill>
                <a:latin typeface="Arial"/>
              </a:rPr>
              <a:t>En option, la classe : une lecture de cette probabilité comparée au seuil métier</a:t>
            </a:r>
          </a:p>
          <a:p>
            <a:pPr marL="228600" indent="-228600">
              <a:lnSpc>
                <a:spcPct val="128000"/>
              </a:lnSpc>
              <a:spcAft>
                <a:spcPts val="700"/>
              </a:spcAft>
              <a:buFont typeface="Arial"/>
              <a:buChar char="•"/>
            </a:pPr>
            <a:r>
              <a:rPr lang="fr-FR" sz="1850" dirty="0">
                <a:solidFill>
                  <a:srgbClr val="4A4A4A"/>
                </a:solidFill>
                <a:latin typeface="Arial"/>
              </a:rPr>
              <a:t>Une note estimée et une explicabilité par thème et par variable, pour aider à définir les modalités d'accompagnement</a:t>
            </a:r>
          </a:p>
        </p:txBody>
      </p:sp>
      <p:sp>
        <p:nvSpPr>
          <p:cNvPr id="203" name="Rounded Rectangle 203"/>
          <p:cNvSpPr/>
          <p:nvPr/>
        </p:nvSpPr>
        <p:spPr>
          <a:xfrm>
            <a:off x="9372600" y="3627120"/>
            <a:ext cx="7874000" cy="3307080"/>
          </a:xfrm>
          <a:prstGeom prst="roundRect">
            <a:avLst>
              <a:gd name="adj" fmla="val 4000"/>
            </a:avLst>
          </a:prstGeom>
          <a:solidFill>
            <a:srgbClr val="E4F3F7"/>
          </a:solidFill>
          <a:ln>
            <a:noFill/>
          </a:ln>
        </p:spPr>
        <p:txBody>
          <a:bodyPr/>
          <a:lstStyle/>
          <a:p>
            <a:endParaRPr/>
          </a:p>
        </p:txBody>
      </p:sp>
      <p:sp>
        <p:nvSpPr>
          <p:cNvPr id="204" name="TextBox 204"/>
          <p:cNvSpPr txBox="1"/>
          <p:nvPr/>
        </p:nvSpPr>
        <p:spPr>
          <a:xfrm>
            <a:off x="9753600" y="3937000"/>
            <a:ext cx="7112000" cy="304800"/>
          </a:xfrm>
          <a:prstGeom prst="rect">
            <a:avLst/>
          </a:prstGeom>
          <a:noFill/>
        </p:spPr>
        <p:txBody>
          <a:bodyPr wrap="square" lIns="0" tIns="0" rIns="0" bIns="0" anchor="t">
            <a:noAutofit/>
          </a:bodyPr>
          <a:lstStyle/>
          <a:p>
            <a:pPr algn="l"/>
            <a:r>
              <a:rPr lang="fr-FR" sz="1800" b="1" spc="162" noProof="0" dirty="0">
                <a:solidFill>
                  <a:srgbClr val="1A6A77"/>
                </a:solidFill>
                <a:latin typeface="Arial"/>
              </a:rPr>
              <a:t>QUI DÉCIDE</a:t>
            </a:r>
          </a:p>
        </p:txBody>
      </p:sp>
      <p:sp>
        <p:nvSpPr>
          <p:cNvPr id="205" name="TextBox 205"/>
          <p:cNvSpPr txBox="1"/>
          <p:nvPr/>
        </p:nvSpPr>
        <p:spPr>
          <a:xfrm>
            <a:off x="9753600" y="4419600"/>
            <a:ext cx="7112000" cy="2032000"/>
          </a:xfrm>
          <a:prstGeom prst="rect">
            <a:avLst/>
          </a:prstGeom>
          <a:noFill/>
        </p:spPr>
        <p:txBody>
          <a:bodyPr wrap="square" lIns="0" tIns="0" rIns="0" bIns="0" anchor="t">
            <a:noAutofit/>
          </a:bodyPr>
          <a:lstStyle/>
          <a:p>
            <a:pPr marL="228600" indent="-228600" algn="l">
              <a:lnSpc>
                <a:spcPct val="128000"/>
              </a:lnSpc>
              <a:spcAft>
                <a:spcPts val="700"/>
              </a:spcAft>
              <a:buFont typeface="Arial"/>
              <a:buChar char="•"/>
            </a:pPr>
            <a:r>
              <a:rPr lang="fr-FR" sz="1850" b="0" noProof="0" dirty="0">
                <a:solidFill>
                  <a:srgbClr val="4A4A4A"/>
                </a:solidFill>
                <a:latin typeface="Arial"/>
              </a:rPr>
              <a:t>La cellule pédagogique et les tuteurs : le modèle hiérarchise une file, il ne tranche pas</a:t>
            </a:r>
          </a:p>
          <a:p>
            <a:pPr marL="228600" indent="-228600" algn="l">
              <a:lnSpc>
                <a:spcPct val="128000"/>
              </a:lnSpc>
              <a:spcAft>
                <a:spcPts val="700"/>
              </a:spcAft>
              <a:buFont typeface="Arial"/>
              <a:buChar char="•"/>
            </a:pPr>
            <a:r>
              <a:rPr lang="fr-FR" sz="1850" b="0" noProof="0" dirty="0">
                <a:solidFill>
                  <a:srgbClr val="4A4A4A"/>
                </a:solidFill>
                <a:latin typeface="Arial"/>
              </a:rPr>
              <a:t>Chaque signalement se discute en revue humaine, avec le contexte que le modèle n'a pas</a:t>
            </a:r>
          </a:p>
          <a:p>
            <a:pPr marL="228600" indent="-228600" algn="l">
              <a:lnSpc>
                <a:spcPct val="128000"/>
              </a:lnSpc>
              <a:spcAft>
                <a:spcPts val="700"/>
              </a:spcAft>
              <a:buFont typeface="Arial"/>
              <a:buChar char="•"/>
            </a:pPr>
            <a:r>
              <a:rPr lang="fr-FR" sz="1850" b="1" noProof="0" dirty="0">
                <a:solidFill>
                  <a:srgbClr val="1A6A77"/>
                </a:solidFill>
                <a:latin typeface="Arial"/>
              </a:rPr>
              <a:t>Aucune décision administrative automatisée — art. 22</a:t>
            </a:r>
          </a:p>
        </p:txBody>
      </p:sp>
      <p:sp>
        <p:nvSpPr>
          <p:cNvPr id="206" name="Rounded Rectangle 206"/>
          <p:cNvSpPr/>
          <p:nvPr/>
        </p:nvSpPr>
        <p:spPr>
          <a:xfrm>
            <a:off x="1054100" y="7264400"/>
            <a:ext cx="16192500" cy="1701800"/>
          </a:xfrm>
          <a:prstGeom prst="roundRect">
            <a:avLst>
              <a:gd name="adj" fmla="val 8000"/>
            </a:avLst>
          </a:prstGeom>
          <a:solidFill>
            <a:srgbClr val="1A6A77"/>
          </a:solidFill>
          <a:ln>
            <a:noFill/>
          </a:ln>
        </p:spPr>
        <p:txBody>
          <a:bodyPr/>
          <a:lstStyle/>
          <a:p>
            <a:endParaRPr/>
          </a:p>
        </p:txBody>
      </p:sp>
      <p:sp>
        <p:nvSpPr>
          <p:cNvPr id="207" name="TextBox 207"/>
          <p:cNvSpPr txBox="1"/>
          <p:nvPr/>
        </p:nvSpPr>
        <p:spPr>
          <a:xfrm>
            <a:off x="1485900" y="7543800"/>
            <a:ext cx="15328900" cy="1397000"/>
          </a:xfrm>
          <a:prstGeom prst="rect">
            <a:avLst/>
          </a:prstGeom>
          <a:noFill/>
        </p:spPr>
        <p:txBody>
          <a:bodyPr wrap="square" lIns="0" tIns="0" rIns="0" bIns="0" anchor="t">
            <a:noAutofit/>
          </a:bodyPr>
          <a:lstStyle/>
          <a:p>
            <a:pPr algn="l">
              <a:lnSpc>
                <a:spcPct val="122000"/>
              </a:lnSpc>
              <a:spcAft>
                <a:spcPts val="700"/>
              </a:spcAft>
            </a:pPr>
            <a:r>
              <a:rPr lang="fr-FR" sz="1800" b="1" spc="162" noProof="0" dirty="0">
                <a:solidFill>
                  <a:srgbClr val="9FD4DE"/>
                </a:solidFill>
                <a:latin typeface="Arial"/>
              </a:rPr>
              <a:t>LE SEUIL EST UN RÉGLAGE, PAS UNE PROPRIÉTÉ DU MODÈLE</a:t>
            </a:r>
          </a:p>
          <a:p>
            <a:pPr algn="l">
              <a:lnSpc>
                <a:spcPct val="122000"/>
              </a:lnSpc>
              <a:spcAft>
                <a:spcPts val="300"/>
              </a:spcAft>
            </a:pPr>
            <a:r>
              <a:rPr lang="fr-FR" sz="2100" b="1" noProof="0" dirty="0">
                <a:solidFill>
                  <a:srgbClr val="FFFFFF"/>
                </a:solidFill>
                <a:latin typeface="Arial"/>
              </a:rPr>
              <a:t>Sans seuil — </a:t>
            </a:r>
            <a:r>
              <a:rPr lang="fr-FR" sz="2100" b="0" noProof="0" dirty="0">
                <a:solidFill>
                  <a:srgbClr val="FFFFFF"/>
                </a:solidFill>
                <a:latin typeface="Arial"/>
              </a:rPr>
              <a:t>ne renvoyer que la probabilité : l'effet de marquage tombe au minimum.</a:t>
            </a:r>
          </a:p>
          <a:p>
            <a:pPr algn="l">
              <a:lnSpc>
                <a:spcPct val="122000"/>
              </a:lnSpc>
            </a:pPr>
            <a:r>
              <a:rPr lang="fr-FR" sz="2100" b="1" noProof="0" dirty="0">
                <a:solidFill>
                  <a:srgbClr val="FFFFFF"/>
                </a:solidFill>
                <a:latin typeface="Arial"/>
              </a:rPr>
              <a:t>Avec seuil — </a:t>
            </a:r>
            <a:r>
              <a:rPr lang="fr-FR" sz="2100" b="0" noProof="0" dirty="0">
                <a:solidFill>
                  <a:srgbClr val="FFFFFF"/>
                </a:solidFill>
                <a:latin typeface="Arial"/>
              </a:rPr>
              <a:t>0,42 aujourd'hui (78,7 % des décrocheurs retrouvés), ajustable sur le coût métier ou l'objectif fixé par la direction.</a:t>
            </a:r>
          </a:p>
        </p:txBody>
      </p:sp>
    </p:spTree>
    <p:extLst>
      <p:ext uri="{BB962C8B-B14F-4D97-AF65-F5344CB8AC3E}">
        <p14:creationId xmlns:p14="http://schemas.microsoft.com/office/powerpoint/2010/main" val="831306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1" descr="logo-white.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ACTE 07 · LIMITES ET RECOMMANDATIONS</a:t>
            </a:r>
          </a:p>
        </p:txBody>
      </p:sp>
      <p:sp>
        <p:nvSpPr>
          <p:cNvPr id="4" name="TextBox 3"/>
          <p:cNvSpPr txBox="1"/>
          <p:nvPr/>
        </p:nvSpPr>
        <p:spPr>
          <a:xfrm>
            <a:off x="1047750" y="1771650"/>
            <a:ext cx="15716250" cy="900000"/>
          </a:xfrm>
          <a:prstGeom prst="rect">
            <a:avLst/>
          </a:prstGeom>
          <a:noFill/>
        </p:spPr>
        <p:txBody>
          <a:bodyPr wrap="square" lIns="27432" tIns="27432" rIns="27432" bIns="27432" anchor="t">
            <a:noAutofit/>
          </a:bodyPr>
          <a:lstStyle/>
          <a:p>
            <a:pPr algn="l"/>
            <a:r>
              <a:rPr lang="fr-FR" sz="4200" b="1" noProof="0" dirty="0">
                <a:solidFill>
                  <a:srgbClr val="000000"/>
                </a:solidFill>
                <a:latin typeface="Arial"/>
              </a:rPr>
              <a:t>Quatre limites assumées, quatre actions à engager</a:t>
            </a:r>
          </a:p>
        </p:txBody>
      </p:sp>
      <p:sp>
        <p:nvSpPr>
          <p:cNvPr id="28" name="TextBox 27"/>
          <p:cNvSpPr txBox="1"/>
          <p:nvPr/>
        </p:nvSpPr>
        <p:spPr>
          <a:xfrm>
            <a:off x="17048886" y="9309100"/>
            <a:ext cx="273913" cy="304800"/>
          </a:xfrm>
          <a:prstGeom prst="rect">
            <a:avLst/>
          </a:prstGeom>
          <a:noFill/>
        </p:spPr>
        <p:txBody>
          <a:bodyPr wrap="none" lIns="27432" tIns="27432" rIns="27432" bIns="27432" anchor="ctr" anchorCtr="0">
            <a:noAutofit/>
          </a:bodyPr>
          <a:lstStyle/>
          <a:p>
            <a:pPr algn="r"/>
            <a:r>
              <a:rPr lang="fr-FR" sz="1400" b="1" noProof="0">
                <a:solidFill>
                  <a:srgbClr val="56B9CA"/>
                </a:solidFill>
                <a:latin typeface="Arial"/>
                <a:cs typeface="Arial"/>
              </a:rPr>
              <a:t>34</a:t>
            </a:r>
            <a:endParaRPr lang="fr-FR" sz="1400" b="1" noProof="0" dirty="0">
              <a:solidFill>
                <a:srgbClr val="56B9CA"/>
              </a:solidFill>
              <a:latin typeface="Arial"/>
              <a:cs typeface="Arial"/>
            </a:endParaRPr>
          </a:p>
        </p:txBody>
      </p:sp>
      <p:sp>
        <p:nvSpPr>
          <p:cNvPr id="500" name="Card 500"/>
          <p:cNvSpPr/>
          <p:nvPr/>
        </p:nvSpPr>
        <p:spPr>
          <a:xfrm>
            <a:off x="1054100" y="3124200"/>
            <a:ext cx="7874000" cy="2844800"/>
          </a:xfrm>
          <a:prstGeom prst="roundRect">
            <a:avLst>
              <a:gd name="adj" fmla="val 6000"/>
            </a:avLst>
          </a:prstGeom>
          <a:solidFill>
            <a:srgbClr val="EAF5F7"/>
          </a:solidFill>
          <a:ln>
            <a:noFill/>
          </a:ln>
        </p:spPr>
        <p:txBody>
          <a:bodyPr/>
          <a:lstStyle/>
          <a:p>
            <a:endParaRPr/>
          </a:p>
        </p:txBody>
      </p:sp>
      <p:sp>
        <p:nvSpPr>
          <p:cNvPr id="501" name="Num 501"/>
          <p:cNvSpPr/>
          <p:nvPr/>
        </p:nvSpPr>
        <p:spPr>
          <a:xfrm>
            <a:off x="1435100" y="3454400"/>
            <a:ext cx="508000" cy="508000"/>
          </a:xfrm>
          <a:prstGeom prst="ellipse">
            <a:avLst/>
          </a:prstGeom>
          <a:solidFill>
            <a:srgbClr val="1A6A77"/>
          </a:solidFill>
          <a:ln>
            <a:noFill/>
          </a:ln>
        </p:spPr>
        <p:txBody>
          <a:bodyPr lIns="0" tIns="0" rIns="0" bIns="0" anchor="ctr">
            <a:noAutofit/>
          </a:bodyPr>
          <a:lstStyle/>
          <a:p>
            <a:pPr algn="ctr">
              <a:buNone/>
            </a:pPr>
            <a:r>
              <a:rPr lang="fr-FR" sz="1600" b="1" dirty="0">
                <a:solidFill>
                  <a:srgbClr val="FFFFFF"/>
                </a:solidFill>
                <a:latin typeface="Arial"/>
              </a:rPr>
              <a:t>01</a:t>
            </a:r>
          </a:p>
        </p:txBody>
      </p:sp>
      <p:sp>
        <p:nvSpPr>
          <p:cNvPr id="502" name="TextBox 502"/>
          <p:cNvSpPr txBox="1"/>
          <p:nvPr/>
        </p:nvSpPr>
        <p:spPr>
          <a:xfrm>
            <a:off x="2146300" y="3454400"/>
            <a:ext cx="6273800" cy="508000"/>
          </a:xfrm>
          <a:prstGeom prst="rect">
            <a:avLst/>
          </a:prstGeom>
          <a:noFill/>
        </p:spPr>
        <p:txBody>
          <a:bodyPr wrap="square" lIns="0" tIns="0" rIns="0" bIns="0" anchor="ctr">
            <a:noAutofit/>
          </a:bodyPr>
          <a:lstStyle/>
          <a:p>
            <a:pPr algn="l">
              <a:lnSpc>
                <a:spcPts val="2100"/>
              </a:lnSpc>
              <a:buNone/>
            </a:pPr>
            <a:r>
              <a:rPr lang="fr-FR" sz="1900" b="1" spc="60" dirty="0">
                <a:solidFill>
                  <a:srgbClr val="1A6A77"/>
                </a:solidFill>
                <a:latin typeface="Arial"/>
              </a:rPr>
              <a:t>GÉNÉRALISATION NON PROUVÉE</a:t>
            </a:r>
          </a:p>
        </p:txBody>
      </p:sp>
      <p:sp>
        <p:nvSpPr>
          <p:cNvPr id="503" name="TextBox 503"/>
          <p:cNvSpPr txBox="1"/>
          <p:nvPr/>
        </p:nvSpPr>
        <p:spPr>
          <a:xfrm>
            <a:off x="1435100" y="4292600"/>
            <a:ext cx="7112000" cy="1574800"/>
          </a:xfrm>
          <a:prstGeom prst="rect">
            <a:avLst/>
          </a:prstGeom>
          <a:noFill/>
        </p:spPr>
        <p:txBody>
          <a:bodyPr wrap="square" lIns="0" tIns="0" rIns="0" bIns="0" anchor="t">
            <a:noAutofit/>
          </a:bodyPr>
          <a:lstStyle/>
          <a:p>
            <a:pPr algn="l">
              <a:lnSpc>
                <a:spcPts val="2350"/>
              </a:lnSpc>
              <a:spcAft>
                <a:spcPts val="700"/>
              </a:spcAft>
              <a:buNone/>
            </a:pPr>
            <a:r>
              <a:rPr lang="fr-FR" sz="1750" b="0" dirty="0">
                <a:solidFill>
                  <a:srgbClr val="3D3D3D"/>
                </a:solidFill>
                <a:latin typeface="Arial"/>
              </a:rPr>
              <a:t>Une seule cohorte : rien ne prouve que le modèle tient ailleurs.</a:t>
            </a:r>
          </a:p>
          <a:p>
            <a:pPr algn="l">
              <a:lnSpc>
                <a:spcPts val="2350"/>
              </a:lnSpc>
              <a:buNone/>
            </a:pPr>
            <a:r>
              <a:rPr lang="fr-FR" sz="1750" b="1" dirty="0">
                <a:solidFill>
                  <a:srgbClr val="1A6A77"/>
                </a:solidFill>
                <a:latin typeface="Arial"/>
              </a:rPr>
              <a:t>→ Ré-entraîner sur un jeu pluriannuel et re-mesurer sur un test scellé avant tout usage élargi.</a:t>
            </a:r>
          </a:p>
        </p:txBody>
      </p:sp>
      <p:sp>
        <p:nvSpPr>
          <p:cNvPr id="504" name="Card 504"/>
          <p:cNvSpPr/>
          <p:nvPr/>
        </p:nvSpPr>
        <p:spPr>
          <a:xfrm>
            <a:off x="9372600" y="3124200"/>
            <a:ext cx="7874000" cy="2844800"/>
          </a:xfrm>
          <a:prstGeom prst="roundRect">
            <a:avLst>
              <a:gd name="adj" fmla="val 6000"/>
            </a:avLst>
          </a:prstGeom>
          <a:solidFill>
            <a:srgbClr val="EAF5F7"/>
          </a:solidFill>
          <a:ln>
            <a:noFill/>
          </a:ln>
        </p:spPr>
        <p:txBody>
          <a:bodyPr/>
          <a:lstStyle/>
          <a:p>
            <a:endParaRPr/>
          </a:p>
        </p:txBody>
      </p:sp>
      <p:sp>
        <p:nvSpPr>
          <p:cNvPr id="505" name="Num 505"/>
          <p:cNvSpPr/>
          <p:nvPr/>
        </p:nvSpPr>
        <p:spPr>
          <a:xfrm>
            <a:off x="9753600" y="3454400"/>
            <a:ext cx="508000" cy="508000"/>
          </a:xfrm>
          <a:prstGeom prst="ellipse">
            <a:avLst/>
          </a:prstGeom>
          <a:solidFill>
            <a:srgbClr val="1A6A77"/>
          </a:solidFill>
          <a:ln>
            <a:noFill/>
          </a:ln>
        </p:spPr>
        <p:txBody>
          <a:bodyPr lIns="0" tIns="0" rIns="0" bIns="0" anchor="ctr">
            <a:noAutofit/>
          </a:bodyPr>
          <a:lstStyle/>
          <a:p>
            <a:pPr algn="ctr">
              <a:buNone/>
            </a:pPr>
            <a:r>
              <a:rPr lang="fr-FR" sz="1600" b="1" dirty="0">
                <a:solidFill>
                  <a:srgbClr val="FFFFFF"/>
                </a:solidFill>
                <a:latin typeface="Arial"/>
              </a:rPr>
              <a:t>02</a:t>
            </a:r>
          </a:p>
        </p:txBody>
      </p:sp>
      <p:sp>
        <p:nvSpPr>
          <p:cNvPr id="506" name="TextBox 506"/>
          <p:cNvSpPr txBox="1"/>
          <p:nvPr/>
        </p:nvSpPr>
        <p:spPr>
          <a:xfrm>
            <a:off x="10464800" y="3454400"/>
            <a:ext cx="6273800" cy="508000"/>
          </a:xfrm>
          <a:prstGeom prst="rect">
            <a:avLst/>
          </a:prstGeom>
          <a:noFill/>
        </p:spPr>
        <p:txBody>
          <a:bodyPr wrap="square" lIns="0" tIns="0" rIns="0" bIns="0" anchor="ctr">
            <a:noAutofit/>
          </a:bodyPr>
          <a:lstStyle/>
          <a:p>
            <a:pPr algn="l">
              <a:lnSpc>
                <a:spcPts val="2100"/>
              </a:lnSpc>
              <a:buNone/>
            </a:pPr>
            <a:r>
              <a:rPr lang="fr-FR" sz="1900" b="1" spc="60" dirty="0">
                <a:solidFill>
                  <a:srgbClr val="1A6A77"/>
                </a:solidFill>
                <a:latin typeface="Arial"/>
              </a:rPr>
              <a:t>ÉQUITÉ NON CONCLUANTE SUR LES PETITS GROUPES</a:t>
            </a:r>
          </a:p>
        </p:txBody>
      </p:sp>
      <p:sp>
        <p:nvSpPr>
          <p:cNvPr id="507" name="TextBox 507"/>
          <p:cNvSpPr txBox="1"/>
          <p:nvPr/>
        </p:nvSpPr>
        <p:spPr>
          <a:xfrm>
            <a:off x="9753600" y="4292600"/>
            <a:ext cx="7112000" cy="1574800"/>
          </a:xfrm>
          <a:prstGeom prst="rect">
            <a:avLst/>
          </a:prstGeom>
          <a:noFill/>
        </p:spPr>
        <p:txBody>
          <a:bodyPr wrap="square" lIns="0" tIns="0" rIns="0" bIns="0" anchor="t">
            <a:noAutofit/>
          </a:bodyPr>
          <a:lstStyle/>
          <a:p>
            <a:pPr algn="l">
              <a:lnSpc>
                <a:spcPts val="2350"/>
              </a:lnSpc>
              <a:spcAft>
                <a:spcPts val="700"/>
              </a:spcAft>
              <a:buNone/>
            </a:pPr>
            <a:r>
              <a:rPr lang="fr-FR" sz="1750" b="0" dirty="0">
                <a:solidFill>
                  <a:srgbClr val="3D3D3D"/>
                </a:solidFill>
                <a:latin typeface="Arial"/>
              </a:rPr>
              <a:t>Effectifs trop faibles pour conclure sur les petites modalités (sexe « autre », établissement « autre »).</a:t>
            </a:r>
          </a:p>
          <a:p>
            <a:pPr algn="l">
              <a:lnSpc>
                <a:spcPts val="2350"/>
              </a:lnSpc>
              <a:buNone/>
            </a:pPr>
            <a:r>
              <a:rPr lang="fr-FR" sz="1750" b="1" dirty="0">
                <a:solidFill>
                  <a:srgbClr val="1A6A77"/>
                </a:solidFill>
                <a:latin typeface="Arial"/>
              </a:rPr>
              <a:t>→ Surveiller en exploitation sur effectifs cumulés, sur plusieurs campagnes.</a:t>
            </a:r>
          </a:p>
        </p:txBody>
      </p:sp>
      <p:sp>
        <p:nvSpPr>
          <p:cNvPr id="508" name="Card 508"/>
          <p:cNvSpPr/>
          <p:nvPr/>
        </p:nvSpPr>
        <p:spPr>
          <a:xfrm>
            <a:off x="1054100" y="6197600"/>
            <a:ext cx="7874000" cy="2844800"/>
          </a:xfrm>
          <a:prstGeom prst="roundRect">
            <a:avLst>
              <a:gd name="adj" fmla="val 6000"/>
            </a:avLst>
          </a:prstGeom>
          <a:solidFill>
            <a:srgbClr val="EAF5F7"/>
          </a:solidFill>
          <a:ln>
            <a:noFill/>
          </a:ln>
        </p:spPr>
        <p:txBody>
          <a:bodyPr/>
          <a:lstStyle/>
          <a:p>
            <a:endParaRPr/>
          </a:p>
        </p:txBody>
      </p:sp>
      <p:sp>
        <p:nvSpPr>
          <p:cNvPr id="509" name="Num 509"/>
          <p:cNvSpPr/>
          <p:nvPr/>
        </p:nvSpPr>
        <p:spPr>
          <a:xfrm>
            <a:off x="1435100" y="6527800"/>
            <a:ext cx="508000" cy="508000"/>
          </a:xfrm>
          <a:prstGeom prst="ellipse">
            <a:avLst/>
          </a:prstGeom>
          <a:solidFill>
            <a:srgbClr val="1A6A77"/>
          </a:solidFill>
          <a:ln>
            <a:noFill/>
          </a:ln>
        </p:spPr>
        <p:txBody>
          <a:bodyPr lIns="0" tIns="0" rIns="0" bIns="0" anchor="ctr">
            <a:noAutofit/>
          </a:bodyPr>
          <a:lstStyle/>
          <a:p>
            <a:pPr algn="ctr">
              <a:buNone/>
            </a:pPr>
            <a:r>
              <a:rPr lang="fr-FR" sz="1600" b="1" dirty="0">
                <a:solidFill>
                  <a:srgbClr val="FFFFFF"/>
                </a:solidFill>
                <a:latin typeface="Arial"/>
              </a:rPr>
              <a:t>03</a:t>
            </a:r>
          </a:p>
        </p:txBody>
      </p:sp>
      <p:sp>
        <p:nvSpPr>
          <p:cNvPr id="510" name="TextBox 510"/>
          <p:cNvSpPr txBox="1"/>
          <p:nvPr/>
        </p:nvSpPr>
        <p:spPr>
          <a:xfrm>
            <a:off x="2146300" y="6527800"/>
            <a:ext cx="6273800" cy="508000"/>
          </a:xfrm>
          <a:prstGeom prst="rect">
            <a:avLst/>
          </a:prstGeom>
          <a:noFill/>
        </p:spPr>
        <p:txBody>
          <a:bodyPr wrap="square" lIns="0" tIns="0" rIns="0" bIns="0" anchor="ctr">
            <a:noAutofit/>
          </a:bodyPr>
          <a:lstStyle/>
          <a:p>
            <a:pPr algn="l">
              <a:lnSpc>
                <a:spcPts val="2100"/>
              </a:lnSpc>
              <a:buNone/>
            </a:pPr>
            <a:r>
              <a:rPr lang="fr-FR" sz="1900" b="1" spc="60" dirty="0">
                <a:solidFill>
                  <a:srgbClr val="1A6A77"/>
                </a:solidFill>
                <a:latin typeface="Arial"/>
              </a:rPr>
              <a:t>BASE LÉGALE ET AIPD À CONFIRMER</a:t>
            </a:r>
          </a:p>
        </p:txBody>
      </p:sp>
      <p:sp>
        <p:nvSpPr>
          <p:cNvPr id="511" name="TextBox 511"/>
          <p:cNvSpPr txBox="1"/>
          <p:nvPr/>
        </p:nvSpPr>
        <p:spPr>
          <a:xfrm>
            <a:off x="1435100" y="7366000"/>
            <a:ext cx="7112000" cy="1574800"/>
          </a:xfrm>
          <a:prstGeom prst="rect">
            <a:avLst/>
          </a:prstGeom>
          <a:noFill/>
        </p:spPr>
        <p:txBody>
          <a:bodyPr wrap="square" lIns="0" tIns="0" rIns="0" bIns="0" anchor="t">
            <a:noAutofit/>
          </a:bodyPr>
          <a:lstStyle/>
          <a:p>
            <a:pPr algn="l">
              <a:lnSpc>
                <a:spcPts val="2350"/>
              </a:lnSpc>
              <a:spcAft>
                <a:spcPts val="700"/>
              </a:spcAft>
              <a:buNone/>
            </a:pPr>
            <a:r>
              <a:rPr lang="fr-FR" sz="1750" b="0" dirty="0">
                <a:solidFill>
                  <a:srgbClr val="3D3D3D"/>
                </a:solidFill>
                <a:latin typeface="Arial"/>
              </a:rPr>
              <a:t>Les critères de l'AIPD sont réunis : évaluation ou scoring, profilage et croisement de données, sur un public d'étudiants.</a:t>
            </a:r>
          </a:p>
          <a:p>
            <a:pPr algn="l">
              <a:lnSpc>
                <a:spcPts val="2350"/>
              </a:lnSpc>
              <a:buNone/>
            </a:pPr>
            <a:r>
              <a:rPr lang="fr-FR" sz="1750" b="1" dirty="0">
                <a:solidFill>
                  <a:srgbClr val="1A6A77"/>
                </a:solidFill>
                <a:latin typeface="Arial"/>
              </a:rPr>
              <a:t>→ Base légale, AIPD et information des étudiants tranchées par le DPO avant toute mise en production.</a:t>
            </a:r>
          </a:p>
        </p:txBody>
      </p:sp>
      <p:sp>
        <p:nvSpPr>
          <p:cNvPr id="512" name="Card 512"/>
          <p:cNvSpPr/>
          <p:nvPr/>
        </p:nvSpPr>
        <p:spPr>
          <a:xfrm>
            <a:off x="9372600" y="6197600"/>
            <a:ext cx="7874000" cy="2844800"/>
          </a:xfrm>
          <a:prstGeom prst="roundRect">
            <a:avLst>
              <a:gd name="adj" fmla="val 6000"/>
            </a:avLst>
          </a:prstGeom>
          <a:solidFill>
            <a:srgbClr val="EAF5F7"/>
          </a:solidFill>
          <a:ln>
            <a:noFill/>
          </a:ln>
        </p:spPr>
        <p:txBody>
          <a:bodyPr/>
          <a:lstStyle/>
          <a:p>
            <a:endParaRPr/>
          </a:p>
        </p:txBody>
      </p:sp>
      <p:sp>
        <p:nvSpPr>
          <p:cNvPr id="513" name="Num 513"/>
          <p:cNvSpPr/>
          <p:nvPr/>
        </p:nvSpPr>
        <p:spPr>
          <a:xfrm>
            <a:off x="9753600" y="6527800"/>
            <a:ext cx="508000" cy="508000"/>
          </a:xfrm>
          <a:prstGeom prst="ellipse">
            <a:avLst/>
          </a:prstGeom>
          <a:solidFill>
            <a:srgbClr val="1A6A77"/>
          </a:solidFill>
          <a:ln>
            <a:noFill/>
          </a:ln>
        </p:spPr>
        <p:txBody>
          <a:bodyPr lIns="0" tIns="0" rIns="0" bIns="0" anchor="ctr">
            <a:noAutofit/>
          </a:bodyPr>
          <a:lstStyle/>
          <a:p>
            <a:pPr algn="ctr">
              <a:buNone/>
            </a:pPr>
            <a:r>
              <a:rPr lang="fr-FR" sz="1600" b="1" dirty="0">
                <a:solidFill>
                  <a:srgbClr val="FFFFFF"/>
                </a:solidFill>
                <a:latin typeface="Arial"/>
              </a:rPr>
              <a:t>04</a:t>
            </a:r>
          </a:p>
        </p:txBody>
      </p:sp>
      <p:sp>
        <p:nvSpPr>
          <p:cNvPr id="514" name="TextBox 514"/>
          <p:cNvSpPr txBox="1"/>
          <p:nvPr/>
        </p:nvSpPr>
        <p:spPr>
          <a:xfrm>
            <a:off x="10464800" y="6527800"/>
            <a:ext cx="6273800" cy="508000"/>
          </a:xfrm>
          <a:prstGeom prst="rect">
            <a:avLst/>
          </a:prstGeom>
          <a:noFill/>
        </p:spPr>
        <p:txBody>
          <a:bodyPr wrap="square" lIns="0" tIns="0" rIns="0" bIns="0" anchor="ctr">
            <a:noAutofit/>
          </a:bodyPr>
          <a:lstStyle/>
          <a:p>
            <a:pPr algn="l">
              <a:lnSpc>
                <a:spcPts val="2100"/>
              </a:lnSpc>
              <a:buNone/>
            </a:pPr>
            <a:r>
              <a:rPr lang="fr-FR" sz="1900" b="1" spc="60" dirty="0">
                <a:solidFill>
                  <a:srgbClr val="1A6A77"/>
                </a:solidFill>
                <a:latin typeface="Arial"/>
              </a:rPr>
              <a:t>COÛT MÉTIER NON CHIFFRÉ</a:t>
            </a:r>
          </a:p>
        </p:txBody>
      </p:sp>
      <p:sp>
        <p:nvSpPr>
          <p:cNvPr id="515" name="TextBox 515"/>
          <p:cNvSpPr txBox="1"/>
          <p:nvPr/>
        </p:nvSpPr>
        <p:spPr>
          <a:xfrm>
            <a:off x="9753600" y="7366000"/>
            <a:ext cx="7112000" cy="1574800"/>
          </a:xfrm>
          <a:prstGeom prst="rect">
            <a:avLst/>
          </a:prstGeom>
          <a:noFill/>
        </p:spPr>
        <p:txBody>
          <a:bodyPr wrap="square" lIns="0" tIns="0" rIns="0" bIns="0" anchor="t">
            <a:noAutofit/>
          </a:bodyPr>
          <a:lstStyle/>
          <a:p>
            <a:pPr algn="l">
              <a:lnSpc>
                <a:spcPts val="2350"/>
              </a:lnSpc>
              <a:spcAft>
                <a:spcPts val="700"/>
              </a:spcAft>
              <a:buNone/>
            </a:pPr>
            <a:r>
              <a:rPr lang="fr-FR" sz="1750" b="0" dirty="0">
                <a:solidFill>
                  <a:srgbClr val="3D3D3D"/>
                </a:solidFill>
                <a:latin typeface="Arial"/>
              </a:rPr>
              <a:t>Le seuil 0,42 repose sur un plancher de rappel (80 % de décrocheurs détectés), pas sur un coût mesuré (fausse alerte contre décrocheur manqué).</a:t>
            </a:r>
          </a:p>
          <a:p>
            <a:pPr algn="l">
              <a:lnSpc>
                <a:spcPts val="2350"/>
              </a:lnSpc>
              <a:buNone/>
            </a:pPr>
            <a:r>
              <a:rPr lang="fr-FR" sz="1750" b="1" dirty="0">
                <a:solidFill>
                  <a:srgbClr val="1A6A77"/>
                </a:solidFill>
                <a:latin typeface="Arial"/>
              </a:rPr>
              <a:t>→ Chiffrer avec la direction : ROI de l'accompagnement ou objectif de rappel.</a:t>
            </a:r>
          </a:p>
        </p:txBody>
      </p:sp>
      <p:sp>
        <p:nvSpPr>
          <p:cNvPr id="700" name="Rule 700"/>
          <p:cNvSpPr/>
          <p:nvPr/>
        </p:nvSpPr>
        <p:spPr>
          <a:xfrm>
            <a:off x="1054100" y="2743200"/>
            <a:ext cx="1143000" cy="38100"/>
          </a:xfrm>
          <a:prstGeom prst="rect">
            <a:avLst/>
          </a:prstGeom>
          <a:solidFill>
            <a:srgbClr val="56B9CA"/>
          </a:solidFill>
          <a:ln>
            <a:noFill/>
          </a:ln>
        </p:spPr>
        <p:txBody>
          <a:bodyPr/>
          <a:lstStyle/>
          <a:p>
            <a:endParaRPr/>
          </a:p>
        </p:txBody>
      </p:sp>
    </p:spTree>
    <p:extLst>
      <p:ext uri="{BB962C8B-B14F-4D97-AF65-F5344CB8AC3E}">
        <p14:creationId xmlns:p14="http://schemas.microsoft.com/office/powerpoint/2010/main" val="13158135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teal.png"/>
          <p:cNvPicPr>
            <a:picLocks noChangeAspect="1"/>
          </p:cNvPicPr>
          <p:nvPr/>
        </p:nvPicPr>
        <p:blipFill>
          <a:blip r:embed="rId3"/>
          <a:stretch>
            <a:fillRect/>
          </a:stretch>
        </p:blipFill>
        <p:spPr>
          <a:xfrm>
            <a:off x="1047750" y="804863"/>
            <a:ext cx="320040" cy="320040"/>
          </a:xfrm>
          <a:prstGeom prst="rect">
            <a:avLst/>
          </a:prstGeom>
        </p:spPr>
      </p:pic>
      <p:sp>
        <p:nvSpPr>
          <p:cNvPr id="3" name="TextBox 2"/>
          <p:cNvSpPr txBox="1"/>
          <p:nvPr/>
        </p:nvSpPr>
        <p:spPr>
          <a:xfrm>
            <a:off x="1543050" y="828675"/>
            <a:ext cx="12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ACTE 07 · DURER ET ALLER PLUS LOIN</a:t>
            </a:r>
          </a:p>
        </p:txBody>
      </p:sp>
      <p:sp>
        <p:nvSpPr>
          <p:cNvPr id="4" name="TextBox 3"/>
          <p:cNvSpPr txBox="1"/>
          <p:nvPr/>
        </p:nvSpPr>
        <p:spPr>
          <a:xfrm>
            <a:off x="1047750" y="1625600"/>
            <a:ext cx="16192500" cy="736600"/>
          </a:xfrm>
          <a:prstGeom prst="rect">
            <a:avLst/>
          </a:prstGeom>
          <a:noFill/>
        </p:spPr>
        <p:txBody>
          <a:bodyPr wrap="square" lIns="27432" tIns="27432" rIns="27432" bIns="27432" anchor="t">
            <a:noAutofit/>
          </a:bodyPr>
          <a:lstStyle/>
          <a:p>
            <a:pPr algn="l">
              <a:lnSpc>
                <a:spcPct val="100000"/>
              </a:lnSpc>
            </a:pPr>
            <a:r>
              <a:rPr lang="fr-FR" sz="4000" b="1" spc="-45" dirty="0">
                <a:solidFill>
                  <a:srgbClr val="000000"/>
                </a:solidFill>
                <a:latin typeface="Arial"/>
              </a:rPr>
              <a:t>Cibler l'accompagnement, pas seulement le risque</a:t>
            </a:r>
          </a:p>
        </p:txBody>
      </p:sp>
      <p:sp>
        <p:nvSpPr>
          <p:cNvPr id="5" name="Rectangle 4"/>
          <p:cNvSpPr/>
          <p:nvPr/>
        </p:nvSpPr>
        <p:spPr>
          <a:xfrm>
            <a:off x="1047750" y="2565400"/>
            <a:ext cx="1143000" cy="19050"/>
          </a:xfrm>
          <a:prstGeom prst="rect">
            <a:avLst/>
          </a:prstGeom>
          <a:solidFill>
            <a:srgbClr val="56B9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7" name="TextBox 6"/>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35</a:t>
            </a:r>
            <a:endParaRPr lang="fr-FR" sz="1400" b="1" noProof="0" dirty="0">
              <a:solidFill>
                <a:srgbClr val="56B9CA"/>
              </a:solidFill>
              <a:latin typeface="Arial"/>
              <a:cs typeface="Arial"/>
            </a:endParaRPr>
          </a:p>
        </p:txBody>
      </p:sp>
      <p:sp>
        <p:nvSpPr>
          <p:cNvPr id="8" name="Rounded Rectangle 7"/>
          <p:cNvSpPr/>
          <p:nvPr/>
        </p:nvSpPr>
        <p:spPr>
          <a:xfrm>
            <a:off x="1054100" y="4191000"/>
            <a:ext cx="7112000" cy="4445000"/>
          </a:xfrm>
          <a:prstGeom prst="roundRect">
            <a:avLst>
              <a:gd name="adj" fmla="val 4000"/>
            </a:avLst>
          </a:prstGeom>
          <a:solidFill>
            <a:srgbClr val="E4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9" name="TextBox 8"/>
          <p:cNvSpPr txBox="1"/>
          <p:nvPr/>
        </p:nvSpPr>
        <p:spPr>
          <a:xfrm>
            <a:off x="1435100" y="4546600"/>
            <a:ext cx="6350000" cy="330200"/>
          </a:xfrm>
          <a:prstGeom prst="rect">
            <a:avLst/>
          </a:prstGeom>
          <a:noFill/>
        </p:spPr>
        <p:txBody>
          <a:bodyPr wrap="square" lIns="27432" tIns="27432" rIns="27432" bIns="27432" anchor="t">
            <a:noAutofit/>
          </a:bodyPr>
          <a:lstStyle/>
          <a:p>
            <a:pPr algn="l"/>
            <a:r>
              <a:rPr lang="fr-FR" sz="1800" b="1" spc="162" dirty="0">
                <a:solidFill>
                  <a:srgbClr val="1A6A77"/>
                </a:solidFill>
                <a:latin typeface="Arial"/>
              </a:rPr>
              <a:t>LE MANQUE ACTUEL</a:t>
            </a:r>
          </a:p>
        </p:txBody>
      </p:sp>
      <p:sp>
        <p:nvSpPr>
          <p:cNvPr id="10" name="TextBox 9"/>
          <p:cNvSpPr txBox="1"/>
          <p:nvPr/>
        </p:nvSpPr>
        <p:spPr>
          <a:xfrm>
            <a:off x="1435100" y="5130800"/>
            <a:ext cx="6350000" cy="3238500"/>
          </a:xfrm>
          <a:prstGeom prst="rect">
            <a:avLst/>
          </a:prstGeom>
          <a:noFill/>
        </p:spPr>
        <p:txBody>
          <a:bodyPr wrap="square" lIns="27432" tIns="27432" rIns="27432" bIns="27432" anchor="t">
            <a:noAutofit/>
          </a:bodyPr>
          <a:lstStyle/>
          <a:p>
            <a:pPr algn="l">
              <a:lnSpc>
                <a:spcPct val="132000"/>
              </a:lnSpc>
              <a:spcAft>
                <a:spcPts val="1200"/>
              </a:spcAft>
            </a:pPr>
            <a:r>
              <a:rPr lang="fr-FR" sz="2200" b="1" dirty="0">
                <a:solidFill>
                  <a:srgbClr val="1A6A77"/>
                </a:solidFill>
                <a:latin typeface="Arial"/>
              </a:rPr>
              <a:t>On prédit l'abandon, on ne cible pas l'accompagnement.</a:t>
            </a:r>
          </a:p>
          <a:p>
            <a:pPr algn="l">
              <a:lnSpc>
                <a:spcPct val="132000"/>
              </a:lnSpc>
              <a:spcAft>
                <a:spcPts val="1200"/>
              </a:spcAft>
            </a:pPr>
            <a:r>
              <a:rPr lang="fr-FR" sz="1900" b="0" dirty="0">
                <a:solidFill>
                  <a:srgbClr val="4A4A4A"/>
                </a:solidFill>
                <a:latin typeface="Arial"/>
              </a:rPr>
              <a:t>Le modèle désigne qui est à risque — pas qui serait effectivement aidé, ni par quel dispositif.</a:t>
            </a:r>
          </a:p>
          <a:p>
            <a:pPr algn="l">
              <a:lnSpc>
                <a:spcPct val="132000"/>
              </a:lnSpc>
              <a:spcAft>
                <a:spcPts val="1200"/>
              </a:spcAft>
            </a:pPr>
            <a:r>
              <a:rPr lang="fr-FR" sz="1900" b="0" dirty="0">
                <a:solidFill>
                  <a:srgbClr val="4A4A4A"/>
                </a:solidFill>
                <a:latin typeface="Arial"/>
              </a:rPr>
              <a:t>Deux étudiants au même score ne tirent pas le même bénéfice d'un tutorat.</a:t>
            </a:r>
          </a:p>
        </p:txBody>
      </p:sp>
      <p:sp>
        <p:nvSpPr>
          <p:cNvPr id="11" name="Rounded Rectangle 10"/>
          <p:cNvSpPr/>
          <p:nvPr/>
        </p:nvSpPr>
        <p:spPr>
          <a:xfrm>
            <a:off x="9652000" y="4191000"/>
            <a:ext cx="7594600" cy="2095500"/>
          </a:xfrm>
          <a:prstGeom prst="roundRect">
            <a:avLst>
              <a:gd name="adj" fmla="val 4000"/>
            </a:avLst>
          </a:prstGeom>
          <a:solidFill>
            <a:srgbClr val="E4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2" name="TextBox 11"/>
          <p:cNvSpPr txBox="1"/>
          <p:nvPr/>
        </p:nvSpPr>
        <p:spPr>
          <a:xfrm>
            <a:off x="10033000" y="4521200"/>
            <a:ext cx="6832600" cy="330200"/>
          </a:xfrm>
          <a:prstGeom prst="rect">
            <a:avLst/>
          </a:prstGeom>
          <a:noFill/>
        </p:spPr>
        <p:txBody>
          <a:bodyPr wrap="square" lIns="27432" tIns="27432" rIns="27432" bIns="27432" anchor="t">
            <a:noAutofit/>
          </a:bodyPr>
          <a:lstStyle/>
          <a:p>
            <a:pPr algn="l"/>
            <a:r>
              <a:rPr lang="fr-FR" sz="1800" b="1" spc="162" dirty="0">
                <a:solidFill>
                  <a:srgbClr val="1A6A77"/>
                </a:solidFill>
                <a:latin typeface="Arial"/>
              </a:rPr>
              <a:t>CIBLE 1 — CONSEILLER L'ACCOMPAGNEMENT</a:t>
            </a:r>
          </a:p>
        </p:txBody>
      </p:sp>
      <p:sp>
        <p:nvSpPr>
          <p:cNvPr id="13" name="TextBox 12"/>
          <p:cNvSpPr txBox="1"/>
          <p:nvPr/>
        </p:nvSpPr>
        <p:spPr>
          <a:xfrm>
            <a:off x="10033000" y="5054600"/>
            <a:ext cx="6832600" cy="1143000"/>
          </a:xfrm>
          <a:prstGeom prst="rect">
            <a:avLst/>
          </a:prstGeom>
          <a:noFill/>
        </p:spPr>
        <p:txBody>
          <a:bodyPr wrap="square" lIns="27432" tIns="27432" rIns="27432" bIns="27432" anchor="t">
            <a:noAutofit/>
          </a:bodyPr>
          <a:lstStyle/>
          <a:p>
            <a:pPr algn="l">
              <a:lnSpc>
                <a:spcPct val="126000"/>
              </a:lnSpc>
              <a:spcAft>
                <a:spcPts val="700"/>
              </a:spcAft>
            </a:pPr>
            <a:r>
              <a:rPr lang="fr-FR" sz="1700" b="0" dirty="0">
                <a:solidFill>
                  <a:srgbClr val="4A4A4A"/>
                </a:solidFill>
                <a:latin typeface="Arial"/>
              </a:rPr>
              <a:t>Prédire si un accompagnement changerait l'issue, à partir de l'historique des accompagnements passés.</a:t>
            </a:r>
          </a:p>
          <a:p>
            <a:pPr algn="l">
              <a:lnSpc>
                <a:spcPct val="126000"/>
              </a:lnSpc>
              <a:spcAft>
                <a:spcPts val="700"/>
              </a:spcAft>
            </a:pPr>
            <a:r>
              <a:rPr lang="fr-FR" sz="1700" b="1" dirty="0">
                <a:solidFill>
                  <a:srgbClr val="1A6A77"/>
                </a:solidFill>
                <a:latin typeface="Arial"/>
              </a:rPr>
              <a:t>Classification binaire.</a:t>
            </a:r>
          </a:p>
        </p:txBody>
      </p:sp>
      <p:sp>
        <p:nvSpPr>
          <p:cNvPr id="14" name="Rounded Rectangle 13"/>
          <p:cNvSpPr/>
          <p:nvPr/>
        </p:nvSpPr>
        <p:spPr>
          <a:xfrm>
            <a:off x="9652000" y="6540500"/>
            <a:ext cx="7594600" cy="2095500"/>
          </a:xfrm>
          <a:prstGeom prst="roundRect">
            <a:avLst>
              <a:gd name="adj" fmla="val 4000"/>
            </a:avLst>
          </a:prstGeom>
          <a:solidFill>
            <a:srgbClr val="E4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fr-FR" noProof="0" dirty="0"/>
          </a:p>
        </p:txBody>
      </p:sp>
      <p:sp>
        <p:nvSpPr>
          <p:cNvPr id="15" name="TextBox 14"/>
          <p:cNvSpPr txBox="1"/>
          <p:nvPr/>
        </p:nvSpPr>
        <p:spPr>
          <a:xfrm>
            <a:off x="10033000" y="6870700"/>
            <a:ext cx="6832600" cy="330200"/>
          </a:xfrm>
          <a:prstGeom prst="rect">
            <a:avLst/>
          </a:prstGeom>
          <a:noFill/>
        </p:spPr>
        <p:txBody>
          <a:bodyPr wrap="square" lIns="27432" tIns="27432" rIns="27432" bIns="27432" anchor="t">
            <a:noAutofit/>
          </a:bodyPr>
          <a:lstStyle/>
          <a:p>
            <a:pPr algn="l"/>
            <a:r>
              <a:rPr lang="fr-FR" sz="1800" b="1" spc="162" dirty="0">
                <a:solidFill>
                  <a:srgbClr val="1A6A77"/>
                </a:solidFill>
                <a:latin typeface="Arial"/>
              </a:rPr>
              <a:t>CIBLE 2 — TYPE D'ACCOMPAGNEMENT</a:t>
            </a:r>
          </a:p>
        </p:txBody>
      </p:sp>
      <p:sp>
        <p:nvSpPr>
          <p:cNvPr id="16" name="TextBox 15"/>
          <p:cNvSpPr txBox="1"/>
          <p:nvPr/>
        </p:nvSpPr>
        <p:spPr>
          <a:xfrm>
            <a:off x="10033000" y="7404100"/>
            <a:ext cx="6832600" cy="1143000"/>
          </a:xfrm>
          <a:prstGeom prst="rect">
            <a:avLst/>
          </a:prstGeom>
          <a:noFill/>
        </p:spPr>
        <p:txBody>
          <a:bodyPr wrap="square" lIns="27432" tIns="27432" rIns="27432" bIns="27432" anchor="t">
            <a:noAutofit/>
          </a:bodyPr>
          <a:lstStyle/>
          <a:p>
            <a:pPr algn="l">
              <a:lnSpc>
                <a:spcPct val="126000"/>
              </a:lnSpc>
              <a:spcAft>
                <a:spcPts val="700"/>
              </a:spcAft>
            </a:pPr>
            <a:r>
              <a:rPr lang="fr-FR" sz="1700" b="0" dirty="0">
                <a:solidFill>
                  <a:srgbClr val="4A4A4A"/>
                </a:solidFill>
                <a:latin typeface="Arial"/>
              </a:rPr>
              <a:t>Suggérer lequel : tutorat, aide méthodologique, aide financière.</a:t>
            </a:r>
          </a:p>
          <a:p>
            <a:pPr algn="l">
              <a:lnSpc>
                <a:spcPct val="126000"/>
              </a:lnSpc>
              <a:spcAft>
                <a:spcPts val="700"/>
              </a:spcAft>
            </a:pPr>
            <a:r>
              <a:rPr lang="fr-FR" sz="1700" b="1" dirty="0">
                <a:solidFill>
                  <a:srgbClr val="1A6A77"/>
                </a:solidFill>
                <a:latin typeface="Arial"/>
              </a:rPr>
              <a:t>Classification multi-classe.</a:t>
            </a:r>
          </a:p>
        </p:txBody>
      </p:sp>
      <p:sp>
        <p:nvSpPr>
          <p:cNvPr id="70" name="TextBox Lead"/>
          <p:cNvSpPr txBox="1"/>
          <p:nvPr/>
        </p:nvSpPr>
        <p:spPr>
          <a:xfrm>
            <a:off x="1054100" y="3098800"/>
            <a:ext cx="16192500" cy="584200"/>
          </a:xfrm>
          <a:prstGeom prst="rect">
            <a:avLst/>
          </a:prstGeom>
          <a:noFill/>
        </p:spPr>
        <p:txBody>
          <a:bodyPr wrap="square" lIns="0" tIns="0" rIns="0" bIns="0" anchor="t">
            <a:noAutofit/>
          </a:bodyPr>
          <a:lstStyle/>
          <a:p>
            <a:pPr algn="l">
              <a:lnSpc>
                <a:spcPct val="126000"/>
              </a:lnSpc>
              <a:spcAft>
                <a:spcPts val="700"/>
              </a:spcAft>
            </a:pPr>
            <a:r>
              <a:rPr lang="fr-FR" sz="1800" b="0" dirty="0">
                <a:solidFill>
                  <a:srgbClr val="3F3F3F"/>
                </a:solidFill>
                <a:latin typeface="Arial"/>
              </a:rPr>
              <a:t>Le modèle répond à « qui risque d'abandonner ». Il ne répond pas encore à « qui aider, et comment ». Deux cibles à construire.</a:t>
            </a:r>
          </a:p>
        </p:txBody>
      </p:sp>
      <p:sp>
        <p:nvSpPr>
          <p:cNvPr id="201" name="Arrow 201"/>
          <p:cNvSpPr/>
          <p:nvPr/>
        </p:nvSpPr>
        <p:spPr>
          <a:xfrm>
            <a:off x="8483600" y="5041900"/>
            <a:ext cx="939800" cy="381000"/>
          </a:xfrm>
          <a:prstGeom prst="rightArrow">
            <a:avLst>
              <a:gd name="adj1" fmla="val 55000"/>
              <a:gd name="adj2" fmla="val 50000"/>
            </a:avLst>
          </a:prstGeom>
          <a:solidFill>
            <a:srgbClr val="1A6A77"/>
          </a:solidFill>
          <a:ln>
            <a:noFill/>
          </a:ln>
        </p:spPr>
        <p:txBody>
          <a:bodyPr/>
          <a:lstStyle/>
          <a:p>
            <a:endParaRPr/>
          </a:p>
        </p:txBody>
      </p:sp>
      <p:sp>
        <p:nvSpPr>
          <p:cNvPr id="202" name="Arrow 202"/>
          <p:cNvSpPr/>
          <p:nvPr/>
        </p:nvSpPr>
        <p:spPr>
          <a:xfrm>
            <a:off x="8483600" y="7391400"/>
            <a:ext cx="939800" cy="381000"/>
          </a:xfrm>
          <a:prstGeom prst="rightArrow">
            <a:avLst>
              <a:gd name="adj1" fmla="val 55000"/>
              <a:gd name="adj2" fmla="val 50000"/>
            </a:avLst>
          </a:prstGeom>
          <a:solidFill>
            <a:srgbClr val="1A6A77"/>
          </a:solidFill>
          <a:ln>
            <a:noFill/>
          </a:ln>
        </p:spPr>
        <p:txBody>
          <a:bodyPr/>
          <a:lstStyle/>
          <a:p>
            <a:endParaRPr/>
          </a:p>
        </p:txBody>
      </p:sp>
    </p:spTree>
    <p:extLst>
      <p:ext uri="{BB962C8B-B14F-4D97-AF65-F5344CB8AC3E}">
        <p14:creationId xmlns:p14="http://schemas.microsoft.com/office/powerpoint/2010/main" val="32273744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56B9CA"/>
        </a:solidFill>
        <a:effectLst/>
      </p:bgPr>
    </p:bg>
    <p:spTree>
      <p:nvGrpSpPr>
        <p:cNvPr id="1" name=""/>
        <p:cNvGrpSpPr/>
        <p:nvPr/>
      </p:nvGrpSpPr>
      <p:grpSpPr>
        <a:xfrm>
          <a:off x="0" y="0"/>
          <a:ext cx="0" cy="0"/>
          <a:chOff x="0" y="0"/>
          <a:chExt cx="0" cy="0"/>
        </a:xfrm>
      </p:grpSpPr>
      <p:sp>
        <p:nvSpPr>
          <p:cNvPr id="2" name="TextBox 1"/>
          <p:cNvSpPr txBox="1"/>
          <p:nvPr/>
        </p:nvSpPr>
        <p:spPr>
          <a:xfrm>
            <a:off x="13076188" y="723900"/>
            <a:ext cx="4894793" cy="4038600"/>
          </a:xfrm>
          <a:prstGeom prst="rect">
            <a:avLst/>
          </a:prstGeom>
          <a:noFill/>
        </p:spPr>
        <p:txBody>
          <a:bodyPr wrap="square" lIns="27432" tIns="27432" rIns="27432" bIns="27432" anchor="t">
            <a:noAutofit/>
          </a:bodyPr>
          <a:lstStyle/>
          <a:p>
            <a:pPr algn="l">
              <a:lnSpc>
                <a:spcPct val="70950"/>
              </a:lnSpc>
            </a:pPr>
            <a:r>
              <a:rPr lang="fr-FR" sz="31500" b="1" noProof="0" dirty="0">
                <a:solidFill>
                  <a:srgbClr val="FFFFFF"/>
                </a:solidFill>
                <a:latin typeface="Arial"/>
              </a:rPr>
              <a:t>08</a:t>
            </a:r>
          </a:p>
        </p:txBody>
      </p:sp>
      <p:sp>
        <p:nvSpPr>
          <p:cNvPr id="4" name="TextBox 3"/>
          <p:cNvSpPr txBox="1"/>
          <p:nvPr/>
        </p:nvSpPr>
        <p:spPr>
          <a:xfrm>
            <a:off x="1047750" y="1609725"/>
            <a:ext cx="11582400" cy="852202"/>
          </a:xfrm>
          <a:prstGeom prst="rect">
            <a:avLst/>
          </a:prstGeom>
          <a:noFill/>
        </p:spPr>
        <p:txBody>
          <a:bodyPr wrap="square" lIns="27432" tIns="27432" rIns="27432" bIns="27432" anchor="t">
            <a:noAutofit/>
          </a:bodyPr>
          <a:lstStyle/>
          <a:p>
            <a:pPr algn="l">
              <a:lnSpc>
                <a:spcPct val="74520"/>
              </a:lnSpc>
            </a:pPr>
            <a:r>
              <a:rPr lang="fr-FR" sz="6900" b="1" spc="-124" noProof="0" dirty="0">
                <a:solidFill>
                  <a:srgbClr val="FFFFFF"/>
                </a:solidFill>
                <a:latin typeface="Arial"/>
              </a:rPr>
              <a:t>Annexes</a:t>
            </a:r>
          </a:p>
        </p:txBody>
      </p:sp>
      <p:sp>
        <p:nvSpPr>
          <p:cNvPr id="5" name="TextBox 4"/>
          <p:cNvSpPr txBox="1"/>
          <p:nvPr/>
        </p:nvSpPr>
        <p:spPr>
          <a:xfrm>
            <a:off x="1047750" y="3014663"/>
            <a:ext cx="15240000" cy="1270000"/>
          </a:xfrm>
          <a:prstGeom prst="rect">
            <a:avLst/>
          </a:prstGeom>
          <a:noFill/>
        </p:spPr>
        <p:txBody>
          <a:bodyPr wrap="square" lIns="27432" tIns="27432" rIns="27432" bIns="27432" anchor="t">
            <a:noAutofit/>
          </a:bodyPr>
          <a:lstStyle/>
          <a:p>
            <a:pPr algn="l">
              <a:lnSpc>
                <a:spcPct val="128140"/>
              </a:lnSpc>
            </a:pPr>
            <a:r>
              <a:rPr lang="fr-FR" sz="2850" b="0" noProof="0" dirty="0">
                <a:solidFill>
                  <a:srgbClr val="FFFFFF"/>
                </a:solidFill>
                <a:latin typeface="Arial"/>
              </a:rPr>
              <a:t>Détails techniques et compléments</a:t>
            </a:r>
          </a:p>
        </p:txBody>
      </p:sp>
      <p:sp>
        <p:nvSpPr>
          <p:cNvPr id="6" name="TextBox 5"/>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FFFFFF"/>
                </a:solidFill>
                <a:latin typeface="Arial"/>
                <a:cs typeface="Arial"/>
              </a:rPr>
              <a:t>36</a:t>
            </a:r>
            <a:endParaRPr lang="fr-FR" sz="1400" b="1" noProof="0" dirty="0">
              <a:solidFill>
                <a:srgbClr val="FFFFFF"/>
              </a:solidFill>
              <a:latin typeface="Arial"/>
              <a:cs typeface="Arial"/>
            </a:endParaRPr>
          </a:p>
        </p:txBody>
      </p:sp>
    </p:spTree>
    <p:extLst>
      <p:ext uri="{BB962C8B-B14F-4D97-AF65-F5344CB8AC3E}">
        <p14:creationId xmlns:p14="http://schemas.microsoft.com/office/powerpoint/2010/main" val="1116357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000000"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Annexe A1 : Liste des décisions (1/6)</a:t>
            </a:r>
          </a:p>
        </p:txBody>
      </p:sp>
      <p:sp>
        <p:nvSpPr>
          <p:cNvPr id="103" name="T103"/>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44 décisions tranchées · D01 à D08</a:t>
            </a:r>
          </a:p>
        </p:txBody>
      </p:sp>
      <p:sp>
        <p:nvSpPr>
          <p:cNvPr id="106" name="T106"/>
          <p:cNvSpPr txBox="1"/>
          <p:nvPr/>
        </p:nvSpPr>
        <p:spPr>
          <a:xfrm>
            <a:off x="1047750" y="1778000"/>
            <a:ext cx="1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RÉF.</a:t>
            </a:r>
          </a:p>
        </p:txBody>
      </p:sp>
      <p:sp>
        <p:nvSpPr>
          <p:cNvPr id="107" name="T107"/>
          <p:cNvSpPr txBox="1"/>
          <p:nvPr/>
        </p:nvSpPr>
        <p:spPr>
          <a:xfrm>
            <a:off x="2200000" y="1778000"/>
            <a:ext cx="1504025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DESCRIPTION ET CHOIX</a:t>
            </a:r>
          </a:p>
        </p:txBody>
      </p:sp>
      <p:sp>
        <p:nvSpPr>
          <p:cNvPr id="108" name="R108"/>
          <p:cNvSpPr/>
          <p:nvPr/>
        </p:nvSpPr>
        <p:spPr>
          <a:xfrm>
            <a:off x="1047750" y="2159000"/>
            <a:ext cx="16192500" cy="9525"/>
          </a:xfrm>
          <a:prstGeom prst="rect">
            <a:avLst/>
          </a:prstGeom>
          <a:solidFill>
            <a:srgbClr val="E2E8F0"/>
          </a:solidFill>
          <a:ln>
            <a:noFill/>
          </a:ln>
        </p:spPr>
        <p:txBody>
          <a:bodyPr rtlCol="0" anchor="ctr"/>
          <a:lstStyle/>
          <a:p>
            <a:endParaRPr lang="fr-FR" dirty="0"/>
          </a:p>
        </p:txBody>
      </p:sp>
      <p:sp>
        <p:nvSpPr>
          <p:cNvPr id="109" name="T109"/>
          <p:cNvSpPr txBox="1"/>
          <p:nvPr/>
        </p:nvSpPr>
        <p:spPr>
          <a:xfrm>
            <a:off x="1047750" y="22352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D01</a:t>
            </a:r>
          </a:p>
        </p:txBody>
      </p:sp>
      <p:sp>
        <p:nvSpPr>
          <p:cNvPr id="110" name="T110"/>
          <p:cNvSpPr txBox="1"/>
          <p:nvPr/>
        </p:nvSpPr>
        <p:spPr>
          <a:xfrm>
            <a:off x="2200000" y="22352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Les jeux de données doivent-ils entrer dans le dépôt ? — Données hors dépôt ; approvisionnement documenté (README).</a:t>
            </a:r>
          </a:p>
        </p:txBody>
      </p:sp>
      <p:sp>
        <p:nvSpPr>
          <p:cNvPr id="111" name="R111"/>
          <p:cNvSpPr/>
          <p:nvPr/>
        </p:nvSpPr>
        <p:spPr>
          <a:xfrm>
            <a:off x="1047750" y="3022600"/>
            <a:ext cx="16192500" cy="9525"/>
          </a:xfrm>
          <a:prstGeom prst="rect">
            <a:avLst/>
          </a:prstGeom>
          <a:solidFill>
            <a:srgbClr val="E2E8F0"/>
          </a:solidFill>
          <a:ln>
            <a:noFill/>
          </a:ln>
        </p:spPr>
        <p:txBody>
          <a:bodyPr rtlCol="0" anchor="ctr"/>
          <a:lstStyle/>
          <a:p>
            <a:endParaRPr lang="fr-FR" dirty="0"/>
          </a:p>
        </p:txBody>
      </p:sp>
      <p:sp>
        <p:nvSpPr>
          <p:cNvPr id="112" name="T112"/>
          <p:cNvSpPr txBox="1"/>
          <p:nvPr/>
        </p:nvSpPr>
        <p:spPr>
          <a:xfrm>
            <a:off x="1047750" y="30988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D02</a:t>
            </a:r>
          </a:p>
        </p:txBody>
      </p:sp>
      <p:sp>
        <p:nvSpPr>
          <p:cNvPr id="113" name="T113"/>
          <p:cNvSpPr txBox="1"/>
          <p:nvPr/>
        </p:nvSpPr>
        <p:spPr>
          <a:xfrm>
            <a:off x="2200000" y="30988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À quelles conditions recourir à l'assistance IA (Claude Code) ? — Socle IA cadré, human-in-the-loop : l'humain tranche, agents en lecture seule.</a:t>
            </a:r>
          </a:p>
        </p:txBody>
      </p:sp>
      <p:sp>
        <p:nvSpPr>
          <p:cNvPr id="114" name="R114"/>
          <p:cNvSpPr/>
          <p:nvPr/>
        </p:nvSpPr>
        <p:spPr>
          <a:xfrm>
            <a:off x="1047750" y="3886200"/>
            <a:ext cx="16192500" cy="9525"/>
          </a:xfrm>
          <a:prstGeom prst="rect">
            <a:avLst/>
          </a:prstGeom>
          <a:solidFill>
            <a:srgbClr val="E2E8F0"/>
          </a:solidFill>
          <a:ln>
            <a:noFill/>
          </a:ln>
        </p:spPr>
        <p:txBody>
          <a:bodyPr rtlCol="0" anchor="ctr"/>
          <a:lstStyle/>
          <a:p>
            <a:endParaRPr lang="fr-FR" dirty="0"/>
          </a:p>
        </p:txBody>
      </p:sp>
      <p:sp>
        <p:nvSpPr>
          <p:cNvPr id="115" name="T115"/>
          <p:cNvSpPr txBox="1"/>
          <p:nvPr/>
        </p:nvSpPr>
        <p:spPr>
          <a:xfrm>
            <a:off x="1047750" y="39624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D03</a:t>
            </a:r>
          </a:p>
        </p:txBody>
      </p:sp>
      <p:sp>
        <p:nvSpPr>
          <p:cNvPr id="116" name="T116"/>
          <p:cNvSpPr txBox="1"/>
          <p:nvPr/>
        </p:nvSpPr>
        <p:spPr>
          <a:xfrm>
            <a:off x="2200000" y="39624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Comment pondérer un décrochage manqué (FN) et un signalement à tort (FP) ? — Asymétrie qualitative FN ≫ FP ; départage sur ROC-AUC (indépendante du seuil), complétée par la PR-AUC pour la classe minoritaire.</a:t>
            </a:r>
          </a:p>
        </p:txBody>
      </p:sp>
      <p:sp>
        <p:nvSpPr>
          <p:cNvPr id="117" name="R117"/>
          <p:cNvSpPr/>
          <p:nvPr/>
        </p:nvSpPr>
        <p:spPr>
          <a:xfrm>
            <a:off x="1047750" y="4749800"/>
            <a:ext cx="16192500" cy="9525"/>
          </a:xfrm>
          <a:prstGeom prst="rect">
            <a:avLst/>
          </a:prstGeom>
          <a:solidFill>
            <a:srgbClr val="E2E8F0"/>
          </a:solidFill>
          <a:ln>
            <a:noFill/>
          </a:ln>
        </p:spPr>
        <p:txBody>
          <a:bodyPr rtlCol="0" anchor="ctr"/>
          <a:lstStyle/>
          <a:p>
            <a:endParaRPr lang="fr-FR" dirty="0"/>
          </a:p>
        </p:txBody>
      </p:sp>
      <p:sp>
        <p:nvSpPr>
          <p:cNvPr id="118" name="T118"/>
          <p:cNvSpPr txBox="1"/>
          <p:nvPr/>
        </p:nvSpPr>
        <p:spPr>
          <a:xfrm>
            <a:off x="1047750" y="48260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D04</a:t>
            </a:r>
          </a:p>
        </p:txBody>
      </p:sp>
      <p:sp>
        <p:nvSpPr>
          <p:cNvPr id="119" name="T119"/>
          <p:cNvSpPr txBox="1"/>
          <p:nvPr/>
        </p:nvSpPr>
        <p:spPr>
          <a:xfrm>
            <a:off x="2200000" y="48260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 seuil de décision retenir ? — Plancher de rappel 80 % comme défaut de travail ; seuil externe et configurable, fixé sur les probabilités OOF ; §12 en mesure l'effet sur le test.</a:t>
            </a:r>
          </a:p>
        </p:txBody>
      </p:sp>
      <p:sp>
        <p:nvSpPr>
          <p:cNvPr id="120" name="R120"/>
          <p:cNvSpPr/>
          <p:nvPr/>
        </p:nvSpPr>
        <p:spPr>
          <a:xfrm>
            <a:off x="1047750" y="5613400"/>
            <a:ext cx="16192500" cy="9525"/>
          </a:xfrm>
          <a:prstGeom prst="rect">
            <a:avLst/>
          </a:prstGeom>
          <a:solidFill>
            <a:srgbClr val="E2E8F0"/>
          </a:solidFill>
          <a:ln>
            <a:noFill/>
          </a:ln>
        </p:spPr>
        <p:txBody>
          <a:bodyPr rtlCol="0" anchor="ctr"/>
          <a:lstStyle/>
          <a:p>
            <a:endParaRPr lang="fr-FR" dirty="0"/>
          </a:p>
        </p:txBody>
      </p:sp>
      <p:sp>
        <p:nvSpPr>
          <p:cNvPr id="121" name="T121"/>
          <p:cNvSpPr txBox="1"/>
          <p:nvPr/>
        </p:nvSpPr>
        <p:spPr>
          <a:xfrm>
            <a:off x="1047750" y="56896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D05</a:t>
            </a:r>
          </a:p>
        </p:txBody>
      </p:sp>
      <p:sp>
        <p:nvSpPr>
          <p:cNvPr id="122" name="T122"/>
          <p:cNvSpPr txBox="1"/>
          <p:nvPr/>
        </p:nvSpPr>
        <p:spPr>
          <a:xfrm>
            <a:off x="2200000" y="56896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L'explicabilité : quel impact sur la solution et le choix du modèle ? — Contrainte de conception : restitution SHAP globale + locale ; critère du choix de modèle.</a:t>
            </a:r>
          </a:p>
        </p:txBody>
      </p:sp>
      <p:sp>
        <p:nvSpPr>
          <p:cNvPr id="123" name="R123"/>
          <p:cNvSpPr/>
          <p:nvPr/>
        </p:nvSpPr>
        <p:spPr>
          <a:xfrm>
            <a:off x="1047750" y="6477000"/>
            <a:ext cx="16192500" cy="9525"/>
          </a:xfrm>
          <a:prstGeom prst="rect">
            <a:avLst/>
          </a:prstGeom>
          <a:solidFill>
            <a:srgbClr val="E2E8F0"/>
          </a:solidFill>
          <a:ln>
            <a:noFill/>
          </a:ln>
        </p:spPr>
        <p:txBody>
          <a:bodyPr rtlCol="0" anchor="ctr"/>
          <a:lstStyle/>
          <a:p>
            <a:endParaRPr lang="fr-FR" dirty="0"/>
          </a:p>
        </p:txBody>
      </p:sp>
      <p:sp>
        <p:nvSpPr>
          <p:cNvPr id="124" name="T124"/>
          <p:cNvSpPr txBox="1"/>
          <p:nvPr/>
        </p:nvSpPr>
        <p:spPr>
          <a:xfrm>
            <a:off x="1047750" y="65532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D06</a:t>
            </a:r>
          </a:p>
        </p:txBody>
      </p:sp>
      <p:sp>
        <p:nvSpPr>
          <p:cNvPr id="125" name="T125"/>
          <p:cNvSpPr txBox="1"/>
          <p:nvPr/>
        </p:nvSpPr>
        <p:spPr>
          <a:xfrm>
            <a:off x="2200000" y="65532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 rythme d'usage et quel point d'entrée pour le scoring ? — Une campagne par an sur toute la promotion, en une passe (endpoint batch /predict-cohorte) ; pas de besoin temps réel.</a:t>
            </a:r>
          </a:p>
        </p:txBody>
      </p:sp>
      <p:sp>
        <p:nvSpPr>
          <p:cNvPr id="126" name="R126"/>
          <p:cNvSpPr/>
          <p:nvPr/>
        </p:nvSpPr>
        <p:spPr>
          <a:xfrm>
            <a:off x="1047750" y="7340600"/>
            <a:ext cx="16192500" cy="9525"/>
          </a:xfrm>
          <a:prstGeom prst="rect">
            <a:avLst/>
          </a:prstGeom>
          <a:solidFill>
            <a:srgbClr val="E2E8F0"/>
          </a:solidFill>
          <a:ln>
            <a:noFill/>
          </a:ln>
        </p:spPr>
        <p:txBody>
          <a:bodyPr rtlCol="0" anchor="ctr"/>
          <a:lstStyle/>
          <a:p>
            <a:endParaRPr lang="fr-FR" dirty="0"/>
          </a:p>
        </p:txBody>
      </p:sp>
      <p:sp>
        <p:nvSpPr>
          <p:cNvPr id="127" name="T127"/>
          <p:cNvSpPr txBox="1"/>
          <p:nvPr/>
        </p:nvSpPr>
        <p:spPr>
          <a:xfrm>
            <a:off x="1047750" y="74168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D07</a:t>
            </a:r>
          </a:p>
        </p:txBody>
      </p:sp>
      <p:sp>
        <p:nvSpPr>
          <p:cNvPr id="128" name="T128"/>
          <p:cNvSpPr txBox="1"/>
          <p:nvPr/>
        </p:nvSpPr>
        <p:spPr>
          <a:xfrm>
            <a:off x="2200000" y="74168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commentaire_tuteur est-il dans le périmètre de scoring à mi-S1 ? — Hors périmètre : présumé rédigé en fin de S1 (contenu de bilan, ~49 % de vides).</a:t>
            </a:r>
          </a:p>
        </p:txBody>
      </p:sp>
      <p:sp>
        <p:nvSpPr>
          <p:cNvPr id="129" name="R129"/>
          <p:cNvSpPr/>
          <p:nvPr/>
        </p:nvSpPr>
        <p:spPr>
          <a:xfrm>
            <a:off x="1047750" y="8204200"/>
            <a:ext cx="16192500" cy="9525"/>
          </a:xfrm>
          <a:prstGeom prst="rect">
            <a:avLst/>
          </a:prstGeom>
          <a:solidFill>
            <a:srgbClr val="E2E8F0"/>
          </a:solidFill>
          <a:ln>
            <a:noFill/>
          </a:ln>
        </p:spPr>
        <p:txBody>
          <a:bodyPr rtlCol="0" anchor="ctr"/>
          <a:lstStyle/>
          <a:p>
            <a:endParaRPr lang="fr-FR" dirty="0"/>
          </a:p>
        </p:txBody>
      </p:sp>
      <p:sp>
        <p:nvSpPr>
          <p:cNvPr id="130" name="T130"/>
          <p:cNvSpPr txBox="1"/>
          <p:nvPr/>
        </p:nvSpPr>
        <p:spPr>
          <a:xfrm>
            <a:off x="1047750" y="82804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D08</a:t>
            </a:r>
          </a:p>
        </p:txBody>
      </p:sp>
      <p:sp>
        <p:nvSpPr>
          <p:cNvPr id="131" name="T131"/>
          <p:cNvSpPr txBox="1"/>
          <p:nvPr/>
        </p:nvSpPr>
        <p:spPr>
          <a:xfrm>
            <a:off x="2200000" y="82804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Faut-il enrichir le jeu avec le catalogue des formations ? — Non joint : colonnes = attributs déterministes de filiere, déjà présente — aucune information nouvelle.</a:t>
            </a:r>
          </a:p>
        </p:txBody>
      </p:sp>
      <p:sp>
        <p:nvSpPr>
          <p:cNvPr id="132" name="R132"/>
          <p:cNvSpPr/>
          <p:nvPr/>
        </p:nvSpPr>
        <p:spPr>
          <a:xfrm>
            <a:off x="1047750" y="9067800"/>
            <a:ext cx="16192500" cy="9525"/>
          </a:xfrm>
          <a:prstGeom prst="rect">
            <a:avLst/>
          </a:prstGeom>
          <a:solidFill>
            <a:srgbClr val="E2E8F0"/>
          </a:solidFill>
          <a:ln>
            <a:noFill/>
          </a:ln>
        </p:spPr>
        <p:txBody>
          <a:bodyPr rtlCol="0" anchor="ctr"/>
          <a:lstStyle/>
          <a:p>
            <a:endParaRPr lang="fr-FR" dirty="0"/>
          </a:p>
        </p:txBody>
      </p:sp>
      <p:sp>
        <p:nvSpPr>
          <p:cNvPr id="133" name="T133"/>
          <p:cNvSpPr txBox="1"/>
          <p:nvPr/>
        </p:nvSpPr>
        <p:spPr>
          <a:xfrm>
            <a:off x="1047750" y="9461500"/>
            <a:ext cx="11000000" cy="352425"/>
          </a:xfrm>
          <a:prstGeom prst="rect">
            <a:avLst/>
          </a:prstGeom>
          <a:noFill/>
        </p:spPr>
        <p:txBody>
          <a:bodyPr wrap="square" lIns="27432" tIns="27432" rIns="27432" bIns="27432" anchor="t">
            <a:noAutofit/>
          </a:bodyPr>
          <a:lstStyle/>
          <a:p>
            <a:pPr algn="l"/>
            <a:r>
              <a:rPr lang="fr-FR" sz="1800" b="0" noProof="0" dirty="0">
                <a:solidFill>
                  <a:srgbClr val="878787"/>
                </a:solidFill>
                <a:latin typeface="Arial"/>
              </a:rPr>
              <a:t>Annexe A1 · source : registre-decisions.csv</a:t>
            </a:r>
          </a:p>
        </p:txBody>
      </p:sp>
      <p:sp>
        <p:nvSpPr>
          <p:cNvPr id="134" name="T134"/>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37</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2731249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000000" cy="304800"/>
          </a:xfrm>
          <a:prstGeom prst="rect">
            <a:avLst/>
          </a:prstGeom>
          <a:noFill/>
        </p:spPr>
        <p:txBody>
          <a:bodyPr wrap="square" lIns="27432" tIns="27432" rIns="27432" bIns="27432" anchor="t">
            <a:noAutofit/>
          </a:bodyPr>
          <a:lstStyle/>
          <a:p>
            <a:r>
              <a:rPr lang="fr-FR" sz="1800" b="1" spc="162" noProof="0" dirty="0">
                <a:solidFill>
                  <a:srgbClr val="1A6A77"/>
                </a:solidFill>
                <a:latin typeface="Arial"/>
              </a:rPr>
              <a:t>Annexe A1 : </a:t>
            </a:r>
            <a:r>
              <a:rPr lang="fr-FR" b="1" spc="162" dirty="0">
                <a:solidFill>
                  <a:srgbClr val="1A6A77"/>
                </a:solidFill>
                <a:latin typeface="Arial"/>
              </a:rPr>
              <a:t>Liste des décisions</a:t>
            </a:r>
            <a:r>
              <a:rPr lang="fr-FR" sz="1800" b="1" spc="162" noProof="0" dirty="0">
                <a:solidFill>
                  <a:srgbClr val="1A6A77"/>
                </a:solidFill>
                <a:latin typeface="Arial"/>
              </a:rPr>
              <a:t> (2/6)</a:t>
            </a:r>
          </a:p>
        </p:txBody>
      </p:sp>
      <p:sp>
        <p:nvSpPr>
          <p:cNvPr id="103" name="T103"/>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44 décisions tranchées · D09 à D16</a:t>
            </a:r>
          </a:p>
        </p:txBody>
      </p:sp>
      <p:sp>
        <p:nvSpPr>
          <p:cNvPr id="106" name="T106"/>
          <p:cNvSpPr txBox="1"/>
          <p:nvPr/>
        </p:nvSpPr>
        <p:spPr>
          <a:xfrm>
            <a:off x="1047750" y="1778000"/>
            <a:ext cx="1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RÉF.</a:t>
            </a:r>
          </a:p>
        </p:txBody>
      </p:sp>
      <p:sp>
        <p:nvSpPr>
          <p:cNvPr id="107" name="T107"/>
          <p:cNvSpPr txBox="1"/>
          <p:nvPr/>
        </p:nvSpPr>
        <p:spPr>
          <a:xfrm>
            <a:off x="2200000" y="1778000"/>
            <a:ext cx="1504025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DESCRIPTION ET CHOIX</a:t>
            </a:r>
          </a:p>
        </p:txBody>
      </p:sp>
      <p:sp>
        <p:nvSpPr>
          <p:cNvPr id="108" name="R108"/>
          <p:cNvSpPr/>
          <p:nvPr/>
        </p:nvSpPr>
        <p:spPr>
          <a:xfrm>
            <a:off x="1047750" y="2159000"/>
            <a:ext cx="16192500" cy="9525"/>
          </a:xfrm>
          <a:prstGeom prst="rect">
            <a:avLst/>
          </a:prstGeom>
          <a:solidFill>
            <a:srgbClr val="E2E8F0"/>
          </a:solidFill>
          <a:ln>
            <a:noFill/>
          </a:ln>
        </p:spPr>
        <p:txBody>
          <a:bodyPr rtlCol="0" anchor="ctr"/>
          <a:lstStyle/>
          <a:p>
            <a:endParaRPr lang="fr-FR" dirty="0"/>
          </a:p>
        </p:txBody>
      </p:sp>
      <p:sp>
        <p:nvSpPr>
          <p:cNvPr id="109" name="T109"/>
          <p:cNvSpPr txBox="1"/>
          <p:nvPr/>
        </p:nvSpPr>
        <p:spPr>
          <a:xfrm>
            <a:off x="1047750" y="22352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D09</a:t>
            </a:r>
          </a:p>
        </p:txBody>
      </p:sp>
      <p:sp>
        <p:nvSpPr>
          <p:cNvPr id="110" name="T110"/>
          <p:cNvSpPr txBox="1"/>
          <p:nvPr/>
        </p:nvSpPr>
        <p:spPr>
          <a:xfrm>
            <a:off x="2200000" y="22352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Quelle stratégie de traitement des valeurs manquantes ? — Trois questions (trous groupés, absence-signal, MNAR) : suppression écartée hors cas limite, indicateur si signal, valeur métier si MNAR, sinon médiane/mode ; sur le train seul.</a:t>
            </a:r>
          </a:p>
        </p:txBody>
      </p:sp>
      <p:sp>
        <p:nvSpPr>
          <p:cNvPr id="111" name="R111"/>
          <p:cNvSpPr/>
          <p:nvPr/>
        </p:nvSpPr>
        <p:spPr>
          <a:xfrm>
            <a:off x="1047750" y="3022600"/>
            <a:ext cx="16192500" cy="9525"/>
          </a:xfrm>
          <a:prstGeom prst="rect">
            <a:avLst/>
          </a:prstGeom>
          <a:solidFill>
            <a:srgbClr val="E2E8F0"/>
          </a:solidFill>
          <a:ln>
            <a:noFill/>
          </a:ln>
        </p:spPr>
        <p:txBody>
          <a:bodyPr rtlCol="0" anchor="ctr"/>
          <a:lstStyle/>
          <a:p>
            <a:endParaRPr lang="fr-FR" dirty="0"/>
          </a:p>
        </p:txBody>
      </p:sp>
      <p:sp>
        <p:nvSpPr>
          <p:cNvPr id="112" name="T112"/>
          <p:cNvSpPr txBox="1"/>
          <p:nvPr/>
        </p:nvSpPr>
        <p:spPr>
          <a:xfrm>
            <a:off x="1047750" y="30988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D10</a:t>
            </a:r>
          </a:p>
        </p:txBody>
      </p:sp>
      <p:sp>
        <p:nvSpPr>
          <p:cNvPr id="113" name="T113"/>
          <p:cNvSpPr txBox="1"/>
          <p:nvPr/>
        </p:nvSpPr>
        <p:spPr>
          <a:xfrm>
            <a:off x="2200000" y="30988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Faut-il rééquilibrer ou pondérer les classes ? — Non : déséquilibre léger (~28 %) ; class_weight testé en §9 (discrimination inchangée, Brier dégradé) → non pondéré, déséquilibre traité au seuil ; SMOTE écarté.</a:t>
            </a:r>
          </a:p>
        </p:txBody>
      </p:sp>
      <p:sp>
        <p:nvSpPr>
          <p:cNvPr id="114" name="R114"/>
          <p:cNvSpPr/>
          <p:nvPr/>
        </p:nvSpPr>
        <p:spPr>
          <a:xfrm>
            <a:off x="1047750" y="3886200"/>
            <a:ext cx="16192500" cy="9525"/>
          </a:xfrm>
          <a:prstGeom prst="rect">
            <a:avLst/>
          </a:prstGeom>
          <a:solidFill>
            <a:srgbClr val="E2E8F0"/>
          </a:solidFill>
          <a:ln>
            <a:noFill/>
          </a:ln>
        </p:spPr>
        <p:txBody>
          <a:bodyPr rtlCol="0" anchor="ctr"/>
          <a:lstStyle/>
          <a:p>
            <a:endParaRPr lang="fr-FR" dirty="0"/>
          </a:p>
        </p:txBody>
      </p:sp>
      <p:sp>
        <p:nvSpPr>
          <p:cNvPr id="115" name="T115"/>
          <p:cNvSpPr txBox="1"/>
          <p:nvPr/>
        </p:nvSpPr>
        <p:spPr>
          <a:xfrm>
            <a:off x="1047750" y="39624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D11</a:t>
            </a:r>
          </a:p>
        </p:txBody>
      </p:sp>
      <p:sp>
        <p:nvSpPr>
          <p:cNvPr id="116" name="T116"/>
          <p:cNvSpPr txBox="1"/>
          <p:nvPr/>
        </p:nvSpPr>
        <p:spPr>
          <a:xfrm>
            <a:off x="2200000" y="39624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Comment traiter les trois leurres annoncés ? — Conservés dans le gold ; nullité mesurée par ablation §8 (complet vs sans-leurres), retrait de l'artefact par minimisation si coût nul.</a:t>
            </a:r>
          </a:p>
        </p:txBody>
      </p:sp>
      <p:sp>
        <p:nvSpPr>
          <p:cNvPr id="117" name="R117"/>
          <p:cNvSpPr/>
          <p:nvPr/>
        </p:nvSpPr>
        <p:spPr>
          <a:xfrm>
            <a:off x="1047750" y="4749800"/>
            <a:ext cx="16192500" cy="9525"/>
          </a:xfrm>
          <a:prstGeom prst="rect">
            <a:avLst/>
          </a:prstGeom>
          <a:solidFill>
            <a:srgbClr val="E2E8F0"/>
          </a:solidFill>
          <a:ln>
            <a:noFill/>
          </a:ln>
        </p:spPr>
        <p:txBody>
          <a:bodyPr rtlCol="0" anchor="ctr"/>
          <a:lstStyle/>
          <a:p>
            <a:endParaRPr lang="fr-FR" dirty="0"/>
          </a:p>
        </p:txBody>
      </p:sp>
      <p:sp>
        <p:nvSpPr>
          <p:cNvPr id="118" name="T118"/>
          <p:cNvSpPr txBox="1"/>
          <p:nvPr/>
        </p:nvSpPr>
        <p:spPr>
          <a:xfrm>
            <a:off x="1047750" y="48260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D12</a:t>
            </a:r>
          </a:p>
        </p:txBody>
      </p:sp>
      <p:sp>
        <p:nvSpPr>
          <p:cNvPr id="119" name="T119"/>
          <p:cNvSpPr txBox="1"/>
          <p:nvPr/>
        </p:nvSpPr>
        <p:spPr>
          <a:xfrm>
            <a:off x="2200000" y="48260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Sur quelle base légale fonder le traitement ? — Mission d'intérêt public (art. 6.1.e), dispense de consentement ; à confirmer par le DPO.</a:t>
            </a:r>
          </a:p>
        </p:txBody>
      </p:sp>
      <p:sp>
        <p:nvSpPr>
          <p:cNvPr id="120" name="R120"/>
          <p:cNvSpPr/>
          <p:nvPr/>
        </p:nvSpPr>
        <p:spPr>
          <a:xfrm>
            <a:off x="1047750" y="5613400"/>
            <a:ext cx="16192500" cy="9525"/>
          </a:xfrm>
          <a:prstGeom prst="rect">
            <a:avLst/>
          </a:prstGeom>
          <a:solidFill>
            <a:srgbClr val="E2E8F0"/>
          </a:solidFill>
          <a:ln>
            <a:noFill/>
          </a:ln>
        </p:spPr>
        <p:txBody>
          <a:bodyPr rtlCol="0" anchor="ctr"/>
          <a:lstStyle/>
          <a:p>
            <a:endParaRPr lang="fr-FR" dirty="0"/>
          </a:p>
        </p:txBody>
      </p:sp>
      <p:sp>
        <p:nvSpPr>
          <p:cNvPr id="121" name="T121"/>
          <p:cNvSpPr txBox="1"/>
          <p:nvPr/>
        </p:nvSpPr>
        <p:spPr>
          <a:xfrm>
            <a:off x="1047750" y="56896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D13</a:t>
            </a:r>
          </a:p>
        </p:txBody>
      </p:sp>
      <p:sp>
        <p:nvSpPr>
          <p:cNvPr id="122" name="T122"/>
          <p:cNvSpPr txBox="1"/>
          <p:nvPr/>
        </p:nvSpPr>
        <p:spPr>
          <a:xfrm>
            <a:off x="2200000" y="56896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Faut-il utiliser les variables protégées (sexe, boursier) ? — Exclues du modèle par principe quel que soit leur pouvoir prédictif ; conservées hors modèle pour l'audit d'équité §12.</a:t>
            </a:r>
          </a:p>
        </p:txBody>
      </p:sp>
      <p:sp>
        <p:nvSpPr>
          <p:cNvPr id="123" name="R123"/>
          <p:cNvSpPr/>
          <p:nvPr/>
        </p:nvSpPr>
        <p:spPr>
          <a:xfrm>
            <a:off x="1047750" y="6477000"/>
            <a:ext cx="16192500" cy="9525"/>
          </a:xfrm>
          <a:prstGeom prst="rect">
            <a:avLst/>
          </a:prstGeom>
          <a:solidFill>
            <a:srgbClr val="E2E8F0"/>
          </a:solidFill>
          <a:ln>
            <a:noFill/>
          </a:ln>
        </p:spPr>
        <p:txBody>
          <a:bodyPr rtlCol="0" anchor="ctr"/>
          <a:lstStyle/>
          <a:p>
            <a:endParaRPr lang="fr-FR" dirty="0"/>
          </a:p>
        </p:txBody>
      </p:sp>
      <p:sp>
        <p:nvSpPr>
          <p:cNvPr id="124" name="T124"/>
          <p:cNvSpPr txBox="1"/>
          <p:nvPr/>
        </p:nvSpPr>
        <p:spPr>
          <a:xfrm>
            <a:off x="1047750" y="65532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D14</a:t>
            </a:r>
          </a:p>
        </p:txBody>
      </p:sp>
      <p:sp>
        <p:nvSpPr>
          <p:cNvPr id="125" name="T125"/>
          <p:cNvSpPr txBox="1"/>
          <p:nvPr/>
        </p:nvSpPr>
        <p:spPr>
          <a:xfrm>
            <a:off x="2200000" y="65532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 faire des proxies socio-économiques (etablissement_origine, heures_travail, distance) ? — Deux portes : non-corrélation avec boursier (§6.7) et minimisation par ablation §8 ; retirés par défaut, conservés seulement si leur retrait dégrade le score sur les décrocheurs.</a:t>
            </a:r>
          </a:p>
        </p:txBody>
      </p:sp>
      <p:sp>
        <p:nvSpPr>
          <p:cNvPr id="126" name="R126"/>
          <p:cNvSpPr/>
          <p:nvPr/>
        </p:nvSpPr>
        <p:spPr>
          <a:xfrm>
            <a:off x="1047750" y="7340600"/>
            <a:ext cx="16192500" cy="9525"/>
          </a:xfrm>
          <a:prstGeom prst="rect">
            <a:avLst/>
          </a:prstGeom>
          <a:solidFill>
            <a:srgbClr val="E2E8F0"/>
          </a:solidFill>
          <a:ln>
            <a:noFill/>
          </a:ln>
        </p:spPr>
        <p:txBody>
          <a:bodyPr rtlCol="0" anchor="ctr"/>
          <a:lstStyle/>
          <a:p>
            <a:endParaRPr lang="fr-FR" dirty="0"/>
          </a:p>
        </p:txBody>
      </p:sp>
      <p:sp>
        <p:nvSpPr>
          <p:cNvPr id="127" name="T127"/>
          <p:cNvSpPr txBox="1"/>
          <p:nvPr/>
        </p:nvSpPr>
        <p:spPr>
          <a:xfrm>
            <a:off x="1047750" y="74168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D15</a:t>
            </a:r>
          </a:p>
        </p:txBody>
      </p:sp>
      <p:sp>
        <p:nvSpPr>
          <p:cNvPr id="128" name="T128"/>
          <p:cNvSpPr txBox="1"/>
          <p:nvPr/>
        </p:nvSpPr>
        <p:spPr>
          <a:xfrm>
            <a:off x="2200000" y="74168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Restituer une probabilité ou une étiquette abandon Oui/Non ? — Probabilité exposée ; verdict binaire masqué par défaut, activable par le responsable ; sert au réglage du seuil §12.</a:t>
            </a:r>
          </a:p>
        </p:txBody>
      </p:sp>
      <p:sp>
        <p:nvSpPr>
          <p:cNvPr id="129" name="R129"/>
          <p:cNvSpPr/>
          <p:nvPr/>
        </p:nvSpPr>
        <p:spPr>
          <a:xfrm>
            <a:off x="1047750" y="8204200"/>
            <a:ext cx="16192500" cy="9525"/>
          </a:xfrm>
          <a:prstGeom prst="rect">
            <a:avLst/>
          </a:prstGeom>
          <a:solidFill>
            <a:srgbClr val="E2E8F0"/>
          </a:solidFill>
          <a:ln>
            <a:noFill/>
          </a:ln>
        </p:spPr>
        <p:txBody>
          <a:bodyPr rtlCol="0" anchor="ctr"/>
          <a:lstStyle/>
          <a:p>
            <a:endParaRPr lang="fr-FR" dirty="0"/>
          </a:p>
        </p:txBody>
      </p:sp>
      <p:sp>
        <p:nvSpPr>
          <p:cNvPr id="130" name="T130"/>
          <p:cNvSpPr txBox="1"/>
          <p:nvPr/>
        </p:nvSpPr>
        <p:spPr>
          <a:xfrm>
            <a:off x="1047750" y="8280400"/>
            <a:ext cx="1000000" cy="8128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D16</a:t>
            </a:r>
          </a:p>
        </p:txBody>
      </p:sp>
      <p:sp>
        <p:nvSpPr>
          <p:cNvPr id="131" name="T131"/>
          <p:cNvSpPr txBox="1"/>
          <p:nvPr/>
        </p:nvSpPr>
        <p:spPr>
          <a:xfrm>
            <a:off x="2200000" y="8280400"/>
            <a:ext cx="14605000" cy="8128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Quelles features retirer de l'artefact déployé au titre de la minimisation ? — Blocs sans apport mesuré (leurres D11, proxies D14) et LMS redondantes sauf une (D20), sur verdict d'ablation §8 ; SHAP §12 confirme.</a:t>
            </a:r>
          </a:p>
        </p:txBody>
      </p:sp>
      <p:sp>
        <p:nvSpPr>
          <p:cNvPr id="132" name="R132"/>
          <p:cNvSpPr/>
          <p:nvPr/>
        </p:nvSpPr>
        <p:spPr>
          <a:xfrm>
            <a:off x="1047750" y="9067800"/>
            <a:ext cx="16192500" cy="9525"/>
          </a:xfrm>
          <a:prstGeom prst="rect">
            <a:avLst/>
          </a:prstGeom>
          <a:solidFill>
            <a:srgbClr val="E2E8F0"/>
          </a:solidFill>
          <a:ln>
            <a:noFill/>
          </a:ln>
        </p:spPr>
        <p:txBody>
          <a:bodyPr rtlCol="0" anchor="ctr"/>
          <a:lstStyle/>
          <a:p>
            <a:endParaRPr lang="fr-FR" dirty="0"/>
          </a:p>
        </p:txBody>
      </p:sp>
      <p:sp>
        <p:nvSpPr>
          <p:cNvPr id="133" name="T133"/>
          <p:cNvSpPr txBox="1"/>
          <p:nvPr/>
        </p:nvSpPr>
        <p:spPr>
          <a:xfrm>
            <a:off x="1047750" y="9461500"/>
            <a:ext cx="11000000" cy="352425"/>
          </a:xfrm>
          <a:prstGeom prst="rect">
            <a:avLst/>
          </a:prstGeom>
          <a:noFill/>
        </p:spPr>
        <p:txBody>
          <a:bodyPr wrap="square" lIns="27432" tIns="27432" rIns="27432" bIns="27432" anchor="t">
            <a:noAutofit/>
          </a:bodyPr>
          <a:lstStyle/>
          <a:p>
            <a:pPr algn="l"/>
            <a:r>
              <a:rPr lang="fr-FR" sz="1800" b="0" noProof="0" dirty="0">
                <a:solidFill>
                  <a:srgbClr val="878787"/>
                </a:solidFill>
                <a:latin typeface="Arial"/>
              </a:rPr>
              <a:t>Annexe A1 · source : registre-decisions.csv</a:t>
            </a:r>
          </a:p>
        </p:txBody>
      </p:sp>
      <p:sp>
        <p:nvSpPr>
          <p:cNvPr id="134" name="T134"/>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38</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33098446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000000" cy="304800"/>
          </a:xfrm>
          <a:prstGeom prst="rect">
            <a:avLst/>
          </a:prstGeom>
          <a:noFill/>
        </p:spPr>
        <p:txBody>
          <a:bodyPr wrap="square" lIns="27432" tIns="27432" rIns="27432" bIns="27432" anchor="t">
            <a:noAutofit/>
          </a:bodyPr>
          <a:lstStyle/>
          <a:p>
            <a:r>
              <a:rPr lang="fr-FR" sz="1800" b="1" spc="162" noProof="0" dirty="0">
                <a:solidFill>
                  <a:srgbClr val="1A6A77"/>
                </a:solidFill>
                <a:latin typeface="Arial"/>
              </a:rPr>
              <a:t>Annexe A1 : </a:t>
            </a:r>
            <a:r>
              <a:rPr lang="fr-FR" b="1" spc="162" dirty="0">
                <a:solidFill>
                  <a:srgbClr val="1A6A77"/>
                </a:solidFill>
                <a:latin typeface="Arial"/>
              </a:rPr>
              <a:t>Liste des décisions</a:t>
            </a:r>
            <a:r>
              <a:rPr lang="fr-FR" sz="1800" b="1" spc="162" noProof="0" dirty="0">
                <a:solidFill>
                  <a:srgbClr val="1A6A77"/>
                </a:solidFill>
                <a:latin typeface="Arial"/>
              </a:rPr>
              <a:t> (3/6)</a:t>
            </a:r>
          </a:p>
        </p:txBody>
      </p:sp>
      <p:sp>
        <p:nvSpPr>
          <p:cNvPr id="103" name="T103"/>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44 décisions tranchées · D17 à D23</a:t>
            </a:r>
          </a:p>
        </p:txBody>
      </p:sp>
      <p:sp>
        <p:nvSpPr>
          <p:cNvPr id="106" name="T106"/>
          <p:cNvSpPr txBox="1"/>
          <p:nvPr/>
        </p:nvSpPr>
        <p:spPr>
          <a:xfrm>
            <a:off x="1047750" y="1778000"/>
            <a:ext cx="1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RÉF.</a:t>
            </a:r>
          </a:p>
        </p:txBody>
      </p:sp>
      <p:sp>
        <p:nvSpPr>
          <p:cNvPr id="107" name="T107"/>
          <p:cNvSpPr txBox="1"/>
          <p:nvPr/>
        </p:nvSpPr>
        <p:spPr>
          <a:xfrm>
            <a:off x="2200000" y="1778000"/>
            <a:ext cx="1504025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DESCRIPTION ET CHOIX</a:t>
            </a:r>
          </a:p>
        </p:txBody>
      </p:sp>
      <p:sp>
        <p:nvSpPr>
          <p:cNvPr id="108" name="R108"/>
          <p:cNvSpPr/>
          <p:nvPr/>
        </p:nvSpPr>
        <p:spPr>
          <a:xfrm>
            <a:off x="1047750" y="2159000"/>
            <a:ext cx="16192500" cy="9525"/>
          </a:xfrm>
          <a:prstGeom prst="rect">
            <a:avLst/>
          </a:prstGeom>
          <a:solidFill>
            <a:srgbClr val="E2E8F0"/>
          </a:solidFill>
          <a:ln>
            <a:noFill/>
          </a:ln>
        </p:spPr>
        <p:txBody>
          <a:bodyPr rtlCol="0" anchor="ctr"/>
          <a:lstStyle/>
          <a:p>
            <a:endParaRPr lang="fr-FR" dirty="0"/>
          </a:p>
        </p:txBody>
      </p:sp>
      <p:sp>
        <p:nvSpPr>
          <p:cNvPr id="109" name="T109"/>
          <p:cNvSpPr txBox="1"/>
          <p:nvPr/>
        </p:nvSpPr>
        <p:spPr>
          <a:xfrm>
            <a:off x="1047750" y="22352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D17</a:t>
            </a:r>
          </a:p>
        </p:txBody>
      </p:sp>
      <p:sp>
        <p:nvSpPr>
          <p:cNvPr id="110" name="T110"/>
          <p:cNvSpPr txBox="1"/>
          <p:nvPr/>
        </p:nvSpPr>
        <p:spPr>
          <a:xfrm>
            <a:off x="2200000" y="22352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Comment s'assurer que le modèle reste équitable sur les modalités rares ? — Audit d'équité §12 étendu aux modalités rares repérées en §6, pas seulement aux attributs protégés.</a:t>
            </a:r>
          </a:p>
        </p:txBody>
      </p:sp>
      <p:sp>
        <p:nvSpPr>
          <p:cNvPr id="111" name="R111"/>
          <p:cNvSpPr/>
          <p:nvPr/>
        </p:nvSpPr>
        <p:spPr>
          <a:xfrm>
            <a:off x="1047750" y="3149600"/>
            <a:ext cx="16192500" cy="9525"/>
          </a:xfrm>
          <a:prstGeom prst="rect">
            <a:avLst/>
          </a:prstGeom>
          <a:solidFill>
            <a:srgbClr val="E2E8F0"/>
          </a:solidFill>
          <a:ln>
            <a:noFill/>
          </a:ln>
        </p:spPr>
        <p:txBody>
          <a:bodyPr rtlCol="0" anchor="ctr"/>
          <a:lstStyle/>
          <a:p>
            <a:endParaRPr lang="fr-FR" dirty="0"/>
          </a:p>
        </p:txBody>
      </p:sp>
      <p:sp>
        <p:nvSpPr>
          <p:cNvPr id="112" name="T112"/>
          <p:cNvSpPr txBox="1"/>
          <p:nvPr/>
        </p:nvSpPr>
        <p:spPr>
          <a:xfrm>
            <a:off x="1047750" y="32258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D18</a:t>
            </a:r>
          </a:p>
        </p:txBody>
      </p:sp>
      <p:sp>
        <p:nvSpPr>
          <p:cNvPr id="113" name="T113"/>
          <p:cNvSpPr txBox="1"/>
          <p:nvPr/>
        </p:nvSpPr>
        <p:spPr>
          <a:xfrm>
            <a:off x="2200000" y="32258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Les autres colonnes sont-elles connues à mi-S1 ? — Présumées connues faute d'information contraire (présomption, non preuve) ; horizon figé par le contrat d'entrée.</a:t>
            </a:r>
          </a:p>
        </p:txBody>
      </p:sp>
      <p:sp>
        <p:nvSpPr>
          <p:cNvPr id="114" name="R114"/>
          <p:cNvSpPr/>
          <p:nvPr/>
        </p:nvSpPr>
        <p:spPr>
          <a:xfrm>
            <a:off x="1047750" y="4140200"/>
            <a:ext cx="16192500" cy="9525"/>
          </a:xfrm>
          <a:prstGeom prst="rect">
            <a:avLst/>
          </a:prstGeom>
          <a:solidFill>
            <a:srgbClr val="E2E8F0"/>
          </a:solidFill>
          <a:ln>
            <a:noFill/>
          </a:ln>
        </p:spPr>
        <p:txBody>
          <a:bodyPr rtlCol="0" anchor="ctr"/>
          <a:lstStyle/>
          <a:p>
            <a:endParaRPr lang="fr-FR" dirty="0"/>
          </a:p>
        </p:txBody>
      </p:sp>
      <p:sp>
        <p:nvSpPr>
          <p:cNvPr id="115" name="T115"/>
          <p:cNvSpPr txBox="1"/>
          <p:nvPr/>
        </p:nvSpPr>
        <p:spPr>
          <a:xfrm>
            <a:off x="1047750" y="42164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D19</a:t>
            </a:r>
          </a:p>
        </p:txBody>
      </p:sp>
      <p:sp>
        <p:nvSpPr>
          <p:cNvPr id="116" name="T116"/>
          <p:cNvSpPr txBox="1"/>
          <p:nvPr/>
        </p:nvSpPr>
        <p:spPr>
          <a:xfrm>
            <a:off x="2200000" y="42164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 faire des valeurs extrêmes signalées par Tukey ? — Ni écrêtage ni retrait : rares mais réelles, aucune aberrante au sens métier ; conservées dans le gold.</a:t>
            </a:r>
          </a:p>
        </p:txBody>
      </p:sp>
      <p:sp>
        <p:nvSpPr>
          <p:cNvPr id="117" name="R117"/>
          <p:cNvSpPr/>
          <p:nvPr/>
        </p:nvSpPr>
        <p:spPr>
          <a:xfrm>
            <a:off x="1047750" y="5130800"/>
            <a:ext cx="16192500" cy="9525"/>
          </a:xfrm>
          <a:prstGeom prst="rect">
            <a:avLst/>
          </a:prstGeom>
          <a:solidFill>
            <a:srgbClr val="E2E8F0"/>
          </a:solidFill>
          <a:ln>
            <a:noFill/>
          </a:ln>
        </p:spPr>
        <p:txBody>
          <a:bodyPr rtlCol="0" anchor="ctr"/>
          <a:lstStyle/>
          <a:p>
            <a:endParaRPr lang="fr-FR" dirty="0"/>
          </a:p>
        </p:txBody>
      </p:sp>
      <p:sp>
        <p:nvSpPr>
          <p:cNvPr id="118" name="T118"/>
          <p:cNvSpPr txBox="1"/>
          <p:nvPr/>
        </p:nvSpPr>
        <p:spPr>
          <a:xfrm>
            <a:off x="1047750" y="52070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D20</a:t>
            </a:r>
          </a:p>
        </p:txBody>
      </p:sp>
      <p:sp>
        <p:nvSpPr>
          <p:cNvPr id="119" name="T119"/>
          <p:cNvSpPr txBox="1"/>
          <p:nvPr/>
        </p:nvSpPr>
        <p:spPr>
          <a:xfrm>
            <a:off x="2200000" y="52070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Faut-il écarter une colonne redondante du bloc d'engagement (colinéarité) ? — Aucun retrait en §6 : la redondance n'est pas un pouvoir prédictif ; les trois LMS traversent le gold, retrait éventuel décidé par ablation §8 (minimisation), généralise D16.</a:t>
            </a:r>
          </a:p>
        </p:txBody>
      </p:sp>
      <p:sp>
        <p:nvSpPr>
          <p:cNvPr id="120" name="R120"/>
          <p:cNvSpPr/>
          <p:nvPr/>
        </p:nvSpPr>
        <p:spPr>
          <a:xfrm>
            <a:off x="1047750" y="6121400"/>
            <a:ext cx="16192500" cy="9525"/>
          </a:xfrm>
          <a:prstGeom prst="rect">
            <a:avLst/>
          </a:prstGeom>
          <a:solidFill>
            <a:srgbClr val="E2E8F0"/>
          </a:solidFill>
          <a:ln>
            <a:noFill/>
          </a:ln>
        </p:spPr>
        <p:txBody>
          <a:bodyPr rtlCol="0" anchor="ctr"/>
          <a:lstStyle/>
          <a:p>
            <a:endParaRPr lang="fr-FR" dirty="0"/>
          </a:p>
        </p:txBody>
      </p:sp>
      <p:sp>
        <p:nvSpPr>
          <p:cNvPr id="121" name="T121"/>
          <p:cNvSpPr txBox="1"/>
          <p:nvPr/>
        </p:nvSpPr>
        <p:spPr>
          <a:xfrm>
            <a:off x="1047750" y="61976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D21</a:t>
            </a:r>
          </a:p>
        </p:txBody>
      </p:sp>
      <p:sp>
        <p:nvSpPr>
          <p:cNvPr id="122" name="T122"/>
          <p:cNvSpPr txBox="1"/>
          <p:nvPr/>
        </p:nvSpPr>
        <p:spPr>
          <a:xfrm>
            <a:off x="2200000" y="61976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 dénominateur pour la feature dérivée ratio_retards ? — retards_rendus / nb_devoirs_total (total attendu), comparable d'un étudiant à l'autre plutôt que rapporté aux seuls devoirs rendus.</a:t>
            </a:r>
          </a:p>
        </p:txBody>
      </p:sp>
      <p:sp>
        <p:nvSpPr>
          <p:cNvPr id="123" name="R123"/>
          <p:cNvSpPr/>
          <p:nvPr/>
        </p:nvSpPr>
        <p:spPr>
          <a:xfrm>
            <a:off x="1047750" y="7112000"/>
            <a:ext cx="16192500" cy="9525"/>
          </a:xfrm>
          <a:prstGeom prst="rect">
            <a:avLst/>
          </a:prstGeom>
          <a:solidFill>
            <a:srgbClr val="E2E8F0"/>
          </a:solidFill>
          <a:ln>
            <a:noFill/>
          </a:ln>
        </p:spPr>
        <p:txBody>
          <a:bodyPr rtlCol="0" anchor="ctr"/>
          <a:lstStyle/>
          <a:p>
            <a:endParaRPr lang="fr-FR" dirty="0"/>
          </a:p>
        </p:txBody>
      </p:sp>
      <p:sp>
        <p:nvSpPr>
          <p:cNvPr id="124" name="T124"/>
          <p:cNvSpPr txBox="1"/>
          <p:nvPr/>
        </p:nvSpPr>
        <p:spPr>
          <a:xfrm>
            <a:off x="1047750" y="71882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D22</a:t>
            </a:r>
          </a:p>
        </p:txBody>
      </p:sp>
      <p:sp>
        <p:nvSpPr>
          <p:cNvPr id="125" name="T125"/>
          <p:cNvSpPr txBox="1"/>
          <p:nvPr/>
        </p:nvSpPr>
        <p:spPr>
          <a:xfrm>
            <a:off x="2200000" y="71882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 seuil de rareté pour repérer les modalités sous-représentées ? — Seuil à 5 % : plancher d'un audit d'équité exploitable ; fait remonter etablissement_origine=autre (proxy, D14).</a:t>
            </a:r>
          </a:p>
        </p:txBody>
      </p:sp>
      <p:sp>
        <p:nvSpPr>
          <p:cNvPr id="126" name="R126"/>
          <p:cNvSpPr/>
          <p:nvPr/>
        </p:nvSpPr>
        <p:spPr>
          <a:xfrm>
            <a:off x="1047750" y="8102600"/>
            <a:ext cx="16192500" cy="9525"/>
          </a:xfrm>
          <a:prstGeom prst="rect">
            <a:avLst/>
          </a:prstGeom>
          <a:solidFill>
            <a:srgbClr val="E2E8F0"/>
          </a:solidFill>
          <a:ln>
            <a:noFill/>
          </a:ln>
        </p:spPr>
        <p:txBody>
          <a:bodyPr rtlCol="0" anchor="ctr"/>
          <a:lstStyle/>
          <a:p>
            <a:endParaRPr lang="fr-FR" dirty="0"/>
          </a:p>
        </p:txBody>
      </p:sp>
      <p:sp>
        <p:nvSpPr>
          <p:cNvPr id="127" name="T127"/>
          <p:cNvSpPr txBox="1"/>
          <p:nvPr/>
        </p:nvSpPr>
        <p:spPr>
          <a:xfrm>
            <a:off x="1047750" y="81788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D23</a:t>
            </a:r>
          </a:p>
        </p:txBody>
      </p:sp>
      <p:sp>
        <p:nvSpPr>
          <p:cNvPr id="128" name="T128"/>
          <p:cNvSpPr txBox="1"/>
          <p:nvPr/>
        </p:nvSpPr>
        <p:spPr>
          <a:xfrm>
            <a:off x="2200000" y="81788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Comment décider l'inclusion ou le retrait des blocs de features ? — Scénarios d'ablation en §8 : minimisation par principe (retrait par défaut) et mesure du coût du retrait sur les décrocheurs ; la mesure ne fonde jamais une inclusion pour la seule performance.</a:t>
            </a:r>
          </a:p>
        </p:txBody>
      </p:sp>
      <p:sp>
        <p:nvSpPr>
          <p:cNvPr id="129" name="R129"/>
          <p:cNvSpPr/>
          <p:nvPr/>
        </p:nvSpPr>
        <p:spPr>
          <a:xfrm>
            <a:off x="1047750" y="9093200"/>
            <a:ext cx="16192500" cy="9525"/>
          </a:xfrm>
          <a:prstGeom prst="rect">
            <a:avLst/>
          </a:prstGeom>
          <a:solidFill>
            <a:srgbClr val="E2E8F0"/>
          </a:solidFill>
          <a:ln>
            <a:noFill/>
          </a:ln>
        </p:spPr>
        <p:txBody>
          <a:bodyPr rtlCol="0" anchor="ctr"/>
          <a:lstStyle/>
          <a:p>
            <a:endParaRPr lang="fr-FR" dirty="0"/>
          </a:p>
        </p:txBody>
      </p:sp>
      <p:sp>
        <p:nvSpPr>
          <p:cNvPr id="130" name="T130"/>
          <p:cNvSpPr txBox="1"/>
          <p:nvPr/>
        </p:nvSpPr>
        <p:spPr>
          <a:xfrm>
            <a:off x="1047750" y="9461500"/>
            <a:ext cx="11000000" cy="352425"/>
          </a:xfrm>
          <a:prstGeom prst="rect">
            <a:avLst/>
          </a:prstGeom>
          <a:noFill/>
        </p:spPr>
        <p:txBody>
          <a:bodyPr wrap="square" lIns="27432" tIns="27432" rIns="27432" bIns="27432" anchor="t">
            <a:noAutofit/>
          </a:bodyPr>
          <a:lstStyle/>
          <a:p>
            <a:pPr algn="l"/>
            <a:r>
              <a:rPr lang="fr-FR" sz="1800" b="0" noProof="0" dirty="0">
                <a:solidFill>
                  <a:srgbClr val="878787"/>
                </a:solidFill>
                <a:latin typeface="Arial"/>
              </a:rPr>
              <a:t>Annexe A1 · source : registre-decisions.csv</a:t>
            </a:r>
          </a:p>
        </p:txBody>
      </p:sp>
      <p:sp>
        <p:nvSpPr>
          <p:cNvPr id="131" name="T131"/>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39</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31722314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000000" cy="304800"/>
          </a:xfrm>
          <a:prstGeom prst="rect">
            <a:avLst/>
          </a:prstGeom>
          <a:noFill/>
        </p:spPr>
        <p:txBody>
          <a:bodyPr wrap="square" lIns="27432" tIns="27432" rIns="27432" bIns="27432" anchor="t">
            <a:noAutofit/>
          </a:bodyPr>
          <a:lstStyle/>
          <a:p>
            <a:r>
              <a:rPr lang="fr-FR" sz="1800" b="1" spc="162" noProof="0" dirty="0">
                <a:solidFill>
                  <a:srgbClr val="1A6A77"/>
                </a:solidFill>
                <a:latin typeface="Arial"/>
              </a:rPr>
              <a:t>Annexe A1 : </a:t>
            </a:r>
            <a:r>
              <a:rPr lang="fr-FR" b="1" spc="162" dirty="0">
                <a:solidFill>
                  <a:srgbClr val="1A6A77"/>
                </a:solidFill>
                <a:latin typeface="Arial"/>
              </a:rPr>
              <a:t>Liste des décisions</a:t>
            </a:r>
            <a:r>
              <a:rPr lang="fr-FR" sz="1800" b="1" spc="162" noProof="0" dirty="0">
                <a:solidFill>
                  <a:srgbClr val="1A6A77"/>
                </a:solidFill>
                <a:latin typeface="Arial"/>
              </a:rPr>
              <a:t> (4/6)</a:t>
            </a:r>
          </a:p>
        </p:txBody>
      </p:sp>
      <p:sp>
        <p:nvSpPr>
          <p:cNvPr id="103" name="T103"/>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44 décisions tranchées · D24 à D30</a:t>
            </a:r>
          </a:p>
        </p:txBody>
      </p:sp>
      <p:sp>
        <p:nvSpPr>
          <p:cNvPr id="106" name="T106"/>
          <p:cNvSpPr txBox="1"/>
          <p:nvPr/>
        </p:nvSpPr>
        <p:spPr>
          <a:xfrm>
            <a:off x="1047750" y="1778000"/>
            <a:ext cx="1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RÉF.</a:t>
            </a:r>
          </a:p>
        </p:txBody>
      </p:sp>
      <p:sp>
        <p:nvSpPr>
          <p:cNvPr id="107" name="T107"/>
          <p:cNvSpPr txBox="1"/>
          <p:nvPr/>
        </p:nvSpPr>
        <p:spPr>
          <a:xfrm>
            <a:off x="2200000" y="1778000"/>
            <a:ext cx="1504025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DESCRIPTION ET CHOIX</a:t>
            </a:r>
          </a:p>
        </p:txBody>
      </p:sp>
      <p:sp>
        <p:nvSpPr>
          <p:cNvPr id="108" name="R108"/>
          <p:cNvSpPr/>
          <p:nvPr/>
        </p:nvSpPr>
        <p:spPr>
          <a:xfrm>
            <a:off x="1047750" y="2159000"/>
            <a:ext cx="16192500" cy="9525"/>
          </a:xfrm>
          <a:prstGeom prst="rect">
            <a:avLst/>
          </a:prstGeom>
          <a:solidFill>
            <a:srgbClr val="E2E8F0"/>
          </a:solidFill>
          <a:ln>
            <a:noFill/>
          </a:ln>
        </p:spPr>
        <p:txBody>
          <a:bodyPr rtlCol="0" anchor="ctr"/>
          <a:lstStyle/>
          <a:p>
            <a:endParaRPr lang="fr-FR" dirty="0"/>
          </a:p>
        </p:txBody>
      </p:sp>
      <p:sp>
        <p:nvSpPr>
          <p:cNvPr id="109" name="T109"/>
          <p:cNvSpPr txBox="1"/>
          <p:nvPr/>
        </p:nvSpPr>
        <p:spPr>
          <a:xfrm>
            <a:off x="1047750" y="22352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D24</a:t>
            </a:r>
          </a:p>
        </p:txBody>
      </p:sp>
      <p:sp>
        <p:nvSpPr>
          <p:cNvPr id="110" name="T110"/>
          <p:cNvSpPr txBox="1"/>
          <p:nvPr/>
        </p:nvSpPr>
        <p:spPr>
          <a:xfrm>
            <a:off x="2200000" y="22352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 protocole d'évaluation (partition et validation croisée) ? — Split stratifié 80/20 (test scellé jusqu'à §12) + StratifiedKFold(5) sur le train ; comparaisons en out-of-fold.</a:t>
            </a:r>
          </a:p>
        </p:txBody>
      </p:sp>
      <p:sp>
        <p:nvSpPr>
          <p:cNvPr id="111" name="R111"/>
          <p:cNvSpPr/>
          <p:nvPr/>
        </p:nvSpPr>
        <p:spPr>
          <a:xfrm>
            <a:off x="1047750" y="3149600"/>
            <a:ext cx="16192500" cy="9525"/>
          </a:xfrm>
          <a:prstGeom prst="rect">
            <a:avLst/>
          </a:prstGeom>
          <a:solidFill>
            <a:srgbClr val="E2E8F0"/>
          </a:solidFill>
          <a:ln>
            <a:noFill/>
          </a:ln>
        </p:spPr>
        <p:txBody>
          <a:bodyPr rtlCol="0" anchor="ctr"/>
          <a:lstStyle/>
          <a:p>
            <a:endParaRPr lang="fr-FR" dirty="0"/>
          </a:p>
        </p:txBody>
      </p:sp>
      <p:sp>
        <p:nvSpPr>
          <p:cNvPr id="112" name="T112"/>
          <p:cNvSpPr txBox="1"/>
          <p:nvPr/>
        </p:nvSpPr>
        <p:spPr>
          <a:xfrm>
            <a:off x="1047750" y="32258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D25</a:t>
            </a:r>
          </a:p>
        </p:txBody>
      </p:sp>
      <p:sp>
        <p:nvSpPr>
          <p:cNvPr id="113" name="T113"/>
          <p:cNvSpPr txBox="1"/>
          <p:nvPr/>
        </p:nvSpPr>
        <p:spPr>
          <a:xfrm>
            <a:off x="2200000" y="32258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Quelle famille de modèle retenir pour la cible abandon ? — Régression logistique : meilleure en OOF (ROC/PR-AUC, Brier), seule non sur-ajustée, interprétable ; confirmée après réglage §9 (forêt réglée 0,9397 &lt; LogReg réglée 0,9457).</a:t>
            </a:r>
          </a:p>
        </p:txBody>
      </p:sp>
      <p:sp>
        <p:nvSpPr>
          <p:cNvPr id="114" name="R114"/>
          <p:cNvSpPr/>
          <p:nvPr/>
        </p:nvSpPr>
        <p:spPr>
          <a:xfrm>
            <a:off x="1047750" y="4140200"/>
            <a:ext cx="16192500" cy="9525"/>
          </a:xfrm>
          <a:prstGeom prst="rect">
            <a:avLst/>
          </a:prstGeom>
          <a:solidFill>
            <a:srgbClr val="E2E8F0"/>
          </a:solidFill>
          <a:ln>
            <a:noFill/>
          </a:ln>
        </p:spPr>
        <p:txBody>
          <a:bodyPr rtlCol="0" anchor="ctr"/>
          <a:lstStyle/>
          <a:p>
            <a:endParaRPr lang="fr-FR" dirty="0"/>
          </a:p>
        </p:txBody>
      </p:sp>
      <p:sp>
        <p:nvSpPr>
          <p:cNvPr id="115" name="T115"/>
          <p:cNvSpPr txBox="1"/>
          <p:nvPr/>
        </p:nvSpPr>
        <p:spPr>
          <a:xfrm>
            <a:off x="1047750" y="42164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D26</a:t>
            </a:r>
          </a:p>
        </p:txBody>
      </p:sp>
      <p:sp>
        <p:nvSpPr>
          <p:cNvPr id="116" name="T116"/>
          <p:cNvSpPr txBox="1"/>
          <p:nvPr/>
        </p:nvSpPr>
        <p:spPr>
          <a:xfrm>
            <a:off x="2200000" y="42164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Quelle imputation concrète par colonne (application de D09) ? — Médiane (numériques et Likert), modalité inconnu (etablissement_origine), ordinal puis médiane (mention_bac) ; dans le Pipeline, refit par pli.</a:t>
            </a:r>
          </a:p>
        </p:txBody>
      </p:sp>
      <p:sp>
        <p:nvSpPr>
          <p:cNvPr id="117" name="R117"/>
          <p:cNvSpPr/>
          <p:nvPr/>
        </p:nvSpPr>
        <p:spPr>
          <a:xfrm>
            <a:off x="1047750" y="5130800"/>
            <a:ext cx="16192500" cy="9525"/>
          </a:xfrm>
          <a:prstGeom prst="rect">
            <a:avLst/>
          </a:prstGeom>
          <a:solidFill>
            <a:srgbClr val="E2E8F0"/>
          </a:solidFill>
          <a:ln>
            <a:noFill/>
          </a:ln>
        </p:spPr>
        <p:txBody>
          <a:bodyPr rtlCol="0" anchor="ctr"/>
          <a:lstStyle/>
          <a:p>
            <a:endParaRPr lang="fr-FR" dirty="0"/>
          </a:p>
        </p:txBody>
      </p:sp>
      <p:sp>
        <p:nvSpPr>
          <p:cNvPr id="118" name="T118"/>
          <p:cNvSpPr txBox="1"/>
          <p:nvPr/>
        </p:nvSpPr>
        <p:spPr>
          <a:xfrm>
            <a:off x="1047750" y="52070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D27</a:t>
            </a:r>
          </a:p>
        </p:txBody>
      </p:sp>
      <p:sp>
        <p:nvSpPr>
          <p:cNvPr id="119" name="T119"/>
          <p:cNvSpPr txBox="1"/>
          <p:nvPr/>
        </p:nvSpPr>
        <p:spPr>
          <a:xfrm>
            <a:off x="2200000" y="52070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Comment traiter les échelles de Likert (1-5) ? — Traitées en numériques (imputation médiane, scaling pour le linéaire).</a:t>
            </a:r>
          </a:p>
        </p:txBody>
      </p:sp>
      <p:sp>
        <p:nvSpPr>
          <p:cNvPr id="120" name="R120"/>
          <p:cNvSpPr/>
          <p:nvPr/>
        </p:nvSpPr>
        <p:spPr>
          <a:xfrm>
            <a:off x="1047750" y="6121400"/>
            <a:ext cx="16192500" cy="9525"/>
          </a:xfrm>
          <a:prstGeom prst="rect">
            <a:avLst/>
          </a:prstGeom>
          <a:solidFill>
            <a:srgbClr val="E2E8F0"/>
          </a:solidFill>
          <a:ln>
            <a:noFill/>
          </a:ln>
        </p:spPr>
        <p:txBody>
          <a:bodyPr rtlCol="0" anchor="ctr"/>
          <a:lstStyle/>
          <a:p>
            <a:endParaRPr lang="fr-FR" dirty="0"/>
          </a:p>
        </p:txBody>
      </p:sp>
      <p:sp>
        <p:nvSpPr>
          <p:cNvPr id="121" name="T121"/>
          <p:cNvSpPr txBox="1"/>
          <p:nvPr/>
        </p:nvSpPr>
        <p:spPr>
          <a:xfrm>
            <a:off x="1047750" y="61976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D28</a:t>
            </a:r>
          </a:p>
        </p:txBody>
      </p:sp>
      <p:sp>
        <p:nvSpPr>
          <p:cNvPr id="122" name="T122"/>
          <p:cNvSpPr txBox="1"/>
          <p:nvPr/>
        </p:nvSpPr>
        <p:spPr>
          <a:xfrm>
            <a:off x="2200000" y="61976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 faire de date_inscription dans la matrice de features ? — Exclue de la matrice (date brute inexploitable, jour de semaine porté par le leurre jour_inscription) ; conservée au gold.</a:t>
            </a:r>
          </a:p>
        </p:txBody>
      </p:sp>
      <p:sp>
        <p:nvSpPr>
          <p:cNvPr id="123" name="R123"/>
          <p:cNvSpPr/>
          <p:nvPr/>
        </p:nvSpPr>
        <p:spPr>
          <a:xfrm>
            <a:off x="1047750" y="7112000"/>
            <a:ext cx="16192500" cy="9525"/>
          </a:xfrm>
          <a:prstGeom prst="rect">
            <a:avLst/>
          </a:prstGeom>
          <a:solidFill>
            <a:srgbClr val="E2E8F0"/>
          </a:solidFill>
          <a:ln>
            <a:noFill/>
          </a:ln>
        </p:spPr>
        <p:txBody>
          <a:bodyPr rtlCol="0" anchor="ctr"/>
          <a:lstStyle/>
          <a:p>
            <a:endParaRPr lang="fr-FR" dirty="0"/>
          </a:p>
        </p:txBody>
      </p:sp>
      <p:sp>
        <p:nvSpPr>
          <p:cNvPr id="124" name="T124"/>
          <p:cNvSpPr txBox="1"/>
          <p:nvPr/>
        </p:nvSpPr>
        <p:spPr>
          <a:xfrm>
            <a:off x="1047750" y="71882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D29</a:t>
            </a:r>
          </a:p>
        </p:txBody>
      </p:sp>
      <p:sp>
        <p:nvSpPr>
          <p:cNvPr id="125" name="T125"/>
          <p:cNvSpPr txBox="1"/>
          <p:nvPr/>
        </p:nvSpPr>
        <p:spPr>
          <a:xfrm>
            <a:off x="2200000" y="71882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Quelle famille et quelle population pour la régression moyenne_finale ? — Gradient boosting sur le jeu minimisé (16 variables), toute la promotion (décrocheurs compris).</a:t>
            </a:r>
          </a:p>
        </p:txBody>
      </p:sp>
      <p:sp>
        <p:nvSpPr>
          <p:cNvPr id="126" name="R126"/>
          <p:cNvSpPr/>
          <p:nvPr/>
        </p:nvSpPr>
        <p:spPr>
          <a:xfrm>
            <a:off x="1047750" y="8102600"/>
            <a:ext cx="16192500" cy="9525"/>
          </a:xfrm>
          <a:prstGeom prst="rect">
            <a:avLst/>
          </a:prstGeom>
          <a:solidFill>
            <a:srgbClr val="E2E8F0"/>
          </a:solidFill>
          <a:ln>
            <a:noFill/>
          </a:ln>
        </p:spPr>
        <p:txBody>
          <a:bodyPr rtlCol="0" anchor="ctr"/>
          <a:lstStyle/>
          <a:p>
            <a:endParaRPr lang="fr-FR" dirty="0"/>
          </a:p>
        </p:txBody>
      </p:sp>
      <p:sp>
        <p:nvSpPr>
          <p:cNvPr id="127" name="T127"/>
          <p:cNvSpPr txBox="1"/>
          <p:nvPr/>
        </p:nvSpPr>
        <p:spPr>
          <a:xfrm>
            <a:off x="1047750" y="81788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D30</a:t>
            </a:r>
          </a:p>
        </p:txBody>
      </p:sp>
      <p:sp>
        <p:nvSpPr>
          <p:cNvPr id="128" name="T128"/>
          <p:cNvSpPr txBox="1"/>
          <p:nvPr/>
        </p:nvSpPr>
        <p:spPr>
          <a:xfrm>
            <a:off x="2200000" y="81788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Comment régler les hyperparamètres, et jusqu'où ? — Grille exhaustive pour la LogReg (C=0,1, L2), Optuna borné (pruning + early stopping) pour le GB ; régimes base/frugal/lourd comparés à l'empreinte carbone ; base non réglée conservée pour la note (gain &lt; 0,03 pt/20).</a:t>
            </a:r>
          </a:p>
        </p:txBody>
      </p:sp>
      <p:sp>
        <p:nvSpPr>
          <p:cNvPr id="129" name="R129"/>
          <p:cNvSpPr/>
          <p:nvPr/>
        </p:nvSpPr>
        <p:spPr>
          <a:xfrm>
            <a:off x="1047750" y="9093200"/>
            <a:ext cx="16192500" cy="9525"/>
          </a:xfrm>
          <a:prstGeom prst="rect">
            <a:avLst/>
          </a:prstGeom>
          <a:solidFill>
            <a:srgbClr val="E2E8F0"/>
          </a:solidFill>
          <a:ln>
            <a:noFill/>
          </a:ln>
        </p:spPr>
        <p:txBody>
          <a:bodyPr rtlCol="0" anchor="ctr"/>
          <a:lstStyle/>
          <a:p>
            <a:endParaRPr lang="fr-FR" dirty="0"/>
          </a:p>
        </p:txBody>
      </p:sp>
      <p:sp>
        <p:nvSpPr>
          <p:cNvPr id="130" name="T130"/>
          <p:cNvSpPr txBox="1"/>
          <p:nvPr/>
        </p:nvSpPr>
        <p:spPr>
          <a:xfrm>
            <a:off x="1047750" y="9461500"/>
            <a:ext cx="11000000" cy="352425"/>
          </a:xfrm>
          <a:prstGeom prst="rect">
            <a:avLst/>
          </a:prstGeom>
          <a:noFill/>
        </p:spPr>
        <p:txBody>
          <a:bodyPr wrap="square" lIns="27432" tIns="27432" rIns="27432" bIns="27432" anchor="t">
            <a:noAutofit/>
          </a:bodyPr>
          <a:lstStyle/>
          <a:p>
            <a:pPr algn="l"/>
            <a:r>
              <a:rPr lang="fr-FR" sz="1800" b="0" noProof="0" dirty="0">
                <a:solidFill>
                  <a:srgbClr val="878787"/>
                </a:solidFill>
                <a:latin typeface="Arial"/>
              </a:rPr>
              <a:t>Annexe A1 · source : registre-decisions.csv</a:t>
            </a:r>
          </a:p>
        </p:txBody>
      </p:sp>
      <p:sp>
        <p:nvSpPr>
          <p:cNvPr id="131" name="T131"/>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40</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28576026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000000" cy="304800"/>
          </a:xfrm>
          <a:prstGeom prst="rect">
            <a:avLst/>
          </a:prstGeom>
          <a:noFill/>
        </p:spPr>
        <p:txBody>
          <a:bodyPr wrap="square" lIns="27432" tIns="27432" rIns="27432" bIns="27432" anchor="t">
            <a:noAutofit/>
          </a:bodyPr>
          <a:lstStyle/>
          <a:p>
            <a:r>
              <a:rPr lang="fr-FR" sz="1800" b="1" spc="162" noProof="0" dirty="0">
                <a:solidFill>
                  <a:srgbClr val="1A6A77"/>
                </a:solidFill>
                <a:latin typeface="Arial"/>
              </a:rPr>
              <a:t>Annexe A1 : </a:t>
            </a:r>
            <a:r>
              <a:rPr lang="fr-FR" b="1" spc="162" dirty="0">
                <a:solidFill>
                  <a:srgbClr val="1A6A77"/>
                </a:solidFill>
                <a:latin typeface="Arial"/>
              </a:rPr>
              <a:t>Liste des décisions </a:t>
            </a:r>
            <a:r>
              <a:rPr lang="fr-FR" sz="1800" b="1" spc="162" noProof="0" dirty="0">
                <a:solidFill>
                  <a:srgbClr val="1A6A77"/>
                </a:solidFill>
                <a:latin typeface="Arial"/>
              </a:rPr>
              <a:t>(5/6)</a:t>
            </a:r>
          </a:p>
        </p:txBody>
      </p:sp>
      <p:sp>
        <p:nvSpPr>
          <p:cNvPr id="103" name="T103"/>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44 décisions tranchées · D31 à D37</a:t>
            </a:r>
          </a:p>
        </p:txBody>
      </p:sp>
      <p:sp>
        <p:nvSpPr>
          <p:cNvPr id="106" name="T106"/>
          <p:cNvSpPr txBox="1"/>
          <p:nvPr/>
        </p:nvSpPr>
        <p:spPr>
          <a:xfrm>
            <a:off x="1047750" y="1778000"/>
            <a:ext cx="1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RÉF.</a:t>
            </a:r>
          </a:p>
        </p:txBody>
      </p:sp>
      <p:sp>
        <p:nvSpPr>
          <p:cNvPr id="107" name="T107"/>
          <p:cNvSpPr txBox="1"/>
          <p:nvPr/>
        </p:nvSpPr>
        <p:spPr>
          <a:xfrm>
            <a:off x="2200000" y="1778000"/>
            <a:ext cx="1504025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DESCRIPTION ET CHOIX</a:t>
            </a:r>
          </a:p>
        </p:txBody>
      </p:sp>
      <p:sp>
        <p:nvSpPr>
          <p:cNvPr id="108" name="R108"/>
          <p:cNvSpPr/>
          <p:nvPr/>
        </p:nvSpPr>
        <p:spPr>
          <a:xfrm>
            <a:off x="1047750" y="2159000"/>
            <a:ext cx="16192500" cy="9525"/>
          </a:xfrm>
          <a:prstGeom prst="rect">
            <a:avLst/>
          </a:prstGeom>
          <a:solidFill>
            <a:srgbClr val="E2E8F0"/>
          </a:solidFill>
          <a:ln>
            <a:noFill/>
          </a:ln>
        </p:spPr>
        <p:txBody>
          <a:bodyPr rtlCol="0" anchor="ctr"/>
          <a:lstStyle/>
          <a:p>
            <a:endParaRPr lang="fr-FR" dirty="0"/>
          </a:p>
        </p:txBody>
      </p:sp>
      <p:sp>
        <p:nvSpPr>
          <p:cNvPr id="109" name="T109"/>
          <p:cNvSpPr txBox="1"/>
          <p:nvPr/>
        </p:nvSpPr>
        <p:spPr>
          <a:xfrm>
            <a:off x="1047750" y="22352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D31</a:t>
            </a:r>
          </a:p>
        </p:txBody>
      </p:sp>
      <p:sp>
        <p:nvSpPr>
          <p:cNvPr id="110" name="T110"/>
          <p:cNvSpPr txBox="1"/>
          <p:nvPr/>
        </p:nvSpPr>
        <p:spPr>
          <a:xfrm>
            <a:off x="2200000" y="22352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Faut-il recalibrer les probabilités de l'abandon ? — Non : recalibrage isotonic sans gain (Brier 0,0841 → 0,0842), régression logistique déjà calibrée (§8.5).</a:t>
            </a:r>
          </a:p>
        </p:txBody>
      </p:sp>
      <p:sp>
        <p:nvSpPr>
          <p:cNvPr id="111" name="R111"/>
          <p:cNvSpPr/>
          <p:nvPr/>
        </p:nvSpPr>
        <p:spPr>
          <a:xfrm>
            <a:off x="1047750" y="3149600"/>
            <a:ext cx="16192500" cy="9525"/>
          </a:xfrm>
          <a:prstGeom prst="rect">
            <a:avLst/>
          </a:prstGeom>
          <a:solidFill>
            <a:srgbClr val="E2E8F0"/>
          </a:solidFill>
          <a:ln>
            <a:noFill/>
          </a:ln>
        </p:spPr>
        <p:txBody>
          <a:bodyPr rtlCol="0" anchor="ctr"/>
          <a:lstStyle/>
          <a:p>
            <a:endParaRPr lang="fr-FR" dirty="0"/>
          </a:p>
        </p:txBody>
      </p:sp>
      <p:sp>
        <p:nvSpPr>
          <p:cNvPr id="112" name="T112"/>
          <p:cNvSpPr txBox="1"/>
          <p:nvPr/>
        </p:nvSpPr>
        <p:spPr>
          <a:xfrm>
            <a:off x="1047750" y="32258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D32</a:t>
            </a:r>
          </a:p>
        </p:txBody>
      </p:sp>
      <p:sp>
        <p:nvSpPr>
          <p:cNvPr id="113" name="T113"/>
          <p:cNvSpPr txBox="1"/>
          <p:nvPr/>
        </p:nvSpPr>
        <p:spPr>
          <a:xfrm>
            <a:off x="2200000" y="32258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 périmètre d'industrialisation dans le notebook ? — Code réel exécuté (artefact sérialisé + predict()) ; API, Docker et observabilité décrits en §11/§13, aucun conteneur lancé dans le notebook.</a:t>
            </a:r>
          </a:p>
        </p:txBody>
      </p:sp>
      <p:sp>
        <p:nvSpPr>
          <p:cNvPr id="114" name="R114"/>
          <p:cNvSpPr/>
          <p:nvPr/>
        </p:nvSpPr>
        <p:spPr>
          <a:xfrm>
            <a:off x="1047750" y="4140200"/>
            <a:ext cx="16192500" cy="9525"/>
          </a:xfrm>
          <a:prstGeom prst="rect">
            <a:avLst/>
          </a:prstGeom>
          <a:solidFill>
            <a:srgbClr val="E2E8F0"/>
          </a:solidFill>
          <a:ln>
            <a:noFill/>
          </a:ln>
        </p:spPr>
        <p:txBody>
          <a:bodyPr rtlCol="0" anchor="ctr"/>
          <a:lstStyle/>
          <a:p>
            <a:endParaRPr lang="fr-FR" dirty="0"/>
          </a:p>
        </p:txBody>
      </p:sp>
      <p:sp>
        <p:nvSpPr>
          <p:cNvPr id="115" name="T115"/>
          <p:cNvSpPr txBox="1"/>
          <p:nvPr/>
        </p:nvSpPr>
        <p:spPr>
          <a:xfrm>
            <a:off x="1047750" y="42164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D33</a:t>
            </a:r>
          </a:p>
        </p:txBody>
      </p:sp>
      <p:sp>
        <p:nvSpPr>
          <p:cNvPr id="116" name="T116"/>
          <p:cNvSpPr txBox="1"/>
          <p:nvPr/>
        </p:nvSpPr>
        <p:spPr>
          <a:xfrm>
            <a:off x="2200000" y="42164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Un ou deux artefacts sérialisés pour les deux cibles ? — Deux artefacts joblib séparés (classifier abandon, regressor moyenne_finale) + fiche ; cycles de vie indépendants.</a:t>
            </a:r>
          </a:p>
        </p:txBody>
      </p:sp>
      <p:sp>
        <p:nvSpPr>
          <p:cNvPr id="117" name="R117"/>
          <p:cNvSpPr/>
          <p:nvPr/>
        </p:nvSpPr>
        <p:spPr>
          <a:xfrm>
            <a:off x="1047750" y="5130800"/>
            <a:ext cx="16192500" cy="9525"/>
          </a:xfrm>
          <a:prstGeom prst="rect">
            <a:avLst/>
          </a:prstGeom>
          <a:solidFill>
            <a:srgbClr val="E2E8F0"/>
          </a:solidFill>
          <a:ln>
            <a:noFill/>
          </a:ln>
        </p:spPr>
        <p:txBody>
          <a:bodyPr rtlCol="0" anchor="ctr"/>
          <a:lstStyle/>
          <a:p>
            <a:endParaRPr lang="fr-FR" dirty="0"/>
          </a:p>
        </p:txBody>
      </p:sp>
      <p:sp>
        <p:nvSpPr>
          <p:cNvPr id="118" name="T118"/>
          <p:cNvSpPr txBox="1"/>
          <p:nvPr/>
        </p:nvSpPr>
        <p:spPr>
          <a:xfrm>
            <a:off x="1047750" y="52070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D34</a:t>
            </a:r>
          </a:p>
        </p:txBody>
      </p:sp>
      <p:sp>
        <p:nvSpPr>
          <p:cNvPr id="119" name="T119"/>
          <p:cNvSpPr txBox="1"/>
          <p:nvPr/>
        </p:nvSpPr>
        <p:spPr>
          <a:xfrm>
            <a:off x="2200000" y="52070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Comment expliquer une prédiction dans l'API sans embarquer SHAP ? — Contributions analytiques (modèle linéaire additif) exposées par l'API ; SHAP écarté de l'image d'inférence (éco-conception), confirmé en §12.</a:t>
            </a:r>
          </a:p>
        </p:txBody>
      </p:sp>
      <p:sp>
        <p:nvSpPr>
          <p:cNvPr id="120" name="R120"/>
          <p:cNvSpPr/>
          <p:nvPr/>
        </p:nvSpPr>
        <p:spPr>
          <a:xfrm>
            <a:off x="1047750" y="6121400"/>
            <a:ext cx="16192500" cy="9525"/>
          </a:xfrm>
          <a:prstGeom prst="rect">
            <a:avLst/>
          </a:prstGeom>
          <a:solidFill>
            <a:srgbClr val="E2E8F0"/>
          </a:solidFill>
          <a:ln>
            <a:noFill/>
          </a:ln>
        </p:spPr>
        <p:txBody>
          <a:bodyPr rtlCol="0" anchor="ctr"/>
          <a:lstStyle/>
          <a:p>
            <a:endParaRPr lang="fr-FR" dirty="0"/>
          </a:p>
        </p:txBody>
      </p:sp>
      <p:sp>
        <p:nvSpPr>
          <p:cNvPr id="121" name="T121"/>
          <p:cNvSpPr txBox="1"/>
          <p:nvPr/>
        </p:nvSpPr>
        <p:spPr>
          <a:xfrm>
            <a:off x="1047750" y="61976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D35</a:t>
            </a:r>
          </a:p>
        </p:txBody>
      </p:sp>
      <p:sp>
        <p:nvSpPr>
          <p:cNvPr id="122" name="T122"/>
          <p:cNvSpPr txBox="1"/>
          <p:nvPr/>
        </p:nvSpPr>
        <p:spPr>
          <a:xfrm>
            <a:off x="2200000" y="61976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Comment mesurer la dérive des entrées en production ? — Par cohorte : PSI + KS vs distribution de référence figée, renvoyés dans la réponse de la route principale, hors Prometheus ; seuils 0,10 / 0,25, non mesurable sous effectif minimal.</a:t>
            </a:r>
          </a:p>
        </p:txBody>
      </p:sp>
      <p:sp>
        <p:nvSpPr>
          <p:cNvPr id="123" name="R123"/>
          <p:cNvSpPr/>
          <p:nvPr/>
        </p:nvSpPr>
        <p:spPr>
          <a:xfrm>
            <a:off x="1047750" y="7112000"/>
            <a:ext cx="16192500" cy="9525"/>
          </a:xfrm>
          <a:prstGeom prst="rect">
            <a:avLst/>
          </a:prstGeom>
          <a:solidFill>
            <a:srgbClr val="E2E8F0"/>
          </a:solidFill>
          <a:ln>
            <a:noFill/>
          </a:ln>
        </p:spPr>
        <p:txBody>
          <a:bodyPr rtlCol="0" anchor="ctr"/>
          <a:lstStyle/>
          <a:p>
            <a:endParaRPr lang="fr-FR" dirty="0"/>
          </a:p>
        </p:txBody>
      </p:sp>
      <p:sp>
        <p:nvSpPr>
          <p:cNvPr id="124" name="T124"/>
          <p:cNvSpPr txBox="1"/>
          <p:nvPr/>
        </p:nvSpPr>
        <p:spPr>
          <a:xfrm>
            <a:off x="1047750" y="71882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D36</a:t>
            </a:r>
          </a:p>
        </p:txBody>
      </p:sp>
      <p:sp>
        <p:nvSpPr>
          <p:cNvPr id="125" name="T125"/>
          <p:cNvSpPr txBox="1"/>
          <p:nvPr/>
        </p:nvSpPr>
        <p:spPr>
          <a:xfrm>
            <a:off x="2200000" y="71882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Où le client de démonstration stocke-t-il la clé d'API ? — En localStorage du navigateur, sans relais serveur ; posture démo-only, hors périmètre livré.</a:t>
            </a:r>
          </a:p>
        </p:txBody>
      </p:sp>
      <p:sp>
        <p:nvSpPr>
          <p:cNvPr id="126" name="R126"/>
          <p:cNvSpPr/>
          <p:nvPr/>
        </p:nvSpPr>
        <p:spPr>
          <a:xfrm>
            <a:off x="1047750" y="8102600"/>
            <a:ext cx="16192500" cy="9525"/>
          </a:xfrm>
          <a:prstGeom prst="rect">
            <a:avLst/>
          </a:prstGeom>
          <a:solidFill>
            <a:srgbClr val="E2E8F0"/>
          </a:solidFill>
          <a:ln>
            <a:noFill/>
          </a:ln>
        </p:spPr>
        <p:txBody>
          <a:bodyPr rtlCol="0" anchor="ctr"/>
          <a:lstStyle/>
          <a:p>
            <a:endParaRPr lang="fr-FR" dirty="0"/>
          </a:p>
        </p:txBody>
      </p:sp>
      <p:sp>
        <p:nvSpPr>
          <p:cNvPr id="127" name="T127"/>
          <p:cNvSpPr txBox="1"/>
          <p:nvPr/>
        </p:nvSpPr>
        <p:spPr>
          <a:xfrm>
            <a:off x="1047750" y="81788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D37</a:t>
            </a:r>
          </a:p>
        </p:txBody>
      </p:sp>
      <p:sp>
        <p:nvSpPr>
          <p:cNvPr id="128" name="T128"/>
          <p:cNvSpPr txBox="1"/>
          <p:nvPr/>
        </p:nvSpPr>
        <p:spPr>
          <a:xfrm>
            <a:off x="2200000" y="81788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Faut-il livrer l'acheminement des alertes (Alertmanager) ? — Écarté : le référentiel demande des seuils d'alerte, pas leur routage, qui relève de l'organisation de l'établissement.</a:t>
            </a:r>
          </a:p>
        </p:txBody>
      </p:sp>
      <p:sp>
        <p:nvSpPr>
          <p:cNvPr id="129" name="R129"/>
          <p:cNvSpPr/>
          <p:nvPr/>
        </p:nvSpPr>
        <p:spPr>
          <a:xfrm>
            <a:off x="1047750" y="9093200"/>
            <a:ext cx="16192500" cy="9525"/>
          </a:xfrm>
          <a:prstGeom prst="rect">
            <a:avLst/>
          </a:prstGeom>
          <a:solidFill>
            <a:srgbClr val="E2E8F0"/>
          </a:solidFill>
          <a:ln>
            <a:noFill/>
          </a:ln>
        </p:spPr>
        <p:txBody>
          <a:bodyPr rtlCol="0" anchor="ctr"/>
          <a:lstStyle/>
          <a:p>
            <a:endParaRPr lang="fr-FR" dirty="0"/>
          </a:p>
        </p:txBody>
      </p:sp>
      <p:sp>
        <p:nvSpPr>
          <p:cNvPr id="130" name="T130"/>
          <p:cNvSpPr txBox="1"/>
          <p:nvPr/>
        </p:nvSpPr>
        <p:spPr>
          <a:xfrm>
            <a:off x="1047750" y="9461500"/>
            <a:ext cx="11000000" cy="352425"/>
          </a:xfrm>
          <a:prstGeom prst="rect">
            <a:avLst/>
          </a:prstGeom>
          <a:noFill/>
        </p:spPr>
        <p:txBody>
          <a:bodyPr wrap="square" lIns="27432" tIns="27432" rIns="27432" bIns="27432" anchor="t">
            <a:noAutofit/>
          </a:bodyPr>
          <a:lstStyle/>
          <a:p>
            <a:pPr algn="l"/>
            <a:r>
              <a:rPr lang="fr-FR" sz="1800" b="0" noProof="0" dirty="0">
                <a:solidFill>
                  <a:srgbClr val="878787"/>
                </a:solidFill>
                <a:latin typeface="Arial"/>
              </a:rPr>
              <a:t>Annexe A1 · source : registre-decisions.csv</a:t>
            </a:r>
          </a:p>
        </p:txBody>
      </p:sp>
      <p:sp>
        <p:nvSpPr>
          <p:cNvPr id="131" name="T131"/>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41</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10925042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000000" cy="304800"/>
          </a:xfrm>
          <a:prstGeom prst="rect">
            <a:avLst/>
          </a:prstGeom>
          <a:noFill/>
        </p:spPr>
        <p:txBody>
          <a:bodyPr wrap="square" lIns="27432" tIns="27432" rIns="27432" bIns="27432" anchor="t">
            <a:noAutofit/>
          </a:bodyPr>
          <a:lstStyle/>
          <a:p>
            <a:r>
              <a:rPr lang="fr-FR" sz="1800" b="1" spc="162" noProof="0" dirty="0">
                <a:solidFill>
                  <a:srgbClr val="1A6A77"/>
                </a:solidFill>
                <a:latin typeface="Arial"/>
              </a:rPr>
              <a:t>Annexe A1 : </a:t>
            </a:r>
            <a:r>
              <a:rPr lang="fr-FR" b="1" spc="162" dirty="0">
                <a:solidFill>
                  <a:srgbClr val="1A6A77"/>
                </a:solidFill>
                <a:latin typeface="Arial"/>
              </a:rPr>
              <a:t>Liste des décisions </a:t>
            </a:r>
            <a:r>
              <a:rPr lang="fr-FR" sz="1800" b="1" spc="162" noProof="0" dirty="0">
                <a:solidFill>
                  <a:srgbClr val="1A6A77"/>
                </a:solidFill>
                <a:latin typeface="Arial"/>
              </a:rPr>
              <a:t>(6/6)</a:t>
            </a:r>
          </a:p>
        </p:txBody>
      </p:sp>
      <p:sp>
        <p:nvSpPr>
          <p:cNvPr id="103" name="T103"/>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44 décisions tranchées · D38 à D44</a:t>
            </a:r>
          </a:p>
        </p:txBody>
      </p:sp>
      <p:sp>
        <p:nvSpPr>
          <p:cNvPr id="106" name="T106"/>
          <p:cNvSpPr txBox="1"/>
          <p:nvPr/>
        </p:nvSpPr>
        <p:spPr>
          <a:xfrm>
            <a:off x="1047750" y="1778000"/>
            <a:ext cx="1000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RÉF.</a:t>
            </a:r>
          </a:p>
        </p:txBody>
      </p:sp>
      <p:sp>
        <p:nvSpPr>
          <p:cNvPr id="107" name="T107"/>
          <p:cNvSpPr txBox="1"/>
          <p:nvPr/>
        </p:nvSpPr>
        <p:spPr>
          <a:xfrm>
            <a:off x="2200000" y="1778000"/>
            <a:ext cx="1504025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DESCRIPTION ET CHOIX</a:t>
            </a:r>
          </a:p>
        </p:txBody>
      </p:sp>
      <p:sp>
        <p:nvSpPr>
          <p:cNvPr id="108" name="R108"/>
          <p:cNvSpPr/>
          <p:nvPr/>
        </p:nvSpPr>
        <p:spPr>
          <a:xfrm>
            <a:off x="1047750" y="2159000"/>
            <a:ext cx="16192500" cy="9525"/>
          </a:xfrm>
          <a:prstGeom prst="rect">
            <a:avLst/>
          </a:prstGeom>
          <a:solidFill>
            <a:srgbClr val="E2E8F0"/>
          </a:solidFill>
          <a:ln>
            <a:noFill/>
          </a:ln>
        </p:spPr>
        <p:txBody>
          <a:bodyPr rtlCol="0" anchor="ctr"/>
          <a:lstStyle/>
          <a:p>
            <a:endParaRPr lang="fr-FR" dirty="0"/>
          </a:p>
        </p:txBody>
      </p:sp>
      <p:sp>
        <p:nvSpPr>
          <p:cNvPr id="109" name="T109"/>
          <p:cNvSpPr txBox="1"/>
          <p:nvPr/>
        </p:nvSpPr>
        <p:spPr>
          <a:xfrm>
            <a:off x="1047750" y="22352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D38</a:t>
            </a:r>
          </a:p>
        </p:txBody>
      </p:sp>
      <p:sp>
        <p:nvSpPr>
          <p:cNvPr id="110" name="T110"/>
          <p:cNvSpPr txBox="1"/>
          <p:nvPr/>
        </p:nvSpPr>
        <p:spPr>
          <a:xfrm>
            <a:off x="2200000" y="22352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Où vivent le seuil et les seuils de dérive, sont-ils modifiables sans réentraîner ? — Défaut sérialisé dans la fiche (déclaré au notebook), surchargeable par configuration d'exploitation sans réentraîner ni resérialiser ; contrat d'entrée porté par le schéma Pydantic.</a:t>
            </a:r>
          </a:p>
        </p:txBody>
      </p:sp>
      <p:sp>
        <p:nvSpPr>
          <p:cNvPr id="111" name="R111"/>
          <p:cNvSpPr/>
          <p:nvPr/>
        </p:nvSpPr>
        <p:spPr>
          <a:xfrm>
            <a:off x="1047750" y="3149600"/>
            <a:ext cx="16192500" cy="9525"/>
          </a:xfrm>
          <a:prstGeom prst="rect">
            <a:avLst/>
          </a:prstGeom>
          <a:solidFill>
            <a:srgbClr val="E2E8F0"/>
          </a:solidFill>
          <a:ln>
            <a:noFill/>
          </a:ln>
        </p:spPr>
        <p:txBody>
          <a:bodyPr rtlCol="0" anchor="ctr"/>
          <a:lstStyle/>
          <a:p>
            <a:endParaRPr lang="fr-FR" dirty="0"/>
          </a:p>
        </p:txBody>
      </p:sp>
      <p:sp>
        <p:nvSpPr>
          <p:cNvPr id="112" name="T112"/>
          <p:cNvSpPr txBox="1"/>
          <p:nvPr/>
        </p:nvSpPr>
        <p:spPr>
          <a:xfrm>
            <a:off x="1047750" y="32258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D39</a:t>
            </a:r>
          </a:p>
        </p:txBody>
      </p:sp>
      <p:sp>
        <p:nvSpPr>
          <p:cNvPr id="113" name="T113"/>
          <p:cNvSpPr txBox="1"/>
          <p:nvPr/>
        </p:nvSpPr>
        <p:spPr>
          <a:xfrm>
            <a:off x="2200000" y="32258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Le service doit-il rendre un verdict binaire ou la seule probabilité ? — Deux régimes au choix de l'établissement : probabilité seule par défaut (art. 22), indicateur binaire activable pour un tri à capacité ; le seuil ne gouverne que l'indicateur.</a:t>
            </a:r>
          </a:p>
        </p:txBody>
      </p:sp>
      <p:sp>
        <p:nvSpPr>
          <p:cNvPr id="114" name="R114"/>
          <p:cNvSpPr/>
          <p:nvPr/>
        </p:nvSpPr>
        <p:spPr>
          <a:xfrm>
            <a:off x="1047750" y="4140200"/>
            <a:ext cx="16192500" cy="9525"/>
          </a:xfrm>
          <a:prstGeom prst="rect">
            <a:avLst/>
          </a:prstGeom>
          <a:solidFill>
            <a:srgbClr val="E2E8F0"/>
          </a:solidFill>
          <a:ln>
            <a:noFill/>
          </a:ln>
        </p:spPr>
        <p:txBody>
          <a:bodyPr rtlCol="0" anchor="ctr"/>
          <a:lstStyle/>
          <a:p>
            <a:endParaRPr lang="fr-FR" dirty="0"/>
          </a:p>
        </p:txBody>
      </p:sp>
      <p:sp>
        <p:nvSpPr>
          <p:cNvPr id="115" name="T115"/>
          <p:cNvSpPr txBox="1"/>
          <p:nvPr/>
        </p:nvSpPr>
        <p:spPr>
          <a:xfrm>
            <a:off x="1047750" y="42164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D40</a:t>
            </a:r>
          </a:p>
        </p:txBody>
      </p:sp>
      <p:sp>
        <p:nvSpPr>
          <p:cNvPr id="116" name="T116"/>
          <p:cNvSpPr txBox="1"/>
          <p:nvPr/>
        </p:nvSpPr>
        <p:spPr>
          <a:xfrm>
            <a:off x="2200000" y="42164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Comment servir une contrainte de capacité d'accompagnement (max N) ? — ?capacite=N sur la route principale : signale les N plus à risque de la cohorte (coupe relative), complément du seuil et du plancher de rappel (D04).</a:t>
            </a:r>
          </a:p>
        </p:txBody>
      </p:sp>
      <p:sp>
        <p:nvSpPr>
          <p:cNvPr id="117" name="R117"/>
          <p:cNvSpPr/>
          <p:nvPr/>
        </p:nvSpPr>
        <p:spPr>
          <a:xfrm>
            <a:off x="1047750" y="5130800"/>
            <a:ext cx="16192500" cy="9525"/>
          </a:xfrm>
          <a:prstGeom prst="rect">
            <a:avLst/>
          </a:prstGeom>
          <a:solidFill>
            <a:srgbClr val="E2E8F0"/>
          </a:solidFill>
          <a:ln>
            <a:noFill/>
          </a:ln>
        </p:spPr>
        <p:txBody>
          <a:bodyPr rtlCol="0" anchor="ctr"/>
          <a:lstStyle/>
          <a:p>
            <a:endParaRPr lang="fr-FR" dirty="0"/>
          </a:p>
        </p:txBody>
      </p:sp>
      <p:sp>
        <p:nvSpPr>
          <p:cNvPr id="118" name="T118"/>
          <p:cNvSpPr txBox="1"/>
          <p:nvPr/>
        </p:nvSpPr>
        <p:spPr>
          <a:xfrm>
            <a:off x="1047750" y="52070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D41</a:t>
            </a:r>
          </a:p>
        </p:txBody>
      </p:sp>
      <p:sp>
        <p:nvSpPr>
          <p:cNvPr id="119" name="T119"/>
          <p:cNvSpPr txBox="1"/>
          <p:nvPr/>
        </p:nvSpPr>
        <p:spPr>
          <a:xfrm>
            <a:off x="2200000" y="52070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 outillage de versioning modèle et données ? — Socle sobre (joblib + git + uv.lock + empreintes SHA dans model_metadata.json) ; axe données renforcé par empreinte du gold par campagne ; MLflow/DVC écartés (sur-outillage pour une campagne/an).</a:t>
            </a:r>
          </a:p>
        </p:txBody>
      </p:sp>
      <p:sp>
        <p:nvSpPr>
          <p:cNvPr id="120" name="R120"/>
          <p:cNvSpPr/>
          <p:nvPr/>
        </p:nvSpPr>
        <p:spPr>
          <a:xfrm>
            <a:off x="1047750" y="6121400"/>
            <a:ext cx="16192500" cy="9525"/>
          </a:xfrm>
          <a:prstGeom prst="rect">
            <a:avLst/>
          </a:prstGeom>
          <a:solidFill>
            <a:srgbClr val="E2E8F0"/>
          </a:solidFill>
          <a:ln>
            <a:noFill/>
          </a:ln>
        </p:spPr>
        <p:txBody>
          <a:bodyPr rtlCol="0" anchor="ctr"/>
          <a:lstStyle/>
          <a:p>
            <a:endParaRPr lang="fr-FR" dirty="0"/>
          </a:p>
        </p:txBody>
      </p:sp>
      <p:sp>
        <p:nvSpPr>
          <p:cNvPr id="121" name="T121"/>
          <p:cNvSpPr txBox="1"/>
          <p:nvPr/>
        </p:nvSpPr>
        <p:spPr>
          <a:xfrm>
            <a:off x="1047750" y="61976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D42</a:t>
            </a:r>
          </a:p>
        </p:txBody>
      </p:sp>
      <p:sp>
        <p:nvSpPr>
          <p:cNvPr id="122" name="T122"/>
          <p:cNvSpPr txBox="1"/>
          <p:nvPr/>
        </p:nvSpPr>
        <p:spPr>
          <a:xfrm>
            <a:off x="2200000" y="61976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Quels critères chiffrés déclenchent un ré-entraînement ? — T0 (mi-S1) : dérive d'entrée et de prédiction → analyse + revue humaine, jamais de réentraînement (pas de label) ; T1 (fin d'année) : réentraînement si rappel réel &lt; objectif métier − 5 pts (défaut 80 → 75).</a:t>
            </a:r>
          </a:p>
        </p:txBody>
      </p:sp>
      <p:sp>
        <p:nvSpPr>
          <p:cNvPr id="123" name="R123"/>
          <p:cNvSpPr/>
          <p:nvPr/>
        </p:nvSpPr>
        <p:spPr>
          <a:xfrm>
            <a:off x="1047750" y="7112000"/>
            <a:ext cx="16192500" cy="9525"/>
          </a:xfrm>
          <a:prstGeom prst="rect">
            <a:avLst/>
          </a:prstGeom>
          <a:solidFill>
            <a:srgbClr val="E2E8F0"/>
          </a:solidFill>
          <a:ln>
            <a:noFill/>
          </a:ln>
        </p:spPr>
        <p:txBody>
          <a:bodyPr rtlCol="0" anchor="ctr"/>
          <a:lstStyle/>
          <a:p>
            <a:endParaRPr lang="fr-FR" dirty="0"/>
          </a:p>
        </p:txBody>
      </p:sp>
      <p:sp>
        <p:nvSpPr>
          <p:cNvPr id="124" name="T124"/>
          <p:cNvSpPr txBox="1"/>
          <p:nvPr/>
        </p:nvSpPr>
        <p:spPr>
          <a:xfrm>
            <a:off x="1047750" y="71882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D43</a:t>
            </a:r>
          </a:p>
        </p:txBody>
      </p:sp>
      <p:sp>
        <p:nvSpPr>
          <p:cNvPr id="125" name="T125"/>
          <p:cNvSpPr txBox="1"/>
          <p:nvPr/>
        </p:nvSpPr>
        <p:spPr>
          <a:xfrm>
            <a:off x="2200000" y="71882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Qui conserve l'historique multi-cohortes en vue du réentraînement ? — Le client (responsable de traitement, §4.7) conserve les cohortes passées et les retransmet ; le prestataire ne stocke aucune donnée de cohorte (art. 5.1.c), seulement l'artefact et les empreintes (D41).</a:t>
            </a:r>
          </a:p>
        </p:txBody>
      </p:sp>
      <p:sp>
        <p:nvSpPr>
          <p:cNvPr id="126" name="R126"/>
          <p:cNvSpPr/>
          <p:nvPr/>
        </p:nvSpPr>
        <p:spPr>
          <a:xfrm>
            <a:off x="1047750" y="8102600"/>
            <a:ext cx="16192500" cy="9525"/>
          </a:xfrm>
          <a:prstGeom prst="rect">
            <a:avLst/>
          </a:prstGeom>
          <a:solidFill>
            <a:srgbClr val="E2E8F0"/>
          </a:solidFill>
          <a:ln>
            <a:noFill/>
          </a:ln>
        </p:spPr>
        <p:txBody>
          <a:bodyPr rtlCol="0" anchor="ctr"/>
          <a:lstStyle/>
          <a:p>
            <a:endParaRPr lang="fr-FR" dirty="0"/>
          </a:p>
        </p:txBody>
      </p:sp>
      <p:sp>
        <p:nvSpPr>
          <p:cNvPr id="127" name="T127"/>
          <p:cNvSpPr txBox="1"/>
          <p:nvPr/>
        </p:nvSpPr>
        <p:spPr>
          <a:xfrm>
            <a:off x="1047750" y="8178800"/>
            <a:ext cx="1000000" cy="914400"/>
          </a:xfrm>
          <a:prstGeom prst="rect">
            <a:avLst/>
          </a:prstGeom>
          <a:noFill/>
        </p:spPr>
        <p:txBody>
          <a:bodyPr wrap="square" lIns="27432" tIns="27432" rIns="27432" bIns="27432" anchor="t">
            <a:noAutofit/>
          </a:bodyPr>
          <a:lstStyle/>
          <a:p>
            <a:pPr algn="l">
              <a:lnSpc>
                <a:spcPct val="115000"/>
              </a:lnSpc>
            </a:pPr>
            <a:r>
              <a:rPr lang="fr-FR" sz="1800" b="1" noProof="0" dirty="0">
                <a:solidFill>
                  <a:srgbClr val="1A6A77"/>
                </a:solidFill>
                <a:latin typeface="Arial"/>
              </a:rPr>
              <a:t>D44</a:t>
            </a:r>
          </a:p>
        </p:txBody>
      </p:sp>
      <p:sp>
        <p:nvSpPr>
          <p:cNvPr id="128" name="T128"/>
          <p:cNvSpPr txBox="1"/>
          <p:nvPr/>
        </p:nvSpPr>
        <p:spPr>
          <a:xfrm>
            <a:off x="2200000" y="8178800"/>
            <a:ext cx="14605000" cy="914400"/>
          </a:xfrm>
          <a:prstGeom prst="rect">
            <a:avLst/>
          </a:prstGeom>
          <a:noFill/>
        </p:spPr>
        <p:txBody>
          <a:bodyPr wrap="square" lIns="27432" tIns="27432" rIns="27432" bIns="27432" anchor="t">
            <a:noAutofit/>
          </a:bodyPr>
          <a:lstStyle/>
          <a:p>
            <a:pPr algn="l">
              <a:lnSpc>
                <a:spcPct val="115000"/>
              </a:lnSpc>
            </a:pPr>
            <a:r>
              <a:rPr lang="fr-FR" sz="1800" b="0" noProof="0" dirty="0">
                <a:solidFill>
                  <a:srgbClr val="4A4A4A"/>
                </a:solidFill>
                <a:latin typeface="Arial"/>
              </a:rPr>
              <a:t>Comment rejouer la chaîne prépa→entraînement hors notebook ? — CLI Typer decrochage-l1 : predict (scorer un CSV) et retrain (bronze→silver→gold→entraînement→package), sans optimisation d'hyperparamètres (gelés dans la spec) ; Prefect écarté.</a:t>
            </a:r>
          </a:p>
        </p:txBody>
      </p:sp>
      <p:sp>
        <p:nvSpPr>
          <p:cNvPr id="129" name="R129"/>
          <p:cNvSpPr/>
          <p:nvPr/>
        </p:nvSpPr>
        <p:spPr>
          <a:xfrm>
            <a:off x="1047750" y="9093200"/>
            <a:ext cx="16192500" cy="9525"/>
          </a:xfrm>
          <a:prstGeom prst="rect">
            <a:avLst/>
          </a:prstGeom>
          <a:solidFill>
            <a:srgbClr val="E2E8F0"/>
          </a:solidFill>
          <a:ln>
            <a:noFill/>
          </a:ln>
        </p:spPr>
        <p:txBody>
          <a:bodyPr rtlCol="0" anchor="ctr"/>
          <a:lstStyle/>
          <a:p>
            <a:endParaRPr lang="fr-FR" dirty="0"/>
          </a:p>
        </p:txBody>
      </p:sp>
      <p:sp>
        <p:nvSpPr>
          <p:cNvPr id="130" name="T130"/>
          <p:cNvSpPr txBox="1"/>
          <p:nvPr/>
        </p:nvSpPr>
        <p:spPr>
          <a:xfrm>
            <a:off x="1047750" y="9461500"/>
            <a:ext cx="11000000" cy="352425"/>
          </a:xfrm>
          <a:prstGeom prst="rect">
            <a:avLst/>
          </a:prstGeom>
          <a:noFill/>
        </p:spPr>
        <p:txBody>
          <a:bodyPr wrap="square" lIns="27432" tIns="27432" rIns="27432" bIns="27432" anchor="t">
            <a:noAutofit/>
          </a:bodyPr>
          <a:lstStyle/>
          <a:p>
            <a:pPr algn="l"/>
            <a:r>
              <a:rPr lang="fr-FR" sz="1800" b="0" noProof="0" dirty="0">
                <a:solidFill>
                  <a:srgbClr val="878787"/>
                </a:solidFill>
                <a:latin typeface="Arial"/>
              </a:rPr>
              <a:t>Annexe A1 · source : registre-decisions.csv</a:t>
            </a:r>
          </a:p>
        </p:txBody>
      </p:sp>
      <p:sp>
        <p:nvSpPr>
          <p:cNvPr id="131" name="T131"/>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42</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11397337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500000"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Annexe A2 : Ensemble des mesures — cible abandon (1/2)</a:t>
            </a:r>
          </a:p>
        </p:txBody>
      </p:sp>
      <p:sp>
        <p:nvSpPr>
          <p:cNvPr id="104" name="T104"/>
          <p:cNvSpPr txBox="1"/>
          <p:nvPr/>
        </p:nvSpPr>
        <p:spPr>
          <a:xfrm>
            <a:off x="1054100" y="1778000"/>
            <a:ext cx="25400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MODÈLE</a:t>
            </a:r>
          </a:p>
        </p:txBody>
      </p:sp>
      <p:sp>
        <p:nvSpPr>
          <p:cNvPr id="105" name="T105"/>
          <p:cNvSpPr txBox="1"/>
          <p:nvPr/>
        </p:nvSpPr>
        <p:spPr>
          <a:xfrm>
            <a:off x="3683000" y="1778000"/>
            <a:ext cx="24130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HYPERPARAMÈTRES</a:t>
            </a:r>
          </a:p>
        </p:txBody>
      </p:sp>
      <p:sp>
        <p:nvSpPr>
          <p:cNvPr id="106" name="T106"/>
          <p:cNvSpPr txBox="1"/>
          <p:nvPr/>
        </p:nvSpPr>
        <p:spPr>
          <a:xfrm>
            <a:off x="6172200" y="1778000"/>
            <a:ext cx="19050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JEU (FEATURES)</a:t>
            </a:r>
          </a:p>
        </p:txBody>
      </p:sp>
      <p:sp>
        <p:nvSpPr>
          <p:cNvPr id="107" name="T107"/>
          <p:cNvSpPr txBox="1"/>
          <p:nvPr/>
        </p:nvSpPr>
        <p:spPr>
          <a:xfrm>
            <a:off x="8191500" y="1778000"/>
            <a:ext cx="1244600" cy="330200"/>
          </a:xfrm>
          <a:prstGeom prst="rect">
            <a:avLst/>
          </a:prstGeom>
          <a:noFill/>
        </p:spPr>
        <p:txBody>
          <a:bodyPr wrap="square" lIns="27432" tIns="27432" rIns="27432" bIns="27432" anchor="t">
            <a:noAutofit/>
          </a:bodyPr>
          <a:lstStyle/>
          <a:p>
            <a:pPr algn="r">
              <a:lnSpc>
                <a:spcPct val="100000"/>
              </a:lnSpc>
            </a:pPr>
            <a:r>
              <a:rPr lang="fr-FR" sz="1300" b="1" spc="100" noProof="0" dirty="0">
                <a:solidFill>
                  <a:srgbClr val="5A5A5A"/>
                </a:solidFill>
                <a:latin typeface="Arial"/>
              </a:rPr>
              <a:t>ROC OOF</a:t>
            </a:r>
          </a:p>
        </p:txBody>
      </p:sp>
      <p:sp>
        <p:nvSpPr>
          <p:cNvPr id="108" name="T108"/>
          <p:cNvSpPr txBox="1"/>
          <p:nvPr/>
        </p:nvSpPr>
        <p:spPr>
          <a:xfrm>
            <a:off x="9499600" y="1778000"/>
            <a:ext cx="1244600" cy="330200"/>
          </a:xfrm>
          <a:prstGeom prst="rect">
            <a:avLst/>
          </a:prstGeom>
          <a:noFill/>
        </p:spPr>
        <p:txBody>
          <a:bodyPr wrap="square" lIns="27432" tIns="27432" rIns="27432" bIns="27432" anchor="t">
            <a:noAutofit/>
          </a:bodyPr>
          <a:lstStyle/>
          <a:p>
            <a:pPr algn="r">
              <a:lnSpc>
                <a:spcPct val="100000"/>
              </a:lnSpc>
            </a:pPr>
            <a:r>
              <a:rPr lang="fr-FR" sz="1300" b="1" spc="100" noProof="0" dirty="0">
                <a:solidFill>
                  <a:srgbClr val="5A5A5A"/>
                </a:solidFill>
                <a:latin typeface="Arial"/>
              </a:rPr>
              <a:t>PR OOF</a:t>
            </a:r>
          </a:p>
        </p:txBody>
      </p:sp>
      <p:sp>
        <p:nvSpPr>
          <p:cNvPr id="109" name="T109"/>
          <p:cNvSpPr txBox="1"/>
          <p:nvPr/>
        </p:nvSpPr>
        <p:spPr>
          <a:xfrm>
            <a:off x="10807700" y="1778000"/>
            <a:ext cx="1244600" cy="330200"/>
          </a:xfrm>
          <a:prstGeom prst="rect">
            <a:avLst/>
          </a:prstGeom>
          <a:noFill/>
        </p:spPr>
        <p:txBody>
          <a:bodyPr wrap="square" lIns="27432" tIns="27432" rIns="27432" bIns="27432" anchor="t">
            <a:noAutofit/>
          </a:bodyPr>
          <a:lstStyle/>
          <a:p>
            <a:pPr algn="r">
              <a:lnSpc>
                <a:spcPct val="100000"/>
              </a:lnSpc>
            </a:pPr>
            <a:r>
              <a:rPr lang="fr-FR" sz="1300" b="1" spc="100" noProof="0" dirty="0">
                <a:solidFill>
                  <a:srgbClr val="5A5A5A"/>
                </a:solidFill>
                <a:latin typeface="Arial"/>
              </a:rPr>
              <a:t>BRIER OOF</a:t>
            </a:r>
          </a:p>
        </p:txBody>
      </p:sp>
      <p:sp>
        <p:nvSpPr>
          <p:cNvPr id="110" name="T110"/>
          <p:cNvSpPr txBox="1"/>
          <p:nvPr/>
        </p:nvSpPr>
        <p:spPr>
          <a:xfrm>
            <a:off x="12115800" y="1778000"/>
            <a:ext cx="1244600" cy="330200"/>
          </a:xfrm>
          <a:prstGeom prst="rect">
            <a:avLst/>
          </a:prstGeom>
          <a:noFill/>
        </p:spPr>
        <p:txBody>
          <a:bodyPr wrap="square" lIns="27432" tIns="27432" rIns="27432" bIns="27432" anchor="t">
            <a:noAutofit/>
          </a:bodyPr>
          <a:lstStyle/>
          <a:p>
            <a:pPr algn="r">
              <a:lnSpc>
                <a:spcPct val="100000"/>
              </a:lnSpc>
            </a:pPr>
            <a:r>
              <a:rPr lang="fr-FR" sz="1300" b="1" spc="100" noProof="0" dirty="0">
                <a:solidFill>
                  <a:srgbClr val="5A5A5A"/>
                </a:solidFill>
                <a:latin typeface="Arial"/>
              </a:rPr>
              <a:t>ROC TEST</a:t>
            </a:r>
          </a:p>
        </p:txBody>
      </p:sp>
      <p:sp>
        <p:nvSpPr>
          <p:cNvPr id="111" name="T111"/>
          <p:cNvSpPr txBox="1"/>
          <p:nvPr/>
        </p:nvSpPr>
        <p:spPr>
          <a:xfrm>
            <a:off x="13423900" y="1778000"/>
            <a:ext cx="1244600" cy="330200"/>
          </a:xfrm>
          <a:prstGeom prst="rect">
            <a:avLst/>
          </a:prstGeom>
          <a:noFill/>
        </p:spPr>
        <p:txBody>
          <a:bodyPr wrap="square" lIns="27432" tIns="27432" rIns="27432" bIns="27432" anchor="t">
            <a:noAutofit/>
          </a:bodyPr>
          <a:lstStyle/>
          <a:p>
            <a:pPr algn="r">
              <a:lnSpc>
                <a:spcPct val="100000"/>
              </a:lnSpc>
            </a:pPr>
            <a:r>
              <a:rPr lang="fr-FR" sz="1300" b="1" spc="100" noProof="0" dirty="0">
                <a:solidFill>
                  <a:srgbClr val="5A5A5A"/>
                </a:solidFill>
                <a:latin typeface="Arial"/>
              </a:rPr>
              <a:t>PR TEST</a:t>
            </a:r>
          </a:p>
        </p:txBody>
      </p:sp>
      <p:sp>
        <p:nvSpPr>
          <p:cNvPr id="112" name="T112"/>
          <p:cNvSpPr txBox="1"/>
          <p:nvPr/>
        </p:nvSpPr>
        <p:spPr>
          <a:xfrm>
            <a:off x="14732000" y="1778000"/>
            <a:ext cx="1244600" cy="330200"/>
          </a:xfrm>
          <a:prstGeom prst="rect">
            <a:avLst/>
          </a:prstGeom>
          <a:noFill/>
        </p:spPr>
        <p:txBody>
          <a:bodyPr wrap="square" lIns="27432" tIns="27432" rIns="27432" bIns="27432" anchor="t">
            <a:noAutofit/>
          </a:bodyPr>
          <a:lstStyle/>
          <a:p>
            <a:pPr algn="r">
              <a:lnSpc>
                <a:spcPct val="100000"/>
              </a:lnSpc>
            </a:pPr>
            <a:r>
              <a:rPr lang="fr-FR" sz="1300" b="1" spc="100" noProof="0" dirty="0">
                <a:solidFill>
                  <a:srgbClr val="5A5A5A"/>
                </a:solidFill>
                <a:latin typeface="Arial"/>
              </a:rPr>
              <a:t>BRIER TEST</a:t>
            </a:r>
          </a:p>
        </p:txBody>
      </p:sp>
      <p:sp>
        <p:nvSpPr>
          <p:cNvPr id="113" name="T113"/>
          <p:cNvSpPr txBox="1"/>
          <p:nvPr/>
        </p:nvSpPr>
        <p:spPr>
          <a:xfrm>
            <a:off x="16154400" y="1778000"/>
            <a:ext cx="10922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STATUT</a:t>
            </a:r>
          </a:p>
        </p:txBody>
      </p:sp>
      <p:sp>
        <p:nvSpPr>
          <p:cNvPr id="114" name="R114"/>
          <p:cNvSpPr/>
          <p:nvPr/>
        </p:nvSpPr>
        <p:spPr>
          <a:xfrm>
            <a:off x="1047750" y="2159000"/>
            <a:ext cx="16192500" cy="9525"/>
          </a:xfrm>
          <a:prstGeom prst="rect">
            <a:avLst/>
          </a:prstGeom>
          <a:solidFill>
            <a:srgbClr val="E2E8F0"/>
          </a:solidFill>
          <a:ln>
            <a:noFill/>
          </a:ln>
        </p:spPr>
        <p:txBody>
          <a:bodyPr rtlCol="0" anchor="ctr"/>
          <a:lstStyle/>
          <a:p>
            <a:endParaRPr lang="fr-FR" dirty="0"/>
          </a:p>
        </p:txBody>
      </p:sp>
      <p:sp>
        <p:nvSpPr>
          <p:cNvPr id="115" name="T115"/>
          <p:cNvSpPr txBox="1"/>
          <p:nvPr/>
        </p:nvSpPr>
        <p:spPr>
          <a:xfrm>
            <a:off x="1054100" y="2235200"/>
            <a:ext cx="2540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Régression logistique</a:t>
            </a:r>
          </a:p>
        </p:txBody>
      </p:sp>
      <p:sp>
        <p:nvSpPr>
          <p:cNvPr id="116" name="T116"/>
          <p:cNvSpPr txBox="1"/>
          <p:nvPr/>
        </p:nvSpPr>
        <p:spPr>
          <a:xfrm>
            <a:off x="3683000" y="2235200"/>
            <a:ext cx="2413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défaut</a:t>
            </a:r>
          </a:p>
        </p:txBody>
      </p:sp>
      <p:sp>
        <p:nvSpPr>
          <p:cNvPr id="117" name="T117"/>
          <p:cNvSpPr txBox="1"/>
          <p:nvPr/>
        </p:nvSpPr>
        <p:spPr>
          <a:xfrm>
            <a:off x="6172200" y="2235200"/>
            <a:ext cx="1905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complet (24)</a:t>
            </a:r>
          </a:p>
        </p:txBody>
      </p:sp>
      <p:sp>
        <p:nvSpPr>
          <p:cNvPr id="118" name="T118"/>
          <p:cNvSpPr txBox="1"/>
          <p:nvPr/>
        </p:nvSpPr>
        <p:spPr>
          <a:xfrm>
            <a:off x="8191500" y="223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0,9475</a:t>
            </a:r>
          </a:p>
        </p:txBody>
      </p:sp>
      <p:sp>
        <p:nvSpPr>
          <p:cNvPr id="119" name="T119"/>
          <p:cNvSpPr txBox="1"/>
          <p:nvPr/>
        </p:nvSpPr>
        <p:spPr>
          <a:xfrm>
            <a:off x="9499600" y="223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0,8759</a:t>
            </a:r>
          </a:p>
        </p:txBody>
      </p:sp>
      <p:sp>
        <p:nvSpPr>
          <p:cNvPr id="120" name="T120"/>
          <p:cNvSpPr txBox="1"/>
          <p:nvPr/>
        </p:nvSpPr>
        <p:spPr>
          <a:xfrm>
            <a:off x="10807700" y="223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0,0825</a:t>
            </a:r>
          </a:p>
        </p:txBody>
      </p:sp>
      <p:sp>
        <p:nvSpPr>
          <p:cNvPr id="121" name="T121"/>
          <p:cNvSpPr txBox="1"/>
          <p:nvPr/>
        </p:nvSpPr>
        <p:spPr>
          <a:xfrm>
            <a:off x="12115800" y="223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22" name="T122"/>
          <p:cNvSpPr txBox="1"/>
          <p:nvPr/>
        </p:nvSpPr>
        <p:spPr>
          <a:xfrm>
            <a:off x="13423900" y="223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23" name="T123"/>
          <p:cNvSpPr txBox="1"/>
          <p:nvPr/>
        </p:nvSpPr>
        <p:spPr>
          <a:xfrm>
            <a:off x="14732000" y="223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24" name="T124"/>
          <p:cNvSpPr txBox="1"/>
          <p:nvPr/>
        </p:nvSpPr>
        <p:spPr>
          <a:xfrm>
            <a:off x="16154400" y="2235200"/>
            <a:ext cx="10922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Comparé</a:t>
            </a:r>
          </a:p>
        </p:txBody>
      </p:sp>
      <p:sp>
        <p:nvSpPr>
          <p:cNvPr id="125" name="R125"/>
          <p:cNvSpPr/>
          <p:nvPr/>
        </p:nvSpPr>
        <p:spPr>
          <a:xfrm>
            <a:off x="1047750" y="2794000"/>
            <a:ext cx="16192500" cy="9525"/>
          </a:xfrm>
          <a:prstGeom prst="rect">
            <a:avLst/>
          </a:prstGeom>
          <a:solidFill>
            <a:srgbClr val="E2E8F0"/>
          </a:solidFill>
          <a:ln>
            <a:noFill/>
          </a:ln>
        </p:spPr>
        <p:txBody>
          <a:bodyPr rtlCol="0" anchor="ctr"/>
          <a:lstStyle/>
          <a:p>
            <a:endParaRPr lang="fr-FR" dirty="0"/>
          </a:p>
        </p:txBody>
      </p:sp>
      <p:sp>
        <p:nvSpPr>
          <p:cNvPr id="126" name="T126"/>
          <p:cNvSpPr txBox="1"/>
          <p:nvPr/>
        </p:nvSpPr>
        <p:spPr>
          <a:xfrm>
            <a:off x="1054100" y="2870200"/>
            <a:ext cx="2540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Random Forest</a:t>
            </a:r>
          </a:p>
        </p:txBody>
      </p:sp>
      <p:sp>
        <p:nvSpPr>
          <p:cNvPr id="127" name="T127"/>
          <p:cNvSpPr txBox="1"/>
          <p:nvPr/>
        </p:nvSpPr>
        <p:spPr>
          <a:xfrm>
            <a:off x="3683000" y="2870200"/>
            <a:ext cx="2413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défaut</a:t>
            </a:r>
          </a:p>
        </p:txBody>
      </p:sp>
      <p:sp>
        <p:nvSpPr>
          <p:cNvPr id="128" name="T128"/>
          <p:cNvSpPr txBox="1"/>
          <p:nvPr/>
        </p:nvSpPr>
        <p:spPr>
          <a:xfrm>
            <a:off x="6172200" y="2870200"/>
            <a:ext cx="1905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complet (24)</a:t>
            </a:r>
          </a:p>
        </p:txBody>
      </p:sp>
      <p:sp>
        <p:nvSpPr>
          <p:cNvPr id="129" name="T129"/>
          <p:cNvSpPr txBox="1"/>
          <p:nvPr/>
        </p:nvSpPr>
        <p:spPr>
          <a:xfrm>
            <a:off x="8191500" y="287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0,9399</a:t>
            </a:r>
          </a:p>
        </p:txBody>
      </p:sp>
      <p:sp>
        <p:nvSpPr>
          <p:cNvPr id="130" name="T130"/>
          <p:cNvSpPr txBox="1"/>
          <p:nvPr/>
        </p:nvSpPr>
        <p:spPr>
          <a:xfrm>
            <a:off x="9499600" y="287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0,8494</a:t>
            </a:r>
          </a:p>
        </p:txBody>
      </p:sp>
      <p:sp>
        <p:nvSpPr>
          <p:cNvPr id="131" name="T131"/>
          <p:cNvSpPr txBox="1"/>
          <p:nvPr/>
        </p:nvSpPr>
        <p:spPr>
          <a:xfrm>
            <a:off x="10807700" y="287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0,0892</a:t>
            </a:r>
          </a:p>
        </p:txBody>
      </p:sp>
      <p:sp>
        <p:nvSpPr>
          <p:cNvPr id="132" name="T132"/>
          <p:cNvSpPr txBox="1"/>
          <p:nvPr/>
        </p:nvSpPr>
        <p:spPr>
          <a:xfrm>
            <a:off x="12115800" y="287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33" name="T133"/>
          <p:cNvSpPr txBox="1"/>
          <p:nvPr/>
        </p:nvSpPr>
        <p:spPr>
          <a:xfrm>
            <a:off x="13423900" y="287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34" name="T134"/>
          <p:cNvSpPr txBox="1"/>
          <p:nvPr/>
        </p:nvSpPr>
        <p:spPr>
          <a:xfrm>
            <a:off x="14732000" y="287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35" name="T135"/>
          <p:cNvSpPr txBox="1"/>
          <p:nvPr/>
        </p:nvSpPr>
        <p:spPr>
          <a:xfrm>
            <a:off x="16154400" y="2870200"/>
            <a:ext cx="10922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Comparé</a:t>
            </a:r>
          </a:p>
        </p:txBody>
      </p:sp>
      <p:sp>
        <p:nvSpPr>
          <p:cNvPr id="136" name="R136"/>
          <p:cNvSpPr/>
          <p:nvPr/>
        </p:nvSpPr>
        <p:spPr>
          <a:xfrm>
            <a:off x="1047750" y="3429000"/>
            <a:ext cx="16192500" cy="9525"/>
          </a:xfrm>
          <a:prstGeom prst="rect">
            <a:avLst/>
          </a:prstGeom>
          <a:solidFill>
            <a:srgbClr val="E2E8F0"/>
          </a:solidFill>
          <a:ln>
            <a:noFill/>
          </a:ln>
        </p:spPr>
        <p:txBody>
          <a:bodyPr rtlCol="0" anchor="ctr"/>
          <a:lstStyle/>
          <a:p>
            <a:endParaRPr lang="fr-FR" dirty="0"/>
          </a:p>
        </p:txBody>
      </p:sp>
      <p:sp>
        <p:nvSpPr>
          <p:cNvPr id="137" name="T137"/>
          <p:cNvSpPr txBox="1"/>
          <p:nvPr/>
        </p:nvSpPr>
        <p:spPr>
          <a:xfrm>
            <a:off x="1054100" y="3505200"/>
            <a:ext cx="2540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XGBoost</a:t>
            </a:r>
          </a:p>
        </p:txBody>
      </p:sp>
      <p:sp>
        <p:nvSpPr>
          <p:cNvPr id="138" name="T138"/>
          <p:cNvSpPr txBox="1"/>
          <p:nvPr/>
        </p:nvSpPr>
        <p:spPr>
          <a:xfrm>
            <a:off x="3683000" y="3505200"/>
            <a:ext cx="2413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défaut</a:t>
            </a:r>
          </a:p>
        </p:txBody>
      </p:sp>
      <p:sp>
        <p:nvSpPr>
          <p:cNvPr id="139" name="T139"/>
          <p:cNvSpPr txBox="1"/>
          <p:nvPr/>
        </p:nvSpPr>
        <p:spPr>
          <a:xfrm>
            <a:off x="6172200" y="3505200"/>
            <a:ext cx="1905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complet (24)</a:t>
            </a:r>
          </a:p>
        </p:txBody>
      </p:sp>
      <p:sp>
        <p:nvSpPr>
          <p:cNvPr id="140" name="T140"/>
          <p:cNvSpPr txBox="1"/>
          <p:nvPr/>
        </p:nvSpPr>
        <p:spPr>
          <a:xfrm>
            <a:off x="8191500" y="350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0,9368</a:t>
            </a:r>
          </a:p>
        </p:txBody>
      </p:sp>
      <p:sp>
        <p:nvSpPr>
          <p:cNvPr id="141" name="T141"/>
          <p:cNvSpPr txBox="1"/>
          <p:nvPr/>
        </p:nvSpPr>
        <p:spPr>
          <a:xfrm>
            <a:off x="9499600" y="350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0,8456</a:t>
            </a:r>
          </a:p>
        </p:txBody>
      </p:sp>
      <p:sp>
        <p:nvSpPr>
          <p:cNvPr id="142" name="T142"/>
          <p:cNvSpPr txBox="1"/>
          <p:nvPr/>
        </p:nvSpPr>
        <p:spPr>
          <a:xfrm>
            <a:off x="10807700" y="350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0,0991</a:t>
            </a:r>
          </a:p>
        </p:txBody>
      </p:sp>
      <p:sp>
        <p:nvSpPr>
          <p:cNvPr id="143" name="T143"/>
          <p:cNvSpPr txBox="1"/>
          <p:nvPr/>
        </p:nvSpPr>
        <p:spPr>
          <a:xfrm>
            <a:off x="12115800" y="350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44" name="T144"/>
          <p:cNvSpPr txBox="1"/>
          <p:nvPr/>
        </p:nvSpPr>
        <p:spPr>
          <a:xfrm>
            <a:off x="13423900" y="350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45" name="T145"/>
          <p:cNvSpPr txBox="1"/>
          <p:nvPr/>
        </p:nvSpPr>
        <p:spPr>
          <a:xfrm>
            <a:off x="14732000" y="350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46" name="T146"/>
          <p:cNvSpPr txBox="1"/>
          <p:nvPr/>
        </p:nvSpPr>
        <p:spPr>
          <a:xfrm>
            <a:off x="16154400" y="3505200"/>
            <a:ext cx="10922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Comparé</a:t>
            </a:r>
          </a:p>
        </p:txBody>
      </p:sp>
      <p:sp>
        <p:nvSpPr>
          <p:cNvPr id="147" name="R147"/>
          <p:cNvSpPr/>
          <p:nvPr/>
        </p:nvSpPr>
        <p:spPr>
          <a:xfrm>
            <a:off x="1047750" y="4064000"/>
            <a:ext cx="16192500" cy="9525"/>
          </a:xfrm>
          <a:prstGeom prst="rect">
            <a:avLst/>
          </a:prstGeom>
          <a:solidFill>
            <a:srgbClr val="E2E8F0"/>
          </a:solidFill>
          <a:ln>
            <a:noFill/>
          </a:ln>
        </p:spPr>
        <p:txBody>
          <a:bodyPr rtlCol="0" anchor="ctr"/>
          <a:lstStyle/>
          <a:p>
            <a:endParaRPr lang="fr-FR" dirty="0"/>
          </a:p>
        </p:txBody>
      </p:sp>
      <p:sp>
        <p:nvSpPr>
          <p:cNvPr id="148" name="T148"/>
          <p:cNvSpPr txBox="1"/>
          <p:nvPr/>
        </p:nvSpPr>
        <p:spPr>
          <a:xfrm>
            <a:off x="1054100" y="4140200"/>
            <a:ext cx="2540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Régression logistique</a:t>
            </a:r>
          </a:p>
        </p:txBody>
      </p:sp>
      <p:sp>
        <p:nvSpPr>
          <p:cNvPr id="149" name="T149"/>
          <p:cNvSpPr txBox="1"/>
          <p:nvPr/>
        </p:nvSpPr>
        <p:spPr>
          <a:xfrm>
            <a:off x="3683000" y="4140200"/>
            <a:ext cx="2413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défaut</a:t>
            </a:r>
          </a:p>
        </p:txBody>
      </p:sp>
      <p:sp>
        <p:nvSpPr>
          <p:cNvPr id="150" name="T150"/>
          <p:cNvSpPr txBox="1"/>
          <p:nvPr/>
        </p:nvSpPr>
        <p:spPr>
          <a:xfrm>
            <a:off x="6172200" y="4140200"/>
            <a:ext cx="1905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sans leurres (21)</a:t>
            </a:r>
          </a:p>
        </p:txBody>
      </p:sp>
      <p:sp>
        <p:nvSpPr>
          <p:cNvPr id="151" name="T151"/>
          <p:cNvSpPr txBox="1"/>
          <p:nvPr/>
        </p:nvSpPr>
        <p:spPr>
          <a:xfrm>
            <a:off x="8191500" y="414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0,9489</a:t>
            </a:r>
          </a:p>
        </p:txBody>
      </p:sp>
      <p:sp>
        <p:nvSpPr>
          <p:cNvPr id="152" name="T152"/>
          <p:cNvSpPr txBox="1"/>
          <p:nvPr/>
        </p:nvSpPr>
        <p:spPr>
          <a:xfrm>
            <a:off x="9499600" y="414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0,8790</a:t>
            </a:r>
          </a:p>
        </p:txBody>
      </p:sp>
      <p:sp>
        <p:nvSpPr>
          <p:cNvPr id="153" name="T153"/>
          <p:cNvSpPr txBox="1"/>
          <p:nvPr/>
        </p:nvSpPr>
        <p:spPr>
          <a:xfrm>
            <a:off x="10807700" y="414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0,0812</a:t>
            </a:r>
          </a:p>
        </p:txBody>
      </p:sp>
      <p:sp>
        <p:nvSpPr>
          <p:cNvPr id="154" name="T154"/>
          <p:cNvSpPr txBox="1"/>
          <p:nvPr/>
        </p:nvSpPr>
        <p:spPr>
          <a:xfrm>
            <a:off x="12115800" y="414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55" name="T155"/>
          <p:cNvSpPr txBox="1"/>
          <p:nvPr/>
        </p:nvSpPr>
        <p:spPr>
          <a:xfrm>
            <a:off x="13423900" y="414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56" name="T156"/>
          <p:cNvSpPr txBox="1"/>
          <p:nvPr/>
        </p:nvSpPr>
        <p:spPr>
          <a:xfrm>
            <a:off x="14732000" y="414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57" name="T157"/>
          <p:cNvSpPr txBox="1"/>
          <p:nvPr/>
        </p:nvSpPr>
        <p:spPr>
          <a:xfrm>
            <a:off x="16154400" y="4140200"/>
            <a:ext cx="10922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Comparé</a:t>
            </a:r>
          </a:p>
        </p:txBody>
      </p:sp>
      <p:sp>
        <p:nvSpPr>
          <p:cNvPr id="158" name="R158"/>
          <p:cNvSpPr/>
          <p:nvPr/>
        </p:nvSpPr>
        <p:spPr>
          <a:xfrm>
            <a:off x="1047750" y="4699000"/>
            <a:ext cx="16192500" cy="9525"/>
          </a:xfrm>
          <a:prstGeom prst="rect">
            <a:avLst/>
          </a:prstGeom>
          <a:solidFill>
            <a:srgbClr val="E2E8F0"/>
          </a:solidFill>
          <a:ln>
            <a:noFill/>
          </a:ln>
        </p:spPr>
        <p:txBody>
          <a:bodyPr rtlCol="0" anchor="ctr"/>
          <a:lstStyle/>
          <a:p>
            <a:endParaRPr lang="fr-FR" dirty="0"/>
          </a:p>
        </p:txBody>
      </p:sp>
      <p:sp>
        <p:nvSpPr>
          <p:cNvPr id="159" name="T159"/>
          <p:cNvSpPr txBox="1"/>
          <p:nvPr/>
        </p:nvSpPr>
        <p:spPr>
          <a:xfrm>
            <a:off x="1054100" y="4775200"/>
            <a:ext cx="2540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Régression logistique</a:t>
            </a:r>
          </a:p>
        </p:txBody>
      </p:sp>
      <p:sp>
        <p:nvSpPr>
          <p:cNvPr id="160" name="T160"/>
          <p:cNvSpPr txBox="1"/>
          <p:nvPr/>
        </p:nvSpPr>
        <p:spPr>
          <a:xfrm>
            <a:off x="3683000" y="4775200"/>
            <a:ext cx="2413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défaut</a:t>
            </a:r>
          </a:p>
        </p:txBody>
      </p:sp>
      <p:sp>
        <p:nvSpPr>
          <p:cNvPr id="161" name="T161"/>
          <p:cNvSpPr txBox="1"/>
          <p:nvPr/>
        </p:nvSpPr>
        <p:spPr>
          <a:xfrm>
            <a:off x="6172200" y="4775200"/>
            <a:ext cx="1905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sans proxies (21)</a:t>
            </a:r>
          </a:p>
        </p:txBody>
      </p:sp>
      <p:sp>
        <p:nvSpPr>
          <p:cNvPr id="162" name="T162"/>
          <p:cNvSpPr txBox="1"/>
          <p:nvPr/>
        </p:nvSpPr>
        <p:spPr>
          <a:xfrm>
            <a:off x="8191500" y="477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0,9465</a:t>
            </a:r>
          </a:p>
        </p:txBody>
      </p:sp>
      <p:sp>
        <p:nvSpPr>
          <p:cNvPr id="163" name="T163"/>
          <p:cNvSpPr txBox="1"/>
          <p:nvPr/>
        </p:nvSpPr>
        <p:spPr>
          <a:xfrm>
            <a:off x="9499600" y="477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0,8734</a:t>
            </a:r>
          </a:p>
        </p:txBody>
      </p:sp>
      <p:sp>
        <p:nvSpPr>
          <p:cNvPr id="164" name="T164"/>
          <p:cNvSpPr txBox="1"/>
          <p:nvPr/>
        </p:nvSpPr>
        <p:spPr>
          <a:xfrm>
            <a:off x="10807700" y="477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0,0833</a:t>
            </a:r>
          </a:p>
        </p:txBody>
      </p:sp>
      <p:sp>
        <p:nvSpPr>
          <p:cNvPr id="165" name="T165"/>
          <p:cNvSpPr txBox="1"/>
          <p:nvPr/>
        </p:nvSpPr>
        <p:spPr>
          <a:xfrm>
            <a:off x="12115800" y="477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66" name="T166"/>
          <p:cNvSpPr txBox="1"/>
          <p:nvPr/>
        </p:nvSpPr>
        <p:spPr>
          <a:xfrm>
            <a:off x="13423900" y="477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67" name="T167"/>
          <p:cNvSpPr txBox="1"/>
          <p:nvPr/>
        </p:nvSpPr>
        <p:spPr>
          <a:xfrm>
            <a:off x="14732000" y="477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68" name="T168"/>
          <p:cNvSpPr txBox="1"/>
          <p:nvPr/>
        </p:nvSpPr>
        <p:spPr>
          <a:xfrm>
            <a:off x="16154400" y="4775200"/>
            <a:ext cx="10922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Comparé</a:t>
            </a:r>
          </a:p>
        </p:txBody>
      </p:sp>
      <p:sp>
        <p:nvSpPr>
          <p:cNvPr id="169" name="R169"/>
          <p:cNvSpPr/>
          <p:nvPr/>
        </p:nvSpPr>
        <p:spPr>
          <a:xfrm>
            <a:off x="1047750" y="5334000"/>
            <a:ext cx="16192500" cy="9525"/>
          </a:xfrm>
          <a:prstGeom prst="rect">
            <a:avLst/>
          </a:prstGeom>
          <a:solidFill>
            <a:srgbClr val="E2E8F0"/>
          </a:solidFill>
          <a:ln>
            <a:noFill/>
          </a:ln>
        </p:spPr>
        <p:txBody>
          <a:bodyPr rtlCol="0" anchor="ctr"/>
          <a:lstStyle/>
          <a:p>
            <a:endParaRPr lang="fr-FR" dirty="0"/>
          </a:p>
        </p:txBody>
      </p:sp>
      <p:sp>
        <p:nvSpPr>
          <p:cNvPr id="170" name="T170"/>
          <p:cNvSpPr txBox="1"/>
          <p:nvPr/>
        </p:nvSpPr>
        <p:spPr>
          <a:xfrm>
            <a:off x="1054100" y="5410200"/>
            <a:ext cx="2540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Régression logistique</a:t>
            </a:r>
          </a:p>
        </p:txBody>
      </p:sp>
      <p:sp>
        <p:nvSpPr>
          <p:cNvPr id="171" name="T171"/>
          <p:cNvSpPr txBox="1"/>
          <p:nvPr/>
        </p:nvSpPr>
        <p:spPr>
          <a:xfrm>
            <a:off x="3683000" y="5410200"/>
            <a:ext cx="2413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défaut</a:t>
            </a:r>
          </a:p>
        </p:txBody>
      </p:sp>
      <p:sp>
        <p:nvSpPr>
          <p:cNvPr id="172" name="T172"/>
          <p:cNvSpPr txBox="1"/>
          <p:nvPr/>
        </p:nvSpPr>
        <p:spPr>
          <a:xfrm>
            <a:off x="6172200" y="5410200"/>
            <a:ext cx="1905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sans LMS redond. (22)</a:t>
            </a:r>
          </a:p>
        </p:txBody>
      </p:sp>
      <p:sp>
        <p:nvSpPr>
          <p:cNvPr id="173" name="T173"/>
          <p:cNvSpPr txBox="1"/>
          <p:nvPr/>
        </p:nvSpPr>
        <p:spPr>
          <a:xfrm>
            <a:off x="8191500" y="541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0,9445</a:t>
            </a:r>
          </a:p>
        </p:txBody>
      </p:sp>
      <p:sp>
        <p:nvSpPr>
          <p:cNvPr id="174" name="T174"/>
          <p:cNvSpPr txBox="1"/>
          <p:nvPr/>
        </p:nvSpPr>
        <p:spPr>
          <a:xfrm>
            <a:off x="9499600" y="541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0,8703</a:t>
            </a:r>
          </a:p>
        </p:txBody>
      </p:sp>
      <p:sp>
        <p:nvSpPr>
          <p:cNvPr id="175" name="T175"/>
          <p:cNvSpPr txBox="1"/>
          <p:nvPr/>
        </p:nvSpPr>
        <p:spPr>
          <a:xfrm>
            <a:off x="10807700" y="541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0,0848</a:t>
            </a:r>
          </a:p>
        </p:txBody>
      </p:sp>
      <p:sp>
        <p:nvSpPr>
          <p:cNvPr id="176" name="T176"/>
          <p:cNvSpPr txBox="1"/>
          <p:nvPr/>
        </p:nvSpPr>
        <p:spPr>
          <a:xfrm>
            <a:off x="12115800" y="541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77" name="T177"/>
          <p:cNvSpPr txBox="1"/>
          <p:nvPr/>
        </p:nvSpPr>
        <p:spPr>
          <a:xfrm>
            <a:off x="13423900" y="541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78" name="T178"/>
          <p:cNvSpPr txBox="1"/>
          <p:nvPr/>
        </p:nvSpPr>
        <p:spPr>
          <a:xfrm>
            <a:off x="14732000" y="541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79" name="T179"/>
          <p:cNvSpPr txBox="1"/>
          <p:nvPr/>
        </p:nvSpPr>
        <p:spPr>
          <a:xfrm>
            <a:off x="16154400" y="5410200"/>
            <a:ext cx="10922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Comparé</a:t>
            </a:r>
          </a:p>
        </p:txBody>
      </p:sp>
      <p:sp>
        <p:nvSpPr>
          <p:cNvPr id="180" name="R180"/>
          <p:cNvSpPr/>
          <p:nvPr/>
        </p:nvSpPr>
        <p:spPr>
          <a:xfrm>
            <a:off x="1047750" y="5969000"/>
            <a:ext cx="16192500" cy="9525"/>
          </a:xfrm>
          <a:prstGeom prst="rect">
            <a:avLst/>
          </a:prstGeom>
          <a:solidFill>
            <a:srgbClr val="E2E8F0"/>
          </a:solidFill>
          <a:ln>
            <a:noFill/>
          </a:ln>
        </p:spPr>
        <p:txBody>
          <a:bodyPr rtlCol="0" anchor="ctr"/>
          <a:lstStyle/>
          <a:p>
            <a:endParaRPr lang="fr-FR" dirty="0"/>
          </a:p>
        </p:txBody>
      </p:sp>
      <p:sp>
        <p:nvSpPr>
          <p:cNvPr id="181" name="T181"/>
          <p:cNvSpPr txBox="1"/>
          <p:nvPr/>
        </p:nvSpPr>
        <p:spPr>
          <a:xfrm>
            <a:off x="1054100" y="6045200"/>
            <a:ext cx="2540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Régression logistique</a:t>
            </a:r>
          </a:p>
        </p:txBody>
      </p:sp>
      <p:sp>
        <p:nvSpPr>
          <p:cNvPr id="182" name="T182"/>
          <p:cNvSpPr txBox="1"/>
          <p:nvPr/>
        </p:nvSpPr>
        <p:spPr>
          <a:xfrm>
            <a:off x="3683000" y="6045200"/>
            <a:ext cx="2413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défaut</a:t>
            </a:r>
          </a:p>
        </p:txBody>
      </p:sp>
      <p:sp>
        <p:nvSpPr>
          <p:cNvPr id="183" name="T183"/>
          <p:cNvSpPr txBox="1"/>
          <p:nvPr/>
        </p:nvSpPr>
        <p:spPr>
          <a:xfrm>
            <a:off x="6172200" y="6045200"/>
            <a:ext cx="1905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minimisé (16)</a:t>
            </a:r>
          </a:p>
        </p:txBody>
      </p:sp>
      <p:sp>
        <p:nvSpPr>
          <p:cNvPr id="184" name="T184"/>
          <p:cNvSpPr txBox="1"/>
          <p:nvPr/>
        </p:nvSpPr>
        <p:spPr>
          <a:xfrm>
            <a:off x="8191500" y="604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0,9451</a:t>
            </a:r>
          </a:p>
        </p:txBody>
      </p:sp>
      <p:sp>
        <p:nvSpPr>
          <p:cNvPr id="185" name="T185"/>
          <p:cNvSpPr txBox="1"/>
          <p:nvPr/>
        </p:nvSpPr>
        <p:spPr>
          <a:xfrm>
            <a:off x="9499600" y="604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0,8712</a:t>
            </a:r>
          </a:p>
        </p:txBody>
      </p:sp>
      <p:sp>
        <p:nvSpPr>
          <p:cNvPr id="186" name="T186"/>
          <p:cNvSpPr txBox="1"/>
          <p:nvPr/>
        </p:nvSpPr>
        <p:spPr>
          <a:xfrm>
            <a:off x="10807700" y="604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0,0845</a:t>
            </a:r>
          </a:p>
        </p:txBody>
      </p:sp>
      <p:sp>
        <p:nvSpPr>
          <p:cNvPr id="187" name="T187"/>
          <p:cNvSpPr txBox="1"/>
          <p:nvPr/>
        </p:nvSpPr>
        <p:spPr>
          <a:xfrm>
            <a:off x="12115800" y="604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88" name="T188"/>
          <p:cNvSpPr txBox="1"/>
          <p:nvPr/>
        </p:nvSpPr>
        <p:spPr>
          <a:xfrm>
            <a:off x="13423900" y="604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89" name="T189"/>
          <p:cNvSpPr txBox="1"/>
          <p:nvPr/>
        </p:nvSpPr>
        <p:spPr>
          <a:xfrm>
            <a:off x="14732000" y="604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90" name="T190"/>
          <p:cNvSpPr txBox="1"/>
          <p:nvPr/>
        </p:nvSpPr>
        <p:spPr>
          <a:xfrm>
            <a:off x="16154400" y="6045200"/>
            <a:ext cx="10922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Comparé</a:t>
            </a:r>
          </a:p>
        </p:txBody>
      </p:sp>
      <p:sp>
        <p:nvSpPr>
          <p:cNvPr id="191" name="R191"/>
          <p:cNvSpPr/>
          <p:nvPr/>
        </p:nvSpPr>
        <p:spPr>
          <a:xfrm>
            <a:off x="1047750" y="6604000"/>
            <a:ext cx="16192500" cy="9525"/>
          </a:xfrm>
          <a:prstGeom prst="rect">
            <a:avLst/>
          </a:prstGeom>
          <a:solidFill>
            <a:srgbClr val="E2E8F0"/>
          </a:solidFill>
          <a:ln>
            <a:noFill/>
          </a:ln>
        </p:spPr>
        <p:txBody>
          <a:bodyPr rtlCol="0" anchor="ctr"/>
          <a:lstStyle/>
          <a:p>
            <a:endParaRPr lang="fr-FR" dirty="0"/>
          </a:p>
        </p:txBody>
      </p:sp>
      <p:sp>
        <p:nvSpPr>
          <p:cNvPr id="192" name="T192"/>
          <p:cNvSpPr txBox="1"/>
          <p:nvPr/>
        </p:nvSpPr>
        <p:spPr>
          <a:xfrm>
            <a:off x="1054100" y="6680200"/>
            <a:ext cx="2540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Régression logistique</a:t>
            </a:r>
          </a:p>
        </p:txBody>
      </p:sp>
      <p:sp>
        <p:nvSpPr>
          <p:cNvPr id="193" name="T193"/>
          <p:cNvSpPr txBox="1"/>
          <p:nvPr/>
        </p:nvSpPr>
        <p:spPr>
          <a:xfrm>
            <a:off x="3683000" y="6680200"/>
            <a:ext cx="2413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balanced</a:t>
            </a:r>
          </a:p>
        </p:txBody>
      </p:sp>
      <p:sp>
        <p:nvSpPr>
          <p:cNvPr id="194" name="T194"/>
          <p:cNvSpPr txBox="1"/>
          <p:nvPr/>
        </p:nvSpPr>
        <p:spPr>
          <a:xfrm>
            <a:off x="6172200" y="6680200"/>
            <a:ext cx="1905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minimisé (16)</a:t>
            </a:r>
          </a:p>
        </p:txBody>
      </p:sp>
      <p:sp>
        <p:nvSpPr>
          <p:cNvPr id="195" name="T195"/>
          <p:cNvSpPr txBox="1"/>
          <p:nvPr/>
        </p:nvSpPr>
        <p:spPr>
          <a:xfrm>
            <a:off x="8191500" y="668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0,9452</a:t>
            </a:r>
          </a:p>
        </p:txBody>
      </p:sp>
      <p:sp>
        <p:nvSpPr>
          <p:cNvPr id="196" name="T196"/>
          <p:cNvSpPr txBox="1"/>
          <p:nvPr/>
        </p:nvSpPr>
        <p:spPr>
          <a:xfrm>
            <a:off x="9499600" y="668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0,8720</a:t>
            </a:r>
          </a:p>
        </p:txBody>
      </p:sp>
      <p:sp>
        <p:nvSpPr>
          <p:cNvPr id="197" name="T197"/>
          <p:cNvSpPr txBox="1"/>
          <p:nvPr/>
        </p:nvSpPr>
        <p:spPr>
          <a:xfrm>
            <a:off x="10807700" y="668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0,0948</a:t>
            </a:r>
          </a:p>
        </p:txBody>
      </p:sp>
      <p:sp>
        <p:nvSpPr>
          <p:cNvPr id="198" name="T198"/>
          <p:cNvSpPr txBox="1"/>
          <p:nvPr/>
        </p:nvSpPr>
        <p:spPr>
          <a:xfrm>
            <a:off x="12115800" y="668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99" name="T199"/>
          <p:cNvSpPr txBox="1"/>
          <p:nvPr/>
        </p:nvSpPr>
        <p:spPr>
          <a:xfrm>
            <a:off x="13423900" y="668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200" name="T200"/>
          <p:cNvSpPr txBox="1"/>
          <p:nvPr/>
        </p:nvSpPr>
        <p:spPr>
          <a:xfrm>
            <a:off x="14732000" y="668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201" name="T201"/>
          <p:cNvSpPr txBox="1"/>
          <p:nvPr/>
        </p:nvSpPr>
        <p:spPr>
          <a:xfrm>
            <a:off x="16154400" y="6680200"/>
            <a:ext cx="10922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Écarté</a:t>
            </a:r>
          </a:p>
        </p:txBody>
      </p:sp>
      <p:sp>
        <p:nvSpPr>
          <p:cNvPr id="202" name="R202"/>
          <p:cNvSpPr/>
          <p:nvPr/>
        </p:nvSpPr>
        <p:spPr>
          <a:xfrm>
            <a:off x="1047750" y="7239000"/>
            <a:ext cx="16192500" cy="9525"/>
          </a:xfrm>
          <a:prstGeom prst="rect">
            <a:avLst/>
          </a:prstGeom>
          <a:solidFill>
            <a:srgbClr val="E2E8F0"/>
          </a:solidFill>
          <a:ln>
            <a:noFill/>
          </a:ln>
        </p:spPr>
        <p:txBody>
          <a:bodyPr rtlCol="0" anchor="ctr"/>
          <a:lstStyle/>
          <a:p>
            <a:endParaRPr lang="fr-FR" dirty="0"/>
          </a:p>
        </p:txBody>
      </p:sp>
      <p:sp>
        <p:nvSpPr>
          <p:cNvPr id="203" name="R203"/>
          <p:cNvSpPr/>
          <p:nvPr/>
        </p:nvSpPr>
        <p:spPr>
          <a:xfrm>
            <a:off x="1047750" y="7251700"/>
            <a:ext cx="16192500" cy="596900"/>
          </a:xfrm>
          <a:prstGeom prst="rect">
            <a:avLst/>
          </a:prstGeom>
          <a:solidFill>
            <a:srgbClr val="E3F5E7"/>
          </a:solidFill>
          <a:ln>
            <a:noFill/>
          </a:ln>
        </p:spPr>
        <p:txBody>
          <a:bodyPr rtlCol="0" anchor="ctr"/>
          <a:lstStyle/>
          <a:p>
            <a:endParaRPr lang="fr-FR" dirty="0"/>
          </a:p>
        </p:txBody>
      </p:sp>
      <p:sp>
        <p:nvSpPr>
          <p:cNvPr id="204" name="T204"/>
          <p:cNvSpPr txBox="1"/>
          <p:nvPr/>
        </p:nvSpPr>
        <p:spPr>
          <a:xfrm>
            <a:off x="1054100" y="7315200"/>
            <a:ext cx="2540000" cy="533400"/>
          </a:xfrm>
          <a:prstGeom prst="rect">
            <a:avLst/>
          </a:prstGeom>
          <a:noFill/>
        </p:spPr>
        <p:txBody>
          <a:bodyPr wrap="square" lIns="27432" tIns="27432" rIns="27432" bIns="27432" anchor="t">
            <a:noAutofit/>
          </a:bodyPr>
          <a:lstStyle/>
          <a:p>
            <a:pPr algn="l">
              <a:lnSpc>
                <a:spcPct val="100000"/>
              </a:lnSpc>
            </a:pPr>
            <a:r>
              <a:rPr lang="fr-FR" sz="1600" b="1" noProof="0" dirty="0">
                <a:solidFill>
                  <a:srgbClr val="1C6B3A"/>
                </a:solidFill>
                <a:latin typeface="Arial"/>
              </a:rPr>
              <a:t>Régression logistique</a:t>
            </a:r>
          </a:p>
        </p:txBody>
      </p:sp>
      <p:sp>
        <p:nvSpPr>
          <p:cNvPr id="205" name="T205"/>
          <p:cNvSpPr txBox="1"/>
          <p:nvPr/>
        </p:nvSpPr>
        <p:spPr>
          <a:xfrm>
            <a:off x="3683000" y="7315200"/>
            <a:ext cx="2413000" cy="533400"/>
          </a:xfrm>
          <a:prstGeom prst="rect">
            <a:avLst/>
          </a:prstGeom>
          <a:noFill/>
        </p:spPr>
        <p:txBody>
          <a:bodyPr wrap="square" lIns="27432" tIns="27432" rIns="27432" bIns="27432" anchor="t">
            <a:noAutofit/>
          </a:bodyPr>
          <a:lstStyle/>
          <a:p>
            <a:pPr algn="l">
              <a:lnSpc>
                <a:spcPct val="100000"/>
              </a:lnSpc>
            </a:pPr>
            <a:r>
              <a:rPr lang="fr-FR" sz="1600" b="1" noProof="0" dirty="0">
                <a:solidFill>
                  <a:srgbClr val="1C6B3A"/>
                </a:solidFill>
                <a:latin typeface="Arial"/>
              </a:rPr>
              <a:t>réglée (C=0,1)</a:t>
            </a:r>
          </a:p>
        </p:txBody>
      </p:sp>
      <p:sp>
        <p:nvSpPr>
          <p:cNvPr id="206" name="T206"/>
          <p:cNvSpPr txBox="1"/>
          <p:nvPr/>
        </p:nvSpPr>
        <p:spPr>
          <a:xfrm>
            <a:off x="6172200" y="7315200"/>
            <a:ext cx="1905000" cy="533400"/>
          </a:xfrm>
          <a:prstGeom prst="rect">
            <a:avLst/>
          </a:prstGeom>
          <a:noFill/>
        </p:spPr>
        <p:txBody>
          <a:bodyPr wrap="square" lIns="27432" tIns="27432" rIns="27432" bIns="27432" anchor="t">
            <a:noAutofit/>
          </a:bodyPr>
          <a:lstStyle/>
          <a:p>
            <a:pPr algn="l">
              <a:lnSpc>
                <a:spcPct val="100000"/>
              </a:lnSpc>
            </a:pPr>
            <a:r>
              <a:rPr lang="fr-FR" sz="1600" b="1" noProof="0" dirty="0">
                <a:solidFill>
                  <a:srgbClr val="1C6B3A"/>
                </a:solidFill>
                <a:latin typeface="Arial"/>
              </a:rPr>
              <a:t>minimisé (16)</a:t>
            </a:r>
          </a:p>
        </p:txBody>
      </p:sp>
      <p:sp>
        <p:nvSpPr>
          <p:cNvPr id="207" name="T207"/>
          <p:cNvSpPr txBox="1"/>
          <p:nvPr/>
        </p:nvSpPr>
        <p:spPr>
          <a:xfrm>
            <a:off x="8191500" y="7315200"/>
            <a:ext cx="1244600" cy="533400"/>
          </a:xfrm>
          <a:prstGeom prst="rect">
            <a:avLst/>
          </a:prstGeom>
          <a:noFill/>
        </p:spPr>
        <p:txBody>
          <a:bodyPr wrap="square" lIns="27432" tIns="27432" rIns="27432" bIns="27432" anchor="t">
            <a:noAutofit/>
          </a:bodyPr>
          <a:lstStyle/>
          <a:p>
            <a:pPr algn="r">
              <a:lnSpc>
                <a:spcPct val="100000"/>
              </a:lnSpc>
            </a:pPr>
            <a:r>
              <a:rPr lang="fr-FR" sz="1600" b="1" noProof="0" dirty="0">
                <a:solidFill>
                  <a:srgbClr val="1C6B3A"/>
                </a:solidFill>
                <a:latin typeface="Arial"/>
              </a:rPr>
              <a:t>0,9455</a:t>
            </a:r>
          </a:p>
        </p:txBody>
      </p:sp>
      <p:sp>
        <p:nvSpPr>
          <p:cNvPr id="208" name="T208"/>
          <p:cNvSpPr txBox="1"/>
          <p:nvPr/>
        </p:nvSpPr>
        <p:spPr>
          <a:xfrm>
            <a:off x="9499600" y="7315200"/>
            <a:ext cx="1244600" cy="533400"/>
          </a:xfrm>
          <a:prstGeom prst="rect">
            <a:avLst/>
          </a:prstGeom>
          <a:noFill/>
        </p:spPr>
        <p:txBody>
          <a:bodyPr wrap="square" lIns="27432" tIns="27432" rIns="27432" bIns="27432" anchor="t">
            <a:noAutofit/>
          </a:bodyPr>
          <a:lstStyle/>
          <a:p>
            <a:pPr algn="r">
              <a:lnSpc>
                <a:spcPct val="100000"/>
              </a:lnSpc>
            </a:pPr>
            <a:r>
              <a:rPr lang="fr-FR" sz="1600" b="1" noProof="0" dirty="0">
                <a:solidFill>
                  <a:srgbClr val="1C6B3A"/>
                </a:solidFill>
                <a:latin typeface="Arial"/>
              </a:rPr>
              <a:t>0,8719</a:t>
            </a:r>
          </a:p>
        </p:txBody>
      </p:sp>
      <p:sp>
        <p:nvSpPr>
          <p:cNvPr id="209" name="T209"/>
          <p:cNvSpPr txBox="1"/>
          <p:nvPr/>
        </p:nvSpPr>
        <p:spPr>
          <a:xfrm>
            <a:off x="10807700" y="7315200"/>
            <a:ext cx="1244600" cy="533400"/>
          </a:xfrm>
          <a:prstGeom prst="rect">
            <a:avLst/>
          </a:prstGeom>
          <a:noFill/>
        </p:spPr>
        <p:txBody>
          <a:bodyPr wrap="square" lIns="27432" tIns="27432" rIns="27432" bIns="27432" anchor="t">
            <a:noAutofit/>
          </a:bodyPr>
          <a:lstStyle/>
          <a:p>
            <a:pPr algn="r">
              <a:lnSpc>
                <a:spcPct val="100000"/>
              </a:lnSpc>
            </a:pPr>
            <a:r>
              <a:rPr lang="fr-FR" sz="1600" b="1" noProof="0" dirty="0">
                <a:solidFill>
                  <a:srgbClr val="1C6B3A"/>
                </a:solidFill>
                <a:latin typeface="Arial"/>
              </a:rPr>
              <a:t>0,0841</a:t>
            </a:r>
          </a:p>
        </p:txBody>
      </p:sp>
      <p:sp>
        <p:nvSpPr>
          <p:cNvPr id="210" name="T210"/>
          <p:cNvSpPr txBox="1"/>
          <p:nvPr/>
        </p:nvSpPr>
        <p:spPr>
          <a:xfrm>
            <a:off x="12115800" y="7315200"/>
            <a:ext cx="1244600" cy="533400"/>
          </a:xfrm>
          <a:prstGeom prst="rect">
            <a:avLst/>
          </a:prstGeom>
          <a:noFill/>
        </p:spPr>
        <p:txBody>
          <a:bodyPr wrap="square" lIns="27432" tIns="27432" rIns="27432" bIns="27432" anchor="t">
            <a:noAutofit/>
          </a:bodyPr>
          <a:lstStyle/>
          <a:p>
            <a:pPr algn="r">
              <a:lnSpc>
                <a:spcPct val="100000"/>
              </a:lnSpc>
            </a:pPr>
            <a:r>
              <a:rPr lang="fr-FR" sz="1600" b="1" noProof="0" dirty="0">
                <a:solidFill>
                  <a:srgbClr val="1C6B3A"/>
                </a:solidFill>
                <a:latin typeface="Arial"/>
              </a:rPr>
              <a:t>0,9454</a:t>
            </a:r>
          </a:p>
        </p:txBody>
      </p:sp>
      <p:sp>
        <p:nvSpPr>
          <p:cNvPr id="211" name="T211"/>
          <p:cNvSpPr txBox="1"/>
          <p:nvPr/>
        </p:nvSpPr>
        <p:spPr>
          <a:xfrm>
            <a:off x="13423900" y="7315200"/>
            <a:ext cx="1244600" cy="533400"/>
          </a:xfrm>
          <a:prstGeom prst="rect">
            <a:avLst/>
          </a:prstGeom>
          <a:noFill/>
        </p:spPr>
        <p:txBody>
          <a:bodyPr wrap="square" lIns="27432" tIns="27432" rIns="27432" bIns="27432" anchor="t">
            <a:noAutofit/>
          </a:bodyPr>
          <a:lstStyle/>
          <a:p>
            <a:pPr algn="r">
              <a:lnSpc>
                <a:spcPct val="100000"/>
              </a:lnSpc>
            </a:pPr>
            <a:r>
              <a:rPr lang="fr-FR" sz="1600" b="1" noProof="0" dirty="0">
                <a:solidFill>
                  <a:srgbClr val="1C6B3A"/>
                </a:solidFill>
                <a:latin typeface="Arial"/>
              </a:rPr>
              <a:t>0,8721</a:t>
            </a:r>
          </a:p>
        </p:txBody>
      </p:sp>
      <p:sp>
        <p:nvSpPr>
          <p:cNvPr id="212" name="T212"/>
          <p:cNvSpPr txBox="1"/>
          <p:nvPr/>
        </p:nvSpPr>
        <p:spPr>
          <a:xfrm>
            <a:off x="14732000" y="7315200"/>
            <a:ext cx="1244600" cy="533400"/>
          </a:xfrm>
          <a:prstGeom prst="rect">
            <a:avLst/>
          </a:prstGeom>
          <a:noFill/>
        </p:spPr>
        <p:txBody>
          <a:bodyPr wrap="square" lIns="27432" tIns="27432" rIns="27432" bIns="27432" anchor="t">
            <a:noAutofit/>
          </a:bodyPr>
          <a:lstStyle/>
          <a:p>
            <a:pPr algn="r">
              <a:lnSpc>
                <a:spcPct val="100000"/>
              </a:lnSpc>
            </a:pPr>
            <a:r>
              <a:rPr lang="fr-FR" sz="1600" b="1" noProof="0" dirty="0">
                <a:solidFill>
                  <a:srgbClr val="1C6B3A"/>
                </a:solidFill>
                <a:latin typeface="Arial"/>
              </a:rPr>
              <a:t>0,0849</a:t>
            </a:r>
          </a:p>
        </p:txBody>
      </p:sp>
      <p:sp>
        <p:nvSpPr>
          <p:cNvPr id="213" name="T213"/>
          <p:cNvSpPr txBox="1"/>
          <p:nvPr/>
        </p:nvSpPr>
        <p:spPr>
          <a:xfrm>
            <a:off x="16154400" y="7315200"/>
            <a:ext cx="1092200" cy="533400"/>
          </a:xfrm>
          <a:prstGeom prst="rect">
            <a:avLst/>
          </a:prstGeom>
          <a:noFill/>
        </p:spPr>
        <p:txBody>
          <a:bodyPr wrap="square" lIns="27432" tIns="27432" rIns="27432" bIns="27432" anchor="t">
            <a:noAutofit/>
          </a:bodyPr>
          <a:lstStyle/>
          <a:p>
            <a:pPr algn="l">
              <a:lnSpc>
                <a:spcPct val="100000"/>
              </a:lnSpc>
            </a:pPr>
            <a:r>
              <a:rPr lang="fr-FR" sz="1600" b="1" noProof="0" dirty="0">
                <a:solidFill>
                  <a:srgbClr val="1C6B3A"/>
                </a:solidFill>
                <a:latin typeface="Arial"/>
              </a:rPr>
              <a:t>VALIDÉ</a:t>
            </a:r>
          </a:p>
        </p:txBody>
      </p:sp>
      <p:sp>
        <p:nvSpPr>
          <p:cNvPr id="214" name="R214"/>
          <p:cNvSpPr/>
          <p:nvPr/>
        </p:nvSpPr>
        <p:spPr>
          <a:xfrm>
            <a:off x="1047750" y="7874000"/>
            <a:ext cx="16192500" cy="9525"/>
          </a:xfrm>
          <a:prstGeom prst="rect">
            <a:avLst/>
          </a:prstGeom>
          <a:solidFill>
            <a:srgbClr val="E2E8F0"/>
          </a:solidFill>
          <a:ln>
            <a:noFill/>
          </a:ln>
        </p:spPr>
        <p:txBody>
          <a:bodyPr rtlCol="0" anchor="ctr"/>
          <a:lstStyle/>
          <a:p>
            <a:endParaRPr lang="fr-FR" dirty="0"/>
          </a:p>
        </p:txBody>
      </p:sp>
      <p:sp>
        <p:nvSpPr>
          <p:cNvPr id="215" name="T215"/>
          <p:cNvSpPr txBox="1"/>
          <p:nvPr/>
        </p:nvSpPr>
        <p:spPr>
          <a:xfrm>
            <a:off x="1054100" y="7950200"/>
            <a:ext cx="2540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Régression logistique</a:t>
            </a:r>
          </a:p>
        </p:txBody>
      </p:sp>
      <p:sp>
        <p:nvSpPr>
          <p:cNvPr id="216" name="T216"/>
          <p:cNvSpPr txBox="1"/>
          <p:nvPr/>
        </p:nvSpPr>
        <p:spPr>
          <a:xfrm>
            <a:off x="3683000" y="7950200"/>
            <a:ext cx="2413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réglée + recalibrée</a:t>
            </a:r>
          </a:p>
        </p:txBody>
      </p:sp>
      <p:sp>
        <p:nvSpPr>
          <p:cNvPr id="217" name="T217"/>
          <p:cNvSpPr txBox="1"/>
          <p:nvPr/>
        </p:nvSpPr>
        <p:spPr>
          <a:xfrm>
            <a:off x="6172200" y="7950200"/>
            <a:ext cx="1905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minimisé (16)</a:t>
            </a:r>
          </a:p>
        </p:txBody>
      </p:sp>
      <p:sp>
        <p:nvSpPr>
          <p:cNvPr id="218" name="T218"/>
          <p:cNvSpPr txBox="1"/>
          <p:nvPr/>
        </p:nvSpPr>
        <p:spPr>
          <a:xfrm>
            <a:off x="8191500" y="795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0,9449</a:t>
            </a:r>
          </a:p>
        </p:txBody>
      </p:sp>
      <p:sp>
        <p:nvSpPr>
          <p:cNvPr id="219" name="T219"/>
          <p:cNvSpPr txBox="1"/>
          <p:nvPr/>
        </p:nvSpPr>
        <p:spPr>
          <a:xfrm>
            <a:off x="9499600" y="795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0,8697</a:t>
            </a:r>
          </a:p>
        </p:txBody>
      </p:sp>
      <p:sp>
        <p:nvSpPr>
          <p:cNvPr id="220" name="T220"/>
          <p:cNvSpPr txBox="1"/>
          <p:nvPr/>
        </p:nvSpPr>
        <p:spPr>
          <a:xfrm>
            <a:off x="10807700" y="795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0,0842</a:t>
            </a:r>
          </a:p>
        </p:txBody>
      </p:sp>
      <p:sp>
        <p:nvSpPr>
          <p:cNvPr id="221" name="T221"/>
          <p:cNvSpPr txBox="1"/>
          <p:nvPr/>
        </p:nvSpPr>
        <p:spPr>
          <a:xfrm>
            <a:off x="12115800" y="795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222" name="T222"/>
          <p:cNvSpPr txBox="1"/>
          <p:nvPr/>
        </p:nvSpPr>
        <p:spPr>
          <a:xfrm>
            <a:off x="13423900" y="795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223" name="T223"/>
          <p:cNvSpPr txBox="1"/>
          <p:nvPr/>
        </p:nvSpPr>
        <p:spPr>
          <a:xfrm>
            <a:off x="14732000" y="7950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224" name="T224"/>
          <p:cNvSpPr txBox="1"/>
          <p:nvPr/>
        </p:nvSpPr>
        <p:spPr>
          <a:xfrm>
            <a:off x="16154400" y="7950200"/>
            <a:ext cx="10922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Écarté</a:t>
            </a:r>
          </a:p>
        </p:txBody>
      </p:sp>
      <p:sp>
        <p:nvSpPr>
          <p:cNvPr id="225" name="R225"/>
          <p:cNvSpPr/>
          <p:nvPr/>
        </p:nvSpPr>
        <p:spPr>
          <a:xfrm>
            <a:off x="1047750" y="8509000"/>
            <a:ext cx="16192500" cy="9525"/>
          </a:xfrm>
          <a:prstGeom prst="rect">
            <a:avLst/>
          </a:prstGeom>
          <a:solidFill>
            <a:srgbClr val="E2E8F0"/>
          </a:solidFill>
          <a:ln>
            <a:noFill/>
          </a:ln>
        </p:spPr>
        <p:txBody>
          <a:bodyPr rtlCol="0" anchor="ctr"/>
          <a:lstStyle/>
          <a:p>
            <a:endParaRPr lang="fr-FR" dirty="0"/>
          </a:p>
        </p:txBody>
      </p:sp>
      <p:sp>
        <p:nvSpPr>
          <p:cNvPr id="226" name="T226"/>
          <p:cNvSpPr txBox="1"/>
          <p:nvPr/>
        </p:nvSpPr>
        <p:spPr>
          <a:xfrm>
            <a:off x="1054100" y="8585200"/>
            <a:ext cx="2540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Random Forest</a:t>
            </a:r>
          </a:p>
        </p:txBody>
      </p:sp>
      <p:sp>
        <p:nvSpPr>
          <p:cNvPr id="227" name="T227"/>
          <p:cNvSpPr txBox="1"/>
          <p:nvPr/>
        </p:nvSpPr>
        <p:spPr>
          <a:xfrm>
            <a:off x="3683000" y="8585200"/>
            <a:ext cx="2413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réglée (Optuna)</a:t>
            </a:r>
          </a:p>
        </p:txBody>
      </p:sp>
      <p:sp>
        <p:nvSpPr>
          <p:cNvPr id="228" name="T228"/>
          <p:cNvSpPr txBox="1"/>
          <p:nvPr/>
        </p:nvSpPr>
        <p:spPr>
          <a:xfrm>
            <a:off x="6172200" y="8585200"/>
            <a:ext cx="19050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minimisé (16)</a:t>
            </a:r>
          </a:p>
        </p:txBody>
      </p:sp>
      <p:sp>
        <p:nvSpPr>
          <p:cNvPr id="229" name="T229"/>
          <p:cNvSpPr txBox="1"/>
          <p:nvPr/>
        </p:nvSpPr>
        <p:spPr>
          <a:xfrm>
            <a:off x="8191500" y="858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0,9395</a:t>
            </a:r>
          </a:p>
        </p:txBody>
      </p:sp>
      <p:sp>
        <p:nvSpPr>
          <p:cNvPr id="230" name="T230"/>
          <p:cNvSpPr txBox="1"/>
          <p:nvPr/>
        </p:nvSpPr>
        <p:spPr>
          <a:xfrm>
            <a:off x="9499600" y="858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0,8566</a:t>
            </a:r>
          </a:p>
        </p:txBody>
      </p:sp>
      <p:sp>
        <p:nvSpPr>
          <p:cNvPr id="231" name="T231"/>
          <p:cNvSpPr txBox="1"/>
          <p:nvPr/>
        </p:nvSpPr>
        <p:spPr>
          <a:xfrm>
            <a:off x="10807700" y="858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0,0901</a:t>
            </a:r>
          </a:p>
        </p:txBody>
      </p:sp>
      <p:sp>
        <p:nvSpPr>
          <p:cNvPr id="232" name="T232"/>
          <p:cNvSpPr txBox="1"/>
          <p:nvPr/>
        </p:nvSpPr>
        <p:spPr>
          <a:xfrm>
            <a:off x="12115800" y="858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233" name="T233"/>
          <p:cNvSpPr txBox="1"/>
          <p:nvPr/>
        </p:nvSpPr>
        <p:spPr>
          <a:xfrm>
            <a:off x="13423900" y="858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234" name="T234"/>
          <p:cNvSpPr txBox="1"/>
          <p:nvPr/>
        </p:nvSpPr>
        <p:spPr>
          <a:xfrm>
            <a:off x="14732000" y="8585200"/>
            <a:ext cx="1244600" cy="5334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235" name="T235"/>
          <p:cNvSpPr txBox="1"/>
          <p:nvPr/>
        </p:nvSpPr>
        <p:spPr>
          <a:xfrm>
            <a:off x="16154400" y="8585200"/>
            <a:ext cx="1092200" cy="5334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Écarté</a:t>
            </a:r>
          </a:p>
        </p:txBody>
      </p:sp>
      <p:sp>
        <p:nvSpPr>
          <p:cNvPr id="236" name="R236"/>
          <p:cNvSpPr/>
          <p:nvPr/>
        </p:nvSpPr>
        <p:spPr>
          <a:xfrm>
            <a:off x="1047750" y="9144000"/>
            <a:ext cx="16192500" cy="9525"/>
          </a:xfrm>
          <a:prstGeom prst="rect">
            <a:avLst/>
          </a:prstGeom>
          <a:solidFill>
            <a:srgbClr val="E2E8F0"/>
          </a:solidFill>
          <a:ln>
            <a:noFill/>
          </a:ln>
        </p:spPr>
        <p:txBody>
          <a:bodyPr rtlCol="0" anchor="ctr"/>
          <a:lstStyle/>
          <a:p>
            <a:endParaRPr lang="fr-FR" dirty="0"/>
          </a:p>
        </p:txBody>
      </p:sp>
      <p:sp>
        <p:nvSpPr>
          <p:cNvPr id="237" name="T237"/>
          <p:cNvSpPr txBox="1"/>
          <p:nvPr/>
        </p:nvSpPr>
        <p:spPr>
          <a:xfrm>
            <a:off x="1054100" y="9461500"/>
            <a:ext cx="13970000" cy="355600"/>
          </a:xfrm>
          <a:prstGeom prst="rect">
            <a:avLst/>
          </a:prstGeom>
          <a:noFill/>
        </p:spPr>
        <p:txBody>
          <a:bodyPr wrap="square" lIns="27432" tIns="27432" rIns="27432" bIns="27432" anchor="t">
            <a:noAutofit/>
          </a:bodyPr>
          <a:lstStyle/>
          <a:p>
            <a:pPr algn="l"/>
            <a:r>
              <a:rPr lang="fr-FR" b="0" noProof="0" dirty="0">
                <a:solidFill>
                  <a:srgbClr val="6F6F6F"/>
                </a:solidFill>
                <a:latin typeface="Arial"/>
              </a:rPr>
              <a:t>Annexe A2 · source : metrics_modeles.xlsx (feuille abandon)</a:t>
            </a:r>
          </a:p>
        </p:txBody>
      </p:sp>
      <p:sp>
        <p:nvSpPr>
          <p:cNvPr id="238" name="T238"/>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43</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13169219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500000"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Annexe A2 : Ensemble des mesures — cible moyenne_finale (2/2)</a:t>
            </a:r>
          </a:p>
        </p:txBody>
      </p:sp>
      <p:sp>
        <p:nvSpPr>
          <p:cNvPr id="104" name="T104"/>
          <p:cNvSpPr txBox="1"/>
          <p:nvPr/>
        </p:nvSpPr>
        <p:spPr>
          <a:xfrm>
            <a:off x="1054100" y="1778000"/>
            <a:ext cx="25400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MODÈLE</a:t>
            </a:r>
          </a:p>
        </p:txBody>
      </p:sp>
      <p:sp>
        <p:nvSpPr>
          <p:cNvPr id="105" name="T105"/>
          <p:cNvSpPr txBox="1"/>
          <p:nvPr/>
        </p:nvSpPr>
        <p:spPr>
          <a:xfrm>
            <a:off x="3683000" y="1778000"/>
            <a:ext cx="24130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HYPERPARAMÈTRES</a:t>
            </a:r>
          </a:p>
        </p:txBody>
      </p:sp>
      <p:sp>
        <p:nvSpPr>
          <p:cNvPr id="106" name="T106"/>
          <p:cNvSpPr txBox="1"/>
          <p:nvPr/>
        </p:nvSpPr>
        <p:spPr>
          <a:xfrm>
            <a:off x="6172200" y="1778000"/>
            <a:ext cx="19050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JEU (FEATURES)</a:t>
            </a:r>
          </a:p>
        </p:txBody>
      </p:sp>
      <p:sp>
        <p:nvSpPr>
          <p:cNvPr id="107" name="T107"/>
          <p:cNvSpPr txBox="1"/>
          <p:nvPr/>
        </p:nvSpPr>
        <p:spPr>
          <a:xfrm>
            <a:off x="8191500" y="1778000"/>
            <a:ext cx="1244600" cy="330200"/>
          </a:xfrm>
          <a:prstGeom prst="rect">
            <a:avLst/>
          </a:prstGeom>
          <a:noFill/>
        </p:spPr>
        <p:txBody>
          <a:bodyPr wrap="square" lIns="27432" tIns="27432" rIns="27432" bIns="27432" anchor="t">
            <a:noAutofit/>
          </a:bodyPr>
          <a:lstStyle/>
          <a:p>
            <a:pPr algn="r">
              <a:lnSpc>
                <a:spcPct val="100000"/>
              </a:lnSpc>
            </a:pPr>
            <a:r>
              <a:rPr lang="fr-FR" sz="1300" b="1" spc="100" noProof="0" dirty="0">
                <a:solidFill>
                  <a:srgbClr val="5A5A5A"/>
                </a:solidFill>
                <a:latin typeface="Arial"/>
              </a:rPr>
              <a:t>MAE OOF</a:t>
            </a:r>
          </a:p>
        </p:txBody>
      </p:sp>
      <p:sp>
        <p:nvSpPr>
          <p:cNvPr id="108" name="T108"/>
          <p:cNvSpPr txBox="1"/>
          <p:nvPr/>
        </p:nvSpPr>
        <p:spPr>
          <a:xfrm>
            <a:off x="9499600" y="1778000"/>
            <a:ext cx="1244600" cy="330200"/>
          </a:xfrm>
          <a:prstGeom prst="rect">
            <a:avLst/>
          </a:prstGeom>
          <a:noFill/>
        </p:spPr>
        <p:txBody>
          <a:bodyPr wrap="square" lIns="27432" tIns="27432" rIns="27432" bIns="27432" anchor="t">
            <a:noAutofit/>
          </a:bodyPr>
          <a:lstStyle/>
          <a:p>
            <a:pPr algn="r">
              <a:lnSpc>
                <a:spcPct val="100000"/>
              </a:lnSpc>
            </a:pPr>
            <a:r>
              <a:rPr lang="fr-FR" sz="1300" b="1" spc="100" noProof="0" dirty="0">
                <a:solidFill>
                  <a:srgbClr val="5A5A5A"/>
                </a:solidFill>
                <a:latin typeface="Arial"/>
              </a:rPr>
              <a:t>RMSE OOF</a:t>
            </a:r>
          </a:p>
        </p:txBody>
      </p:sp>
      <p:sp>
        <p:nvSpPr>
          <p:cNvPr id="109" name="T109"/>
          <p:cNvSpPr txBox="1"/>
          <p:nvPr/>
        </p:nvSpPr>
        <p:spPr>
          <a:xfrm>
            <a:off x="10807700" y="1778000"/>
            <a:ext cx="1244600" cy="330200"/>
          </a:xfrm>
          <a:prstGeom prst="rect">
            <a:avLst/>
          </a:prstGeom>
          <a:noFill/>
        </p:spPr>
        <p:txBody>
          <a:bodyPr wrap="square" lIns="27432" tIns="27432" rIns="27432" bIns="27432" anchor="t">
            <a:noAutofit/>
          </a:bodyPr>
          <a:lstStyle/>
          <a:p>
            <a:pPr algn="r">
              <a:lnSpc>
                <a:spcPct val="100000"/>
              </a:lnSpc>
            </a:pPr>
            <a:r>
              <a:rPr lang="fr-FR" sz="1300" b="1" spc="100" noProof="0" dirty="0">
                <a:solidFill>
                  <a:srgbClr val="5A5A5A"/>
                </a:solidFill>
                <a:latin typeface="Arial"/>
              </a:rPr>
              <a:t>R² OOF</a:t>
            </a:r>
          </a:p>
        </p:txBody>
      </p:sp>
      <p:sp>
        <p:nvSpPr>
          <p:cNvPr id="110" name="T110"/>
          <p:cNvSpPr txBox="1"/>
          <p:nvPr/>
        </p:nvSpPr>
        <p:spPr>
          <a:xfrm>
            <a:off x="12115800" y="1778000"/>
            <a:ext cx="1244600" cy="330200"/>
          </a:xfrm>
          <a:prstGeom prst="rect">
            <a:avLst/>
          </a:prstGeom>
          <a:noFill/>
        </p:spPr>
        <p:txBody>
          <a:bodyPr wrap="square" lIns="27432" tIns="27432" rIns="27432" bIns="27432" anchor="t">
            <a:noAutofit/>
          </a:bodyPr>
          <a:lstStyle/>
          <a:p>
            <a:pPr algn="r">
              <a:lnSpc>
                <a:spcPct val="100000"/>
              </a:lnSpc>
            </a:pPr>
            <a:r>
              <a:rPr lang="fr-FR" sz="1300" b="1" spc="100" noProof="0" dirty="0">
                <a:solidFill>
                  <a:srgbClr val="5A5A5A"/>
                </a:solidFill>
                <a:latin typeface="Arial"/>
              </a:rPr>
              <a:t>MAE TEST</a:t>
            </a:r>
          </a:p>
        </p:txBody>
      </p:sp>
      <p:sp>
        <p:nvSpPr>
          <p:cNvPr id="111" name="T111"/>
          <p:cNvSpPr txBox="1"/>
          <p:nvPr/>
        </p:nvSpPr>
        <p:spPr>
          <a:xfrm>
            <a:off x="13423900" y="1778000"/>
            <a:ext cx="1244600" cy="330200"/>
          </a:xfrm>
          <a:prstGeom prst="rect">
            <a:avLst/>
          </a:prstGeom>
          <a:noFill/>
        </p:spPr>
        <p:txBody>
          <a:bodyPr wrap="square" lIns="27432" tIns="27432" rIns="27432" bIns="27432" anchor="t">
            <a:noAutofit/>
          </a:bodyPr>
          <a:lstStyle/>
          <a:p>
            <a:pPr algn="r">
              <a:lnSpc>
                <a:spcPct val="100000"/>
              </a:lnSpc>
            </a:pPr>
            <a:r>
              <a:rPr lang="fr-FR" sz="1300" b="1" spc="100" noProof="0" dirty="0">
                <a:solidFill>
                  <a:srgbClr val="5A5A5A"/>
                </a:solidFill>
                <a:latin typeface="Arial"/>
              </a:rPr>
              <a:t>RMSE TEST</a:t>
            </a:r>
          </a:p>
        </p:txBody>
      </p:sp>
      <p:sp>
        <p:nvSpPr>
          <p:cNvPr id="112" name="T112"/>
          <p:cNvSpPr txBox="1"/>
          <p:nvPr/>
        </p:nvSpPr>
        <p:spPr>
          <a:xfrm>
            <a:off x="14732000" y="1778000"/>
            <a:ext cx="1244600" cy="330200"/>
          </a:xfrm>
          <a:prstGeom prst="rect">
            <a:avLst/>
          </a:prstGeom>
          <a:noFill/>
        </p:spPr>
        <p:txBody>
          <a:bodyPr wrap="square" lIns="27432" tIns="27432" rIns="27432" bIns="27432" anchor="t">
            <a:noAutofit/>
          </a:bodyPr>
          <a:lstStyle/>
          <a:p>
            <a:pPr algn="r">
              <a:lnSpc>
                <a:spcPct val="100000"/>
              </a:lnSpc>
            </a:pPr>
            <a:r>
              <a:rPr lang="fr-FR" sz="1300" b="1" spc="100" noProof="0" dirty="0">
                <a:solidFill>
                  <a:srgbClr val="5A5A5A"/>
                </a:solidFill>
                <a:latin typeface="Arial"/>
              </a:rPr>
              <a:t>R² TEST</a:t>
            </a:r>
          </a:p>
        </p:txBody>
      </p:sp>
      <p:sp>
        <p:nvSpPr>
          <p:cNvPr id="113" name="T113"/>
          <p:cNvSpPr txBox="1"/>
          <p:nvPr/>
        </p:nvSpPr>
        <p:spPr>
          <a:xfrm>
            <a:off x="16154400" y="1778000"/>
            <a:ext cx="10922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STATUT</a:t>
            </a:r>
          </a:p>
        </p:txBody>
      </p:sp>
      <p:sp>
        <p:nvSpPr>
          <p:cNvPr id="114" name="R114"/>
          <p:cNvSpPr/>
          <p:nvPr/>
        </p:nvSpPr>
        <p:spPr>
          <a:xfrm>
            <a:off x="1047750" y="2184400"/>
            <a:ext cx="16192500" cy="9525"/>
          </a:xfrm>
          <a:prstGeom prst="rect">
            <a:avLst/>
          </a:prstGeom>
          <a:solidFill>
            <a:srgbClr val="E2E8F0"/>
          </a:solidFill>
          <a:ln>
            <a:noFill/>
          </a:ln>
        </p:spPr>
        <p:txBody>
          <a:bodyPr rtlCol="0" anchor="ctr"/>
          <a:lstStyle/>
          <a:p>
            <a:endParaRPr lang="fr-FR" dirty="0"/>
          </a:p>
        </p:txBody>
      </p:sp>
      <p:sp>
        <p:nvSpPr>
          <p:cNvPr id="115" name="T115"/>
          <p:cNvSpPr txBox="1"/>
          <p:nvPr/>
        </p:nvSpPr>
        <p:spPr>
          <a:xfrm>
            <a:off x="1054100" y="2197100"/>
            <a:ext cx="2540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Ridge</a:t>
            </a:r>
          </a:p>
        </p:txBody>
      </p:sp>
      <p:sp>
        <p:nvSpPr>
          <p:cNvPr id="116" name="T116"/>
          <p:cNvSpPr txBox="1"/>
          <p:nvPr/>
        </p:nvSpPr>
        <p:spPr>
          <a:xfrm>
            <a:off x="3683000" y="2197100"/>
            <a:ext cx="2413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défaut</a:t>
            </a:r>
          </a:p>
        </p:txBody>
      </p:sp>
      <p:sp>
        <p:nvSpPr>
          <p:cNvPr id="117" name="T117"/>
          <p:cNvSpPr txBox="1"/>
          <p:nvPr/>
        </p:nvSpPr>
        <p:spPr>
          <a:xfrm>
            <a:off x="6172200" y="2197100"/>
            <a:ext cx="1905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complet (24)</a:t>
            </a:r>
          </a:p>
        </p:txBody>
      </p:sp>
      <p:sp>
        <p:nvSpPr>
          <p:cNvPr id="118" name="T118"/>
          <p:cNvSpPr txBox="1"/>
          <p:nvPr/>
        </p:nvSpPr>
        <p:spPr>
          <a:xfrm>
            <a:off x="8191500" y="21971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2,4552</a:t>
            </a:r>
          </a:p>
        </p:txBody>
      </p:sp>
      <p:sp>
        <p:nvSpPr>
          <p:cNvPr id="119" name="T119"/>
          <p:cNvSpPr txBox="1"/>
          <p:nvPr/>
        </p:nvSpPr>
        <p:spPr>
          <a:xfrm>
            <a:off x="9499600" y="21971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3,0844</a:t>
            </a:r>
          </a:p>
        </p:txBody>
      </p:sp>
      <p:sp>
        <p:nvSpPr>
          <p:cNvPr id="120" name="T120"/>
          <p:cNvSpPr txBox="1"/>
          <p:nvPr/>
        </p:nvSpPr>
        <p:spPr>
          <a:xfrm>
            <a:off x="10807700" y="21971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0,6756</a:t>
            </a:r>
          </a:p>
        </p:txBody>
      </p:sp>
      <p:sp>
        <p:nvSpPr>
          <p:cNvPr id="121" name="T121"/>
          <p:cNvSpPr txBox="1"/>
          <p:nvPr/>
        </p:nvSpPr>
        <p:spPr>
          <a:xfrm>
            <a:off x="12115800" y="21971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22" name="T122"/>
          <p:cNvSpPr txBox="1"/>
          <p:nvPr/>
        </p:nvSpPr>
        <p:spPr>
          <a:xfrm>
            <a:off x="13423900" y="21971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23" name="T123"/>
          <p:cNvSpPr txBox="1"/>
          <p:nvPr/>
        </p:nvSpPr>
        <p:spPr>
          <a:xfrm>
            <a:off x="14732000" y="21971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24" name="T124"/>
          <p:cNvSpPr txBox="1"/>
          <p:nvPr/>
        </p:nvSpPr>
        <p:spPr>
          <a:xfrm>
            <a:off x="16154400" y="2197100"/>
            <a:ext cx="10922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Comparé</a:t>
            </a:r>
          </a:p>
        </p:txBody>
      </p:sp>
      <p:sp>
        <p:nvSpPr>
          <p:cNvPr id="125" name="R125"/>
          <p:cNvSpPr/>
          <p:nvPr/>
        </p:nvSpPr>
        <p:spPr>
          <a:xfrm>
            <a:off x="1047750" y="3048000"/>
            <a:ext cx="16192500" cy="9525"/>
          </a:xfrm>
          <a:prstGeom prst="rect">
            <a:avLst/>
          </a:prstGeom>
          <a:solidFill>
            <a:srgbClr val="E2E8F0"/>
          </a:solidFill>
          <a:ln>
            <a:noFill/>
          </a:ln>
        </p:spPr>
        <p:txBody>
          <a:bodyPr rtlCol="0" anchor="ctr"/>
          <a:lstStyle/>
          <a:p>
            <a:endParaRPr lang="fr-FR" dirty="0"/>
          </a:p>
        </p:txBody>
      </p:sp>
      <p:sp>
        <p:nvSpPr>
          <p:cNvPr id="126" name="T126"/>
          <p:cNvSpPr txBox="1"/>
          <p:nvPr/>
        </p:nvSpPr>
        <p:spPr>
          <a:xfrm>
            <a:off x="1054100" y="3060700"/>
            <a:ext cx="2540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Random Forest</a:t>
            </a:r>
          </a:p>
        </p:txBody>
      </p:sp>
      <p:sp>
        <p:nvSpPr>
          <p:cNvPr id="127" name="T127"/>
          <p:cNvSpPr txBox="1"/>
          <p:nvPr/>
        </p:nvSpPr>
        <p:spPr>
          <a:xfrm>
            <a:off x="3683000" y="3060700"/>
            <a:ext cx="2413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défaut</a:t>
            </a:r>
          </a:p>
        </p:txBody>
      </p:sp>
      <p:sp>
        <p:nvSpPr>
          <p:cNvPr id="128" name="T128"/>
          <p:cNvSpPr txBox="1"/>
          <p:nvPr/>
        </p:nvSpPr>
        <p:spPr>
          <a:xfrm>
            <a:off x="6172200" y="3060700"/>
            <a:ext cx="1905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complet (24)</a:t>
            </a:r>
          </a:p>
        </p:txBody>
      </p:sp>
      <p:sp>
        <p:nvSpPr>
          <p:cNvPr id="129" name="T129"/>
          <p:cNvSpPr txBox="1"/>
          <p:nvPr/>
        </p:nvSpPr>
        <p:spPr>
          <a:xfrm>
            <a:off x="8191500" y="30607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2,2751</a:t>
            </a:r>
          </a:p>
        </p:txBody>
      </p:sp>
      <p:sp>
        <p:nvSpPr>
          <p:cNvPr id="130" name="T130"/>
          <p:cNvSpPr txBox="1"/>
          <p:nvPr/>
        </p:nvSpPr>
        <p:spPr>
          <a:xfrm>
            <a:off x="9499600" y="30607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3,0617</a:t>
            </a:r>
          </a:p>
        </p:txBody>
      </p:sp>
      <p:sp>
        <p:nvSpPr>
          <p:cNvPr id="131" name="T131"/>
          <p:cNvSpPr txBox="1"/>
          <p:nvPr/>
        </p:nvSpPr>
        <p:spPr>
          <a:xfrm>
            <a:off x="10807700" y="30607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0,6803</a:t>
            </a:r>
          </a:p>
        </p:txBody>
      </p:sp>
      <p:sp>
        <p:nvSpPr>
          <p:cNvPr id="132" name="T132"/>
          <p:cNvSpPr txBox="1"/>
          <p:nvPr/>
        </p:nvSpPr>
        <p:spPr>
          <a:xfrm>
            <a:off x="12115800" y="30607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33" name="T133"/>
          <p:cNvSpPr txBox="1"/>
          <p:nvPr/>
        </p:nvSpPr>
        <p:spPr>
          <a:xfrm>
            <a:off x="13423900" y="30607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34" name="T134"/>
          <p:cNvSpPr txBox="1"/>
          <p:nvPr/>
        </p:nvSpPr>
        <p:spPr>
          <a:xfrm>
            <a:off x="14732000" y="30607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35" name="T135"/>
          <p:cNvSpPr txBox="1"/>
          <p:nvPr/>
        </p:nvSpPr>
        <p:spPr>
          <a:xfrm>
            <a:off x="16154400" y="3060700"/>
            <a:ext cx="10922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Comparé</a:t>
            </a:r>
          </a:p>
        </p:txBody>
      </p:sp>
      <p:sp>
        <p:nvSpPr>
          <p:cNvPr id="136" name="R136"/>
          <p:cNvSpPr/>
          <p:nvPr/>
        </p:nvSpPr>
        <p:spPr>
          <a:xfrm>
            <a:off x="1047750" y="3911600"/>
            <a:ext cx="16192500" cy="9525"/>
          </a:xfrm>
          <a:prstGeom prst="rect">
            <a:avLst/>
          </a:prstGeom>
          <a:solidFill>
            <a:srgbClr val="E2E8F0"/>
          </a:solidFill>
          <a:ln>
            <a:noFill/>
          </a:ln>
        </p:spPr>
        <p:txBody>
          <a:bodyPr rtlCol="0" anchor="ctr"/>
          <a:lstStyle/>
          <a:p>
            <a:endParaRPr lang="fr-FR" dirty="0"/>
          </a:p>
        </p:txBody>
      </p:sp>
      <p:sp>
        <p:nvSpPr>
          <p:cNvPr id="137" name="T137"/>
          <p:cNvSpPr txBox="1"/>
          <p:nvPr/>
        </p:nvSpPr>
        <p:spPr>
          <a:xfrm>
            <a:off x="1054100" y="3924300"/>
            <a:ext cx="2540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Gradient Boosting</a:t>
            </a:r>
          </a:p>
        </p:txBody>
      </p:sp>
      <p:sp>
        <p:nvSpPr>
          <p:cNvPr id="138" name="T138"/>
          <p:cNvSpPr txBox="1"/>
          <p:nvPr/>
        </p:nvSpPr>
        <p:spPr>
          <a:xfrm>
            <a:off x="3683000" y="3924300"/>
            <a:ext cx="2413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défaut</a:t>
            </a:r>
          </a:p>
        </p:txBody>
      </p:sp>
      <p:sp>
        <p:nvSpPr>
          <p:cNvPr id="139" name="T139"/>
          <p:cNvSpPr txBox="1"/>
          <p:nvPr/>
        </p:nvSpPr>
        <p:spPr>
          <a:xfrm>
            <a:off x="6172200" y="3924300"/>
            <a:ext cx="1905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complet (24)</a:t>
            </a:r>
          </a:p>
        </p:txBody>
      </p:sp>
      <p:sp>
        <p:nvSpPr>
          <p:cNvPr id="140" name="T140"/>
          <p:cNvSpPr txBox="1"/>
          <p:nvPr/>
        </p:nvSpPr>
        <p:spPr>
          <a:xfrm>
            <a:off x="8191500" y="39243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2,1964</a:t>
            </a:r>
          </a:p>
        </p:txBody>
      </p:sp>
      <p:sp>
        <p:nvSpPr>
          <p:cNvPr id="141" name="T141"/>
          <p:cNvSpPr txBox="1"/>
          <p:nvPr/>
        </p:nvSpPr>
        <p:spPr>
          <a:xfrm>
            <a:off x="9499600" y="39243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2,9732</a:t>
            </a:r>
          </a:p>
        </p:txBody>
      </p:sp>
      <p:sp>
        <p:nvSpPr>
          <p:cNvPr id="142" name="T142"/>
          <p:cNvSpPr txBox="1"/>
          <p:nvPr/>
        </p:nvSpPr>
        <p:spPr>
          <a:xfrm>
            <a:off x="10807700" y="39243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0,6986</a:t>
            </a:r>
          </a:p>
        </p:txBody>
      </p:sp>
      <p:sp>
        <p:nvSpPr>
          <p:cNvPr id="143" name="T143"/>
          <p:cNvSpPr txBox="1"/>
          <p:nvPr/>
        </p:nvSpPr>
        <p:spPr>
          <a:xfrm>
            <a:off x="12115800" y="39243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44" name="T144"/>
          <p:cNvSpPr txBox="1"/>
          <p:nvPr/>
        </p:nvSpPr>
        <p:spPr>
          <a:xfrm>
            <a:off x="13423900" y="39243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45" name="T145"/>
          <p:cNvSpPr txBox="1"/>
          <p:nvPr/>
        </p:nvSpPr>
        <p:spPr>
          <a:xfrm>
            <a:off x="14732000" y="39243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46" name="T146"/>
          <p:cNvSpPr txBox="1"/>
          <p:nvPr/>
        </p:nvSpPr>
        <p:spPr>
          <a:xfrm>
            <a:off x="16154400" y="3924300"/>
            <a:ext cx="10922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Comparé</a:t>
            </a:r>
          </a:p>
        </p:txBody>
      </p:sp>
      <p:sp>
        <p:nvSpPr>
          <p:cNvPr id="147" name="R147"/>
          <p:cNvSpPr/>
          <p:nvPr/>
        </p:nvSpPr>
        <p:spPr>
          <a:xfrm>
            <a:off x="1047750" y="4775200"/>
            <a:ext cx="16192500" cy="9525"/>
          </a:xfrm>
          <a:prstGeom prst="rect">
            <a:avLst/>
          </a:prstGeom>
          <a:solidFill>
            <a:srgbClr val="E2E8F0"/>
          </a:solidFill>
          <a:ln>
            <a:noFill/>
          </a:ln>
        </p:spPr>
        <p:txBody>
          <a:bodyPr rtlCol="0" anchor="ctr"/>
          <a:lstStyle/>
          <a:p>
            <a:endParaRPr lang="fr-FR" dirty="0"/>
          </a:p>
        </p:txBody>
      </p:sp>
      <p:sp>
        <p:nvSpPr>
          <p:cNvPr id="148" name="R148"/>
          <p:cNvSpPr/>
          <p:nvPr/>
        </p:nvSpPr>
        <p:spPr>
          <a:xfrm>
            <a:off x="1047750" y="4787900"/>
            <a:ext cx="16192500" cy="711200"/>
          </a:xfrm>
          <a:prstGeom prst="rect">
            <a:avLst/>
          </a:prstGeom>
          <a:solidFill>
            <a:srgbClr val="E3F5E7"/>
          </a:solidFill>
          <a:ln>
            <a:noFill/>
          </a:ln>
        </p:spPr>
        <p:txBody>
          <a:bodyPr rtlCol="0" anchor="ctr"/>
          <a:lstStyle/>
          <a:p>
            <a:endParaRPr lang="fr-FR" dirty="0"/>
          </a:p>
        </p:txBody>
      </p:sp>
      <p:sp>
        <p:nvSpPr>
          <p:cNvPr id="149" name="T149"/>
          <p:cNvSpPr txBox="1"/>
          <p:nvPr/>
        </p:nvSpPr>
        <p:spPr>
          <a:xfrm>
            <a:off x="1054100" y="4787900"/>
            <a:ext cx="2540000" cy="711200"/>
          </a:xfrm>
          <a:prstGeom prst="rect">
            <a:avLst/>
          </a:prstGeom>
          <a:noFill/>
        </p:spPr>
        <p:txBody>
          <a:bodyPr wrap="square" lIns="27432" tIns="27432" rIns="27432" bIns="27432" anchor="t">
            <a:noAutofit/>
          </a:bodyPr>
          <a:lstStyle/>
          <a:p>
            <a:pPr algn="l">
              <a:lnSpc>
                <a:spcPct val="100000"/>
              </a:lnSpc>
            </a:pPr>
            <a:r>
              <a:rPr lang="fr-FR" sz="1600" b="1" noProof="0" dirty="0">
                <a:solidFill>
                  <a:srgbClr val="1C6B3A"/>
                </a:solidFill>
                <a:latin typeface="Arial"/>
              </a:rPr>
              <a:t>Gradient Boosting</a:t>
            </a:r>
          </a:p>
        </p:txBody>
      </p:sp>
      <p:sp>
        <p:nvSpPr>
          <p:cNvPr id="150" name="T150"/>
          <p:cNvSpPr txBox="1"/>
          <p:nvPr/>
        </p:nvSpPr>
        <p:spPr>
          <a:xfrm>
            <a:off x="3683000" y="4787900"/>
            <a:ext cx="2413000" cy="711200"/>
          </a:xfrm>
          <a:prstGeom prst="rect">
            <a:avLst/>
          </a:prstGeom>
          <a:noFill/>
        </p:spPr>
        <p:txBody>
          <a:bodyPr wrap="square" lIns="27432" tIns="27432" rIns="27432" bIns="27432" anchor="t">
            <a:noAutofit/>
          </a:bodyPr>
          <a:lstStyle/>
          <a:p>
            <a:pPr algn="l">
              <a:lnSpc>
                <a:spcPct val="100000"/>
              </a:lnSpc>
            </a:pPr>
            <a:r>
              <a:rPr lang="fr-FR" sz="1600" b="1" noProof="0" dirty="0">
                <a:solidFill>
                  <a:srgbClr val="1C6B3A"/>
                </a:solidFill>
                <a:latin typeface="Arial"/>
              </a:rPr>
              <a:t>défaut</a:t>
            </a:r>
          </a:p>
        </p:txBody>
      </p:sp>
      <p:sp>
        <p:nvSpPr>
          <p:cNvPr id="151" name="T151"/>
          <p:cNvSpPr txBox="1"/>
          <p:nvPr/>
        </p:nvSpPr>
        <p:spPr>
          <a:xfrm>
            <a:off x="6172200" y="4787900"/>
            <a:ext cx="1905000" cy="711200"/>
          </a:xfrm>
          <a:prstGeom prst="rect">
            <a:avLst/>
          </a:prstGeom>
          <a:noFill/>
        </p:spPr>
        <p:txBody>
          <a:bodyPr wrap="square" lIns="27432" tIns="27432" rIns="27432" bIns="27432" anchor="t">
            <a:noAutofit/>
          </a:bodyPr>
          <a:lstStyle/>
          <a:p>
            <a:pPr algn="l">
              <a:lnSpc>
                <a:spcPct val="100000"/>
              </a:lnSpc>
            </a:pPr>
            <a:r>
              <a:rPr lang="fr-FR" sz="1600" b="1" noProof="0" dirty="0">
                <a:solidFill>
                  <a:srgbClr val="1C6B3A"/>
                </a:solidFill>
                <a:latin typeface="Arial"/>
              </a:rPr>
              <a:t>minimisé (16)</a:t>
            </a:r>
          </a:p>
        </p:txBody>
      </p:sp>
      <p:sp>
        <p:nvSpPr>
          <p:cNvPr id="152" name="T152"/>
          <p:cNvSpPr txBox="1"/>
          <p:nvPr/>
        </p:nvSpPr>
        <p:spPr>
          <a:xfrm>
            <a:off x="8191500" y="4787900"/>
            <a:ext cx="1244600" cy="711200"/>
          </a:xfrm>
          <a:prstGeom prst="rect">
            <a:avLst/>
          </a:prstGeom>
          <a:noFill/>
        </p:spPr>
        <p:txBody>
          <a:bodyPr wrap="square" lIns="27432" tIns="27432" rIns="27432" bIns="27432" anchor="t">
            <a:noAutofit/>
          </a:bodyPr>
          <a:lstStyle/>
          <a:p>
            <a:pPr algn="r">
              <a:lnSpc>
                <a:spcPct val="100000"/>
              </a:lnSpc>
            </a:pPr>
            <a:r>
              <a:rPr lang="fr-FR" sz="1600" b="1" noProof="0" dirty="0">
                <a:solidFill>
                  <a:srgbClr val="1C6B3A"/>
                </a:solidFill>
                <a:latin typeface="Arial"/>
              </a:rPr>
              <a:t>2,2334</a:t>
            </a:r>
          </a:p>
        </p:txBody>
      </p:sp>
      <p:sp>
        <p:nvSpPr>
          <p:cNvPr id="153" name="T153"/>
          <p:cNvSpPr txBox="1"/>
          <p:nvPr/>
        </p:nvSpPr>
        <p:spPr>
          <a:xfrm>
            <a:off x="9499600" y="4787900"/>
            <a:ext cx="1244600" cy="711200"/>
          </a:xfrm>
          <a:prstGeom prst="rect">
            <a:avLst/>
          </a:prstGeom>
          <a:noFill/>
        </p:spPr>
        <p:txBody>
          <a:bodyPr wrap="square" lIns="27432" tIns="27432" rIns="27432" bIns="27432" anchor="t">
            <a:noAutofit/>
          </a:bodyPr>
          <a:lstStyle/>
          <a:p>
            <a:pPr algn="r">
              <a:lnSpc>
                <a:spcPct val="100000"/>
              </a:lnSpc>
            </a:pPr>
            <a:r>
              <a:rPr lang="fr-FR" sz="1600" b="1" noProof="0" dirty="0">
                <a:solidFill>
                  <a:srgbClr val="1C6B3A"/>
                </a:solidFill>
                <a:latin typeface="Arial"/>
              </a:rPr>
              <a:t>3,0179</a:t>
            </a:r>
          </a:p>
        </p:txBody>
      </p:sp>
      <p:sp>
        <p:nvSpPr>
          <p:cNvPr id="154" name="T154"/>
          <p:cNvSpPr txBox="1"/>
          <p:nvPr/>
        </p:nvSpPr>
        <p:spPr>
          <a:xfrm>
            <a:off x="10807700" y="4787900"/>
            <a:ext cx="1244600" cy="711200"/>
          </a:xfrm>
          <a:prstGeom prst="rect">
            <a:avLst/>
          </a:prstGeom>
          <a:noFill/>
        </p:spPr>
        <p:txBody>
          <a:bodyPr wrap="square" lIns="27432" tIns="27432" rIns="27432" bIns="27432" anchor="t">
            <a:noAutofit/>
          </a:bodyPr>
          <a:lstStyle/>
          <a:p>
            <a:pPr algn="r">
              <a:lnSpc>
                <a:spcPct val="100000"/>
              </a:lnSpc>
            </a:pPr>
            <a:r>
              <a:rPr lang="fr-FR" sz="1600" b="1" noProof="0" dirty="0">
                <a:solidFill>
                  <a:srgbClr val="1C6B3A"/>
                </a:solidFill>
                <a:latin typeface="Arial"/>
              </a:rPr>
              <a:t>0,6894</a:t>
            </a:r>
          </a:p>
        </p:txBody>
      </p:sp>
      <p:sp>
        <p:nvSpPr>
          <p:cNvPr id="155" name="T155"/>
          <p:cNvSpPr txBox="1"/>
          <p:nvPr/>
        </p:nvSpPr>
        <p:spPr>
          <a:xfrm>
            <a:off x="12115800" y="4787900"/>
            <a:ext cx="1244600" cy="711200"/>
          </a:xfrm>
          <a:prstGeom prst="rect">
            <a:avLst/>
          </a:prstGeom>
          <a:noFill/>
        </p:spPr>
        <p:txBody>
          <a:bodyPr wrap="square" lIns="27432" tIns="27432" rIns="27432" bIns="27432" anchor="t">
            <a:noAutofit/>
          </a:bodyPr>
          <a:lstStyle/>
          <a:p>
            <a:pPr algn="r">
              <a:lnSpc>
                <a:spcPct val="100000"/>
              </a:lnSpc>
            </a:pPr>
            <a:r>
              <a:rPr lang="fr-FR" sz="1600" b="1" noProof="0" dirty="0">
                <a:solidFill>
                  <a:srgbClr val="1C6B3A"/>
                </a:solidFill>
                <a:latin typeface="Arial"/>
              </a:rPr>
              <a:t>2,2398</a:t>
            </a:r>
          </a:p>
        </p:txBody>
      </p:sp>
      <p:sp>
        <p:nvSpPr>
          <p:cNvPr id="156" name="T156"/>
          <p:cNvSpPr txBox="1"/>
          <p:nvPr/>
        </p:nvSpPr>
        <p:spPr>
          <a:xfrm>
            <a:off x="13423900" y="4787900"/>
            <a:ext cx="1244600" cy="711200"/>
          </a:xfrm>
          <a:prstGeom prst="rect">
            <a:avLst/>
          </a:prstGeom>
          <a:noFill/>
        </p:spPr>
        <p:txBody>
          <a:bodyPr wrap="square" lIns="27432" tIns="27432" rIns="27432" bIns="27432" anchor="t">
            <a:noAutofit/>
          </a:bodyPr>
          <a:lstStyle/>
          <a:p>
            <a:pPr algn="r">
              <a:lnSpc>
                <a:spcPct val="100000"/>
              </a:lnSpc>
            </a:pPr>
            <a:r>
              <a:rPr lang="fr-FR" sz="1600" b="1" noProof="0" dirty="0">
                <a:solidFill>
                  <a:srgbClr val="1C6B3A"/>
                </a:solidFill>
                <a:latin typeface="Arial"/>
              </a:rPr>
              <a:t>3,0803</a:t>
            </a:r>
          </a:p>
        </p:txBody>
      </p:sp>
      <p:sp>
        <p:nvSpPr>
          <p:cNvPr id="157" name="T157"/>
          <p:cNvSpPr txBox="1"/>
          <p:nvPr/>
        </p:nvSpPr>
        <p:spPr>
          <a:xfrm>
            <a:off x="14732000" y="4787900"/>
            <a:ext cx="1244600" cy="711200"/>
          </a:xfrm>
          <a:prstGeom prst="rect">
            <a:avLst/>
          </a:prstGeom>
          <a:noFill/>
        </p:spPr>
        <p:txBody>
          <a:bodyPr wrap="square" lIns="27432" tIns="27432" rIns="27432" bIns="27432" anchor="t">
            <a:noAutofit/>
          </a:bodyPr>
          <a:lstStyle/>
          <a:p>
            <a:pPr algn="r">
              <a:lnSpc>
                <a:spcPct val="100000"/>
              </a:lnSpc>
            </a:pPr>
            <a:r>
              <a:rPr lang="fr-FR" sz="1600" b="1" noProof="0" dirty="0">
                <a:solidFill>
                  <a:srgbClr val="1C6B3A"/>
                </a:solidFill>
                <a:latin typeface="Arial"/>
              </a:rPr>
              <a:t>0,6849</a:t>
            </a:r>
          </a:p>
        </p:txBody>
      </p:sp>
      <p:sp>
        <p:nvSpPr>
          <p:cNvPr id="158" name="T158"/>
          <p:cNvSpPr txBox="1"/>
          <p:nvPr/>
        </p:nvSpPr>
        <p:spPr>
          <a:xfrm>
            <a:off x="16154400" y="4787900"/>
            <a:ext cx="1092200" cy="711200"/>
          </a:xfrm>
          <a:prstGeom prst="rect">
            <a:avLst/>
          </a:prstGeom>
          <a:noFill/>
        </p:spPr>
        <p:txBody>
          <a:bodyPr wrap="square" lIns="27432" tIns="27432" rIns="27432" bIns="27432" anchor="t">
            <a:noAutofit/>
          </a:bodyPr>
          <a:lstStyle/>
          <a:p>
            <a:pPr algn="l">
              <a:lnSpc>
                <a:spcPct val="100000"/>
              </a:lnSpc>
            </a:pPr>
            <a:r>
              <a:rPr lang="fr-FR" sz="1600" b="1" noProof="0" dirty="0">
                <a:solidFill>
                  <a:srgbClr val="1C6B3A"/>
                </a:solidFill>
                <a:latin typeface="Arial"/>
              </a:rPr>
              <a:t>VALIDÉ</a:t>
            </a:r>
          </a:p>
        </p:txBody>
      </p:sp>
      <p:sp>
        <p:nvSpPr>
          <p:cNvPr id="159" name="R159"/>
          <p:cNvSpPr/>
          <p:nvPr/>
        </p:nvSpPr>
        <p:spPr>
          <a:xfrm>
            <a:off x="1047750" y="5638800"/>
            <a:ext cx="16192500" cy="9525"/>
          </a:xfrm>
          <a:prstGeom prst="rect">
            <a:avLst/>
          </a:prstGeom>
          <a:solidFill>
            <a:srgbClr val="E2E8F0"/>
          </a:solidFill>
          <a:ln>
            <a:noFill/>
          </a:ln>
        </p:spPr>
        <p:txBody>
          <a:bodyPr rtlCol="0" anchor="ctr"/>
          <a:lstStyle/>
          <a:p>
            <a:endParaRPr lang="fr-FR" dirty="0"/>
          </a:p>
        </p:txBody>
      </p:sp>
      <p:sp>
        <p:nvSpPr>
          <p:cNvPr id="160" name="T160"/>
          <p:cNvSpPr txBox="1"/>
          <p:nvPr/>
        </p:nvSpPr>
        <p:spPr>
          <a:xfrm>
            <a:off x="1054100" y="5651500"/>
            <a:ext cx="2540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Gradient Boosting</a:t>
            </a:r>
          </a:p>
        </p:txBody>
      </p:sp>
      <p:sp>
        <p:nvSpPr>
          <p:cNvPr id="161" name="T161"/>
          <p:cNvSpPr txBox="1"/>
          <p:nvPr/>
        </p:nvSpPr>
        <p:spPr>
          <a:xfrm>
            <a:off x="3683000" y="5651500"/>
            <a:ext cx="2413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Optuna frugal</a:t>
            </a:r>
          </a:p>
        </p:txBody>
      </p:sp>
      <p:sp>
        <p:nvSpPr>
          <p:cNvPr id="162" name="T162"/>
          <p:cNvSpPr txBox="1"/>
          <p:nvPr/>
        </p:nvSpPr>
        <p:spPr>
          <a:xfrm>
            <a:off x="6172200" y="5651500"/>
            <a:ext cx="1905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minimisé (16)</a:t>
            </a:r>
          </a:p>
        </p:txBody>
      </p:sp>
      <p:sp>
        <p:nvSpPr>
          <p:cNvPr id="163" name="T163"/>
          <p:cNvSpPr txBox="1"/>
          <p:nvPr/>
        </p:nvSpPr>
        <p:spPr>
          <a:xfrm>
            <a:off x="8191500" y="56515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2,2205</a:t>
            </a:r>
          </a:p>
        </p:txBody>
      </p:sp>
      <p:sp>
        <p:nvSpPr>
          <p:cNvPr id="164" name="T164"/>
          <p:cNvSpPr txBox="1"/>
          <p:nvPr/>
        </p:nvSpPr>
        <p:spPr>
          <a:xfrm>
            <a:off x="9499600" y="56515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3,0187</a:t>
            </a:r>
          </a:p>
        </p:txBody>
      </p:sp>
      <p:sp>
        <p:nvSpPr>
          <p:cNvPr id="165" name="T165"/>
          <p:cNvSpPr txBox="1"/>
          <p:nvPr/>
        </p:nvSpPr>
        <p:spPr>
          <a:xfrm>
            <a:off x="10807700" y="56515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0,6893</a:t>
            </a:r>
          </a:p>
        </p:txBody>
      </p:sp>
      <p:sp>
        <p:nvSpPr>
          <p:cNvPr id="166" name="T166"/>
          <p:cNvSpPr txBox="1"/>
          <p:nvPr/>
        </p:nvSpPr>
        <p:spPr>
          <a:xfrm>
            <a:off x="12115800" y="56515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67" name="T167"/>
          <p:cNvSpPr txBox="1"/>
          <p:nvPr/>
        </p:nvSpPr>
        <p:spPr>
          <a:xfrm>
            <a:off x="13423900" y="56515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68" name="T168"/>
          <p:cNvSpPr txBox="1"/>
          <p:nvPr/>
        </p:nvSpPr>
        <p:spPr>
          <a:xfrm>
            <a:off x="14732000" y="56515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69" name="T169"/>
          <p:cNvSpPr txBox="1"/>
          <p:nvPr/>
        </p:nvSpPr>
        <p:spPr>
          <a:xfrm>
            <a:off x="16154400" y="5651500"/>
            <a:ext cx="10922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Écarté</a:t>
            </a:r>
          </a:p>
        </p:txBody>
      </p:sp>
      <p:sp>
        <p:nvSpPr>
          <p:cNvPr id="170" name="R170"/>
          <p:cNvSpPr/>
          <p:nvPr/>
        </p:nvSpPr>
        <p:spPr>
          <a:xfrm>
            <a:off x="1047750" y="6502400"/>
            <a:ext cx="16192500" cy="9525"/>
          </a:xfrm>
          <a:prstGeom prst="rect">
            <a:avLst/>
          </a:prstGeom>
          <a:solidFill>
            <a:srgbClr val="E2E8F0"/>
          </a:solidFill>
          <a:ln>
            <a:noFill/>
          </a:ln>
        </p:spPr>
        <p:txBody>
          <a:bodyPr rtlCol="0" anchor="ctr"/>
          <a:lstStyle/>
          <a:p>
            <a:endParaRPr lang="fr-FR" dirty="0"/>
          </a:p>
        </p:txBody>
      </p:sp>
      <p:sp>
        <p:nvSpPr>
          <p:cNvPr id="171" name="T171"/>
          <p:cNvSpPr txBox="1"/>
          <p:nvPr/>
        </p:nvSpPr>
        <p:spPr>
          <a:xfrm>
            <a:off x="1054100" y="6515100"/>
            <a:ext cx="2540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Gradient Boosting</a:t>
            </a:r>
          </a:p>
        </p:txBody>
      </p:sp>
      <p:sp>
        <p:nvSpPr>
          <p:cNvPr id="172" name="T172"/>
          <p:cNvSpPr txBox="1"/>
          <p:nvPr/>
        </p:nvSpPr>
        <p:spPr>
          <a:xfrm>
            <a:off x="3683000" y="6515100"/>
            <a:ext cx="2413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Optuna lourd</a:t>
            </a:r>
          </a:p>
        </p:txBody>
      </p:sp>
      <p:sp>
        <p:nvSpPr>
          <p:cNvPr id="173" name="T173"/>
          <p:cNvSpPr txBox="1"/>
          <p:nvPr/>
        </p:nvSpPr>
        <p:spPr>
          <a:xfrm>
            <a:off x="6172200" y="6515100"/>
            <a:ext cx="19050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minimisé (16)</a:t>
            </a:r>
          </a:p>
        </p:txBody>
      </p:sp>
      <p:sp>
        <p:nvSpPr>
          <p:cNvPr id="174" name="T174"/>
          <p:cNvSpPr txBox="1"/>
          <p:nvPr/>
        </p:nvSpPr>
        <p:spPr>
          <a:xfrm>
            <a:off x="8191500" y="65151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2,2085</a:t>
            </a:r>
          </a:p>
        </p:txBody>
      </p:sp>
      <p:sp>
        <p:nvSpPr>
          <p:cNvPr id="175" name="T175"/>
          <p:cNvSpPr txBox="1"/>
          <p:nvPr/>
        </p:nvSpPr>
        <p:spPr>
          <a:xfrm>
            <a:off x="9499600" y="65151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3,0086</a:t>
            </a:r>
          </a:p>
        </p:txBody>
      </p:sp>
      <p:sp>
        <p:nvSpPr>
          <p:cNvPr id="176" name="T176"/>
          <p:cNvSpPr txBox="1"/>
          <p:nvPr/>
        </p:nvSpPr>
        <p:spPr>
          <a:xfrm>
            <a:off x="10807700" y="65151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0,6913</a:t>
            </a:r>
          </a:p>
        </p:txBody>
      </p:sp>
      <p:sp>
        <p:nvSpPr>
          <p:cNvPr id="177" name="T177"/>
          <p:cNvSpPr txBox="1"/>
          <p:nvPr/>
        </p:nvSpPr>
        <p:spPr>
          <a:xfrm>
            <a:off x="12115800" y="65151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78" name="T178"/>
          <p:cNvSpPr txBox="1"/>
          <p:nvPr/>
        </p:nvSpPr>
        <p:spPr>
          <a:xfrm>
            <a:off x="13423900" y="65151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79" name="T179"/>
          <p:cNvSpPr txBox="1"/>
          <p:nvPr/>
        </p:nvSpPr>
        <p:spPr>
          <a:xfrm>
            <a:off x="14732000" y="6515100"/>
            <a:ext cx="1244600" cy="711200"/>
          </a:xfrm>
          <a:prstGeom prst="rect">
            <a:avLst/>
          </a:prstGeom>
          <a:noFill/>
        </p:spPr>
        <p:txBody>
          <a:bodyPr wrap="square" lIns="27432" tIns="27432" rIns="27432" bIns="27432" anchor="t">
            <a:noAutofit/>
          </a:bodyPr>
          <a:lstStyle/>
          <a:p>
            <a:pPr algn="r">
              <a:lnSpc>
                <a:spcPct val="100000"/>
              </a:lnSpc>
            </a:pPr>
            <a:r>
              <a:rPr lang="fr-FR" sz="1600" b="0" noProof="0" dirty="0">
                <a:solidFill>
                  <a:srgbClr val="4A4A4A"/>
                </a:solidFill>
                <a:latin typeface="Arial"/>
              </a:rPr>
              <a:t>—</a:t>
            </a:r>
          </a:p>
        </p:txBody>
      </p:sp>
      <p:sp>
        <p:nvSpPr>
          <p:cNvPr id="180" name="T180"/>
          <p:cNvSpPr txBox="1"/>
          <p:nvPr/>
        </p:nvSpPr>
        <p:spPr>
          <a:xfrm>
            <a:off x="16154400" y="6515100"/>
            <a:ext cx="1092200" cy="711200"/>
          </a:xfrm>
          <a:prstGeom prst="rect">
            <a:avLst/>
          </a:prstGeom>
          <a:noFill/>
        </p:spPr>
        <p:txBody>
          <a:bodyPr wrap="square" lIns="27432" tIns="27432" rIns="27432" bIns="27432" anchor="t">
            <a:noAutofit/>
          </a:bodyPr>
          <a:lstStyle/>
          <a:p>
            <a:pPr algn="l">
              <a:lnSpc>
                <a:spcPct val="100000"/>
              </a:lnSpc>
            </a:pPr>
            <a:r>
              <a:rPr lang="fr-FR" sz="1600" b="0" noProof="0" dirty="0">
                <a:solidFill>
                  <a:srgbClr val="4A4A4A"/>
                </a:solidFill>
                <a:latin typeface="Arial"/>
              </a:rPr>
              <a:t>Écarté</a:t>
            </a:r>
          </a:p>
        </p:txBody>
      </p:sp>
      <p:sp>
        <p:nvSpPr>
          <p:cNvPr id="181" name="R181"/>
          <p:cNvSpPr/>
          <p:nvPr/>
        </p:nvSpPr>
        <p:spPr>
          <a:xfrm>
            <a:off x="1047750" y="7366000"/>
            <a:ext cx="16192500" cy="9525"/>
          </a:xfrm>
          <a:prstGeom prst="rect">
            <a:avLst/>
          </a:prstGeom>
          <a:solidFill>
            <a:srgbClr val="E2E8F0"/>
          </a:solidFill>
          <a:ln>
            <a:noFill/>
          </a:ln>
        </p:spPr>
        <p:txBody>
          <a:bodyPr rtlCol="0" anchor="ctr"/>
          <a:lstStyle/>
          <a:p>
            <a:endParaRPr lang="fr-FR" dirty="0"/>
          </a:p>
        </p:txBody>
      </p:sp>
      <p:sp>
        <p:nvSpPr>
          <p:cNvPr id="185" name="T185"/>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44</a:t>
            </a:r>
            <a:endParaRPr lang="fr-FR" sz="1400" b="1" noProof="0" dirty="0">
              <a:solidFill>
                <a:srgbClr val="56B9CA"/>
              </a:solidFill>
              <a:latin typeface="Arial"/>
              <a:cs typeface="Arial"/>
            </a:endParaRPr>
          </a:p>
        </p:txBody>
      </p:sp>
      <p:sp>
        <p:nvSpPr>
          <p:cNvPr id="3" name="T237">
            <a:extLst>
              <a:ext uri="{FF2B5EF4-FFF2-40B4-BE49-F238E27FC236}">
                <a16:creationId xmlns:a16="http://schemas.microsoft.com/office/drawing/2014/main" id="{EF00231E-83C3-829A-D9E9-7F8742519166}"/>
              </a:ext>
            </a:extLst>
          </p:cNvPr>
          <p:cNvSpPr txBox="1"/>
          <p:nvPr/>
        </p:nvSpPr>
        <p:spPr>
          <a:xfrm>
            <a:off x="1054100" y="9461500"/>
            <a:ext cx="13970000" cy="355600"/>
          </a:xfrm>
          <a:prstGeom prst="rect">
            <a:avLst/>
          </a:prstGeom>
          <a:noFill/>
        </p:spPr>
        <p:txBody>
          <a:bodyPr wrap="square" lIns="27432" tIns="27432" rIns="27432" bIns="27432" anchor="t">
            <a:noAutofit/>
          </a:bodyPr>
          <a:lstStyle/>
          <a:p>
            <a:pPr algn="l"/>
            <a:r>
              <a:rPr lang="fr-FR" b="0" noProof="0" dirty="0">
                <a:solidFill>
                  <a:srgbClr val="6F6F6F"/>
                </a:solidFill>
                <a:latin typeface="Arial"/>
              </a:rPr>
              <a:t>Annexe A2 · source : metrics_modeles.xlsx (feuille </a:t>
            </a:r>
            <a:r>
              <a:rPr lang="fr-FR" b="0" noProof="0" dirty="0" err="1">
                <a:solidFill>
                  <a:srgbClr val="6F6F6F"/>
                </a:solidFill>
                <a:latin typeface="Arial"/>
              </a:rPr>
              <a:t>moyenne_finale</a:t>
            </a:r>
            <a:r>
              <a:rPr lang="fr-FR" b="0" noProof="0" dirty="0">
                <a:solidFill>
                  <a:srgbClr val="6F6F6F"/>
                </a:solidFill>
                <a:latin typeface="Arial"/>
              </a:rPr>
              <a:t>)</a:t>
            </a:r>
          </a:p>
        </p:txBody>
      </p:sp>
    </p:spTree>
    <p:extLst>
      <p:ext uri="{BB962C8B-B14F-4D97-AF65-F5344CB8AC3E}">
        <p14:creationId xmlns:p14="http://schemas.microsoft.com/office/powerpoint/2010/main" val="7792435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500000"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Annexe A3 : Model Card — détails, usages, limites (1/2)</a:t>
            </a:r>
          </a:p>
        </p:txBody>
      </p:sp>
      <p:sp>
        <p:nvSpPr>
          <p:cNvPr id="103" name="T103"/>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Version 1.0.0 · 21 août 2026</a:t>
            </a:r>
          </a:p>
        </p:txBody>
      </p:sp>
      <p:sp>
        <p:nvSpPr>
          <p:cNvPr id="104" name="T104"/>
          <p:cNvSpPr txBox="1"/>
          <p:nvPr/>
        </p:nvSpPr>
        <p:spPr>
          <a:xfrm>
            <a:off x="1054100" y="1930400"/>
            <a:ext cx="3810000" cy="635000"/>
          </a:xfrm>
          <a:prstGeom prst="rect">
            <a:avLst/>
          </a:prstGeom>
          <a:noFill/>
        </p:spPr>
        <p:txBody>
          <a:bodyPr wrap="square" lIns="27432" tIns="27432" rIns="27432" bIns="27432" anchor="t">
            <a:noAutofit/>
          </a:bodyPr>
          <a:lstStyle/>
          <a:p>
            <a:pPr algn="l">
              <a:lnSpc>
                <a:spcPct val="110000"/>
              </a:lnSpc>
            </a:pPr>
            <a:r>
              <a:rPr lang="fr-FR" sz="1800" b="1" spc="162" noProof="0" dirty="0">
                <a:solidFill>
                  <a:srgbClr val="6F6F6F"/>
                </a:solidFill>
                <a:latin typeface="Arial"/>
              </a:rPr>
              <a:t>DÉTAILS DU MODÈLE</a:t>
            </a:r>
          </a:p>
        </p:txBody>
      </p:sp>
      <p:sp>
        <p:nvSpPr>
          <p:cNvPr id="105" name="R105"/>
          <p:cNvSpPr/>
          <p:nvPr/>
        </p:nvSpPr>
        <p:spPr>
          <a:xfrm>
            <a:off x="1054100" y="2641600"/>
            <a:ext cx="889000" cy="38100"/>
          </a:xfrm>
          <a:prstGeom prst="rect">
            <a:avLst/>
          </a:prstGeom>
          <a:solidFill>
            <a:srgbClr val="56B9CA"/>
          </a:solidFill>
          <a:ln>
            <a:noFill/>
          </a:ln>
        </p:spPr>
        <p:txBody>
          <a:bodyPr rtlCol="0" anchor="ctr"/>
          <a:lstStyle/>
          <a:p>
            <a:endParaRPr lang="fr-FR" dirty="0"/>
          </a:p>
        </p:txBody>
      </p:sp>
      <p:sp>
        <p:nvSpPr>
          <p:cNvPr id="106" name="T106"/>
          <p:cNvSpPr txBox="1"/>
          <p:nvPr/>
        </p:nvSpPr>
        <p:spPr>
          <a:xfrm>
            <a:off x="5143500" y="1930400"/>
            <a:ext cx="3810000" cy="635000"/>
          </a:xfrm>
          <a:prstGeom prst="rect">
            <a:avLst/>
          </a:prstGeom>
          <a:noFill/>
        </p:spPr>
        <p:txBody>
          <a:bodyPr wrap="square" lIns="27432" tIns="27432" rIns="27432" bIns="27432" anchor="t">
            <a:noAutofit/>
          </a:bodyPr>
          <a:lstStyle/>
          <a:p>
            <a:pPr algn="l">
              <a:lnSpc>
                <a:spcPct val="110000"/>
              </a:lnSpc>
            </a:pPr>
            <a:r>
              <a:rPr lang="fr-FR" sz="1800" b="1" spc="162" noProof="0" dirty="0">
                <a:solidFill>
                  <a:srgbClr val="6F6F6F"/>
                </a:solidFill>
                <a:latin typeface="Arial"/>
              </a:rPr>
              <a:t>USAGES</a:t>
            </a:r>
          </a:p>
        </p:txBody>
      </p:sp>
      <p:sp>
        <p:nvSpPr>
          <p:cNvPr id="107" name="R107"/>
          <p:cNvSpPr/>
          <p:nvPr/>
        </p:nvSpPr>
        <p:spPr>
          <a:xfrm>
            <a:off x="5143500" y="2641600"/>
            <a:ext cx="889000" cy="38100"/>
          </a:xfrm>
          <a:prstGeom prst="rect">
            <a:avLst/>
          </a:prstGeom>
          <a:solidFill>
            <a:srgbClr val="56B9CA"/>
          </a:solidFill>
          <a:ln>
            <a:noFill/>
          </a:ln>
        </p:spPr>
        <p:txBody>
          <a:bodyPr rtlCol="0" anchor="ctr"/>
          <a:lstStyle/>
          <a:p>
            <a:endParaRPr lang="fr-FR" dirty="0"/>
          </a:p>
        </p:txBody>
      </p:sp>
      <p:sp>
        <p:nvSpPr>
          <p:cNvPr id="108" name="T108"/>
          <p:cNvSpPr txBox="1"/>
          <p:nvPr/>
        </p:nvSpPr>
        <p:spPr>
          <a:xfrm>
            <a:off x="9232900" y="1930400"/>
            <a:ext cx="3810000" cy="635000"/>
          </a:xfrm>
          <a:prstGeom prst="rect">
            <a:avLst/>
          </a:prstGeom>
          <a:noFill/>
        </p:spPr>
        <p:txBody>
          <a:bodyPr wrap="square" lIns="27432" tIns="27432" rIns="27432" bIns="27432" anchor="t">
            <a:noAutofit/>
          </a:bodyPr>
          <a:lstStyle/>
          <a:p>
            <a:pPr algn="l">
              <a:lnSpc>
                <a:spcPct val="110000"/>
              </a:lnSpc>
            </a:pPr>
            <a:r>
              <a:rPr lang="fr-FR" sz="1800" b="1" spc="162" noProof="0" dirty="0">
                <a:solidFill>
                  <a:srgbClr val="6F6F6F"/>
                </a:solidFill>
                <a:latin typeface="Arial"/>
              </a:rPr>
              <a:t>BIAIS, RISQUES ET LIMITES</a:t>
            </a:r>
          </a:p>
        </p:txBody>
      </p:sp>
      <p:sp>
        <p:nvSpPr>
          <p:cNvPr id="109" name="R109"/>
          <p:cNvSpPr/>
          <p:nvPr/>
        </p:nvSpPr>
        <p:spPr>
          <a:xfrm>
            <a:off x="9232900" y="2641600"/>
            <a:ext cx="889000" cy="38100"/>
          </a:xfrm>
          <a:prstGeom prst="rect">
            <a:avLst/>
          </a:prstGeom>
          <a:solidFill>
            <a:srgbClr val="56B9CA"/>
          </a:solidFill>
          <a:ln>
            <a:noFill/>
          </a:ln>
        </p:spPr>
        <p:txBody>
          <a:bodyPr rtlCol="0" anchor="ctr"/>
          <a:lstStyle/>
          <a:p>
            <a:endParaRPr lang="fr-FR" dirty="0"/>
          </a:p>
        </p:txBody>
      </p:sp>
      <p:sp>
        <p:nvSpPr>
          <p:cNvPr id="110" name="T110"/>
          <p:cNvSpPr txBox="1"/>
          <p:nvPr/>
        </p:nvSpPr>
        <p:spPr>
          <a:xfrm>
            <a:off x="13322300" y="1930400"/>
            <a:ext cx="3810000" cy="635000"/>
          </a:xfrm>
          <a:prstGeom prst="rect">
            <a:avLst/>
          </a:prstGeom>
          <a:noFill/>
        </p:spPr>
        <p:txBody>
          <a:bodyPr wrap="square" lIns="27432" tIns="27432" rIns="27432" bIns="27432" anchor="t">
            <a:noAutofit/>
          </a:bodyPr>
          <a:lstStyle/>
          <a:p>
            <a:pPr algn="l">
              <a:lnSpc>
                <a:spcPct val="110000"/>
              </a:lnSpc>
            </a:pPr>
            <a:r>
              <a:rPr lang="fr-FR" sz="1800" b="1" spc="162" noProof="0" dirty="0">
                <a:solidFill>
                  <a:srgbClr val="6F6F6F"/>
                </a:solidFill>
                <a:latin typeface="Arial"/>
              </a:rPr>
              <a:t>RECOMMANDATIONS</a:t>
            </a:r>
          </a:p>
        </p:txBody>
      </p:sp>
      <p:sp>
        <p:nvSpPr>
          <p:cNvPr id="111" name="R111"/>
          <p:cNvSpPr/>
          <p:nvPr/>
        </p:nvSpPr>
        <p:spPr>
          <a:xfrm>
            <a:off x="13322300" y="2641600"/>
            <a:ext cx="889000" cy="38100"/>
          </a:xfrm>
          <a:prstGeom prst="rect">
            <a:avLst/>
          </a:prstGeom>
          <a:solidFill>
            <a:srgbClr val="56B9CA"/>
          </a:solidFill>
          <a:ln>
            <a:noFill/>
          </a:ln>
        </p:spPr>
        <p:txBody>
          <a:bodyPr rtlCol="0" anchor="ctr"/>
          <a:lstStyle/>
          <a:p>
            <a:endParaRPr lang="fr-FR" dirty="0"/>
          </a:p>
        </p:txBody>
      </p:sp>
      <p:sp>
        <p:nvSpPr>
          <p:cNvPr id="112" name="T112"/>
          <p:cNvSpPr txBox="1"/>
          <p:nvPr/>
        </p:nvSpPr>
        <p:spPr>
          <a:xfrm>
            <a:off x="1054100" y="2895600"/>
            <a:ext cx="3810000" cy="4826000"/>
          </a:xfrm>
          <a:prstGeom prst="rect">
            <a:avLst/>
          </a:prstGeom>
          <a:noFill/>
        </p:spPr>
        <p:txBody>
          <a:bodyPr wrap="square" lIns="27432" tIns="27432" rIns="27432" bIns="27432" anchor="t">
            <a:noAutofit/>
          </a:bodyPr>
          <a:lstStyle/>
          <a:p>
            <a:pPr marL="228600" indent="-228600" algn="l">
              <a:lnSpc>
                <a:spcPct val="118000"/>
              </a:lnSpc>
              <a:spcBef>
                <a:spcPts val="1000"/>
              </a:spcBef>
              <a:buFont typeface="Arial"/>
              <a:buChar char="•"/>
            </a:pPr>
            <a:r>
              <a:rPr lang="fr-FR" sz="1700" b="1" dirty="0">
                <a:solidFill>
                  <a:srgbClr val="1A6A77"/>
                </a:solidFill>
                <a:latin typeface="Arial"/>
              </a:rPr>
              <a:t>Objet — </a:t>
            </a:r>
            <a:r>
              <a:rPr lang="fr-FR" sz="1700" dirty="0">
                <a:solidFill>
                  <a:srgbClr val="4A4A4A"/>
                </a:solidFill>
                <a:latin typeface="Arial"/>
              </a:rPr>
              <a:t>estime, à mi-parcours du premier semestre, la probabilité qu'un étudiant de L1 abandonne, pour déclencher un accompagnement humain.</a:t>
            </a:r>
          </a:p>
          <a:p>
            <a:pPr marL="228600" indent="-228600" algn="l">
              <a:lnSpc>
                <a:spcPct val="118000"/>
              </a:lnSpc>
              <a:spcBef>
                <a:spcPts val="1000"/>
              </a:spcBef>
              <a:buFont typeface="Arial"/>
              <a:buChar char="•"/>
            </a:pPr>
            <a:r>
              <a:rPr lang="fr-FR" sz="1700" b="1" dirty="0">
                <a:solidFill>
                  <a:srgbClr val="1A6A77"/>
                </a:solidFill>
                <a:latin typeface="Arial"/>
              </a:rPr>
              <a:t>Type — </a:t>
            </a:r>
            <a:r>
              <a:rPr lang="fr-FR" sz="1700" dirty="0">
                <a:solidFill>
                  <a:srgbClr val="4A4A4A"/>
                </a:solidFill>
                <a:latin typeface="Arial"/>
              </a:rPr>
              <a:t>deux modèles. Une régression logistique pour la probabilité d'abandon, un gradient boosting pour l'estimation de la note finale.</a:t>
            </a:r>
          </a:p>
          <a:p>
            <a:pPr marL="228600" indent="-228600" algn="l">
              <a:lnSpc>
                <a:spcPct val="118000"/>
              </a:lnSpc>
              <a:spcBef>
                <a:spcPts val="1000"/>
              </a:spcBef>
              <a:buFont typeface="Arial"/>
              <a:buChar char="•"/>
            </a:pPr>
            <a:r>
              <a:rPr lang="fr-FR" sz="1700" b="1" dirty="0">
                <a:solidFill>
                  <a:srgbClr val="1A6A77"/>
                </a:solidFill>
                <a:latin typeface="Arial"/>
              </a:rPr>
              <a:t>Cibles — </a:t>
            </a:r>
            <a:r>
              <a:rPr lang="fr-FR" sz="1700" dirty="0">
                <a:solidFill>
                  <a:srgbClr val="4A4A4A"/>
                </a:solidFill>
                <a:latin typeface="Arial"/>
              </a:rPr>
              <a:t>probabilité d'abandon (principale) et moyenne finale sur 20 (secondaire).</a:t>
            </a:r>
          </a:p>
          <a:p>
            <a:pPr marL="228600" indent="-228600" algn="l">
              <a:lnSpc>
                <a:spcPct val="118000"/>
              </a:lnSpc>
              <a:spcBef>
                <a:spcPts val="1000"/>
              </a:spcBef>
              <a:buFont typeface="Arial"/>
              <a:buChar char="•"/>
            </a:pPr>
            <a:r>
              <a:rPr lang="fr-FR" sz="1700" b="1" dirty="0">
                <a:solidFill>
                  <a:srgbClr val="1A6A77"/>
                </a:solidFill>
                <a:latin typeface="Arial"/>
              </a:rPr>
              <a:t>Responsable — </a:t>
            </a:r>
            <a:r>
              <a:rPr lang="fr-FR" sz="1700" dirty="0">
                <a:solidFill>
                  <a:srgbClr val="4A4A4A"/>
                </a:solidFill>
                <a:latin typeface="Arial"/>
              </a:rPr>
              <a:t>Julien ALBURQUERQUE</a:t>
            </a:r>
          </a:p>
        </p:txBody>
      </p:sp>
      <p:sp>
        <p:nvSpPr>
          <p:cNvPr id="113" name="T113"/>
          <p:cNvSpPr txBox="1"/>
          <p:nvPr/>
        </p:nvSpPr>
        <p:spPr>
          <a:xfrm>
            <a:off x="5143500" y="2895600"/>
            <a:ext cx="3810000" cy="4826000"/>
          </a:xfrm>
          <a:prstGeom prst="rect">
            <a:avLst/>
          </a:prstGeom>
          <a:noFill/>
        </p:spPr>
        <p:txBody>
          <a:bodyPr wrap="square" lIns="27432" tIns="27432" rIns="27432" bIns="27432" anchor="t">
            <a:noAutofit/>
          </a:bodyPr>
          <a:lstStyle/>
          <a:p>
            <a:pPr marL="228600" indent="-228600" algn="l">
              <a:lnSpc>
                <a:spcPct val="118000"/>
              </a:lnSpc>
              <a:spcBef>
                <a:spcPts val="1000"/>
              </a:spcBef>
              <a:buFont typeface="Arial"/>
              <a:buChar char="•"/>
            </a:pPr>
            <a:r>
              <a:rPr lang="fr-FR" sz="1700" b="1" dirty="0">
                <a:solidFill>
                  <a:srgbClr val="1A6A77"/>
                </a:solidFill>
                <a:latin typeface="Arial"/>
              </a:rPr>
              <a:t>Usage direct — </a:t>
            </a:r>
            <a:r>
              <a:rPr lang="fr-FR" sz="1700" dirty="0">
                <a:solidFill>
                  <a:srgbClr val="4A4A4A"/>
                </a:solidFill>
                <a:latin typeface="Arial"/>
              </a:rPr>
              <a:t>prioriser l'accompagnement des étudiants de L1 à mi-semestre.</a:t>
            </a:r>
          </a:p>
          <a:p>
            <a:pPr marL="228600" indent="-228600" algn="l">
              <a:lnSpc>
                <a:spcPct val="118000"/>
              </a:lnSpc>
              <a:spcBef>
                <a:spcPts val="1000"/>
              </a:spcBef>
              <a:buFont typeface="Arial"/>
              <a:buChar char="•"/>
            </a:pPr>
            <a:r>
              <a:rPr lang="fr-FR" sz="1700" b="1" dirty="0">
                <a:solidFill>
                  <a:srgbClr val="1A6A77"/>
                </a:solidFill>
                <a:latin typeface="Arial"/>
              </a:rPr>
              <a:t>Utilisateurs — </a:t>
            </a:r>
            <a:r>
              <a:rPr lang="fr-FR" sz="1700" dirty="0">
                <a:solidFill>
                  <a:srgbClr val="4A4A4A"/>
                </a:solidFill>
                <a:latin typeface="Arial"/>
              </a:rPr>
              <a:t>cellule pédagogique et tuteurs de l'établissement.</a:t>
            </a:r>
          </a:p>
          <a:p>
            <a:pPr marL="228600" indent="-228600" algn="l">
              <a:lnSpc>
                <a:spcPct val="118000"/>
              </a:lnSpc>
              <a:spcBef>
                <a:spcPts val="1000"/>
              </a:spcBef>
              <a:buFont typeface="Arial"/>
              <a:buChar char="•"/>
            </a:pPr>
            <a:r>
              <a:rPr lang="fr-FR" sz="1700" b="1" dirty="0">
                <a:solidFill>
                  <a:srgbClr val="1A6A77"/>
                </a:solidFill>
                <a:latin typeface="Arial"/>
              </a:rPr>
              <a:t>Hors périmètre — </a:t>
            </a:r>
            <a:r>
              <a:rPr lang="fr-FR" sz="1700" dirty="0">
                <a:solidFill>
                  <a:srgbClr val="4A4A4A"/>
                </a:solidFill>
                <a:latin typeface="Arial"/>
              </a:rPr>
              <a:t>aucune décision administrative automatisée : ni orientation, ni sanction, ni sélection.</a:t>
            </a:r>
          </a:p>
          <a:p>
            <a:pPr marL="228600" indent="-228600" algn="l">
              <a:lnSpc>
                <a:spcPct val="118000"/>
              </a:lnSpc>
              <a:spcBef>
                <a:spcPts val="1000"/>
              </a:spcBef>
              <a:buFont typeface="Arial"/>
              <a:buChar char="•"/>
            </a:pPr>
            <a:r>
              <a:rPr lang="fr-FR" sz="1700" b="1" dirty="0">
                <a:solidFill>
                  <a:srgbClr val="1A6A77"/>
                </a:solidFill>
                <a:latin typeface="Arial"/>
              </a:rPr>
              <a:t>Langue et licence — </a:t>
            </a:r>
            <a:r>
              <a:rPr lang="fr-FR" sz="1700" dirty="0">
                <a:solidFill>
                  <a:srgbClr val="4A4A4A"/>
                </a:solidFill>
                <a:latin typeface="Arial"/>
              </a:rPr>
              <a:t>données en français ; usage limité au cadre de la certification CISIA.</a:t>
            </a:r>
          </a:p>
        </p:txBody>
      </p:sp>
      <p:sp>
        <p:nvSpPr>
          <p:cNvPr id="114" name="T114"/>
          <p:cNvSpPr txBox="1"/>
          <p:nvPr/>
        </p:nvSpPr>
        <p:spPr>
          <a:xfrm>
            <a:off x="9232900" y="2895600"/>
            <a:ext cx="3810000" cy="4826000"/>
          </a:xfrm>
          <a:prstGeom prst="rect">
            <a:avLst/>
          </a:prstGeom>
          <a:noFill/>
        </p:spPr>
        <p:txBody>
          <a:bodyPr wrap="square" lIns="27432" tIns="27432" rIns="27432" bIns="27432" anchor="t">
            <a:noAutofit/>
          </a:bodyPr>
          <a:lstStyle/>
          <a:p>
            <a:pPr marL="228600" indent="-228600" algn="l">
              <a:lnSpc>
                <a:spcPct val="118000"/>
              </a:lnSpc>
              <a:spcBef>
                <a:spcPts val="1000"/>
              </a:spcBef>
              <a:buFont typeface="Arial"/>
              <a:buChar char="•"/>
            </a:pPr>
            <a:r>
              <a:rPr lang="fr-FR" sz="1700" dirty="0">
                <a:solidFill>
                  <a:srgbClr val="4A4A4A"/>
                </a:solidFill>
                <a:latin typeface="Arial"/>
              </a:rPr>
              <a:t>Cohorte d'un seul établissement et d'une seule année : généralisation à valider ailleurs.</a:t>
            </a:r>
          </a:p>
          <a:p>
            <a:pPr marL="228600" indent="-228600" algn="l">
              <a:lnSpc>
                <a:spcPct val="118000"/>
              </a:lnSpc>
              <a:spcBef>
                <a:spcPts val="1000"/>
              </a:spcBef>
              <a:buFont typeface="Arial"/>
              <a:buChar char="•"/>
            </a:pPr>
            <a:r>
              <a:rPr lang="fr-FR" sz="1700" dirty="0">
                <a:solidFill>
                  <a:srgbClr val="4A4A4A"/>
                </a:solidFill>
                <a:latin typeface="Arial"/>
              </a:rPr>
              <a:t>Petits sous-groupes non concluants ; modalité « autre » à surveiller en exploitation.</a:t>
            </a:r>
          </a:p>
          <a:p>
            <a:pPr marL="228600" indent="-228600" algn="l">
              <a:lnSpc>
                <a:spcPct val="118000"/>
              </a:lnSpc>
              <a:spcBef>
                <a:spcPts val="1000"/>
              </a:spcBef>
              <a:buFont typeface="Arial"/>
              <a:buChar char="•"/>
            </a:pPr>
            <a:r>
              <a:rPr lang="fr-FR" sz="1700" dirty="0">
                <a:solidFill>
                  <a:srgbClr val="4A4A4A"/>
                </a:solidFill>
                <a:latin typeface="Arial"/>
              </a:rPr>
              <a:t>Aucune variable protégée ni proxy socio-économique en entrée.</a:t>
            </a:r>
          </a:p>
          <a:p>
            <a:pPr marL="228600" indent="-228600" algn="l">
              <a:lnSpc>
                <a:spcPct val="118000"/>
              </a:lnSpc>
              <a:spcBef>
                <a:spcPts val="1000"/>
              </a:spcBef>
              <a:buFont typeface="Arial"/>
              <a:buChar char="•"/>
            </a:pPr>
            <a:r>
              <a:rPr lang="fr-FR" sz="1700" dirty="0">
                <a:solidFill>
                  <a:srgbClr val="4A4A4A"/>
                </a:solidFill>
                <a:latin typeface="Arial"/>
              </a:rPr>
              <a:t>Garde-fous contre la stigmatisation et la prophétie auto-réalisatrice à tenir côté usage.</a:t>
            </a:r>
          </a:p>
        </p:txBody>
      </p:sp>
      <p:sp>
        <p:nvSpPr>
          <p:cNvPr id="115" name="T115"/>
          <p:cNvSpPr txBox="1"/>
          <p:nvPr/>
        </p:nvSpPr>
        <p:spPr>
          <a:xfrm>
            <a:off x="13322300" y="2895600"/>
            <a:ext cx="3810000" cy="4826000"/>
          </a:xfrm>
          <a:prstGeom prst="rect">
            <a:avLst/>
          </a:prstGeom>
          <a:noFill/>
        </p:spPr>
        <p:txBody>
          <a:bodyPr wrap="square" lIns="27432" tIns="27432" rIns="27432" bIns="27432" anchor="t">
            <a:noAutofit/>
          </a:bodyPr>
          <a:lstStyle/>
          <a:p>
            <a:pPr marL="228600" indent="-228600" algn="l">
              <a:lnSpc>
                <a:spcPct val="118000"/>
              </a:lnSpc>
              <a:spcBef>
                <a:spcPts val="1000"/>
              </a:spcBef>
              <a:buFont typeface="Arial"/>
              <a:buChar char="•"/>
            </a:pPr>
            <a:r>
              <a:rPr lang="fr-FR" sz="1700" dirty="0">
                <a:solidFill>
                  <a:srgbClr val="4A4A4A"/>
                </a:solidFill>
                <a:latin typeface="Arial"/>
              </a:rPr>
              <a:t>Conserver la décision d'accompagnement humaine.</a:t>
            </a:r>
          </a:p>
          <a:p>
            <a:pPr marL="228600" indent="-228600" algn="l">
              <a:lnSpc>
                <a:spcPct val="118000"/>
              </a:lnSpc>
              <a:spcBef>
                <a:spcPts val="1000"/>
              </a:spcBef>
              <a:buFont typeface="Arial"/>
              <a:buChar char="•"/>
            </a:pPr>
            <a:r>
              <a:rPr lang="fr-FR" sz="1700" dirty="0">
                <a:solidFill>
                  <a:srgbClr val="4A4A4A"/>
                </a:solidFill>
                <a:latin typeface="Arial"/>
              </a:rPr>
              <a:t>Ne jamais exposer la seule classe binaire à l'utilisateur.</a:t>
            </a:r>
          </a:p>
          <a:p>
            <a:pPr marL="228600" indent="-228600" algn="l">
              <a:lnSpc>
                <a:spcPct val="118000"/>
              </a:lnSpc>
              <a:spcBef>
                <a:spcPts val="1000"/>
              </a:spcBef>
              <a:buFont typeface="Arial"/>
              <a:buChar char="•"/>
            </a:pPr>
            <a:r>
              <a:rPr lang="fr-FR" sz="1700" dirty="0">
                <a:solidFill>
                  <a:srgbClr val="4A4A4A"/>
                </a:solidFill>
                <a:latin typeface="Arial"/>
              </a:rPr>
              <a:t>Rappeler l'avertissement de l'article 22 dans la documentation et dans l'outil.</a:t>
            </a:r>
          </a:p>
          <a:p>
            <a:pPr marL="228600" indent="-228600" algn="l">
              <a:lnSpc>
                <a:spcPct val="118000"/>
              </a:lnSpc>
              <a:spcBef>
                <a:spcPts val="1000"/>
              </a:spcBef>
              <a:buFont typeface="Arial"/>
              <a:buChar char="•"/>
            </a:pPr>
            <a:r>
              <a:rPr lang="fr-FR" sz="1700" dirty="0">
                <a:solidFill>
                  <a:srgbClr val="4A4A4A"/>
                </a:solidFill>
                <a:latin typeface="Arial"/>
              </a:rPr>
              <a:t>Suivre la dérive des entrées à chaque campagne et demander un ré-entraînement quand elle se confirme.</a:t>
            </a:r>
          </a:p>
        </p:txBody>
      </p:sp>
      <p:sp>
        <p:nvSpPr>
          <p:cNvPr id="116" name="R116"/>
          <p:cNvSpPr/>
          <p:nvPr/>
        </p:nvSpPr>
        <p:spPr>
          <a:xfrm>
            <a:off x="1054100" y="8299450"/>
            <a:ext cx="16192500" cy="965200"/>
          </a:xfrm>
          <a:prstGeom prst="roundRect">
            <a:avLst>
              <a:gd name="adj" fmla="val 8700"/>
            </a:avLst>
          </a:prstGeom>
          <a:solidFill>
            <a:srgbClr val="E4F3F7"/>
          </a:solidFill>
          <a:ln>
            <a:noFill/>
          </a:ln>
        </p:spPr>
        <p:txBody>
          <a:bodyPr rtlCol="0" anchor="ctr"/>
          <a:lstStyle/>
          <a:p>
            <a:endParaRPr lang="fr-FR" dirty="0"/>
          </a:p>
        </p:txBody>
      </p:sp>
      <p:sp>
        <p:nvSpPr>
          <p:cNvPr id="117" name="T117"/>
          <p:cNvSpPr txBox="1"/>
          <p:nvPr/>
        </p:nvSpPr>
        <p:spPr>
          <a:xfrm>
            <a:off x="1282700" y="8553450"/>
            <a:ext cx="15748000" cy="508000"/>
          </a:xfrm>
          <a:prstGeom prst="rect">
            <a:avLst/>
          </a:prstGeom>
          <a:noFill/>
        </p:spPr>
        <p:txBody>
          <a:bodyPr wrap="square" lIns="27432" tIns="27432" rIns="27432" bIns="27432" anchor="t">
            <a:noAutofit/>
          </a:bodyPr>
          <a:lstStyle/>
          <a:p>
            <a:pPr algn="ctr">
              <a:lnSpc>
                <a:spcPct val="110000"/>
              </a:lnSpc>
            </a:pPr>
            <a:r>
              <a:rPr lang="fr-FR" sz="1800" b="1" noProof="0" dirty="0">
                <a:solidFill>
                  <a:srgbClr val="1A6A77"/>
                </a:solidFill>
                <a:latin typeface="Arial"/>
              </a:rPr>
              <a:t>Aide à la décision : la sortie est une probabilité, jamais une classe ni une décision — l'accompagnement reste décidé par l'humain.</a:t>
            </a:r>
          </a:p>
        </p:txBody>
      </p:sp>
      <p:sp>
        <p:nvSpPr>
          <p:cNvPr id="118" name="T118"/>
          <p:cNvSpPr txBox="1"/>
          <p:nvPr/>
        </p:nvSpPr>
        <p:spPr>
          <a:xfrm>
            <a:off x="1054100" y="9461500"/>
            <a:ext cx="13970000" cy="355600"/>
          </a:xfrm>
          <a:prstGeom prst="rect">
            <a:avLst/>
          </a:prstGeom>
          <a:noFill/>
        </p:spPr>
        <p:txBody>
          <a:bodyPr wrap="square" lIns="27432" tIns="27432" rIns="27432" bIns="27432" anchor="t">
            <a:noAutofit/>
          </a:bodyPr>
          <a:lstStyle/>
          <a:p>
            <a:pPr algn="l"/>
            <a:r>
              <a:rPr lang="fr-FR" b="0" noProof="0" dirty="0">
                <a:solidFill>
                  <a:srgbClr val="6F6F6F"/>
                </a:solidFill>
                <a:latin typeface="Arial"/>
              </a:rPr>
              <a:t>Annexe A3 · source : model_card.md</a:t>
            </a:r>
          </a:p>
        </p:txBody>
      </p:sp>
      <p:sp>
        <p:nvSpPr>
          <p:cNvPr id="119" name="T119"/>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45</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65934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500000"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Annexe A3 : Model Card — données, évaluation, technique (2/2)</a:t>
            </a:r>
          </a:p>
        </p:txBody>
      </p:sp>
      <p:sp>
        <p:nvSpPr>
          <p:cNvPr id="104" name="T104"/>
          <p:cNvSpPr txBox="1"/>
          <p:nvPr/>
        </p:nvSpPr>
        <p:spPr>
          <a:xfrm>
            <a:off x="1054100" y="1930400"/>
            <a:ext cx="3810000" cy="635000"/>
          </a:xfrm>
          <a:prstGeom prst="rect">
            <a:avLst/>
          </a:prstGeom>
          <a:noFill/>
        </p:spPr>
        <p:txBody>
          <a:bodyPr wrap="square" lIns="27432" tIns="27432" rIns="27432" bIns="27432" anchor="t">
            <a:noAutofit/>
          </a:bodyPr>
          <a:lstStyle/>
          <a:p>
            <a:pPr algn="l">
              <a:lnSpc>
                <a:spcPct val="110000"/>
              </a:lnSpc>
            </a:pPr>
            <a:r>
              <a:rPr lang="fr-FR" sz="1800" b="1" spc="162" noProof="0" dirty="0">
                <a:solidFill>
                  <a:srgbClr val="6F6F6F"/>
                </a:solidFill>
                <a:latin typeface="Arial"/>
              </a:rPr>
              <a:t>DONNÉES D'ENTRAÎNEMENT</a:t>
            </a:r>
          </a:p>
        </p:txBody>
      </p:sp>
      <p:sp>
        <p:nvSpPr>
          <p:cNvPr id="105" name="R105"/>
          <p:cNvSpPr/>
          <p:nvPr/>
        </p:nvSpPr>
        <p:spPr>
          <a:xfrm>
            <a:off x="1054100" y="2641600"/>
            <a:ext cx="889000" cy="38100"/>
          </a:xfrm>
          <a:prstGeom prst="rect">
            <a:avLst/>
          </a:prstGeom>
          <a:solidFill>
            <a:srgbClr val="56B9CA"/>
          </a:solidFill>
          <a:ln>
            <a:noFill/>
          </a:ln>
        </p:spPr>
        <p:txBody>
          <a:bodyPr rtlCol="0" anchor="ctr"/>
          <a:lstStyle/>
          <a:p>
            <a:endParaRPr lang="fr-FR" dirty="0"/>
          </a:p>
        </p:txBody>
      </p:sp>
      <p:sp>
        <p:nvSpPr>
          <p:cNvPr id="106" name="T106"/>
          <p:cNvSpPr txBox="1"/>
          <p:nvPr/>
        </p:nvSpPr>
        <p:spPr>
          <a:xfrm>
            <a:off x="5143500" y="1930400"/>
            <a:ext cx="3810000" cy="635000"/>
          </a:xfrm>
          <a:prstGeom prst="rect">
            <a:avLst/>
          </a:prstGeom>
          <a:noFill/>
        </p:spPr>
        <p:txBody>
          <a:bodyPr wrap="square" lIns="27432" tIns="27432" rIns="27432" bIns="27432" anchor="t">
            <a:noAutofit/>
          </a:bodyPr>
          <a:lstStyle/>
          <a:p>
            <a:pPr algn="l">
              <a:lnSpc>
                <a:spcPct val="110000"/>
              </a:lnSpc>
            </a:pPr>
            <a:r>
              <a:rPr lang="fr-FR" sz="1800" b="1" spc="162" noProof="0" dirty="0">
                <a:solidFill>
                  <a:srgbClr val="6F6F6F"/>
                </a:solidFill>
                <a:latin typeface="Arial"/>
              </a:rPr>
              <a:t>PROTOCOLE D'ÉVALUATION</a:t>
            </a:r>
          </a:p>
        </p:txBody>
      </p:sp>
      <p:sp>
        <p:nvSpPr>
          <p:cNvPr id="107" name="R107"/>
          <p:cNvSpPr/>
          <p:nvPr/>
        </p:nvSpPr>
        <p:spPr>
          <a:xfrm>
            <a:off x="5143500" y="2641600"/>
            <a:ext cx="889000" cy="38100"/>
          </a:xfrm>
          <a:prstGeom prst="rect">
            <a:avLst/>
          </a:prstGeom>
          <a:solidFill>
            <a:srgbClr val="56B9CA"/>
          </a:solidFill>
          <a:ln>
            <a:noFill/>
          </a:ln>
        </p:spPr>
        <p:txBody>
          <a:bodyPr rtlCol="0" anchor="ctr"/>
          <a:lstStyle/>
          <a:p>
            <a:endParaRPr lang="fr-FR" dirty="0"/>
          </a:p>
        </p:txBody>
      </p:sp>
      <p:sp>
        <p:nvSpPr>
          <p:cNvPr id="108" name="T108"/>
          <p:cNvSpPr txBox="1"/>
          <p:nvPr/>
        </p:nvSpPr>
        <p:spPr>
          <a:xfrm>
            <a:off x="9232900" y="1930400"/>
            <a:ext cx="3810000" cy="635000"/>
          </a:xfrm>
          <a:prstGeom prst="rect">
            <a:avLst/>
          </a:prstGeom>
          <a:noFill/>
        </p:spPr>
        <p:txBody>
          <a:bodyPr wrap="square" lIns="27432" tIns="27432" rIns="27432" bIns="27432" anchor="t">
            <a:noAutofit/>
          </a:bodyPr>
          <a:lstStyle/>
          <a:p>
            <a:pPr algn="l">
              <a:lnSpc>
                <a:spcPct val="110000"/>
              </a:lnSpc>
            </a:pPr>
            <a:r>
              <a:rPr lang="fr-FR" sz="1800" b="1" spc="162" noProof="0" dirty="0">
                <a:solidFill>
                  <a:srgbClr val="6F6F6F"/>
                </a:solidFill>
                <a:latin typeface="Arial"/>
              </a:rPr>
              <a:t>MÉTRIQUES OBTENUES</a:t>
            </a:r>
          </a:p>
        </p:txBody>
      </p:sp>
      <p:sp>
        <p:nvSpPr>
          <p:cNvPr id="109" name="R109"/>
          <p:cNvSpPr/>
          <p:nvPr/>
        </p:nvSpPr>
        <p:spPr>
          <a:xfrm>
            <a:off x="9232900" y="2641600"/>
            <a:ext cx="889000" cy="38100"/>
          </a:xfrm>
          <a:prstGeom prst="rect">
            <a:avLst/>
          </a:prstGeom>
          <a:solidFill>
            <a:srgbClr val="56B9CA"/>
          </a:solidFill>
          <a:ln>
            <a:noFill/>
          </a:ln>
        </p:spPr>
        <p:txBody>
          <a:bodyPr rtlCol="0" anchor="ctr"/>
          <a:lstStyle/>
          <a:p>
            <a:endParaRPr lang="fr-FR" dirty="0"/>
          </a:p>
        </p:txBody>
      </p:sp>
      <p:sp>
        <p:nvSpPr>
          <p:cNvPr id="110" name="T110"/>
          <p:cNvSpPr txBox="1"/>
          <p:nvPr/>
        </p:nvSpPr>
        <p:spPr>
          <a:xfrm>
            <a:off x="13322300" y="1930400"/>
            <a:ext cx="3810000" cy="635000"/>
          </a:xfrm>
          <a:prstGeom prst="rect">
            <a:avLst/>
          </a:prstGeom>
          <a:noFill/>
        </p:spPr>
        <p:txBody>
          <a:bodyPr wrap="square" lIns="27432" tIns="27432" rIns="27432" bIns="27432" anchor="t">
            <a:noAutofit/>
          </a:bodyPr>
          <a:lstStyle/>
          <a:p>
            <a:pPr algn="l">
              <a:lnSpc>
                <a:spcPct val="110000"/>
              </a:lnSpc>
            </a:pPr>
            <a:r>
              <a:rPr lang="fr-FR" sz="1800" b="1" spc="162" noProof="0" dirty="0">
                <a:solidFill>
                  <a:srgbClr val="6F6F6F"/>
                </a:solidFill>
                <a:latin typeface="Arial"/>
              </a:rPr>
              <a:t>ÉQUITÉ ET TECHNIQUE</a:t>
            </a:r>
          </a:p>
        </p:txBody>
      </p:sp>
      <p:sp>
        <p:nvSpPr>
          <p:cNvPr id="111" name="R111"/>
          <p:cNvSpPr/>
          <p:nvPr/>
        </p:nvSpPr>
        <p:spPr>
          <a:xfrm>
            <a:off x="13322300" y="2641600"/>
            <a:ext cx="889000" cy="38100"/>
          </a:xfrm>
          <a:prstGeom prst="rect">
            <a:avLst/>
          </a:prstGeom>
          <a:solidFill>
            <a:srgbClr val="56B9CA"/>
          </a:solidFill>
          <a:ln>
            <a:noFill/>
          </a:ln>
        </p:spPr>
        <p:txBody>
          <a:bodyPr rtlCol="0" anchor="ctr"/>
          <a:lstStyle/>
          <a:p>
            <a:endParaRPr lang="fr-FR" dirty="0"/>
          </a:p>
        </p:txBody>
      </p:sp>
      <p:sp>
        <p:nvSpPr>
          <p:cNvPr id="112" name="T112"/>
          <p:cNvSpPr txBox="1"/>
          <p:nvPr/>
        </p:nvSpPr>
        <p:spPr>
          <a:xfrm>
            <a:off x="1054100" y="2895600"/>
            <a:ext cx="3810000" cy="4318000"/>
          </a:xfrm>
          <a:prstGeom prst="rect">
            <a:avLst/>
          </a:prstGeom>
          <a:noFill/>
        </p:spPr>
        <p:txBody>
          <a:bodyPr wrap="square" lIns="27432" tIns="27432" rIns="27432" bIns="27432" anchor="t">
            <a:noAutofit/>
          </a:bodyPr>
          <a:lstStyle/>
          <a:p>
            <a:pPr marL="228600" indent="-228600" algn="l">
              <a:lnSpc>
                <a:spcPct val="118000"/>
              </a:lnSpc>
              <a:spcBef>
                <a:spcPts val="1000"/>
              </a:spcBef>
              <a:buFont typeface="Arial"/>
              <a:buChar char="•"/>
            </a:pPr>
            <a:r>
              <a:rPr lang="fr-FR" sz="1700" dirty="0">
                <a:solidFill>
                  <a:srgbClr val="4A4A4A"/>
                </a:solidFill>
                <a:latin typeface="Arial"/>
              </a:rPr>
              <a:t>Cohorte L1, jeu « gold » nettoyé et validé : 4 160 étudiants au train, 28,4 % d'abandons.</a:t>
            </a:r>
          </a:p>
          <a:p>
            <a:pPr marL="228600" indent="-228600" algn="l">
              <a:lnSpc>
                <a:spcPct val="118000"/>
              </a:lnSpc>
              <a:spcBef>
                <a:spcPts val="1000"/>
              </a:spcBef>
              <a:buFont typeface="Arial"/>
              <a:buChar char="•"/>
            </a:pPr>
            <a:r>
              <a:rPr lang="fr-FR" sz="1700" dirty="0">
                <a:solidFill>
                  <a:srgbClr val="4A4A4A"/>
                </a:solidFill>
                <a:latin typeface="Arial"/>
              </a:rPr>
              <a:t>Variables connues à mi-semestre uniquement, sans fuite temporelle.</a:t>
            </a:r>
          </a:p>
          <a:p>
            <a:pPr marL="228600" indent="-228600" algn="l">
              <a:lnSpc>
                <a:spcPct val="118000"/>
              </a:lnSpc>
              <a:spcBef>
                <a:spcPts val="1000"/>
              </a:spcBef>
              <a:buFont typeface="Arial"/>
              <a:buChar char="•"/>
            </a:pPr>
            <a:r>
              <a:rPr lang="fr-FR" sz="1700" dirty="0">
                <a:solidFill>
                  <a:srgbClr val="4A4A4A"/>
                </a:solidFill>
                <a:latin typeface="Arial"/>
              </a:rPr>
              <a:t>Attributs protégés — sexe, boursier — exclus du modèle, conservés hors modèle pour l'audit d'équité.</a:t>
            </a:r>
          </a:p>
        </p:txBody>
      </p:sp>
      <p:sp>
        <p:nvSpPr>
          <p:cNvPr id="113" name="T113"/>
          <p:cNvSpPr txBox="1"/>
          <p:nvPr/>
        </p:nvSpPr>
        <p:spPr>
          <a:xfrm>
            <a:off x="5143500" y="2895600"/>
            <a:ext cx="3810000" cy="4318000"/>
          </a:xfrm>
          <a:prstGeom prst="rect">
            <a:avLst/>
          </a:prstGeom>
          <a:noFill/>
        </p:spPr>
        <p:txBody>
          <a:bodyPr wrap="square" lIns="27432" tIns="27432" rIns="27432" bIns="27432" anchor="t">
            <a:noAutofit/>
          </a:bodyPr>
          <a:lstStyle/>
          <a:p>
            <a:pPr marL="228600" indent="-228600" algn="l">
              <a:lnSpc>
                <a:spcPct val="118000"/>
              </a:lnSpc>
              <a:spcBef>
                <a:spcPts val="1000"/>
              </a:spcBef>
              <a:buFont typeface="Arial"/>
              <a:buChar char="•"/>
            </a:pPr>
            <a:r>
              <a:rPr lang="fr-FR" sz="1700" dirty="0">
                <a:solidFill>
                  <a:srgbClr val="4A4A4A"/>
                </a:solidFill>
                <a:latin typeface="Arial"/>
              </a:rPr>
              <a:t>Test scellé : 20 % du jeu, jamais vu à l'entraînement, ouvert en une seule passe.</a:t>
            </a:r>
          </a:p>
          <a:p>
            <a:pPr marL="228600" indent="-228600" algn="l">
              <a:lnSpc>
                <a:spcPct val="118000"/>
              </a:lnSpc>
              <a:spcBef>
                <a:spcPts val="1000"/>
              </a:spcBef>
              <a:buFont typeface="Arial"/>
              <a:buChar char="•"/>
            </a:pPr>
            <a:r>
              <a:rPr lang="fr-FR" sz="1700" dirty="0">
                <a:solidFill>
                  <a:srgbClr val="4A4A4A"/>
                </a:solidFill>
                <a:latin typeface="Arial"/>
              </a:rPr>
              <a:t>Seuil et hyperparamètres figés sur le train avant l'ouverture du test.</a:t>
            </a:r>
          </a:p>
          <a:p>
            <a:pPr marL="228600" indent="-228600" algn="l">
              <a:lnSpc>
                <a:spcPct val="118000"/>
              </a:lnSpc>
              <a:spcBef>
                <a:spcPts val="1000"/>
              </a:spcBef>
              <a:buFont typeface="Arial"/>
              <a:buChar char="•"/>
            </a:pPr>
            <a:r>
              <a:rPr lang="fr-FR" sz="1700" dirty="0">
                <a:solidFill>
                  <a:srgbClr val="4A4A4A"/>
                </a:solidFill>
                <a:latin typeface="Arial"/>
              </a:rPr>
              <a:t>Probabilités non recalibrées : la régression logistique est déjà fiable.</a:t>
            </a:r>
          </a:p>
        </p:txBody>
      </p:sp>
      <p:sp>
        <p:nvSpPr>
          <p:cNvPr id="114" name="R114"/>
          <p:cNvSpPr/>
          <p:nvPr/>
        </p:nvSpPr>
        <p:spPr>
          <a:xfrm>
            <a:off x="9232900" y="2946400"/>
            <a:ext cx="3810000" cy="9525"/>
          </a:xfrm>
          <a:prstGeom prst="rect">
            <a:avLst/>
          </a:prstGeom>
          <a:solidFill>
            <a:srgbClr val="E2E8F0"/>
          </a:solidFill>
          <a:ln>
            <a:noFill/>
          </a:ln>
        </p:spPr>
        <p:txBody>
          <a:bodyPr rtlCol="0" anchor="ctr"/>
          <a:lstStyle/>
          <a:p>
            <a:endParaRPr lang="fr-FR" dirty="0"/>
          </a:p>
        </p:txBody>
      </p:sp>
      <p:sp>
        <p:nvSpPr>
          <p:cNvPr id="115" name="T115"/>
          <p:cNvSpPr txBox="1"/>
          <p:nvPr/>
        </p:nvSpPr>
        <p:spPr>
          <a:xfrm>
            <a:off x="9232900" y="3022600"/>
            <a:ext cx="2413000" cy="457200"/>
          </a:xfrm>
          <a:prstGeom prst="rect">
            <a:avLst/>
          </a:prstGeom>
          <a:noFill/>
        </p:spPr>
        <p:txBody>
          <a:bodyPr wrap="square" lIns="27432" tIns="27432" rIns="27432" bIns="27432" anchor="t">
            <a:noAutofit/>
          </a:bodyPr>
          <a:lstStyle/>
          <a:p>
            <a:pPr algn="l">
              <a:lnSpc>
                <a:spcPct val="105000"/>
              </a:lnSpc>
            </a:pPr>
            <a:r>
              <a:rPr lang="fr-FR" sz="1700" b="0" noProof="0" dirty="0">
                <a:solidFill>
                  <a:srgbClr val="4A4A4A"/>
                </a:solidFill>
                <a:latin typeface="Arial"/>
              </a:rPr>
              <a:t>PR-AUC (abandon)</a:t>
            </a:r>
          </a:p>
        </p:txBody>
      </p:sp>
      <p:sp>
        <p:nvSpPr>
          <p:cNvPr id="116" name="T116"/>
          <p:cNvSpPr txBox="1"/>
          <p:nvPr/>
        </p:nvSpPr>
        <p:spPr>
          <a:xfrm>
            <a:off x="11645900" y="3022600"/>
            <a:ext cx="1397000" cy="457200"/>
          </a:xfrm>
          <a:prstGeom prst="rect">
            <a:avLst/>
          </a:prstGeom>
          <a:noFill/>
        </p:spPr>
        <p:txBody>
          <a:bodyPr wrap="square" lIns="27432" tIns="27432" rIns="27432" bIns="27432" anchor="t">
            <a:noAutofit/>
          </a:bodyPr>
          <a:lstStyle/>
          <a:p>
            <a:pPr algn="r">
              <a:lnSpc>
                <a:spcPct val="105000"/>
              </a:lnSpc>
            </a:pPr>
            <a:r>
              <a:rPr lang="fr-FR" sz="1700" b="1" noProof="0" dirty="0">
                <a:solidFill>
                  <a:srgbClr val="1A6A77"/>
                </a:solidFill>
                <a:latin typeface="Arial"/>
              </a:rPr>
              <a:t>0,872</a:t>
            </a:r>
          </a:p>
        </p:txBody>
      </p:sp>
      <p:sp>
        <p:nvSpPr>
          <p:cNvPr id="117" name="R117"/>
          <p:cNvSpPr/>
          <p:nvPr/>
        </p:nvSpPr>
        <p:spPr>
          <a:xfrm>
            <a:off x="9232900" y="3657600"/>
            <a:ext cx="3810000" cy="9525"/>
          </a:xfrm>
          <a:prstGeom prst="rect">
            <a:avLst/>
          </a:prstGeom>
          <a:solidFill>
            <a:srgbClr val="E2E8F0"/>
          </a:solidFill>
          <a:ln>
            <a:noFill/>
          </a:ln>
        </p:spPr>
        <p:txBody>
          <a:bodyPr rtlCol="0" anchor="ctr"/>
          <a:lstStyle/>
          <a:p>
            <a:endParaRPr lang="fr-FR" dirty="0"/>
          </a:p>
        </p:txBody>
      </p:sp>
      <p:sp>
        <p:nvSpPr>
          <p:cNvPr id="118" name="T118"/>
          <p:cNvSpPr txBox="1"/>
          <p:nvPr/>
        </p:nvSpPr>
        <p:spPr>
          <a:xfrm>
            <a:off x="9232900" y="3733800"/>
            <a:ext cx="2413000" cy="457200"/>
          </a:xfrm>
          <a:prstGeom prst="rect">
            <a:avLst/>
          </a:prstGeom>
          <a:noFill/>
        </p:spPr>
        <p:txBody>
          <a:bodyPr wrap="square" lIns="27432" tIns="27432" rIns="27432" bIns="27432" anchor="t">
            <a:noAutofit/>
          </a:bodyPr>
          <a:lstStyle/>
          <a:p>
            <a:pPr algn="l">
              <a:lnSpc>
                <a:spcPct val="105000"/>
              </a:lnSpc>
            </a:pPr>
            <a:r>
              <a:rPr lang="fr-FR" sz="1700" b="0" noProof="0" dirty="0">
                <a:solidFill>
                  <a:srgbClr val="4A4A4A"/>
                </a:solidFill>
                <a:latin typeface="Arial"/>
              </a:rPr>
              <a:t>ROC-AUC (abandon)</a:t>
            </a:r>
          </a:p>
        </p:txBody>
      </p:sp>
      <p:sp>
        <p:nvSpPr>
          <p:cNvPr id="119" name="T119"/>
          <p:cNvSpPr txBox="1"/>
          <p:nvPr/>
        </p:nvSpPr>
        <p:spPr>
          <a:xfrm>
            <a:off x="11645900" y="3733800"/>
            <a:ext cx="1397000" cy="457200"/>
          </a:xfrm>
          <a:prstGeom prst="rect">
            <a:avLst/>
          </a:prstGeom>
          <a:noFill/>
        </p:spPr>
        <p:txBody>
          <a:bodyPr wrap="square" lIns="27432" tIns="27432" rIns="27432" bIns="27432" anchor="t">
            <a:noAutofit/>
          </a:bodyPr>
          <a:lstStyle/>
          <a:p>
            <a:pPr algn="r">
              <a:lnSpc>
                <a:spcPct val="105000"/>
              </a:lnSpc>
            </a:pPr>
            <a:r>
              <a:rPr lang="fr-FR" sz="1700" b="1" noProof="0" dirty="0">
                <a:solidFill>
                  <a:srgbClr val="1A6A77"/>
                </a:solidFill>
                <a:latin typeface="Arial"/>
              </a:rPr>
              <a:t>0,945</a:t>
            </a:r>
          </a:p>
        </p:txBody>
      </p:sp>
      <p:sp>
        <p:nvSpPr>
          <p:cNvPr id="120" name="R120"/>
          <p:cNvSpPr/>
          <p:nvPr/>
        </p:nvSpPr>
        <p:spPr>
          <a:xfrm>
            <a:off x="9232900" y="4368800"/>
            <a:ext cx="3810000" cy="9525"/>
          </a:xfrm>
          <a:prstGeom prst="rect">
            <a:avLst/>
          </a:prstGeom>
          <a:solidFill>
            <a:srgbClr val="E2E8F0"/>
          </a:solidFill>
          <a:ln>
            <a:noFill/>
          </a:ln>
        </p:spPr>
        <p:txBody>
          <a:bodyPr rtlCol="0" anchor="ctr"/>
          <a:lstStyle/>
          <a:p>
            <a:endParaRPr lang="fr-FR" dirty="0"/>
          </a:p>
        </p:txBody>
      </p:sp>
      <p:sp>
        <p:nvSpPr>
          <p:cNvPr id="121" name="T121"/>
          <p:cNvSpPr txBox="1"/>
          <p:nvPr/>
        </p:nvSpPr>
        <p:spPr>
          <a:xfrm>
            <a:off x="9232900" y="4445000"/>
            <a:ext cx="2413000" cy="457200"/>
          </a:xfrm>
          <a:prstGeom prst="rect">
            <a:avLst/>
          </a:prstGeom>
          <a:noFill/>
        </p:spPr>
        <p:txBody>
          <a:bodyPr wrap="square" lIns="27432" tIns="27432" rIns="27432" bIns="27432" anchor="t">
            <a:noAutofit/>
          </a:bodyPr>
          <a:lstStyle/>
          <a:p>
            <a:pPr algn="l">
              <a:lnSpc>
                <a:spcPct val="105000"/>
              </a:lnSpc>
            </a:pPr>
            <a:r>
              <a:rPr lang="fr-FR" sz="1700" b="0" noProof="0" dirty="0">
                <a:solidFill>
                  <a:srgbClr val="4A4A4A"/>
                </a:solidFill>
                <a:latin typeface="Arial"/>
              </a:rPr>
              <a:t>Rappel au seuil 0,42</a:t>
            </a:r>
          </a:p>
        </p:txBody>
      </p:sp>
      <p:sp>
        <p:nvSpPr>
          <p:cNvPr id="122" name="T122"/>
          <p:cNvSpPr txBox="1"/>
          <p:nvPr/>
        </p:nvSpPr>
        <p:spPr>
          <a:xfrm>
            <a:off x="11645900" y="4445000"/>
            <a:ext cx="1397000" cy="457200"/>
          </a:xfrm>
          <a:prstGeom prst="rect">
            <a:avLst/>
          </a:prstGeom>
          <a:noFill/>
        </p:spPr>
        <p:txBody>
          <a:bodyPr wrap="square" lIns="27432" tIns="27432" rIns="27432" bIns="27432" anchor="t">
            <a:noAutofit/>
          </a:bodyPr>
          <a:lstStyle/>
          <a:p>
            <a:pPr algn="r">
              <a:lnSpc>
                <a:spcPct val="105000"/>
              </a:lnSpc>
            </a:pPr>
            <a:r>
              <a:rPr lang="fr-FR" sz="1700" b="1" noProof="0" dirty="0">
                <a:solidFill>
                  <a:srgbClr val="1A6A77"/>
                </a:solidFill>
                <a:latin typeface="Arial"/>
              </a:rPr>
              <a:t>79 %</a:t>
            </a:r>
          </a:p>
        </p:txBody>
      </p:sp>
      <p:sp>
        <p:nvSpPr>
          <p:cNvPr id="123" name="R123"/>
          <p:cNvSpPr/>
          <p:nvPr/>
        </p:nvSpPr>
        <p:spPr>
          <a:xfrm>
            <a:off x="9232900" y="5080000"/>
            <a:ext cx="3810000" cy="9525"/>
          </a:xfrm>
          <a:prstGeom prst="rect">
            <a:avLst/>
          </a:prstGeom>
          <a:solidFill>
            <a:srgbClr val="E2E8F0"/>
          </a:solidFill>
          <a:ln>
            <a:noFill/>
          </a:ln>
        </p:spPr>
        <p:txBody>
          <a:bodyPr rtlCol="0" anchor="ctr"/>
          <a:lstStyle/>
          <a:p>
            <a:endParaRPr lang="fr-FR" dirty="0"/>
          </a:p>
        </p:txBody>
      </p:sp>
      <p:sp>
        <p:nvSpPr>
          <p:cNvPr id="124" name="T124"/>
          <p:cNvSpPr txBox="1"/>
          <p:nvPr/>
        </p:nvSpPr>
        <p:spPr>
          <a:xfrm>
            <a:off x="9232900" y="5156200"/>
            <a:ext cx="2413000" cy="457200"/>
          </a:xfrm>
          <a:prstGeom prst="rect">
            <a:avLst/>
          </a:prstGeom>
          <a:noFill/>
        </p:spPr>
        <p:txBody>
          <a:bodyPr wrap="square" lIns="27432" tIns="27432" rIns="27432" bIns="27432" anchor="t">
            <a:noAutofit/>
          </a:bodyPr>
          <a:lstStyle/>
          <a:p>
            <a:pPr algn="l">
              <a:lnSpc>
                <a:spcPct val="105000"/>
              </a:lnSpc>
            </a:pPr>
            <a:r>
              <a:rPr lang="fr-FR" sz="1700" b="0" noProof="0" dirty="0">
                <a:solidFill>
                  <a:srgbClr val="4A4A4A"/>
                </a:solidFill>
                <a:latin typeface="Arial"/>
              </a:rPr>
              <a:t>Précision au seuil 0,42</a:t>
            </a:r>
          </a:p>
        </p:txBody>
      </p:sp>
      <p:sp>
        <p:nvSpPr>
          <p:cNvPr id="125" name="T125"/>
          <p:cNvSpPr txBox="1"/>
          <p:nvPr/>
        </p:nvSpPr>
        <p:spPr>
          <a:xfrm>
            <a:off x="11645900" y="5156200"/>
            <a:ext cx="1397000" cy="457200"/>
          </a:xfrm>
          <a:prstGeom prst="rect">
            <a:avLst/>
          </a:prstGeom>
          <a:noFill/>
        </p:spPr>
        <p:txBody>
          <a:bodyPr wrap="square" lIns="27432" tIns="27432" rIns="27432" bIns="27432" anchor="t">
            <a:noAutofit/>
          </a:bodyPr>
          <a:lstStyle/>
          <a:p>
            <a:pPr algn="r">
              <a:lnSpc>
                <a:spcPct val="105000"/>
              </a:lnSpc>
            </a:pPr>
            <a:r>
              <a:rPr lang="fr-FR" sz="1700" b="1" noProof="0" dirty="0">
                <a:solidFill>
                  <a:srgbClr val="1A6A77"/>
                </a:solidFill>
                <a:latin typeface="Arial"/>
              </a:rPr>
              <a:t>77 %</a:t>
            </a:r>
          </a:p>
        </p:txBody>
      </p:sp>
      <p:sp>
        <p:nvSpPr>
          <p:cNvPr id="126" name="R126"/>
          <p:cNvSpPr/>
          <p:nvPr/>
        </p:nvSpPr>
        <p:spPr>
          <a:xfrm>
            <a:off x="9232900" y="5791200"/>
            <a:ext cx="3810000" cy="9525"/>
          </a:xfrm>
          <a:prstGeom prst="rect">
            <a:avLst/>
          </a:prstGeom>
          <a:solidFill>
            <a:srgbClr val="E2E8F0"/>
          </a:solidFill>
          <a:ln>
            <a:noFill/>
          </a:ln>
        </p:spPr>
        <p:txBody>
          <a:bodyPr rtlCol="0" anchor="ctr"/>
          <a:lstStyle/>
          <a:p>
            <a:endParaRPr lang="fr-FR" dirty="0"/>
          </a:p>
        </p:txBody>
      </p:sp>
      <p:sp>
        <p:nvSpPr>
          <p:cNvPr id="127" name="T127"/>
          <p:cNvSpPr txBox="1"/>
          <p:nvPr/>
        </p:nvSpPr>
        <p:spPr>
          <a:xfrm>
            <a:off x="9232900" y="5867400"/>
            <a:ext cx="2413000" cy="457200"/>
          </a:xfrm>
          <a:prstGeom prst="rect">
            <a:avLst/>
          </a:prstGeom>
          <a:noFill/>
        </p:spPr>
        <p:txBody>
          <a:bodyPr wrap="square" lIns="27432" tIns="27432" rIns="27432" bIns="27432" anchor="t">
            <a:noAutofit/>
          </a:bodyPr>
          <a:lstStyle/>
          <a:p>
            <a:pPr algn="l">
              <a:lnSpc>
                <a:spcPct val="105000"/>
              </a:lnSpc>
            </a:pPr>
            <a:r>
              <a:rPr lang="fr-FR" sz="1700" b="0" noProof="0" dirty="0">
                <a:solidFill>
                  <a:srgbClr val="4A4A4A"/>
                </a:solidFill>
                <a:latin typeface="Arial"/>
              </a:rPr>
              <a:t>Brier (fiabilité)</a:t>
            </a:r>
          </a:p>
        </p:txBody>
      </p:sp>
      <p:sp>
        <p:nvSpPr>
          <p:cNvPr id="128" name="T128"/>
          <p:cNvSpPr txBox="1"/>
          <p:nvPr/>
        </p:nvSpPr>
        <p:spPr>
          <a:xfrm>
            <a:off x="11645900" y="5867400"/>
            <a:ext cx="1397000" cy="457200"/>
          </a:xfrm>
          <a:prstGeom prst="rect">
            <a:avLst/>
          </a:prstGeom>
          <a:noFill/>
        </p:spPr>
        <p:txBody>
          <a:bodyPr wrap="square" lIns="27432" tIns="27432" rIns="27432" bIns="27432" anchor="t">
            <a:noAutofit/>
          </a:bodyPr>
          <a:lstStyle/>
          <a:p>
            <a:pPr algn="r">
              <a:lnSpc>
                <a:spcPct val="105000"/>
              </a:lnSpc>
            </a:pPr>
            <a:r>
              <a:rPr lang="fr-FR" sz="1700" b="1" noProof="0" dirty="0">
                <a:solidFill>
                  <a:srgbClr val="1A6A77"/>
                </a:solidFill>
                <a:latin typeface="Arial"/>
              </a:rPr>
              <a:t>0,0849</a:t>
            </a:r>
          </a:p>
        </p:txBody>
      </p:sp>
      <p:sp>
        <p:nvSpPr>
          <p:cNvPr id="129" name="R129"/>
          <p:cNvSpPr/>
          <p:nvPr/>
        </p:nvSpPr>
        <p:spPr>
          <a:xfrm>
            <a:off x="9232900" y="6502400"/>
            <a:ext cx="3810000" cy="9525"/>
          </a:xfrm>
          <a:prstGeom prst="rect">
            <a:avLst/>
          </a:prstGeom>
          <a:solidFill>
            <a:srgbClr val="E2E8F0"/>
          </a:solidFill>
          <a:ln>
            <a:noFill/>
          </a:ln>
        </p:spPr>
        <p:txBody>
          <a:bodyPr rtlCol="0" anchor="ctr"/>
          <a:lstStyle/>
          <a:p>
            <a:endParaRPr lang="fr-FR" dirty="0"/>
          </a:p>
        </p:txBody>
      </p:sp>
      <p:sp>
        <p:nvSpPr>
          <p:cNvPr id="130" name="T130"/>
          <p:cNvSpPr txBox="1"/>
          <p:nvPr/>
        </p:nvSpPr>
        <p:spPr>
          <a:xfrm>
            <a:off x="9232900" y="6578600"/>
            <a:ext cx="2413000" cy="457200"/>
          </a:xfrm>
          <a:prstGeom prst="rect">
            <a:avLst/>
          </a:prstGeom>
          <a:noFill/>
        </p:spPr>
        <p:txBody>
          <a:bodyPr wrap="square" lIns="27432" tIns="27432" rIns="27432" bIns="27432" anchor="t">
            <a:noAutofit/>
          </a:bodyPr>
          <a:lstStyle/>
          <a:p>
            <a:pPr algn="l">
              <a:lnSpc>
                <a:spcPct val="105000"/>
              </a:lnSpc>
            </a:pPr>
            <a:r>
              <a:rPr lang="fr-FR" sz="1700" b="0" noProof="0" dirty="0">
                <a:solidFill>
                  <a:srgbClr val="4A4A4A"/>
                </a:solidFill>
                <a:latin typeface="Arial"/>
              </a:rPr>
              <a:t>MAE note finale</a:t>
            </a:r>
          </a:p>
        </p:txBody>
      </p:sp>
      <p:sp>
        <p:nvSpPr>
          <p:cNvPr id="131" name="T131"/>
          <p:cNvSpPr txBox="1"/>
          <p:nvPr/>
        </p:nvSpPr>
        <p:spPr>
          <a:xfrm>
            <a:off x="11645900" y="6578600"/>
            <a:ext cx="1397000" cy="457200"/>
          </a:xfrm>
          <a:prstGeom prst="rect">
            <a:avLst/>
          </a:prstGeom>
          <a:noFill/>
        </p:spPr>
        <p:txBody>
          <a:bodyPr wrap="square" lIns="27432" tIns="27432" rIns="27432" bIns="27432" anchor="t">
            <a:noAutofit/>
          </a:bodyPr>
          <a:lstStyle/>
          <a:p>
            <a:pPr algn="r">
              <a:lnSpc>
                <a:spcPct val="105000"/>
              </a:lnSpc>
            </a:pPr>
            <a:r>
              <a:rPr lang="fr-FR" sz="1700" b="1" noProof="0" dirty="0">
                <a:solidFill>
                  <a:srgbClr val="1A6A77"/>
                </a:solidFill>
                <a:latin typeface="Arial"/>
              </a:rPr>
              <a:t>2,24 pts/20</a:t>
            </a:r>
          </a:p>
        </p:txBody>
      </p:sp>
      <p:sp>
        <p:nvSpPr>
          <p:cNvPr id="132" name="R132"/>
          <p:cNvSpPr/>
          <p:nvPr/>
        </p:nvSpPr>
        <p:spPr>
          <a:xfrm>
            <a:off x="9232900" y="7213600"/>
            <a:ext cx="3810000" cy="9525"/>
          </a:xfrm>
          <a:prstGeom prst="rect">
            <a:avLst/>
          </a:prstGeom>
          <a:solidFill>
            <a:srgbClr val="E2E8F0"/>
          </a:solidFill>
          <a:ln>
            <a:noFill/>
          </a:ln>
        </p:spPr>
        <p:txBody>
          <a:bodyPr rtlCol="0" anchor="ctr"/>
          <a:lstStyle/>
          <a:p>
            <a:endParaRPr lang="fr-FR" dirty="0"/>
          </a:p>
        </p:txBody>
      </p:sp>
      <p:sp>
        <p:nvSpPr>
          <p:cNvPr id="133" name="T133"/>
          <p:cNvSpPr txBox="1"/>
          <p:nvPr/>
        </p:nvSpPr>
        <p:spPr>
          <a:xfrm>
            <a:off x="13322300" y="2895600"/>
            <a:ext cx="3810000" cy="4318000"/>
          </a:xfrm>
          <a:prstGeom prst="rect">
            <a:avLst/>
          </a:prstGeom>
          <a:noFill/>
        </p:spPr>
        <p:txBody>
          <a:bodyPr wrap="square" lIns="27432" tIns="27432" rIns="27432" bIns="27432" anchor="t">
            <a:noAutofit/>
          </a:bodyPr>
          <a:lstStyle/>
          <a:p>
            <a:pPr marL="228600" indent="-228600" algn="l">
              <a:lnSpc>
                <a:spcPct val="118000"/>
              </a:lnSpc>
              <a:spcBef>
                <a:spcPts val="1000"/>
              </a:spcBef>
              <a:buFont typeface="Arial"/>
              <a:buChar char="•"/>
            </a:pPr>
            <a:r>
              <a:rPr lang="fr-FR" sz="1700" dirty="0">
                <a:solidFill>
                  <a:srgbClr val="4A4A4A"/>
                </a:solidFill>
                <a:latin typeface="Arial"/>
              </a:rPr>
              <a:t>Rappel comparable entre sexes et statuts boursiers : aucun décrocheur davantage manqué selon le sexe ou la précarité.</a:t>
            </a:r>
          </a:p>
          <a:p>
            <a:pPr marL="228600" indent="-228600" algn="l">
              <a:lnSpc>
                <a:spcPct val="118000"/>
              </a:lnSpc>
              <a:spcBef>
                <a:spcPts val="1000"/>
              </a:spcBef>
              <a:buFont typeface="Arial"/>
              <a:buChar char="•"/>
            </a:pPr>
            <a:r>
              <a:rPr lang="fr-FR" sz="1700" dirty="0">
                <a:solidFill>
                  <a:srgbClr val="4A4A4A"/>
                </a:solidFill>
                <a:latin typeface="Arial"/>
              </a:rPr>
              <a:t>Pipeline scikit-learn sérialisé, servi par une API FastAPI.</a:t>
            </a:r>
          </a:p>
          <a:p>
            <a:pPr marL="228600" indent="-228600" algn="l">
              <a:lnSpc>
                <a:spcPct val="118000"/>
              </a:lnSpc>
              <a:spcBef>
                <a:spcPts val="1000"/>
              </a:spcBef>
              <a:buFont typeface="Arial"/>
              <a:buChar char="•"/>
            </a:pPr>
            <a:r>
              <a:rPr lang="fr-FR" sz="1700" dirty="0">
                <a:solidFill>
                  <a:srgbClr val="4A4A4A"/>
                </a:solidFill>
                <a:latin typeface="Arial"/>
              </a:rPr>
              <a:t>Entrée typée et validée ; aucune donnée journalisée en exploitation.</a:t>
            </a:r>
          </a:p>
          <a:p>
            <a:pPr marL="228600" indent="-228600" algn="l">
              <a:lnSpc>
                <a:spcPct val="118000"/>
              </a:lnSpc>
              <a:spcBef>
                <a:spcPts val="1000"/>
              </a:spcBef>
              <a:buFont typeface="Arial"/>
              <a:buChar char="•"/>
            </a:pPr>
            <a:r>
              <a:rPr lang="fr-FR" sz="1700" dirty="0">
                <a:solidFill>
                  <a:srgbClr val="4A4A4A"/>
                </a:solidFill>
                <a:latin typeface="Arial"/>
              </a:rPr>
              <a:t>Un instantané du train, sans identifiant ni attribut protégé, est scellé dans l'artefact pour mesurer la dérive.</a:t>
            </a:r>
          </a:p>
        </p:txBody>
      </p:sp>
      <p:sp>
        <p:nvSpPr>
          <p:cNvPr id="134" name="R134"/>
          <p:cNvSpPr/>
          <p:nvPr/>
        </p:nvSpPr>
        <p:spPr>
          <a:xfrm>
            <a:off x="1054100" y="8128000"/>
            <a:ext cx="16192500" cy="965200"/>
          </a:xfrm>
          <a:prstGeom prst="roundRect">
            <a:avLst>
              <a:gd name="adj" fmla="val 8700"/>
            </a:avLst>
          </a:prstGeom>
          <a:solidFill>
            <a:srgbClr val="E4F3F7"/>
          </a:solidFill>
          <a:ln>
            <a:noFill/>
          </a:ln>
        </p:spPr>
        <p:txBody>
          <a:bodyPr rtlCol="0" anchor="ctr"/>
          <a:lstStyle/>
          <a:p>
            <a:endParaRPr lang="fr-FR" dirty="0"/>
          </a:p>
        </p:txBody>
      </p:sp>
      <p:sp>
        <p:nvSpPr>
          <p:cNvPr id="135" name="T135"/>
          <p:cNvSpPr txBox="1"/>
          <p:nvPr/>
        </p:nvSpPr>
        <p:spPr>
          <a:xfrm>
            <a:off x="1282700" y="8382000"/>
            <a:ext cx="15748000" cy="508000"/>
          </a:xfrm>
          <a:prstGeom prst="rect">
            <a:avLst/>
          </a:prstGeom>
          <a:noFill/>
        </p:spPr>
        <p:txBody>
          <a:bodyPr wrap="square" lIns="27432" tIns="27432" rIns="27432" bIns="27432" anchor="t">
            <a:noAutofit/>
          </a:bodyPr>
          <a:lstStyle/>
          <a:p>
            <a:pPr algn="ctr">
              <a:lnSpc>
                <a:spcPct val="110000"/>
              </a:lnSpc>
            </a:pPr>
            <a:r>
              <a:rPr lang="fr-FR" sz="1800" b="1" noProof="0" dirty="0">
                <a:solidFill>
                  <a:srgbClr val="1A6A77"/>
                </a:solidFill>
                <a:latin typeface="Arial"/>
              </a:rPr>
              <a:t>Seuil appliqué 0,42, fixé sur un plancher de rappel : le coût d'un décrocheur manqué dépasse celui d'une fausse alerte — paramètre d'exploitation, jamais figé dans les poids.</a:t>
            </a:r>
          </a:p>
        </p:txBody>
      </p:sp>
      <p:sp>
        <p:nvSpPr>
          <p:cNvPr id="136" name="T136"/>
          <p:cNvSpPr txBox="1"/>
          <p:nvPr/>
        </p:nvSpPr>
        <p:spPr>
          <a:xfrm>
            <a:off x="1054100" y="9461500"/>
            <a:ext cx="13970000" cy="355600"/>
          </a:xfrm>
          <a:prstGeom prst="rect">
            <a:avLst/>
          </a:prstGeom>
          <a:noFill/>
        </p:spPr>
        <p:txBody>
          <a:bodyPr wrap="square" lIns="27432" tIns="27432" rIns="27432" bIns="27432" anchor="t">
            <a:noAutofit/>
          </a:bodyPr>
          <a:lstStyle/>
          <a:p>
            <a:pPr algn="l"/>
            <a:r>
              <a:rPr lang="fr-FR" b="0" noProof="0" dirty="0">
                <a:solidFill>
                  <a:srgbClr val="6F6F6F"/>
                </a:solidFill>
                <a:latin typeface="Arial"/>
              </a:rPr>
              <a:t>Annexe A3 · source : model_card.md</a:t>
            </a:r>
          </a:p>
        </p:txBody>
      </p:sp>
      <p:sp>
        <p:nvSpPr>
          <p:cNvPr id="137" name="T137"/>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46</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7156910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500000"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Annexe A4 : Service d'inférence — description des routes</a:t>
            </a:r>
          </a:p>
        </p:txBody>
      </p:sp>
      <p:sp>
        <p:nvSpPr>
          <p:cNvPr id="103" name="T103"/>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FastAPI · 6 routes exposées</a:t>
            </a:r>
          </a:p>
        </p:txBody>
      </p:sp>
      <p:sp>
        <p:nvSpPr>
          <p:cNvPr id="104" name="T104"/>
          <p:cNvSpPr txBox="1"/>
          <p:nvPr/>
        </p:nvSpPr>
        <p:spPr>
          <a:xfrm>
            <a:off x="1054100" y="1778000"/>
            <a:ext cx="41910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ROUTE</a:t>
            </a:r>
          </a:p>
        </p:txBody>
      </p:sp>
      <p:sp>
        <p:nvSpPr>
          <p:cNvPr id="105" name="T105"/>
          <p:cNvSpPr txBox="1"/>
          <p:nvPr/>
        </p:nvSpPr>
        <p:spPr>
          <a:xfrm>
            <a:off x="5435600" y="1778000"/>
            <a:ext cx="53340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OBJET</a:t>
            </a:r>
          </a:p>
        </p:txBody>
      </p:sp>
      <p:sp>
        <p:nvSpPr>
          <p:cNvPr id="106" name="T106"/>
          <p:cNvSpPr txBox="1"/>
          <p:nvPr/>
        </p:nvSpPr>
        <p:spPr>
          <a:xfrm>
            <a:off x="10947400" y="1778000"/>
            <a:ext cx="40640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PARAMÈTRES</a:t>
            </a:r>
          </a:p>
        </p:txBody>
      </p:sp>
      <p:sp>
        <p:nvSpPr>
          <p:cNvPr id="107" name="T107"/>
          <p:cNvSpPr txBox="1"/>
          <p:nvPr/>
        </p:nvSpPr>
        <p:spPr>
          <a:xfrm>
            <a:off x="15189200" y="1778000"/>
            <a:ext cx="20574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RÉPONSES</a:t>
            </a:r>
          </a:p>
        </p:txBody>
      </p:sp>
      <p:sp>
        <p:nvSpPr>
          <p:cNvPr id="108" name="R108"/>
          <p:cNvSpPr/>
          <p:nvPr/>
        </p:nvSpPr>
        <p:spPr>
          <a:xfrm>
            <a:off x="1047750" y="2159000"/>
            <a:ext cx="16192500" cy="9525"/>
          </a:xfrm>
          <a:prstGeom prst="rect">
            <a:avLst/>
          </a:prstGeom>
          <a:solidFill>
            <a:srgbClr val="E2E8F0"/>
          </a:solidFill>
          <a:ln>
            <a:noFill/>
          </a:ln>
        </p:spPr>
        <p:txBody>
          <a:bodyPr rtlCol="0" anchor="ctr"/>
          <a:lstStyle/>
          <a:p>
            <a:endParaRPr lang="fr-FR" dirty="0"/>
          </a:p>
        </p:txBody>
      </p:sp>
      <p:sp>
        <p:nvSpPr>
          <p:cNvPr id="109" name="T109"/>
          <p:cNvSpPr txBox="1"/>
          <p:nvPr/>
        </p:nvSpPr>
        <p:spPr>
          <a:xfrm>
            <a:off x="1054100" y="2286000"/>
            <a:ext cx="4191000" cy="787400"/>
          </a:xfrm>
          <a:prstGeom prst="rect">
            <a:avLst/>
          </a:prstGeom>
          <a:noFill/>
        </p:spPr>
        <p:txBody>
          <a:bodyPr wrap="square" lIns="27432" tIns="27432" rIns="27432" bIns="27432" anchor="t">
            <a:noAutofit/>
          </a:bodyPr>
          <a:lstStyle/>
          <a:p>
            <a:pPr algn="l">
              <a:lnSpc>
                <a:spcPct val="112000"/>
              </a:lnSpc>
            </a:pPr>
            <a:r>
              <a:rPr lang="fr-FR" sz="1700" b="1" noProof="0" dirty="0">
                <a:solidFill>
                  <a:srgbClr val="1A6A77"/>
                </a:solidFill>
                <a:latin typeface="Consolas"/>
              </a:rPr>
              <a:t>POST /v1/predict-cohorte</a:t>
            </a:r>
          </a:p>
        </p:txBody>
      </p:sp>
      <p:sp>
        <p:nvSpPr>
          <p:cNvPr id="110" name="T110"/>
          <p:cNvSpPr txBox="1"/>
          <p:nvPr/>
        </p:nvSpPr>
        <p:spPr>
          <a:xfrm>
            <a:off x="5435600" y="2286000"/>
            <a:ext cx="53340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Scoring d'une cohorte en une passe : 1 à 10 000 dossiers, validés ligne à ligne.</a:t>
            </a:r>
          </a:p>
        </p:txBody>
      </p:sp>
      <p:sp>
        <p:nvSpPr>
          <p:cNvPr id="111" name="T111"/>
          <p:cNvSpPr txBox="1"/>
          <p:nvPr/>
        </p:nvSpPr>
        <p:spPr>
          <a:xfrm>
            <a:off x="10947400" y="2286000"/>
            <a:ext cx="40640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seuil · derive · X-API-Key · corps PredictCohorteForm</a:t>
            </a:r>
          </a:p>
        </p:txBody>
      </p:sp>
      <p:sp>
        <p:nvSpPr>
          <p:cNvPr id="112" name="T112"/>
          <p:cNvSpPr txBox="1"/>
          <p:nvPr/>
        </p:nvSpPr>
        <p:spPr>
          <a:xfrm>
            <a:off x="15189200" y="2286000"/>
            <a:ext cx="20574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200 · 422</a:t>
            </a:r>
          </a:p>
        </p:txBody>
      </p:sp>
      <p:sp>
        <p:nvSpPr>
          <p:cNvPr id="113" name="R113"/>
          <p:cNvSpPr/>
          <p:nvPr/>
        </p:nvSpPr>
        <p:spPr>
          <a:xfrm>
            <a:off x="1047750" y="3073400"/>
            <a:ext cx="16192500" cy="9525"/>
          </a:xfrm>
          <a:prstGeom prst="rect">
            <a:avLst/>
          </a:prstGeom>
          <a:solidFill>
            <a:srgbClr val="E2E8F0"/>
          </a:solidFill>
          <a:ln>
            <a:noFill/>
          </a:ln>
        </p:spPr>
        <p:txBody>
          <a:bodyPr rtlCol="0" anchor="ctr"/>
          <a:lstStyle/>
          <a:p>
            <a:endParaRPr lang="fr-FR" dirty="0"/>
          </a:p>
        </p:txBody>
      </p:sp>
      <p:sp>
        <p:nvSpPr>
          <p:cNvPr id="114" name="T114"/>
          <p:cNvSpPr txBox="1"/>
          <p:nvPr/>
        </p:nvSpPr>
        <p:spPr>
          <a:xfrm>
            <a:off x="1054100" y="3200400"/>
            <a:ext cx="4191000" cy="787400"/>
          </a:xfrm>
          <a:prstGeom prst="rect">
            <a:avLst/>
          </a:prstGeom>
          <a:noFill/>
        </p:spPr>
        <p:txBody>
          <a:bodyPr wrap="square" lIns="27432" tIns="27432" rIns="27432" bIns="27432" anchor="t">
            <a:noAutofit/>
          </a:bodyPr>
          <a:lstStyle/>
          <a:p>
            <a:pPr algn="l">
              <a:lnSpc>
                <a:spcPct val="112000"/>
              </a:lnSpc>
            </a:pPr>
            <a:r>
              <a:rPr lang="fr-FR" sz="1700" b="1" noProof="0" dirty="0">
                <a:solidFill>
                  <a:srgbClr val="1A6A77"/>
                </a:solidFill>
                <a:latin typeface="Consolas"/>
              </a:rPr>
              <a:t>POST /v1/predict-etudiant</a:t>
            </a:r>
          </a:p>
        </p:txBody>
      </p:sp>
      <p:sp>
        <p:nvSpPr>
          <p:cNvPr id="115" name="T115"/>
          <p:cNvSpPr txBox="1"/>
          <p:nvPr/>
        </p:nvSpPr>
        <p:spPr>
          <a:xfrm>
            <a:off x="5435600" y="3200400"/>
            <a:ext cx="53340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Scoring d'un dossier unique, même contrat que la cohorte.</a:t>
            </a:r>
          </a:p>
        </p:txBody>
      </p:sp>
      <p:sp>
        <p:nvSpPr>
          <p:cNvPr id="116" name="T116"/>
          <p:cNvSpPr txBox="1"/>
          <p:nvPr/>
        </p:nvSpPr>
        <p:spPr>
          <a:xfrm>
            <a:off x="10947400" y="3200400"/>
            <a:ext cx="40640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seuil · X-API-Key · corps PredictEtudiantForm</a:t>
            </a:r>
          </a:p>
        </p:txBody>
      </p:sp>
      <p:sp>
        <p:nvSpPr>
          <p:cNvPr id="117" name="T117"/>
          <p:cNvSpPr txBox="1"/>
          <p:nvPr/>
        </p:nvSpPr>
        <p:spPr>
          <a:xfrm>
            <a:off x="15189200" y="3200400"/>
            <a:ext cx="20574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200 · 422</a:t>
            </a:r>
          </a:p>
        </p:txBody>
      </p:sp>
      <p:sp>
        <p:nvSpPr>
          <p:cNvPr id="118" name="R118"/>
          <p:cNvSpPr/>
          <p:nvPr/>
        </p:nvSpPr>
        <p:spPr>
          <a:xfrm>
            <a:off x="1047750" y="3987800"/>
            <a:ext cx="16192500" cy="9525"/>
          </a:xfrm>
          <a:prstGeom prst="rect">
            <a:avLst/>
          </a:prstGeom>
          <a:solidFill>
            <a:srgbClr val="E2E8F0"/>
          </a:solidFill>
          <a:ln>
            <a:noFill/>
          </a:ln>
        </p:spPr>
        <p:txBody>
          <a:bodyPr rtlCol="0" anchor="ctr"/>
          <a:lstStyle/>
          <a:p>
            <a:endParaRPr lang="fr-FR" dirty="0"/>
          </a:p>
        </p:txBody>
      </p:sp>
      <p:sp>
        <p:nvSpPr>
          <p:cNvPr id="119" name="T119"/>
          <p:cNvSpPr txBox="1"/>
          <p:nvPr/>
        </p:nvSpPr>
        <p:spPr>
          <a:xfrm>
            <a:off x="1054100" y="4114800"/>
            <a:ext cx="4191000" cy="787400"/>
          </a:xfrm>
          <a:prstGeom prst="rect">
            <a:avLst/>
          </a:prstGeom>
          <a:noFill/>
        </p:spPr>
        <p:txBody>
          <a:bodyPr wrap="square" lIns="27432" tIns="27432" rIns="27432" bIns="27432" anchor="t">
            <a:noAutofit/>
          </a:bodyPr>
          <a:lstStyle/>
          <a:p>
            <a:pPr algn="l">
              <a:lnSpc>
                <a:spcPct val="112000"/>
              </a:lnSpc>
            </a:pPr>
            <a:r>
              <a:rPr lang="fr-FR" sz="1700" b="1" noProof="0" dirty="0">
                <a:solidFill>
                  <a:srgbClr val="1A6A77"/>
                </a:solidFill>
                <a:latin typeface="Consolas"/>
              </a:rPr>
              <a:t>GET /v1/modele</a:t>
            </a:r>
          </a:p>
        </p:txBody>
      </p:sp>
      <p:sp>
        <p:nvSpPr>
          <p:cNvPr id="120" name="T120"/>
          <p:cNvSpPr txBox="1"/>
          <p:nvPr/>
        </p:nvSpPr>
        <p:spPr>
          <a:xfrm>
            <a:off x="5435600" y="4114800"/>
            <a:ext cx="53340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Fiche du modèle servi : version, métadonnées et empreintes de l'artefact chargé.</a:t>
            </a:r>
          </a:p>
        </p:txBody>
      </p:sp>
      <p:sp>
        <p:nvSpPr>
          <p:cNvPr id="121" name="T121"/>
          <p:cNvSpPr txBox="1"/>
          <p:nvPr/>
        </p:nvSpPr>
        <p:spPr>
          <a:xfrm>
            <a:off x="10947400" y="4114800"/>
            <a:ext cx="40640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X-API-Key (en-tête)</a:t>
            </a:r>
          </a:p>
        </p:txBody>
      </p:sp>
      <p:sp>
        <p:nvSpPr>
          <p:cNvPr id="122" name="T122"/>
          <p:cNvSpPr txBox="1"/>
          <p:nvPr/>
        </p:nvSpPr>
        <p:spPr>
          <a:xfrm>
            <a:off x="15189200" y="4114800"/>
            <a:ext cx="20574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200 · 422</a:t>
            </a:r>
          </a:p>
        </p:txBody>
      </p:sp>
      <p:sp>
        <p:nvSpPr>
          <p:cNvPr id="123" name="R123"/>
          <p:cNvSpPr/>
          <p:nvPr/>
        </p:nvSpPr>
        <p:spPr>
          <a:xfrm>
            <a:off x="1047750" y="4902200"/>
            <a:ext cx="16192500" cy="9525"/>
          </a:xfrm>
          <a:prstGeom prst="rect">
            <a:avLst/>
          </a:prstGeom>
          <a:solidFill>
            <a:srgbClr val="E2E8F0"/>
          </a:solidFill>
          <a:ln>
            <a:noFill/>
          </a:ln>
        </p:spPr>
        <p:txBody>
          <a:bodyPr rtlCol="0" anchor="ctr"/>
          <a:lstStyle/>
          <a:p>
            <a:endParaRPr lang="fr-FR" dirty="0"/>
          </a:p>
        </p:txBody>
      </p:sp>
      <p:sp>
        <p:nvSpPr>
          <p:cNvPr id="124" name="T124"/>
          <p:cNvSpPr txBox="1"/>
          <p:nvPr/>
        </p:nvSpPr>
        <p:spPr>
          <a:xfrm>
            <a:off x="1054100" y="5029200"/>
            <a:ext cx="4191000" cy="787400"/>
          </a:xfrm>
          <a:prstGeom prst="rect">
            <a:avLst/>
          </a:prstGeom>
          <a:noFill/>
        </p:spPr>
        <p:txBody>
          <a:bodyPr wrap="square" lIns="27432" tIns="27432" rIns="27432" bIns="27432" anchor="t">
            <a:noAutofit/>
          </a:bodyPr>
          <a:lstStyle/>
          <a:p>
            <a:pPr algn="l">
              <a:lnSpc>
                <a:spcPct val="112000"/>
              </a:lnSpc>
            </a:pPr>
            <a:r>
              <a:rPr lang="fr-FR" sz="1700" b="1" noProof="0" dirty="0">
                <a:solidFill>
                  <a:srgbClr val="1A6A77"/>
                </a:solidFill>
                <a:latin typeface="Consolas"/>
              </a:rPr>
              <a:t>GET /v1/seuil</a:t>
            </a:r>
          </a:p>
        </p:txBody>
      </p:sp>
      <p:sp>
        <p:nvSpPr>
          <p:cNvPr id="125" name="T125"/>
          <p:cNvSpPr txBox="1"/>
          <p:nvPr/>
        </p:nvSpPr>
        <p:spPr>
          <a:xfrm>
            <a:off x="5435600" y="5029200"/>
            <a:ext cx="53340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Seuil en vigueur et sa provenance (défaut sérialisé ou surcharge d'exploitation, D38).</a:t>
            </a:r>
          </a:p>
        </p:txBody>
      </p:sp>
      <p:sp>
        <p:nvSpPr>
          <p:cNvPr id="126" name="T126"/>
          <p:cNvSpPr txBox="1"/>
          <p:nvPr/>
        </p:nvSpPr>
        <p:spPr>
          <a:xfrm>
            <a:off x="10947400" y="5029200"/>
            <a:ext cx="40640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X-API-Key (en-tête)</a:t>
            </a:r>
          </a:p>
        </p:txBody>
      </p:sp>
      <p:sp>
        <p:nvSpPr>
          <p:cNvPr id="127" name="T127"/>
          <p:cNvSpPr txBox="1"/>
          <p:nvPr/>
        </p:nvSpPr>
        <p:spPr>
          <a:xfrm>
            <a:off x="15189200" y="5029200"/>
            <a:ext cx="20574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200 · 422</a:t>
            </a:r>
          </a:p>
        </p:txBody>
      </p:sp>
      <p:sp>
        <p:nvSpPr>
          <p:cNvPr id="128" name="R128"/>
          <p:cNvSpPr/>
          <p:nvPr/>
        </p:nvSpPr>
        <p:spPr>
          <a:xfrm>
            <a:off x="1047750" y="5816600"/>
            <a:ext cx="16192500" cy="9525"/>
          </a:xfrm>
          <a:prstGeom prst="rect">
            <a:avLst/>
          </a:prstGeom>
          <a:solidFill>
            <a:srgbClr val="E2E8F0"/>
          </a:solidFill>
          <a:ln>
            <a:noFill/>
          </a:ln>
        </p:spPr>
        <p:txBody>
          <a:bodyPr rtlCol="0" anchor="ctr"/>
          <a:lstStyle/>
          <a:p>
            <a:endParaRPr lang="fr-FR" dirty="0"/>
          </a:p>
        </p:txBody>
      </p:sp>
      <p:sp>
        <p:nvSpPr>
          <p:cNvPr id="129" name="T129"/>
          <p:cNvSpPr txBox="1"/>
          <p:nvPr/>
        </p:nvSpPr>
        <p:spPr>
          <a:xfrm>
            <a:off x="1054100" y="5943600"/>
            <a:ext cx="4191000" cy="787400"/>
          </a:xfrm>
          <a:prstGeom prst="rect">
            <a:avLst/>
          </a:prstGeom>
          <a:noFill/>
        </p:spPr>
        <p:txBody>
          <a:bodyPr wrap="square" lIns="27432" tIns="27432" rIns="27432" bIns="27432" anchor="t">
            <a:noAutofit/>
          </a:bodyPr>
          <a:lstStyle/>
          <a:p>
            <a:pPr algn="l">
              <a:lnSpc>
                <a:spcPct val="112000"/>
              </a:lnSpc>
            </a:pPr>
            <a:r>
              <a:rPr lang="fr-FR" sz="1700" b="1" noProof="0" dirty="0">
                <a:solidFill>
                  <a:srgbClr val="1A6A77"/>
                </a:solidFill>
                <a:latin typeface="Consolas"/>
              </a:rPr>
              <a:t>GET /health</a:t>
            </a:r>
          </a:p>
        </p:txBody>
      </p:sp>
      <p:sp>
        <p:nvSpPr>
          <p:cNvPr id="130" name="T130"/>
          <p:cNvSpPr txBox="1"/>
          <p:nvPr/>
        </p:nvSpPr>
        <p:spPr>
          <a:xfrm>
            <a:off x="5435600" y="5943600"/>
            <a:ext cx="53340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Vivacité du service : le processus répond.</a:t>
            </a:r>
          </a:p>
        </p:txBody>
      </p:sp>
      <p:sp>
        <p:nvSpPr>
          <p:cNvPr id="131" name="T131"/>
          <p:cNvSpPr txBox="1"/>
          <p:nvPr/>
        </p:nvSpPr>
        <p:spPr>
          <a:xfrm>
            <a:off x="10947400" y="5943600"/>
            <a:ext cx="40640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aucun</a:t>
            </a:r>
          </a:p>
        </p:txBody>
      </p:sp>
      <p:sp>
        <p:nvSpPr>
          <p:cNvPr id="132" name="T132"/>
          <p:cNvSpPr txBox="1"/>
          <p:nvPr/>
        </p:nvSpPr>
        <p:spPr>
          <a:xfrm>
            <a:off x="15189200" y="5943600"/>
            <a:ext cx="20574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200</a:t>
            </a:r>
          </a:p>
        </p:txBody>
      </p:sp>
      <p:sp>
        <p:nvSpPr>
          <p:cNvPr id="133" name="R133"/>
          <p:cNvSpPr/>
          <p:nvPr/>
        </p:nvSpPr>
        <p:spPr>
          <a:xfrm>
            <a:off x="1047750" y="6731000"/>
            <a:ext cx="16192500" cy="9525"/>
          </a:xfrm>
          <a:prstGeom prst="rect">
            <a:avLst/>
          </a:prstGeom>
          <a:solidFill>
            <a:srgbClr val="E2E8F0"/>
          </a:solidFill>
          <a:ln>
            <a:noFill/>
          </a:ln>
        </p:spPr>
        <p:txBody>
          <a:bodyPr rtlCol="0" anchor="ctr"/>
          <a:lstStyle/>
          <a:p>
            <a:endParaRPr lang="fr-FR" dirty="0"/>
          </a:p>
        </p:txBody>
      </p:sp>
      <p:sp>
        <p:nvSpPr>
          <p:cNvPr id="134" name="T134"/>
          <p:cNvSpPr txBox="1"/>
          <p:nvPr/>
        </p:nvSpPr>
        <p:spPr>
          <a:xfrm>
            <a:off x="1054100" y="6858000"/>
            <a:ext cx="4191000" cy="787400"/>
          </a:xfrm>
          <a:prstGeom prst="rect">
            <a:avLst/>
          </a:prstGeom>
          <a:noFill/>
        </p:spPr>
        <p:txBody>
          <a:bodyPr wrap="square" lIns="27432" tIns="27432" rIns="27432" bIns="27432" anchor="t">
            <a:noAutofit/>
          </a:bodyPr>
          <a:lstStyle/>
          <a:p>
            <a:pPr algn="l">
              <a:lnSpc>
                <a:spcPct val="112000"/>
              </a:lnSpc>
            </a:pPr>
            <a:r>
              <a:rPr lang="fr-FR" sz="1700" b="1" noProof="0" dirty="0">
                <a:solidFill>
                  <a:srgbClr val="1A6A77"/>
                </a:solidFill>
                <a:latin typeface="Consolas"/>
              </a:rPr>
              <a:t>GET /ready</a:t>
            </a:r>
          </a:p>
        </p:txBody>
      </p:sp>
      <p:sp>
        <p:nvSpPr>
          <p:cNvPr id="135" name="T135"/>
          <p:cNvSpPr txBox="1"/>
          <p:nvPr/>
        </p:nvSpPr>
        <p:spPr>
          <a:xfrm>
            <a:off x="5435600" y="6858000"/>
            <a:ext cx="53340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Disponibilité réelle : artefact chargé et service prêt à scorer.</a:t>
            </a:r>
          </a:p>
        </p:txBody>
      </p:sp>
      <p:sp>
        <p:nvSpPr>
          <p:cNvPr id="136" name="T136"/>
          <p:cNvSpPr txBox="1"/>
          <p:nvPr/>
        </p:nvSpPr>
        <p:spPr>
          <a:xfrm>
            <a:off x="10947400" y="6858000"/>
            <a:ext cx="40640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aucun</a:t>
            </a:r>
          </a:p>
        </p:txBody>
      </p:sp>
      <p:sp>
        <p:nvSpPr>
          <p:cNvPr id="137" name="T137"/>
          <p:cNvSpPr txBox="1"/>
          <p:nvPr/>
        </p:nvSpPr>
        <p:spPr>
          <a:xfrm>
            <a:off x="15189200" y="6858000"/>
            <a:ext cx="2057400" cy="787400"/>
          </a:xfrm>
          <a:prstGeom prst="rect">
            <a:avLst/>
          </a:prstGeom>
          <a:noFill/>
        </p:spPr>
        <p:txBody>
          <a:bodyPr wrap="square" lIns="27432" tIns="27432" rIns="27432" bIns="27432" anchor="t">
            <a:noAutofit/>
          </a:bodyPr>
          <a:lstStyle/>
          <a:p>
            <a:pPr algn="l">
              <a:lnSpc>
                <a:spcPct val="112000"/>
              </a:lnSpc>
            </a:pPr>
            <a:r>
              <a:rPr lang="fr-FR" sz="1700" b="0" noProof="0" dirty="0">
                <a:solidFill>
                  <a:srgbClr val="4A4A4A"/>
                </a:solidFill>
                <a:latin typeface="Arial"/>
              </a:rPr>
              <a:t>200</a:t>
            </a:r>
          </a:p>
        </p:txBody>
      </p:sp>
      <p:sp>
        <p:nvSpPr>
          <p:cNvPr id="138" name="R138"/>
          <p:cNvSpPr/>
          <p:nvPr/>
        </p:nvSpPr>
        <p:spPr>
          <a:xfrm>
            <a:off x="1047750" y="7645400"/>
            <a:ext cx="16192500" cy="9525"/>
          </a:xfrm>
          <a:prstGeom prst="rect">
            <a:avLst/>
          </a:prstGeom>
          <a:solidFill>
            <a:srgbClr val="E2E8F0"/>
          </a:solidFill>
          <a:ln>
            <a:noFill/>
          </a:ln>
        </p:spPr>
        <p:txBody>
          <a:bodyPr rtlCol="0" anchor="ctr"/>
          <a:lstStyle/>
          <a:p>
            <a:endParaRPr lang="fr-FR" dirty="0"/>
          </a:p>
        </p:txBody>
      </p:sp>
      <p:sp>
        <p:nvSpPr>
          <p:cNvPr id="141" name="T141"/>
          <p:cNvSpPr txBox="1"/>
          <p:nvPr/>
        </p:nvSpPr>
        <p:spPr>
          <a:xfrm>
            <a:off x="1054100" y="9461500"/>
            <a:ext cx="13970000" cy="355600"/>
          </a:xfrm>
          <a:prstGeom prst="rect">
            <a:avLst/>
          </a:prstGeom>
          <a:noFill/>
        </p:spPr>
        <p:txBody>
          <a:bodyPr wrap="square" lIns="27432" tIns="27432" rIns="27432" bIns="27432" anchor="t">
            <a:noAutofit/>
          </a:bodyPr>
          <a:lstStyle/>
          <a:p>
            <a:pPr algn="l"/>
            <a:r>
              <a:rPr lang="fr-FR" b="0" noProof="0" dirty="0">
                <a:solidFill>
                  <a:srgbClr val="6F6F6F"/>
                </a:solidFill>
                <a:latin typeface="Arial"/>
              </a:rPr>
              <a:t>Annexe A4 · source : </a:t>
            </a:r>
            <a:r>
              <a:rPr lang="fr-FR" b="0" noProof="0" dirty="0" err="1">
                <a:solidFill>
                  <a:srgbClr val="6F6F6F"/>
                </a:solidFill>
                <a:latin typeface="Arial"/>
              </a:rPr>
              <a:t>openapi.json</a:t>
            </a:r>
            <a:endParaRPr lang="fr-FR" b="0" noProof="0" dirty="0">
              <a:solidFill>
                <a:srgbClr val="6F6F6F"/>
              </a:solidFill>
              <a:latin typeface="Arial"/>
            </a:endParaRPr>
          </a:p>
        </p:txBody>
      </p:sp>
      <p:sp>
        <p:nvSpPr>
          <p:cNvPr id="142" name="T142"/>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47</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17097358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500000"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Annexe A5 : Contrat d'entrée — CLI et API (1/2)</a:t>
            </a:r>
          </a:p>
        </p:txBody>
      </p:sp>
      <p:sp>
        <p:nvSpPr>
          <p:cNvPr id="103" name="T103"/>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PredictEtudiantForm · 15 champs</a:t>
            </a:r>
          </a:p>
        </p:txBody>
      </p:sp>
      <p:sp>
        <p:nvSpPr>
          <p:cNvPr id="104" name="T104"/>
          <p:cNvSpPr txBox="1"/>
          <p:nvPr/>
        </p:nvSpPr>
        <p:spPr>
          <a:xfrm>
            <a:off x="1054100" y="1905000"/>
            <a:ext cx="8382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CHAMPS OBLIGATOIRES (10)</a:t>
            </a:r>
          </a:p>
        </p:txBody>
      </p:sp>
      <p:sp>
        <p:nvSpPr>
          <p:cNvPr id="105" name="T105"/>
          <p:cNvSpPr txBox="1"/>
          <p:nvPr/>
        </p:nvSpPr>
        <p:spPr>
          <a:xfrm>
            <a:off x="1054100" y="2311400"/>
            <a:ext cx="3175000" cy="3048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CHAMP</a:t>
            </a:r>
          </a:p>
        </p:txBody>
      </p:sp>
      <p:sp>
        <p:nvSpPr>
          <p:cNvPr id="106" name="T106"/>
          <p:cNvSpPr txBox="1"/>
          <p:nvPr/>
        </p:nvSpPr>
        <p:spPr>
          <a:xfrm>
            <a:off x="4292600" y="2311400"/>
            <a:ext cx="1651000" cy="3048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TYPE</a:t>
            </a:r>
          </a:p>
        </p:txBody>
      </p:sp>
      <p:sp>
        <p:nvSpPr>
          <p:cNvPr id="107" name="T107"/>
          <p:cNvSpPr txBox="1"/>
          <p:nvPr/>
        </p:nvSpPr>
        <p:spPr>
          <a:xfrm>
            <a:off x="6007100" y="2311400"/>
            <a:ext cx="3429000" cy="3048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CONTRAINTE</a:t>
            </a:r>
          </a:p>
        </p:txBody>
      </p:sp>
      <p:sp>
        <p:nvSpPr>
          <p:cNvPr id="108" name="R108"/>
          <p:cNvSpPr/>
          <p:nvPr/>
        </p:nvSpPr>
        <p:spPr>
          <a:xfrm>
            <a:off x="1054100" y="2679700"/>
            <a:ext cx="8382000" cy="9525"/>
          </a:xfrm>
          <a:prstGeom prst="rect">
            <a:avLst/>
          </a:prstGeom>
          <a:solidFill>
            <a:srgbClr val="E2E8F0"/>
          </a:solidFill>
          <a:ln>
            <a:noFill/>
          </a:ln>
        </p:spPr>
        <p:txBody>
          <a:bodyPr rtlCol="0" anchor="ctr"/>
          <a:lstStyle/>
          <a:p>
            <a:endParaRPr lang="fr-FR" dirty="0"/>
          </a:p>
        </p:txBody>
      </p:sp>
      <p:sp>
        <p:nvSpPr>
          <p:cNvPr id="109" name="T109"/>
          <p:cNvSpPr txBox="1"/>
          <p:nvPr/>
        </p:nvSpPr>
        <p:spPr>
          <a:xfrm>
            <a:off x="1054100" y="27432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age</a:t>
            </a:r>
          </a:p>
        </p:txBody>
      </p:sp>
      <p:sp>
        <p:nvSpPr>
          <p:cNvPr id="110" name="T110"/>
          <p:cNvSpPr txBox="1"/>
          <p:nvPr/>
        </p:nvSpPr>
        <p:spPr>
          <a:xfrm>
            <a:off x="4292600" y="2743200"/>
            <a:ext cx="1651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entier</a:t>
            </a:r>
          </a:p>
        </p:txBody>
      </p:sp>
      <p:sp>
        <p:nvSpPr>
          <p:cNvPr id="111" name="T111"/>
          <p:cNvSpPr txBox="1"/>
          <p:nvPr/>
        </p:nvSpPr>
        <p:spPr>
          <a:xfrm>
            <a:off x="6007100" y="2743200"/>
            <a:ext cx="3429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16 à 30</a:t>
            </a:r>
          </a:p>
        </p:txBody>
      </p:sp>
      <p:sp>
        <p:nvSpPr>
          <p:cNvPr id="112" name="R112"/>
          <p:cNvSpPr/>
          <p:nvPr/>
        </p:nvSpPr>
        <p:spPr>
          <a:xfrm>
            <a:off x="1054100" y="3213100"/>
            <a:ext cx="8382000" cy="9525"/>
          </a:xfrm>
          <a:prstGeom prst="rect">
            <a:avLst/>
          </a:prstGeom>
          <a:solidFill>
            <a:srgbClr val="E2E8F0"/>
          </a:solidFill>
          <a:ln>
            <a:noFill/>
          </a:ln>
        </p:spPr>
        <p:txBody>
          <a:bodyPr rtlCol="0" anchor="ctr"/>
          <a:lstStyle/>
          <a:p>
            <a:endParaRPr lang="fr-FR" dirty="0"/>
          </a:p>
        </p:txBody>
      </p:sp>
      <p:sp>
        <p:nvSpPr>
          <p:cNvPr id="113" name="T113"/>
          <p:cNvSpPr txBox="1"/>
          <p:nvPr/>
        </p:nvSpPr>
        <p:spPr>
          <a:xfrm>
            <a:off x="1054100" y="32766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filiere</a:t>
            </a:r>
          </a:p>
        </p:txBody>
      </p:sp>
      <p:sp>
        <p:nvSpPr>
          <p:cNvPr id="114" name="T114"/>
          <p:cNvSpPr txBox="1"/>
          <p:nvPr/>
        </p:nvSpPr>
        <p:spPr>
          <a:xfrm>
            <a:off x="4292600" y="3276600"/>
            <a:ext cx="1651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énuméré</a:t>
            </a:r>
          </a:p>
        </p:txBody>
      </p:sp>
      <p:sp>
        <p:nvSpPr>
          <p:cNvPr id="115" name="T115"/>
          <p:cNvSpPr txBox="1"/>
          <p:nvPr/>
        </p:nvSpPr>
        <p:spPr>
          <a:xfrm>
            <a:off x="6007100" y="3276600"/>
            <a:ext cx="3429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8 modalités (voir note)</a:t>
            </a:r>
          </a:p>
        </p:txBody>
      </p:sp>
      <p:sp>
        <p:nvSpPr>
          <p:cNvPr id="116" name="R116"/>
          <p:cNvSpPr/>
          <p:nvPr/>
        </p:nvSpPr>
        <p:spPr>
          <a:xfrm>
            <a:off x="1054100" y="3746500"/>
            <a:ext cx="8382000" cy="9525"/>
          </a:xfrm>
          <a:prstGeom prst="rect">
            <a:avLst/>
          </a:prstGeom>
          <a:solidFill>
            <a:srgbClr val="E2E8F0"/>
          </a:solidFill>
          <a:ln>
            <a:noFill/>
          </a:ln>
        </p:spPr>
        <p:txBody>
          <a:bodyPr rtlCol="0" anchor="ctr"/>
          <a:lstStyle/>
          <a:p>
            <a:endParaRPr lang="fr-FR" dirty="0"/>
          </a:p>
        </p:txBody>
      </p:sp>
      <p:sp>
        <p:nvSpPr>
          <p:cNvPr id="117" name="T117"/>
          <p:cNvSpPr txBox="1"/>
          <p:nvPr/>
        </p:nvSpPr>
        <p:spPr>
          <a:xfrm>
            <a:off x="1054100" y="38100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bac_type</a:t>
            </a:r>
          </a:p>
        </p:txBody>
      </p:sp>
      <p:sp>
        <p:nvSpPr>
          <p:cNvPr id="118" name="T118"/>
          <p:cNvSpPr txBox="1"/>
          <p:nvPr/>
        </p:nvSpPr>
        <p:spPr>
          <a:xfrm>
            <a:off x="4292600" y="3810000"/>
            <a:ext cx="1651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énuméré</a:t>
            </a:r>
          </a:p>
        </p:txBody>
      </p:sp>
      <p:sp>
        <p:nvSpPr>
          <p:cNvPr id="119" name="T119"/>
          <p:cNvSpPr txBox="1"/>
          <p:nvPr/>
        </p:nvSpPr>
        <p:spPr>
          <a:xfrm>
            <a:off x="6007100" y="3810000"/>
            <a:ext cx="3429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3 modalités (voir note)</a:t>
            </a:r>
          </a:p>
        </p:txBody>
      </p:sp>
      <p:sp>
        <p:nvSpPr>
          <p:cNvPr id="120" name="R120"/>
          <p:cNvSpPr/>
          <p:nvPr/>
        </p:nvSpPr>
        <p:spPr>
          <a:xfrm>
            <a:off x="1054100" y="4279900"/>
            <a:ext cx="8382000" cy="9525"/>
          </a:xfrm>
          <a:prstGeom prst="rect">
            <a:avLst/>
          </a:prstGeom>
          <a:solidFill>
            <a:srgbClr val="E2E8F0"/>
          </a:solidFill>
          <a:ln>
            <a:noFill/>
          </a:ln>
        </p:spPr>
        <p:txBody>
          <a:bodyPr rtlCol="0" anchor="ctr"/>
          <a:lstStyle/>
          <a:p>
            <a:endParaRPr lang="fr-FR" dirty="0"/>
          </a:p>
        </p:txBody>
      </p:sp>
      <p:sp>
        <p:nvSpPr>
          <p:cNvPr id="121" name="T121"/>
          <p:cNvSpPr txBox="1"/>
          <p:nvPr/>
        </p:nvSpPr>
        <p:spPr>
          <a:xfrm>
            <a:off x="1054100" y="43434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taux_presence_pct</a:t>
            </a:r>
          </a:p>
        </p:txBody>
      </p:sp>
      <p:sp>
        <p:nvSpPr>
          <p:cNvPr id="122" name="T122"/>
          <p:cNvSpPr txBox="1"/>
          <p:nvPr/>
        </p:nvSpPr>
        <p:spPr>
          <a:xfrm>
            <a:off x="4292600" y="4343400"/>
            <a:ext cx="1651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décimal</a:t>
            </a:r>
          </a:p>
        </p:txBody>
      </p:sp>
      <p:sp>
        <p:nvSpPr>
          <p:cNvPr id="123" name="T123"/>
          <p:cNvSpPr txBox="1"/>
          <p:nvPr/>
        </p:nvSpPr>
        <p:spPr>
          <a:xfrm>
            <a:off x="6007100" y="4343400"/>
            <a:ext cx="3429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0 à 100</a:t>
            </a:r>
          </a:p>
        </p:txBody>
      </p:sp>
      <p:sp>
        <p:nvSpPr>
          <p:cNvPr id="124" name="R124"/>
          <p:cNvSpPr/>
          <p:nvPr/>
        </p:nvSpPr>
        <p:spPr>
          <a:xfrm>
            <a:off x="1054100" y="4813300"/>
            <a:ext cx="8382000" cy="9525"/>
          </a:xfrm>
          <a:prstGeom prst="rect">
            <a:avLst/>
          </a:prstGeom>
          <a:solidFill>
            <a:srgbClr val="E2E8F0"/>
          </a:solidFill>
          <a:ln>
            <a:noFill/>
          </a:ln>
        </p:spPr>
        <p:txBody>
          <a:bodyPr rtlCol="0" anchor="ctr"/>
          <a:lstStyle/>
          <a:p>
            <a:endParaRPr lang="fr-FR" dirty="0"/>
          </a:p>
        </p:txBody>
      </p:sp>
      <p:sp>
        <p:nvSpPr>
          <p:cNvPr id="125" name="T125"/>
          <p:cNvSpPr txBox="1"/>
          <p:nvPr/>
        </p:nvSpPr>
        <p:spPr>
          <a:xfrm>
            <a:off x="1054100" y="48768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heures_lms_total</a:t>
            </a:r>
          </a:p>
        </p:txBody>
      </p:sp>
      <p:sp>
        <p:nvSpPr>
          <p:cNvPr id="126" name="T126"/>
          <p:cNvSpPr txBox="1"/>
          <p:nvPr/>
        </p:nvSpPr>
        <p:spPr>
          <a:xfrm>
            <a:off x="4292600" y="4876800"/>
            <a:ext cx="1651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décimal</a:t>
            </a:r>
          </a:p>
        </p:txBody>
      </p:sp>
      <p:sp>
        <p:nvSpPr>
          <p:cNvPr id="127" name="T127"/>
          <p:cNvSpPr txBox="1"/>
          <p:nvPr/>
        </p:nvSpPr>
        <p:spPr>
          <a:xfrm>
            <a:off x="6007100" y="4876800"/>
            <a:ext cx="3429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0 à 250</a:t>
            </a:r>
          </a:p>
        </p:txBody>
      </p:sp>
      <p:sp>
        <p:nvSpPr>
          <p:cNvPr id="128" name="R128"/>
          <p:cNvSpPr/>
          <p:nvPr/>
        </p:nvSpPr>
        <p:spPr>
          <a:xfrm>
            <a:off x="1054100" y="5346700"/>
            <a:ext cx="8382000" cy="9525"/>
          </a:xfrm>
          <a:prstGeom prst="rect">
            <a:avLst/>
          </a:prstGeom>
          <a:solidFill>
            <a:srgbClr val="E2E8F0"/>
          </a:solidFill>
          <a:ln>
            <a:noFill/>
          </a:ln>
        </p:spPr>
        <p:txBody>
          <a:bodyPr rtlCol="0" anchor="ctr"/>
          <a:lstStyle/>
          <a:p>
            <a:endParaRPr lang="fr-FR" dirty="0"/>
          </a:p>
        </p:txBody>
      </p:sp>
      <p:sp>
        <p:nvSpPr>
          <p:cNvPr id="129" name="T129"/>
          <p:cNvSpPr txBox="1"/>
          <p:nvPr/>
        </p:nvSpPr>
        <p:spPr>
          <a:xfrm>
            <a:off x="1054100" y="54102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nb_ue_total</a:t>
            </a:r>
          </a:p>
        </p:txBody>
      </p:sp>
      <p:sp>
        <p:nvSpPr>
          <p:cNvPr id="130" name="T130"/>
          <p:cNvSpPr txBox="1"/>
          <p:nvPr/>
        </p:nvSpPr>
        <p:spPr>
          <a:xfrm>
            <a:off x="4292600" y="5410200"/>
            <a:ext cx="1651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entier</a:t>
            </a:r>
          </a:p>
        </p:txBody>
      </p:sp>
      <p:sp>
        <p:nvSpPr>
          <p:cNvPr id="131" name="T131"/>
          <p:cNvSpPr txBox="1"/>
          <p:nvPr/>
        </p:nvSpPr>
        <p:spPr>
          <a:xfrm>
            <a:off x="6007100" y="5410200"/>
            <a:ext cx="3429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 1</a:t>
            </a:r>
          </a:p>
        </p:txBody>
      </p:sp>
      <p:sp>
        <p:nvSpPr>
          <p:cNvPr id="132" name="R132"/>
          <p:cNvSpPr/>
          <p:nvPr/>
        </p:nvSpPr>
        <p:spPr>
          <a:xfrm>
            <a:off x="1054100" y="5880100"/>
            <a:ext cx="8382000" cy="9525"/>
          </a:xfrm>
          <a:prstGeom prst="rect">
            <a:avLst/>
          </a:prstGeom>
          <a:solidFill>
            <a:srgbClr val="E2E8F0"/>
          </a:solidFill>
          <a:ln>
            <a:noFill/>
          </a:ln>
        </p:spPr>
        <p:txBody>
          <a:bodyPr rtlCol="0" anchor="ctr"/>
          <a:lstStyle/>
          <a:p>
            <a:endParaRPr lang="fr-FR" dirty="0"/>
          </a:p>
        </p:txBody>
      </p:sp>
      <p:sp>
        <p:nvSpPr>
          <p:cNvPr id="133" name="T133"/>
          <p:cNvSpPr txBox="1"/>
          <p:nvPr/>
        </p:nvSpPr>
        <p:spPr>
          <a:xfrm>
            <a:off x="1054100" y="59436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nb_devoirs_total</a:t>
            </a:r>
          </a:p>
        </p:txBody>
      </p:sp>
      <p:sp>
        <p:nvSpPr>
          <p:cNvPr id="134" name="T134"/>
          <p:cNvSpPr txBox="1"/>
          <p:nvPr/>
        </p:nvSpPr>
        <p:spPr>
          <a:xfrm>
            <a:off x="4292600" y="5943600"/>
            <a:ext cx="1651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entier</a:t>
            </a:r>
          </a:p>
        </p:txBody>
      </p:sp>
      <p:sp>
        <p:nvSpPr>
          <p:cNvPr id="135" name="T135"/>
          <p:cNvSpPr txBox="1"/>
          <p:nvPr/>
        </p:nvSpPr>
        <p:spPr>
          <a:xfrm>
            <a:off x="6007100" y="5943600"/>
            <a:ext cx="3429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 1</a:t>
            </a:r>
          </a:p>
        </p:txBody>
      </p:sp>
      <p:sp>
        <p:nvSpPr>
          <p:cNvPr id="136" name="R136"/>
          <p:cNvSpPr/>
          <p:nvPr/>
        </p:nvSpPr>
        <p:spPr>
          <a:xfrm>
            <a:off x="1054100" y="6413500"/>
            <a:ext cx="8382000" cy="9525"/>
          </a:xfrm>
          <a:prstGeom prst="rect">
            <a:avLst/>
          </a:prstGeom>
          <a:solidFill>
            <a:srgbClr val="E2E8F0"/>
          </a:solidFill>
          <a:ln>
            <a:noFill/>
          </a:ln>
        </p:spPr>
        <p:txBody>
          <a:bodyPr rtlCol="0" anchor="ctr"/>
          <a:lstStyle/>
          <a:p>
            <a:endParaRPr lang="fr-FR" dirty="0"/>
          </a:p>
        </p:txBody>
      </p:sp>
      <p:sp>
        <p:nvSpPr>
          <p:cNvPr id="137" name="T137"/>
          <p:cNvSpPr txBox="1"/>
          <p:nvPr/>
        </p:nvSpPr>
        <p:spPr>
          <a:xfrm>
            <a:off x="1054100" y="64770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nb_devoirs_rendus</a:t>
            </a:r>
          </a:p>
        </p:txBody>
      </p:sp>
      <p:sp>
        <p:nvSpPr>
          <p:cNvPr id="138" name="T138"/>
          <p:cNvSpPr txBox="1"/>
          <p:nvPr/>
        </p:nvSpPr>
        <p:spPr>
          <a:xfrm>
            <a:off x="4292600" y="6477000"/>
            <a:ext cx="1651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entier</a:t>
            </a:r>
          </a:p>
        </p:txBody>
      </p:sp>
      <p:sp>
        <p:nvSpPr>
          <p:cNvPr id="139" name="T139"/>
          <p:cNvSpPr txBox="1"/>
          <p:nvPr/>
        </p:nvSpPr>
        <p:spPr>
          <a:xfrm>
            <a:off x="6007100" y="6477000"/>
            <a:ext cx="3429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 0</a:t>
            </a:r>
          </a:p>
        </p:txBody>
      </p:sp>
      <p:sp>
        <p:nvSpPr>
          <p:cNvPr id="140" name="R140"/>
          <p:cNvSpPr/>
          <p:nvPr/>
        </p:nvSpPr>
        <p:spPr>
          <a:xfrm>
            <a:off x="1054100" y="6946900"/>
            <a:ext cx="8382000" cy="9525"/>
          </a:xfrm>
          <a:prstGeom prst="rect">
            <a:avLst/>
          </a:prstGeom>
          <a:solidFill>
            <a:srgbClr val="E2E8F0"/>
          </a:solidFill>
          <a:ln>
            <a:noFill/>
          </a:ln>
        </p:spPr>
        <p:txBody>
          <a:bodyPr rtlCol="0" anchor="ctr"/>
          <a:lstStyle/>
          <a:p>
            <a:endParaRPr lang="fr-FR" dirty="0"/>
          </a:p>
        </p:txBody>
      </p:sp>
      <p:sp>
        <p:nvSpPr>
          <p:cNvPr id="141" name="T141"/>
          <p:cNvSpPr txBox="1"/>
          <p:nvPr/>
        </p:nvSpPr>
        <p:spPr>
          <a:xfrm>
            <a:off x="1054100" y="70104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retards_rendus</a:t>
            </a:r>
          </a:p>
        </p:txBody>
      </p:sp>
      <p:sp>
        <p:nvSpPr>
          <p:cNvPr id="142" name="T142"/>
          <p:cNvSpPr txBox="1"/>
          <p:nvPr/>
        </p:nvSpPr>
        <p:spPr>
          <a:xfrm>
            <a:off x="4292600" y="7010400"/>
            <a:ext cx="1651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entier</a:t>
            </a:r>
          </a:p>
        </p:txBody>
      </p:sp>
      <p:sp>
        <p:nvSpPr>
          <p:cNvPr id="143" name="T143"/>
          <p:cNvSpPr txBox="1"/>
          <p:nvPr/>
        </p:nvSpPr>
        <p:spPr>
          <a:xfrm>
            <a:off x="6007100" y="7010400"/>
            <a:ext cx="3429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 0</a:t>
            </a:r>
          </a:p>
        </p:txBody>
      </p:sp>
      <p:sp>
        <p:nvSpPr>
          <p:cNvPr id="144" name="R144"/>
          <p:cNvSpPr/>
          <p:nvPr/>
        </p:nvSpPr>
        <p:spPr>
          <a:xfrm>
            <a:off x="1054100" y="7480300"/>
            <a:ext cx="8382000" cy="9525"/>
          </a:xfrm>
          <a:prstGeom prst="rect">
            <a:avLst/>
          </a:prstGeom>
          <a:solidFill>
            <a:srgbClr val="E2E8F0"/>
          </a:solidFill>
          <a:ln>
            <a:noFill/>
          </a:ln>
        </p:spPr>
        <p:txBody>
          <a:bodyPr rtlCol="0" anchor="ctr"/>
          <a:lstStyle/>
          <a:p>
            <a:endParaRPr lang="fr-FR" dirty="0"/>
          </a:p>
        </p:txBody>
      </p:sp>
      <p:sp>
        <p:nvSpPr>
          <p:cNvPr id="145" name="T145"/>
          <p:cNvSpPr txBox="1"/>
          <p:nvPr/>
        </p:nvSpPr>
        <p:spPr>
          <a:xfrm>
            <a:off x="1054100" y="75438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messages_forum</a:t>
            </a:r>
          </a:p>
        </p:txBody>
      </p:sp>
      <p:sp>
        <p:nvSpPr>
          <p:cNvPr id="146" name="T146"/>
          <p:cNvSpPr txBox="1"/>
          <p:nvPr/>
        </p:nvSpPr>
        <p:spPr>
          <a:xfrm>
            <a:off x="4292600" y="7543800"/>
            <a:ext cx="1651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entier</a:t>
            </a:r>
          </a:p>
        </p:txBody>
      </p:sp>
      <p:sp>
        <p:nvSpPr>
          <p:cNvPr id="147" name="T147"/>
          <p:cNvSpPr txBox="1"/>
          <p:nvPr/>
        </p:nvSpPr>
        <p:spPr>
          <a:xfrm>
            <a:off x="6007100" y="7543800"/>
            <a:ext cx="3429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 0</a:t>
            </a:r>
          </a:p>
        </p:txBody>
      </p:sp>
      <p:sp>
        <p:nvSpPr>
          <p:cNvPr id="148" name="R148"/>
          <p:cNvSpPr/>
          <p:nvPr/>
        </p:nvSpPr>
        <p:spPr>
          <a:xfrm>
            <a:off x="1047750" y="8221663"/>
            <a:ext cx="8382000" cy="9525"/>
          </a:xfrm>
          <a:prstGeom prst="rect">
            <a:avLst/>
          </a:prstGeom>
          <a:solidFill>
            <a:srgbClr val="E2E8F0"/>
          </a:solidFill>
          <a:ln>
            <a:noFill/>
          </a:ln>
        </p:spPr>
        <p:txBody>
          <a:bodyPr rtlCol="0" anchor="ctr"/>
          <a:lstStyle/>
          <a:p>
            <a:endParaRPr lang="fr-FR" dirty="0"/>
          </a:p>
        </p:txBody>
      </p:sp>
      <p:sp>
        <p:nvSpPr>
          <p:cNvPr id="149" name="T149"/>
          <p:cNvSpPr txBox="1"/>
          <p:nvPr/>
        </p:nvSpPr>
        <p:spPr>
          <a:xfrm>
            <a:off x="9880600" y="1905000"/>
            <a:ext cx="7366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CHAMPS OPTIONNELS (5)</a:t>
            </a:r>
          </a:p>
        </p:txBody>
      </p:sp>
      <p:sp>
        <p:nvSpPr>
          <p:cNvPr id="150" name="T150"/>
          <p:cNvSpPr txBox="1"/>
          <p:nvPr/>
        </p:nvSpPr>
        <p:spPr>
          <a:xfrm>
            <a:off x="9880600" y="2311400"/>
            <a:ext cx="3175000" cy="3048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CHAMP</a:t>
            </a:r>
          </a:p>
        </p:txBody>
      </p:sp>
      <p:sp>
        <p:nvSpPr>
          <p:cNvPr id="151" name="T151"/>
          <p:cNvSpPr txBox="1"/>
          <p:nvPr/>
        </p:nvSpPr>
        <p:spPr>
          <a:xfrm>
            <a:off x="13119100" y="2311400"/>
            <a:ext cx="1524000" cy="3048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TYPE</a:t>
            </a:r>
          </a:p>
        </p:txBody>
      </p:sp>
      <p:sp>
        <p:nvSpPr>
          <p:cNvPr id="152" name="T152"/>
          <p:cNvSpPr txBox="1"/>
          <p:nvPr/>
        </p:nvSpPr>
        <p:spPr>
          <a:xfrm>
            <a:off x="14706600" y="2311400"/>
            <a:ext cx="2540000" cy="3048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CONTRAINTE</a:t>
            </a:r>
          </a:p>
        </p:txBody>
      </p:sp>
      <p:sp>
        <p:nvSpPr>
          <p:cNvPr id="153" name="R153"/>
          <p:cNvSpPr/>
          <p:nvPr/>
        </p:nvSpPr>
        <p:spPr>
          <a:xfrm>
            <a:off x="9880600" y="2679700"/>
            <a:ext cx="7366000" cy="9525"/>
          </a:xfrm>
          <a:prstGeom prst="rect">
            <a:avLst/>
          </a:prstGeom>
          <a:solidFill>
            <a:srgbClr val="E2E8F0"/>
          </a:solidFill>
          <a:ln>
            <a:noFill/>
          </a:ln>
        </p:spPr>
        <p:txBody>
          <a:bodyPr rtlCol="0" anchor="ctr"/>
          <a:lstStyle/>
          <a:p>
            <a:endParaRPr lang="fr-FR" dirty="0"/>
          </a:p>
        </p:txBody>
      </p:sp>
      <p:sp>
        <p:nvSpPr>
          <p:cNvPr id="154" name="T154"/>
          <p:cNvSpPr txBox="1"/>
          <p:nvPr/>
        </p:nvSpPr>
        <p:spPr>
          <a:xfrm>
            <a:off x="9880600" y="27432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reference_dossier</a:t>
            </a:r>
          </a:p>
        </p:txBody>
      </p:sp>
      <p:sp>
        <p:nvSpPr>
          <p:cNvPr id="155" name="T155"/>
          <p:cNvSpPr txBox="1"/>
          <p:nvPr/>
        </p:nvSpPr>
        <p:spPr>
          <a:xfrm>
            <a:off x="13119100" y="2743200"/>
            <a:ext cx="1524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texte</a:t>
            </a:r>
          </a:p>
        </p:txBody>
      </p:sp>
      <p:sp>
        <p:nvSpPr>
          <p:cNvPr id="156" name="T156"/>
          <p:cNvSpPr txBox="1"/>
          <p:nvPr/>
        </p:nvSpPr>
        <p:spPr>
          <a:xfrm>
            <a:off x="14706600" y="2743200"/>
            <a:ext cx="2540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nul par défaut</a:t>
            </a:r>
          </a:p>
        </p:txBody>
      </p:sp>
      <p:sp>
        <p:nvSpPr>
          <p:cNvPr id="157" name="R157"/>
          <p:cNvSpPr/>
          <p:nvPr/>
        </p:nvSpPr>
        <p:spPr>
          <a:xfrm>
            <a:off x="9880600" y="3213100"/>
            <a:ext cx="7366000" cy="9525"/>
          </a:xfrm>
          <a:prstGeom prst="rect">
            <a:avLst/>
          </a:prstGeom>
          <a:solidFill>
            <a:srgbClr val="E2E8F0"/>
          </a:solidFill>
          <a:ln>
            <a:noFill/>
          </a:ln>
        </p:spPr>
        <p:txBody>
          <a:bodyPr rtlCol="0" anchor="ctr"/>
          <a:lstStyle/>
          <a:p>
            <a:endParaRPr lang="fr-FR" dirty="0"/>
          </a:p>
        </p:txBody>
      </p:sp>
      <p:sp>
        <p:nvSpPr>
          <p:cNvPr id="158" name="T158"/>
          <p:cNvSpPr txBox="1"/>
          <p:nvPr/>
        </p:nvSpPr>
        <p:spPr>
          <a:xfrm>
            <a:off x="9880600" y="32766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mention_bac</a:t>
            </a:r>
          </a:p>
        </p:txBody>
      </p:sp>
      <p:sp>
        <p:nvSpPr>
          <p:cNvPr id="159" name="T159"/>
          <p:cNvSpPr txBox="1"/>
          <p:nvPr/>
        </p:nvSpPr>
        <p:spPr>
          <a:xfrm>
            <a:off x="13119100" y="3276600"/>
            <a:ext cx="1524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énuméré</a:t>
            </a:r>
          </a:p>
        </p:txBody>
      </p:sp>
      <p:sp>
        <p:nvSpPr>
          <p:cNvPr id="160" name="T160"/>
          <p:cNvSpPr txBox="1"/>
          <p:nvPr/>
        </p:nvSpPr>
        <p:spPr>
          <a:xfrm>
            <a:off x="14706600" y="3276600"/>
            <a:ext cx="2540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4 modalités, nul accepté</a:t>
            </a:r>
          </a:p>
        </p:txBody>
      </p:sp>
      <p:sp>
        <p:nvSpPr>
          <p:cNvPr id="161" name="R161"/>
          <p:cNvSpPr/>
          <p:nvPr/>
        </p:nvSpPr>
        <p:spPr>
          <a:xfrm>
            <a:off x="9880600" y="3746500"/>
            <a:ext cx="7366000" cy="9525"/>
          </a:xfrm>
          <a:prstGeom prst="rect">
            <a:avLst/>
          </a:prstGeom>
          <a:solidFill>
            <a:srgbClr val="E2E8F0"/>
          </a:solidFill>
          <a:ln>
            <a:noFill/>
          </a:ln>
        </p:spPr>
        <p:txBody>
          <a:bodyPr rtlCol="0" anchor="ctr"/>
          <a:lstStyle/>
          <a:p>
            <a:endParaRPr lang="fr-FR" dirty="0"/>
          </a:p>
        </p:txBody>
      </p:sp>
      <p:sp>
        <p:nvSpPr>
          <p:cNvPr id="162" name="T162"/>
          <p:cNvSpPr txBox="1"/>
          <p:nvPr/>
        </p:nvSpPr>
        <p:spPr>
          <a:xfrm>
            <a:off x="9880600" y="38100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motivation</a:t>
            </a:r>
          </a:p>
        </p:txBody>
      </p:sp>
      <p:sp>
        <p:nvSpPr>
          <p:cNvPr id="163" name="T163"/>
          <p:cNvSpPr txBox="1"/>
          <p:nvPr/>
        </p:nvSpPr>
        <p:spPr>
          <a:xfrm>
            <a:off x="13119100" y="3810000"/>
            <a:ext cx="1524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décimal</a:t>
            </a:r>
          </a:p>
        </p:txBody>
      </p:sp>
      <p:sp>
        <p:nvSpPr>
          <p:cNvPr id="164" name="T164"/>
          <p:cNvSpPr txBox="1"/>
          <p:nvPr/>
        </p:nvSpPr>
        <p:spPr>
          <a:xfrm>
            <a:off x="14706600" y="3810000"/>
            <a:ext cx="2540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1 à 5, nul accepté</a:t>
            </a:r>
          </a:p>
        </p:txBody>
      </p:sp>
      <p:sp>
        <p:nvSpPr>
          <p:cNvPr id="165" name="R165"/>
          <p:cNvSpPr/>
          <p:nvPr/>
        </p:nvSpPr>
        <p:spPr>
          <a:xfrm>
            <a:off x="9880600" y="4279900"/>
            <a:ext cx="7366000" cy="9525"/>
          </a:xfrm>
          <a:prstGeom prst="rect">
            <a:avLst/>
          </a:prstGeom>
          <a:solidFill>
            <a:srgbClr val="E2E8F0"/>
          </a:solidFill>
          <a:ln>
            <a:noFill/>
          </a:ln>
        </p:spPr>
        <p:txBody>
          <a:bodyPr rtlCol="0" anchor="ctr"/>
          <a:lstStyle/>
          <a:p>
            <a:endParaRPr lang="fr-FR" dirty="0"/>
          </a:p>
        </p:txBody>
      </p:sp>
      <p:sp>
        <p:nvSpPr>
          <p:cNvPr id="166" name="T166"/>
          <p:cNvSpPr txBox="1"/>
          <p:nvPr/>
        </p:nvSpPr>
        <p:spPr>
          <a:xfrm>
            <a:off x="9880600" y="43434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satisfaction</a:t>
            </a:r>
          </a:p>
        </p:txBody>
      </p:sp>
      <p:sp>
        <p:nvSpPr>
          <p:cNvPr id="167" name="T167"/>
          <p:cNvSpPr txBox="1"/>
          <p:nvPr/>
        </p:nvSpPr>
        <p:spPr>
          <a:xfrm>
            <a:off x="13119100" y="4343400"/>
            <a:ext cx="1524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décimal</a:t>
            </a:r>
          </a:p>
        </p:txBody>
      </p:sp>
      <p:sp>
        <p:nvSpPr>
          <p:cNvPr id="168" name="T168"/>
          <p:cNvSpPr txBox="1"/>
          <p:nvPr/>
        </p:nvSpPr>
        <p:spPr>
          <a:xfrm>
            <a:off x="14706600" y="4343400"/>
            <a:ext cx="2540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1 à 5, nul accepté</a:t>
            </a:r>
          </a:p>
        </p:txBody>
      </p:sp>
      <p:sp>
        <p:nvSpPr>
          <p:cNvPr id="169" name="R169"/>
          <p:cNvSpPr/>
          <p:nvPr/>
        </p:nvSpPr>
        <p:spPr>
          <a:xfrm>
            <a:off x="9880600" y="4813300"/>
            <a:ext cx="7366000" cy="9525"/>
          </a:xfrm>
          <a:prstGeom prst="rect">
            <a:avLst/>
          </a:prstGeom>
          <a:solidFill>
            <a:srgbClr val="E2E8F0"/>
          </a:solidFill>
          <a:ln>
            <a:noFill/>
          </a:ln>
        </p:spPr>
        <p:txBody>
          <a:bodyPr rtlCol="0" anchor="ctr"/>
          <a:lstStyle/>
          <a:p>
            <a:endParaRPr lang="fr-FR" dirty="0"/>
          </a:p>
        </p:txBody>
      </p:sp>
      <p:sp>
        <p:nvSpPr>
          <p:cNvPr id="170" name="T170"/>
          <p:cNvSpPr txBox="1"/>
          <p:nvPr/>
        </p:nvSpPr>
        <p:spPr>
          <a:xfrm>
            <a:off x="9880600" y="4876800"/>
            <a:ext cx="3175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sentiment_appartenance</a:t>
            </a:r>
          </a:p>
        </p:txBody>
      </p:sp>
      <p:sp>
        <p:nvSpPr>
          <p:cNvPr id="171" name="T171"/>
          <p:cNvSpPr txBox="1"/>
          <p:nvPr/>
        </p:nvSpPr>
        <p:spPr>
          <a:xfrm>
            <a:off x="13119100" y="4876800"/>
            <a:ext cx="1524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décimal</a:t>
            </a:r>
          </a:p>
        </p:txBody>
      </p:sp>
      <p:sp>
        <p:nvSpPr>
          <p:cNvPr id="172" name="T172"/>
          <p:cNvSpPr txBox="1"/>
          <p:nvPr/>
        </p:nvSpPr>
        <p:spPr>
          <a:xfrm>
            <a:off x="14706600" y="4876800"/>
            <a:ext cx="2540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1 à 5, nul accepté</a:t>
            </a:r>
          </a:p>
        </p:txBody>
      </p:sp>
      <p:sp>
        <p:nvSpPr>
          <p:cNvPr id="173" name="R173"/>
          <p:cNvSpPr/>
          <p:nvPr/>
        </p:nvSpPr>
        <p:spPr>
          <a:xfrm>
            <a:off x="9880600" y="5346700"/>
            <a:ext cx="7366000" cy="9525"/>
          </a:xfrm>
          <a:prstGeom prst="rect">
            <a:avLst/>
          </a:prstGeom>
          <a:solidFill>
            <a:srgbClr val="E2E8F0"/>
          </a:solidFill>
          <a:ln>
            <a:noFill/>
          </a:ln>
        </p:spPr>
        <p:txBody>
          <a:bodyPr rtlCol="0" anchor="ctr"/>
          <a:lstStyle/>
          <a:p>
            <a:endParaRPr lang="fr-FR" dirty="0"/>
          </a:p>
        </p:txBody>
      </p:sp>
      <p:sp>
        <p:nvSpPr>
          <p:cNvPr id="174" name="T174"/>
          <p:cNvSpPr txBox="1"/>
          <p:nvPr/>
        </p:nvSpPr>
        <p:spPr>
          <a:xfrm>
            <a:off x="9880600" y="5461000"/>
            <a:ext cx="7366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CONTRÔLES DU CONTRAT</a:t>
            </a:r>
          </a:p>
        </p:txBody>
      </p:sp>
      <p:sp>
        <p:nvSpPr>
          <p:cNvPr id="175" name="T175"/>
          <p:cNvSpPr txBox="1"/>
          <p:nvPr/>
        </p:nvSpPr>
        <p:spPr>
          <a:xfrm>
            <a:off x="9880600" y="5905500"/>
            <a:ext cx="7366000" cy="2159000"/>
          </a:xfrm>
          <a:prstGeom prst="rect">
            <a:avLst/>
          </a:prstGeom>
          <a:noFill/>
        </p:spPr>
        <p:txBody>
          <a:bodyPr wrap="square" lIns="27432" tIns="27432" rIns="27432" bIns="27432" anchor="t">
            <a:noAutofit/>
          </a:bodyPr>
          <a:lstStyle/>
          <a:p>
            <a:pPr marL="228600" indent="-228600" algn="l">
              <a:lnSpc>
                <a:spcPct val="112000"/>
              </a:lnSpc>
              <a:spcBef>
                <a:spcPts val="500"/>
              </a:spcBef>
              <a:buFont typeface="Arial"/>
              <a:buChar char="•"/>
            </a:pPr>
            <a:r>
              <a:rPr lang="fr-FR" sz="1600" dirty="0">
                <a:solidFill>
                  <a:srgbClr val="4A4A4A"/>
                </a:solidFill>
                <a:latin typeface="Arial"/>
              </a:rPr>
              <a:t>Aucun champ supplémentaire accepté (additionalProperties : false) : une colonne hors périmètre est refusée.</a:t>
            </a:r>
          </a:p>
          <a:p>
            <a:pPr marL="228600" indent="-228600" algn="l">
              <a:lnSpc>
                <a:spcPct val="112000"/>
              </a:lnSpc>
              <a:spcBef>
                <a:spcPts val="500"/>
              </a:spcBef>
              <a:buFont typeface="Arial"/>
              <a:buChar char="•"/>
            </a:pPr>
            <a:r>
              <a:rPr lang="fr-FR" sz="1600" dirty="0">
                <a:solidFill>
                  <a:srgbClr val="4A4A4A"/>
                </a:solidFill>
                <a:latin typeface="Arial"/>
              </a:rPr>
              <a:t>Cohérences inter-champs vérifiées : retards ≤ rendus ≤ total, refus explicite sinon.</a:t>
            </a:r>
          </a:p>
        </p:txBody>
      </p:sp>
      <p:sp>
        <p:nvSpPr>
          <p:cNvPr id="176" name="R176"/>
          <p:cNvSpPr/>
          <p:nvPr/>
        </p:nvSpPr>
        <p:spPr>
          <a:xfrm>
            <a:off x="1047750" y="8145463"/>
            <a:ext cx="15659100" cy="1143000"/>
          </a:xfrm>
          <a:prstGeom prst="roundRect">
            <a:avLst>
              <a:gd name="adj" fmla="val 8700"/>
            </a:avLst>
          </a:prstGeom>
          <a:solidFill>
            <a:srgbClr val="E4F3F7"/>
          </a:solidFill>
          <a:ln>
            <a:noFill/>
          </a:ln>
        </p:spPr>
        <p:txBody>
          <a:bodyPr rtlCol="0" anchor="ctr"/>
          <a:lstStyle/>
          <a:p>
            <a:endParaRPr lang="fr-FR" dirty="0"/>
          </a:p>
        </p:txBody>
      </p:sp>
      <p:sp>
        <p:nvSpPr>
          <p:cNvPr id="177" name="T177"/>
          <p:cNvSpPr txBox="1"/>
          <p:nvPr/>
        </p:nvSpPr>
        <p:spPr>
          <a:xfrm>
            <a:off x="1276350" y="8310563"/>
            <a:ext cx="15049500" cy="889000"/>
          </a:xfrm>
          <a:prstGeom prst="rect">
            <a:avLst/>
          </a:prstGeom>
          <a:noFill/>
        </p:spPr>
        <p:txBody>
          <a:bodyPr wrap="square" lIns="27432" tIns="27432" rIns="27432" bIns="27432" anchor="t">
            <a:noAutofit/>
          </a:bodyPr>
          <a:lstStyle/>
          <a:p>
            <a:pPr algn="l">
              <a:lnSpc>
                <a:spcPct val="112000"/>
              </a:lnSpc>
            </a:pPr>
            <a:r>
              <a:rPr lang="fr-FR" sz="1600" b="1" noProof="0" dirty="0">
                <a:solidFill>
                  <a:srgbClr val="1A6A77"/>
                </a:solidFill>
                <a:latin typeface="Arial"/>
              </a:rPr>
              <a:t>Modalités</a:t>
            </a:r>
            <a:r>
              <a:rPr lang="fr-FR" sz="1600" b="0" noProof="0" dirty="0">
                <a:solidFill>
                  <a:srgbClr val="1A6A77"/>
                </a:solidFill>
                <a:latin typeface="Arial"/>
              </a:rPr>
              <a:t> </a:t>
            </a:r>
          </a:p>
          <a:p>
            <a:pPr marL="285750" indent="-285750" algn="l">
              <a:lnSpc>
                <a:spcPct val="112000"/>
              </a:lnSpc>
              <a:buFont typeface="Arial" panose="020B0604020202020204" pitchFamily="34" charset="0"/>
              <a:buChar char="•"/>
            </a:pPr>
            <a:r>
              <a:rPr lang="fr-FR" sz="1600" b="0" noProof="0" dirty="0" err="1">
                <a:solidFill>
                  <a:srgbClr val="1A6A77"/>
                </a:solidFill>
                <a:latin typeface="Arial"/>
              </a:rPr>
              <a:t>filiere</a:t>
            </a:r>
            <a:r>
              <a:rPr lang="fr-FR" sz="1600" b="0" noProof="0" dirty="0">
                <a:solidFill>
                  <a:srgbClr val="1A6A77"/>
                </a:solidFill>
                <a:latin typeface="Arial"/>
              </a:rPr>
              <a:t> : biologie · droit · gestion · informatique · lettres · mathematiques · psychologie · staps. bac_type : general · technologique · professionnel. </a:t>
            </a:r>
          </a:p>
          <a:p>
            <a:pPr marL="285750" indent="-285750" algn="l">
              <a:lnSpc>
                <a:spcPct val="112000"/>
              </a:lnSpc>
              <a:buFont typeface="Arial" panose="020B0604020202020204" pitchFamily="34" charset="0"/>
              <a:buChar char="•"/>
            </a:pPr>
            <a:r>
              <a:rPr lang="fr-FR" sz="1600" b="0" noProof="0" dirty="0" err="1">
                <a:solidFill>
                  <a:srgbClr val="1A6A77"/>
                </a:solidFill>
                <a:latin typeface="Arial"/>
              </a:rPr>
              <a:t>mention_bac</a:t>
            </a:r>
            <a:r>
              <a:rPr lang="fr-FR" sz="1600" b="0" noProof="0" dirty="0">
                <a:solidFill>
                  <a:srgbClr val="1A6A77"/>
                </a:solidFill>
                <a:latin typeface="Arial"/>
              </a:rPr>
              <a:t> : passable · assez bien · bien · tres bien.</a:t>
            </a:r>
          </a:p>
        </p:txBody>
      </p:sp>
      <p:sp>
        <p:nvSpPr>
          <p:cNvPr id="178" name="T178"/>
          <p:cNvSpPr txBox="1"/>
          <p:nvPr/>
        </p:nvSpPr>
        <p:spPr>
          <a:xfrm>
            <a:off x="1054100" y="9461500"/>
            <a:ext cx="13970000" cy="355600"/>
          </a:xfrm>
          <a:prstGeom prst="rect">
            <a:avLst/>
          </a:prstGeom>
          <a:noFill/>
        </p:spPr>
        <p:txBody>
          <a:bodyPr wrap="square" lIns="27432" tIns="27432" rIns="27432" bIns="27432" anchor="t">
            <a:noAutofit/>
          </a:bodyPr>
          <a:lstStyle/>
          <a:p>
            <a:pPr algn="l"/>
            <a:r>
              <a:rPr lang="fr-FR" b="0" noProof="0" dirty="0">
                <a:solidFill>
                  <a:srgbClr val="6F6F6F"/>
                </a:solidFill>
                <a:latin typeface="Arial"/>
              </a:rPr>
              <a:t>Annexe A5 · source : io_contract.schema.json (entrée</a:t>
            </a:r>
            <a:r>
              <a:rPr lang="fr-FR" dirty="0">
                <a:solidFill>
                  <a:srgbClr val="6F6F6F"/>
                </a:solidFill>
                <a:latin typeface="Arial"/>
              </a:rPr>
              <a:t>)</a:t>
            </a:r>
            <a:endParaRPr lang="fr-FR" b="0" noProof="0" dirty="0">
              <a:solidFill>
                <a:srgbClr val="6F6F6F"/>
              </a:solidFill>
              <a:latin typeface="Arial"/>
            </a:endParaRPr>
          </a:p>
        </p:txBody>
      </p:sp>
      <p:sp>
        <p:nvSpPr>
          <p:cNvPr id="179" name="T179"/>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48</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41507123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500000"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Annexe A5 : Contrat de sortie — CLI et API (2/2)</a:t>
            </a:r>
          </a:p>
        </p:txBody>
      </p:sp>
      <p:sp>
        <p:nvSpPr>
          <p:cNvPr id="103" name="T103"/>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PredictEtudiantReponse · 9 champs requis</a:t>
            </a:r>
          </a:p>
        </p:txBody>
      </p:sp>
      <p:sp>
        <p:nvSpPr>
          <p:cNvPr id="104" name="T104"/>
          <p:cNvSpPr txBox="1"/>
          <p:nvPr/>
        </p:nvSpPr>
        <p:spPr>
          <a:xfrm>
            <a:off x="1054100" y="1905000"/>
            <a:ext cx="8382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RÉPONSE PAR ÉTUDIANT</a:t>
            </a:r>
          </a:p>
        </p:txBody>
      </p:sp>
      <p:sp>
        <p:nvSpPr>
          <p:cNvPr id="105" name="T105"/>
          <p:cNvSpPr txBox="1"/>
          <p:nvPr/>
        </p:nvSpPr>
        <p:spPr>
          <a:xfrm>
            <a:off x="1054100" y="2311400"/>
            <a:ext cx="3048000" cy="3048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CHAMP</a:t>
            </a:r>
          </a:p>
        </p:txBody>
      </p:sp>
      <p:sp>
        <p:nvSpPr>
          <p:cNvPr id="106" name="T106"/>
          <p:cNvSpPr txBox="1"/>
          <p:nvPr/>
        </p:nvSpPr>
        <p:spPr>
          <a:xfrm>
            <a:off x="4165600" y="2311400"/>
            <a:ext cx="1905000" cy="3048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TYPE</a:t>
            </a:r>
          </a:p>
        </p:txBody>
      </p:sp>
      <p:sp>
        <p:nvSpPr>
          <p:cNvPr id="107" name="T107"/>
          <p:cNvSpPr txBox="1"/>
          <p:nvPr/>
        </p:nvSpPr>
        <p:spPr>
          <a:xfrm>
            <a:off x="6134100" y="2311400"/>
            <a:ext cx="3302000" cy="3048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CONTENU</a:t>
            </a:r>
          </a:p>
        </p:txBody>
      </p:sp>
      <p:sp>
        <p:nvSpPr>
          <p:cNvPr id="108" name="R108"/>
          <p:cNvSpPr/>
          <p:nvPr/>
        </p:nvSpPr>
        <p:spPr>
          <a:xfrm>
            <a:off x="1054100" y="2679700"/>
            <a:ext cx="8382000" cy="9525"/>
          </a:xfrm>
          <a:prstGeom prst="rect">
            <a:avLst/>
          </a:prstGeom>
          <a:solidFill>
            <a:srgbClr val="E2E8F0"/>
          </a:solidFill>
          <a:ln>
            <a:noFill/>
          </a:ln>
        </p:spPr>
        <p:txBody>
          <a:bodyPr rtlCol="0" anchor="ctr"/>
          <a:lstStyle/>
          <a:p>
            <a:endParaRPr lang="fr-FR" dirty="0"/>
          </a:p>
        </p:txBody>
      </p:sp>
      <p:sp>
        <p:nvSpPr>
          <p:cNvPr id="109" name="T109"/>
          <p:cNvSpPr txBox="1"/>
          <p:nvPr/>
        </p:nvSpPr>
        <p:spPr>
          <a:xfrm>
            <a:off x="1054100" y="2743200"/>
            <a:ext cx="3048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reference_dossier</a:t>
            </a:r>
          </a:p>
        </p:txBody>
      </p:sp>
      <p:sp>
        <p:nvSpPr>
          <p:cNvPr id="110" name="T110"/>
          <p:cNvSpPr txBox="1"/>
          <p:nvPr/>
        </p:nvSpPr>
        <p:spPr>
          <a:xfrm>
            <a:off x="4165600" y="2743200"/>
            <a:ext cx="1905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texte ou nul</a:t>
            </a:r>
          </a:p>
        </p:txBody>
      </p:sp>
      <p:sp>
        <p:nvSpPr>
          <p:cNvPr id="111" name="T111"/>
          <p:cNvSpPr txBox="1"/>
          <p:nvPr/>
        </p:nvSpPr>
        <p:spPr>
          <a:xfrm>
            <a:off x="6134100" y="2743200"/>
            <a:ext cx="3302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renvoyée telle quelle</a:t>
            </a:r>
          </a:p>
        </p:txBody>
      </p:sp>
      <p:sp>
        <p:nvSpPr>
          <p:cNvPr id="112" name="R112"/>
          <p:cNvSpPr/>
          <p:nvPr/>
        </p:nvSpPr>
        <p:spPr>
          <a:xfrm>
            <a:off x="1054100" y="3213100"/>
            <a:ext cx="8382000" cy="9525"/>
          </a:xfrm>
          <a:prstGeom prst="rect">
            <a:avLst/>
          </a:prstGeom>
          <a:solidFill>
            <a:srgbClr val="E2E8F0"/>
          </a:solidFill>
          <a:ln>
            <a:noFill/>
          </a:ln>
        </p:spPr>
        <p:txBody>
          <a:bodyPr rtlCol="0" anchor="ctr"/>
          <a:lstStyle/>
          <a:p>
            <a:endParaRPr lang="fr-FR" dirty="0"/>
          </a:p>
        </p:txBody>
      </p:sp>
      <p:sp>
        <p:nvSpPr>
          <p:cNvPr id="113" name="T113"/>
          <p:cNvSpPr txBox="1"/>
          <p:nvPr/>
        </p:nvSpPr>
        <p:spPr>
          <a:xfrm>
            <a:off x="1054100" y="3276600"/>
            <a:ext cx="3048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proba_abandon</a:t>
            </a:r>
          </a:p>
        </p:txBody>
      </p:sp>
      <p:sp>
        <p:nvSpPr>
          <p:cNvPr id="114" name="T114"/>
          <p:cNvSpPr txBox="1"/>
          <p:nvPr/>
        </p:nvSpPr>
        <p:spPr>
          <a:xfrm>
            <a:off x="4165600" y="3276600"/>
            <a:ext cx="1905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décimal 0 à 1</a:t>
            </a:r>
          </a:p>
        </p:txBody>
      </p:sp>
      <p:sp>
        <p:nvSpPr>
          <p:cNvPr id="115" name="T115"/>
          <p:cNvSpPr txBox="1"/>
          <p:nvPr/>
        </p:nvSpPr>
        <p:spPr>
          <a:xfrm>
            <a:off x="6134100" y="3276600"/>
            <a:ext cx="3302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sortie principale</a:t>
            </a:r>
          </a:p>
        </p:txBody>
      </p:sp>
      <p:sp>
        <p:nvSpPr>
          <p:cNvPr id="116" name="R116"/>
          <p:cNvSpPr/>
          <p:nvPr/>
        </p:nvSpPr>
        <p:spPr>
          <a:xfrm>
            <a:off x="1054100" y="3746500"/>
            <a:ext cx="8382000" cy="9525"/>
          </a:xfrm>
          <a:prstGeom prst="rect">
            <a:avLst/>
          </a:prstGeom>
          <a:solidFill>
            <a:srgbClr val="E2E8F0"/>
          </a:solidFill>
          <a:ln>
            <a:noFill/>
          </a:ln>
        </p:spPr>
        <p:txBody>
          <a:bodyPr rtlCol="0" anchor="ctr"/>
          <a:lstStyle/>
          <a:p>
            <a:endParaRPr lang="fr-FR" dirty="0"/>
          </a:p>
        </p:txBody>
      </p:sp>
      <p:sp>
        <p:nvSpPr>
          <p:cNvPr id="117" name="T117"/>
          <p:cNvSpPr txBox="1"/>
          <p:nvPr/>
        </p:nvSpPr>
        <p:spPr>
          <a:xfrm>
            <a:off x="1054100" y="3810000"/>
            <a:ext cx="3048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moyenne_finale</a:t>
            </a:r>
          </a:p>
        </p:txBody>
      </p:sp>
      <p:sp>
        <p:nvSpPr>
          <p:cNvPr id="118" name="T118"/>
          <p:cNvSpPr txBox="1"/>
          <p:nvPr/>
        </p:nvSpPr>
        <p:spPr>
          <a:xfrm>
            <a:off x="4165600" y="3810000"/>
            <a:ext cx="1905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décimal 0 à 20</a:t>
            </a:r>
          </a:p>
        </p:txBody>
      </p:sp>
      <p:sp>
        <p:nvSpPr>
          <p:cNvPr id="119" name="T119"/>
          <p:cNvSpPr txBox="1"/>
          <p:nvPr/>
        </p:nvSpPr>
        <p:spPr>
          <a:xfrm>
            <a:off x="6134100" y="3810000"/>
            <a:ext cx="3302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estimation /20, secondaire</a:t>
            </a:r>
          </a:p>
        </p:txBody>
      </p:sp>
      <p:sp>
        <p:nvSpPr>
          <p:cNvPr id="120" name="R120"/>
          <p:cNvSpPr/>
          <p:nvPr/>
        </p:nvSpPr>
        <p:spPr>
          <a:xfrm>
            <a:off x="1054100" y="4279900"/>
            <a:ext cx="8382000" cy="9525"/>
          </a:xfrm>
          <a:prstGeom prst="rect">
            <a:avLst/>
          </a:prstGeom>
          <a:solidFill>
            <a:srgbClr val="E2E8F0"/>
          </a:solidFill>
          <a:ln>
            <a:noFill/>
          </a:ln>
        </p:spPr>
        <p:txBody>
          <a:bodyPr rtlCol="0" anchor="ctr"/>
          <a:lstStyle/>
          <a:p>
            <a:endParaRPr lang="fr-FR" dirty="0"/>
          </a:p>
        </p:txBody>
      </p:sp>
      <p:sp>
        <p:nvSpPr>
          <p:cNvPr id="121" name="T121"/>
          <p:cNvSpPr txBox="1"/>
          <p:nvPr/>
        </p:nvSpPr>
        <p:spPr>
          <a:xfrm>
            <a:off x="1054100" y="4343400"/>
            <a:ext cx="3048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signaled</a:t>
            </a:r>
          </a:p>
        </p:txBody>
      </p:sp>
      <p:sp>
        <p:nvSpPr>
          <p:cNvPr id="122" name="T122"/>
          <p:cNvSpPr txBox="1"/>
          <p:nvPr/>
        </p:nvSpPr>
        <p:spPr>
          <a:xfrm>
            <a:off x="4165600" y="4343400"/>
            <a:ext cx="1905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booléen ou nul</a:t>
            </a:r>
          </a:p>
        </p:txBody>
      </p:sp>
      <p:sp>
        <p:nvSpPr>
          <p:cNvPr id="123" name="T123"/>
          <p:cNvSpPr txBox="1"/>
          <p:nvPr/>
        </p:nvSpPr>
        <p:spPr>
          <a:xfrm>
            <a:off x="6134100" y="4343400"/>
            <a:ext cx="3302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seulement si activé</a:t>
            </a:r>
          </a:p>
        </p:txBody>
      </p:sp>
      <p:sp>
        <p:nvSpPr>
          <p:cNvPr id="124" name="R124"/>
          <p:cNvSpPr/>
          <p:nvPr/>
        </p:nvSpPr>
        <p:spPr>
          <a:xfrm>
            <a:off x="1054100" y="4813300"/>
            <a:ext cx="8382000" cy="9525"/>
          </a:xfrm>
          <a:prstGeom prst="rect">
            <a:avLst/>
          </a:prstGeom>
          <a:solidFill>
            <a:srgbClr val="E2E8F0"/>
          </a:solidFill>
          <a:ln>
            <a:noFill/>
          </a:ln>
        </p:spPr>
        <p:txBody>
          <a:bodyPr rtlCol="0" anchor="ctr"/>
          <a:lstStyle/>
          <a:p>
            <a:endParaRPr lang="fr-FR" dirty="0"/>
          </a:p>
        </p:txBody>
      </p:sp>
      <p:sp>
        <p:nvSpPr>
          <p:cNvPr id="125" name="T125"/>
          <p:cNvSpPr txBox="1"/>
          <p:nvPr/>
        </p:nvSpPr>
        <p:spPr>
          <a:xfrm>
            <a:off x="1054100" y="4876800"/>
            <a:ext cx="3048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seuil_applique</a:t>
            </a:r>
          </a:p>
        </p:txBody>
      </p:sp>
      <p:sp>
        <p:nvSpPr>
          <p:cNvPr id="126" name="T126"/>
          <p:cNvSpPr txBox="1"/>
          <p:nvPr/>
        </p:nvSpPr>
        <p:spPr>
          <a:xfrm>
            <a:off x="4165600" y="4876800"/>
            <a:ext cx="1905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décimal ou nul</a:t>
            </a:r>
          </a:p>
        </p:txBody>
      </p:sp>
      <p:sp>
        <p:nvSpPr>
          <p:cNvPr id="127" name="T127"/>
          <p:cNvSpPr txBox="1"/>
          <p:nvPr/>
        </p:nvSpPr>
        <p:spPr>
          <a:xfrm>
            <a:off x="6134100" y="4876800"/>
            <a:ext cx="3302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seuil retenu pour l'appel</a:t>
            </a:r>
          </a:p>
        </p:txBody>
      </p:sp>
      <p:sp>
        <p:nvSpPr>
          <p:cNvPr id="128" name="R128"/>
          <p:cNvSpPr/>
          <p:nvPr/>
        </p:nvSpPr>
        <p:spPr>
          <a:xfrm>
            <a:off x="1054100" y="5346700"/>
            <a:ext cx="8382000" cy="9525"/>
          </a:xfrm>
          <a:prstGeom prst="rect">
            <a:avLst/>
          </a:prstGeom>
          <a:solidFill>
            <a:srgbClr val="E2E8F0"/>
          </a:solidFill>
          <a:ln>
            <a:noFill/>
          </a:ln>
        </p:spPr>
        <p:txBody>
          <a:bodyPr rtlCol="0" anchor="ctr"/>
          <a:lstStyle/>
          <a:p>
            <a:endParaRPr lang="fr-FR" dirty="0"/>
          </a:p>
        </p:txBody>
      </p:sp>
      <p:sp>
        <p:nvSpPr>
          <p:cNvPr id="129" name="T129"/>
          <p:cNvSpPr txBox="1"/>
          <p:nvPr/>
        </p:nvSpPr>
        <p:spPr>
          <a:xfrm>
            <a:off x="1054100" y="5410200"/>
            <a:ext cx="3048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provenance_seuil</a:t>
            </a:r>
          </a:p>
        </p:txBody>
      </p:sp>
      <p:sp>
        <p:nvSpPr>
          <p:cNvPr id="130" name="T130"/>
          <p:cNvSpPr txBox="1"/>
          <p:nvPr/>
        </p:nvSpPr>
        <p:spPr>
          <a:xfrm>
            <a:off x="4165600" y="5410200"/>
            <a:ext cx="1905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texte ou nul</a:t>
            </a:r>
          </a:p>
        </p:txBody>
      </p:sp>
      <p:sp>
        <p:nvSpPr>
          <p:cNvPr id="131" name="T131"/>
          <p:cNvSpPr txBox="1"/>
          <p:nvPr/>
        </p:nvSpPr>
        <p:spPr>
          <a:xfrm>
            <a:off x="6134100" y="5410200"/>
            <a:ext cx="3302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défaut ou surcharge</a:t>
            </a:r>
          </a:p>
        </p:txBody>
      </p:sp>
      <p:sp>
        <p:nvSpPr>
          <p:cNvPr id="132" name="R132"/>
          <p:cNvSpPr/>
          <p:nvPr/>
        </p:nvSpPr>
        <p:spPr>
          <a:xfrm>
            <a:off x="1054100" y="5880100"/>
            <a:ext cx="8382000" cy="9525"/>
          </a:xfrm>
          <a:prstGeom prst="rect">
            <a:avLst/>
          </a:prstGeom>
          <a:solidFill>
            <a:srgbClr val="E2E8F0"/>
          </a:solidFill>
          <a:ln>
            <a:noFill/>
          </a:ln>
        </p:spPr>
        <p:txBody>
          <a:bodyPr rtlCol="0" anchor="ctr"/>
          <a:lstStyle/>
          <a:p>
            <a:endParaRPr lang="fr-FR" dirty="0"/>
          </a:p>
        </p:txBody>
      </p:sp>
      <p:sp>
        <p:nvSpPr>
          <p:cNvPr id="133" name="T133"/>
          <p:cNvSpPr txBox="1"/>
          <p:nvPr/>
        </p:nvSpPr>
        <p:spPr>
          <a:xfrm>
            <a:off x="1054100" y="5943600"/>
            <a:ext cx="3048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version_modele</a:t>
            </a:r>
          </a:p>
        </p:txBody>
      </p:sp>
      <p:sp>
        <p:nvSpPr>
          <p:cNvPr id="134" name="T134"/>
          <p:cNvSpPr txBox="1"/>
          <p:nvPr/>
        </p:nvSpPr>
        <p:spPr>
          <a:xfrm>
            <a:off x="4165600" y="5943600"/>
            <a:ext cx="1905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texte</a:t>
            </a:r>
          </a:p>
        </p:txBody>
      </p:sp>
      <p:sp>
        <p:nvSpPr>
          <p:cNvPr id="135" name="T135"/>
          <p:cNvSpPr txBox="1"/>
          <p:nvPr/>
        </p:nvSpPr>
        <p:spPr>
          <a:xfrm>
            <a:off x="6134100" y="5943600"/>
            <a:ext cx="3302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version de l'artefact servi</a:t>
            </a:r>
          </a:p>
        </p:txBody>
      </p:sp>
      <p:sp>
        <p:nvSpPr>
          <p:cNvPr id="136" name="R136"/>
          <p:cNvSpPr/>
          <p:nvPr/>
        </p:nvSpPr>
        <p:spPr>
          <a:xfrm>
            <a:off x="1054100" y="6413500"/>
            <a:ext cx="8382000" cy="9525"/>
          </a:xfrm>
          <a:prstGeom prst="rect">
            <a:avLst/>
          </a:prstGeom>
          <a:solidFill>
            <a:srgbClr val="E2E8F0"/>
          </a:solidFill>
          <a:ln>
            <a:noFill/>
          </a:ln>
        </p:spPr>
        <p:txBody>
          <a:bodyPr rtlCol="0" anchor="ctr"/>
          <a:lstStyle/>
          <a:p>
            <a:endParaRPr lang="fr-FR" dirty="0"/>
          </a:p>
        </p:txBody>
      </p:sp>
      <p:sp>
        <p:nvSpPr>
          <p:cNvPr id="137" name="T137"/>
          <p:cNvSpPr txBox="1"/>
          <p:nvPr/>
        </p:nvSpPr>
        <p:spPr>
          <a:xfrm>
            <a:off x="1054100" y="6477000"/>
            <a:ext cx="3048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contributions_theme</a:t>
            </a:r>
          </a:p>
        </p:txBody>
      </p:sp>
      <p:sp>
        <p:nvSpPr>
          <p:cNvPr id="138" name="T138"/>
          <p:cNvSpPr txBox="1"/>
          <p:nvPr/>
        </p:nvSpPr>
        <p:spPr>
          <a:xfrm>
            <a:off x="4165600" y="6477000"/>
            <a:ext cx="1905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liste</a:t>
            </a:r>
          </a:p>
        </p:txBody>
      </p:sp>
      <p:sp>
        <p:nvSpPr>
          <p:cNvPr id="139" name="T139"/>
          <p:cNvSpPr txBox="1"/>
          <p:nvPr/>
        </p:nvSpPr>
        <p:spPr>
          <a:xfrm>
            <a:off x="6134100" y="6477000"/>
            <a:ext cx="3302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thème + contribution signée</a:t>
            </a:r>
          </a:p>
        </p:txBody>
      </p:sp>
      <p:sp>
        <p:nvSpPr>
          <p:cNvPr id="140" name="R140"/>
          <p:cNvSpPr/>
          <p:nvPr/>
        </p:nvSpPr>
        <p:spPr>
          <a:xfrm>
            <a:off x="1054100" y="6946900"/>
            <a:ext cx="8382000" cy="9525"/>
          </a:xfrm>
          <a:prstGeom prst="rect">
            <a:avLst/>
          </a:prstGeom>
          <a:solidFill>
            <a:srgbClr val="E2E8F0"/>
          </a:solidFill>
          <a:ln>
            <a:noFill/>
          </a:ln>
        </p:spPr>
        <p:txBody>
          <a:bodyPr rtlCol="0" anchor="ctr"/>
          <a:lstStyle/>
          <a:p>
            <a:endParaRPr lang="fr-FR" dirty="0"/>
          </a:p>
        </p:txBody>
      </p:sp>
      <p:sp>
        <p:nvSpPr>
          <p:cNvPr id="141" name="T141"/>
          <p:cNvSpPr txBox="1"/>
          <p:nvPr/>
        </p:nvSpPr>
        <p:spPr>
          <a:xfrm>
            <a:off x="1054100" y="7010400"/>
            <a:ext cx="3048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contributions_variable</a:t>
            </a:r>
          </a:p>
        </p:txBody>
      </p:sp>
      <p:sp>
        <p:nvSpPr>
          <p:cNvPr id="142" name="T142"/>
          <p:cNvSpPr txBox="1"/>
          <p:nvPr/>
        </p:nvSpPr>
        <p:spPr>
          <a:xfrm>
            <a:off x="4165600" y="7010400"/>
            <a:ext cx="1905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liste</a:t>
            </a:r>
          </a:p>
        </p:txBody>
      </p:sp>
      <p:sp>
        <p:nvSpPr>
          <p:cNvPr id="143" name="T143"/>
          <p:cNvSpPr txBox="1"/>
          <p:nvPr/>
        </p:nvSpPr>
        <p:spPr>
          <a:xfrm>
            <a:off x="6134100" y="7010400"/>
            <a:ext cx="3302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variable + contribution signée</a:t>
            </a:r>
          </a:p>
        </p:txBody>
      </p:sp>
      <p:sp>
        <p:nvSpPr>
          <p:cNvPr id="144" name="R144"/>
          <p:cNvSpPr/>
          <p:nvPr/>
        </p:nvSpPr>
        <p:spPr>
          <a:xfrm>
            <a:off x="1054100" y="7480300"/>
            <a:ext cx="8382000" cy="9525"/>
          </a:xfrm>
          <a:prstGeom prst="rect">
            <a:avLst/>
          </a:prstGeom>
          <a:solidFill>
            <a:srgbClr val="E2E8F0"/>
          </a:solidFill>
          <a:ln>
            <a:noFill/>
          </a:ln>
        </p:spPr>
        <p:txBody>
          <a:bodyPr rtlCol="0" anchor="ctr"/>
          <a:lstStyle/>
          <a:p>
            <a:endParaRPr lang="fr-FR" dirty="0"/>
          </a:p>
        </p:txBody>
      </p:sp>
      <p:sp>
        <p:nvSpPr>
          <p:cNvPr id="145" name="T145"/>
          <p:cNvSpPr txBox="1"/>
          <p:nvPr/>
        </p:nvSpPr>
        <p:spPr>
          <a:xfrm>
            <a:off x="9880600" y="1905000"/>
            <a:ext cx="7366000" cy="304800"/>
          </a:xfrm>
          <a:prstGeom prst="rect">
            <a:avLst/>
          </a:prstGeom>
          <a:noFill/>
        </p:spPr>
        <p:txBody>
          <a:bodyPr wrap="square" lIns="27432" tIns="27432" rIns="27432" bIns="27432" anchor="t">
            <a:noAutofit/>
          </a:bodyPr>
          <a:lstStyle/>
          <a:p>
            <a:pPr algn="l"/>
            <a:r>
              <a:rPr lang="fr-FR" sz="1800" b="1" spc="162" noProof="0" dirty="0">
                <a:solidFill>
                  <a:srgbClr val="6F6F6F"/>
                </a:solidFill>
                <a:latin typeface="Arial"/>
              </a:rPr>
              <a:t>RÉPONSE COHORTE (API)</a:t>
            </a:r>
          </a:p>
        </p:txBody>
      </p:sp>
      <p:sp>
        <p:nvSpPr>
          <p:cNvPr id="146" name="T146"/>
          <p:cNvSpPr txBox="1"/>
          <p:nvPr/>
        </p:nvSpPr>
        <p:spPr>
          <a:xfrm>
            <a:off x="9880600" y="2311400"/>
            <a:ext cx="2921000" cy="3048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CHAMP</a:t>
            </a:r>
          </a:p>
        </p:txBody>
      </p:sp>
      <p:sp>
        <p:nvSpPr>
          <p:cNvPr id="147" name="T147"/>
          <p:cNvSpPr txBox="1"/>
          <p:nvPr/>
        </p:nvSpPr>
        <p:spPr>
          <a:xfrm>
            <a:off x="12928600" y="2311400"/>
            <a:ext cx="4318000" cy="3048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CONTENU</a:t>
            </a:r>
          </a:p>
        </p:txBody>
      </p:sp>
      <p:sp>
        <p:nvSpPr>
          <p:cNvPr id="148" name="R148"/>
          <p:cNvSpPr/>
          <p:nvPr/>
        </p:nvSpPr>
        <p:spPr>
          <a:xfrm>
            <a:off x="9880600" y="2679700"/>
            <a:ext cx="7366000" cy="9525"/>
          </a:xfrm>
          <a:prstGeom prst="rect">
            <a:avLst/>
          </a:prstGeom>
          <a:solidFill>
            <a:srgbClr val="E2E8F0"/>
          </a:solidFill>
          <a:ln>
            <a:noFill/>
          </a:ln>
        </p:spPr>
        <p:txBody>
          <a:bodyPr rtlCol="0" anchor="ctr"/>
          <a:lstStyle/>
          <a:p>
            <a:endParaRPr lang="fr-FR" dirty="0"/>
          </a:p>
        </p:txBody>
      </p:sp>
      <p:sp>
        <p:nvSpPr>
          <p:cNvPr id="149" name="T149"/>
          <p:cNvSpPr txBox="1"/>
          <p:nvPr/>
        </p:nvSpPr>
        <p:spPr>
          <a:xfrm>
            <a:off x="9880600" y="2743200"/>
            <a:ext cx="2921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seuil_applique</a:t>
            </a:r>
          </a:p>
        </p:txBody>
      </p:sp>
      <p:sp>
        <p:nvSpPr>
          <p:cNvPr id="150" name="T150"/>
          <p:cNvSpPr txBox="1"/>
          <p:nvPr/>
        </p:nvSpPr>
        <p:spPr>
          <a:xfrm>
            <a:off x="12928600" y="2743200"/>
            <a:ext cx="4318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seuil appliqué à toute la cohorte</a:t>
            </a:r>
          </a:p>
        </p:txBody>
      </p:sp>
      <p:sp>
        <p:nvSpPr>
          <p:cNvPr id="151" name="R151"/>
          <p:cNvSpPr/>
          <p:nvPr/>
        </p:nvSpPr>
        <p:spPr>
          <a:xfrm>
            <a:off x="9880600" y="3213100"/>
            <a:ext cx="7366000" cy="9525"/>
          </a:xfrm>
          <a:prstGeom prst="rect">
            <a:avLst/>
          </a:prstGeom>
          <a:solidFill>
            <a:srgbClr val="E2E8F0"/>
          </a:solidFill>
          <a:ln>
            <a:noFill/>
          </a:ln>
        </p:spPr>
        <p:txBody>
          <a:bodyPr rtlCol="0" anchor="ctr"/>
          <a:lstStyle/>
          <a:p>
            <a:endParaRPr lang="fr-FR" dirty="0"/>
          </a:p>
        </p:txBody>
      </p:sp>
      <p:sp>
        <p:nvSpPr>
          <p:cNvPr id="152" name="T152"/>
          <p:cNvSpPr txBox="1"/>
          <p:nvPr/>
        </p:nvSpPr>
        <p:spPr>
          <a:xfrm>
            <a:off x="9880600" y="3276600"/>
            <a:ext cx="2921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provenance_seuil</a:t>
            </a:r>
          </a:p>
        </p:txBody>
      </p:sp>
      <p:sp>
        <p:nvSpPr>
          <p:cNvPr id="153" name="T153"/>
          <p:cNvSpPr txBox="1"/>
          <p:nvPr/>
        </p:nvSpPr>
        <p:spPr>
          <a:xfrm>
            <a:off x="12928600" y="3276600"/>
            <a:ext cx="4318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défaut sérialisé ou surcharge</a:t>
            </a:r>
          </a:p>
        </p:txBody>
      </p:sp>
      <p:sp>
        <p:nvSpPr>
          <p:cNvPr id="154" name="R154"/>
          <p:cNvSpPr/>
          <p:nvPr/>
        </p:nvSpPr>
        <p:spPr>
          <a:xfrm>
            <a:off x="9880600" y="3746500"/>
            <a:ext cx="7366000" cy="9525"/>
          </a:xfrm>
          <a:prstGeom prst="rect">
            <a:avLst/>
          </a:prstGeom>
          <a:solidFill>
            <a:srgbClr val="E2E8F0"/>
          </a:solidFill>
          <a:ln>
            <a:noFill/>
          </a:ln>
        </p:spPr>
        <p:txBody>
          <a:bodyPr rtlCol="0" anchor="ctr"/>
          <a:lstStyle/>
          <a:p>
            <a:endParaRPr lang="fr-FR" dirty="0"/>
          </a:p>
        </p:txBody>
      </p:sp>
      <p:sp>
        <p:nvSpPr>
          <p:cNvPr id="155" name="T155"/>
          <p:cNvSpPr txBox="1"/>
          <p:nvPr/>
        </p:nvSpPr>
        <p:spPr>
          <a:xfrm>
            <a:off x="9880600" y="3810000"/>
            <a:ext cx="2921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resultats</a:t>
            </a:r>
          </a:p>
        </p:txBody>
      </p:sp>
      <p:sp>
        <p:nvSpPr>
          <p:cNvPr id="156" name="T156"/>
          <p:cNvSpPr txBox="1"/>
          <p:nvPr/>
        </p:nvSpPr>
        <p:spPr>
          <a:xfrm>
            <a:off x="12928600" y="3810000"/>
            <a:ext cx="4318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liste des réponses par étudiant</a:t>
            </a:r>
          </a:p>
        </p:txBody>
      </p:sp>
      <p:sp>
        <p:nvSpPr>
          <p:cNvPr id="157" name="R157"/>
          <p:cNvSpPr/>
          <p:nvPr/>
        </p:nvSpPr>
        <p:spPr>
          <a:xfrm>
            <a:off x="9880600" y="4279900"/>
            <a:ext cx="7366000" cy="9525"/>
          </a:xfrm>
          <a:prstGeom prst="rect">
            <a:avLst/>
          </a:prstGeom>
          <a:solidFill>
            <a:srgbClr val="E2E8F0"/>
          </a:solidFill>
          <a:ln>
            <a:noFill/>
          </a:ln>
        </p:spPr>
        <p:txBody>
          <a:bodyPr rtlCol="0" anchor="ctr"/>
          <a:lstStyle/>
          <a:p>
            <a:endParaRPr lang="fr-FR" dirty="0"/>
          </a:p>
        </p:txBody>
      </p:sp>
      <p:sp>
        <p:nvSpPr>
          <p:cNvPr id="158" name="T158"/>
          <p:cNvSpPr txBox="1"/>
          <p:nvPr/>
        </p:nvSpPr>
        <p:spPr>
          <a:xfrm>
            <a:off x="9880600" y="4343400"/>
            <a:ext cx="2921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refuses</a:t>
            </a:r>
          </a:p>
        </p:txBody>
      </p:sp>
      <p:sp>
        <p:nvSpPr>
          <p:cNvPr id="159" name="T159"/>
          <p:cNvSpPr txBox="1"/>
          <p:nvPr/>
        </p:nvSpPr>
        <p:spPr>
          <a:xfrm>
            <a:off x="12928600" y="4343400"/>
            <a:ext cx="4318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index, reference_dossier, erreurs</a:t>
            </a:r>
          </a:p>
        </p:txBody>
      </p:sp>
      <p:sp>
        <p:nvSpPr>
          <p:cNvPr id="160" name="R160"/>
          <p:cNvSpPr/>
          <p:nvPr/>
        </p:nvSpPr>
        <p:spPr>
          <a:xfrm>
            <a:off x="9880600" y="4813300"/>
            <a:ext cx="7366000" cy="9525"/>
          </a:xfrm>
          <a:prstGeom prst="rect">
            <a:avLst/>
          </a:prstGeom>
          <a:solidFill>
            <a:srgbClr val="E2E8F0"/>
          </a:solidFill>
          <a:ln>
            <a:noFill/>
          </a:ln>
        </p:spPr>
        <p:txBody>
          <a:bodyPr rtlCol="0" anchor="ctr"/>
          <a:lstStyle/>
          <a:p>
            <a:endParaRPr lang="fr-FR" dirty="0"/>
          </a:p>
        </p:txBody>
      </p:sp>
      <p:sp>
        <p:nvSpPr>
          <p:cNvPr id="161" name="T161"/>
          <p:cNvSpPr txBox="1"/>
          <p:nvPr/>
        </p:nvSpPr>
        <p:spPr>
          <a:xfrm>
            <a:off x="9880600" y="4876800"/>
            <a:ext cx="2921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synthese</a:t>
            </a:r>
          </a:p>
        </p:txBody>
      </p:sp>
      <p:sp>
        <p:nvSpPr>
          <p:cNvPr id="162" name="T162"/>
          <p:cNvSpPr txBox="1"/>
          <p:nvPr/>
        </p:nvSpPr>
        <p:spPr>
          <a:xfrm>
            <a:off x="12928600" y="4876800"/>
            <a:ext cx="4318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reçus, scorés, refusés, part signalée</a:t>
            </a:r>
          </a:p>
        </p:txBody>
      </p:sp>
      <p:sp>
        <p:nvSpPr>
          <p:cNvPr id="163" name="R163"/>
          <p:cNvSpPr/>
          <p:nvPr/>
        </p:nvSpPr>
        <p:spPr>
          <a:xfrm>
            <a:off x="9880600" y="5346700"/>
            <a:ext cx="7366000" cy="9525"/>
          </a:xfrm>
          <a:prstGeom prst="rect">
            <a:avLst/>
          </a:prstGeom>
          <a:solidFill>
            <a:srgbClr val="E2E8F0"/>
          </a:solidFill>
          <a:ln>
            <a:noFill/>
          </a:ln>
        </p:spPr>
        <p:txBody>
          <a:bodyPr rtlCol="0" anchor="ctr"/>
          <a:lstStyle/>
          <a:p>
            <a:endParaRPr lang="fr-FR" dirty="0"/>
          </a:p>
        </p:txBody>
      </p:sp>
      <p:sp>
        <p:nvSpPr>
          <p:cNvPr id="167" name="T167"/>
          <p:cNvSpPr txBox="1"/>
          <p:nvPr/>
        </p:nvSpPr>
        <p:spPr>
          <a:xfrm>
            <a:off x="9880600" y="5503863"/>
            <a:ext cx="2921000" cy="457200"/>
          </a:xfrm>
          <a:prstGeom prst="rect">
            <a:avLst/>
          </a:prstGeom>
          <a:noFill/>
        </p:spPr>
        <p:txBody>
          <a:bodyPr wrap="square" lIns="27432" tIns="27432" rIns="27432" bIns="27432" anchor="t">
            <a:noAutofit/>
          </a:bodyPr>
          <a:lstStyle/>
          <a:p>
            <a:pPr algn="l">
              <a:lnSpc>
                <a:spcPct val="100000"/>
              </a:lnSpc>
            </a:pPr>
            <a:r>
              <a:rPr lang="fr-FR" sz="1700" b="1" noProof="0" dirty="0">
                <a:solidFill>
                  <a:srgbClr val="1A6A77"/>
                </a:solidFill>
                <a:latin typeface="Consolas"/>
              </a:rPr>
              <a:t>derive</a:t>
            </a:r>
          </a:p>
        </p:txBody>
      </p:sp>
      <p:sp>
        <p:nvSpPr>
          <p:cNvPr id="168" name="T168"/>
          <p:cNvSpPr txBox="1"/>
          <p:nvPr/>
        </p:nvSpPr>
        <p:spPr>
          <a:xfrm>
            <a:off x="12928600" y="5503863"/>
            <a:ext cx="4318000" cy="457200"/>
          </a:xfrm>
          <a:prstGeom prst="rect">
            <a:avLst/>
          </a:prstGeom>
          <a:noFill/>
        </p:spPr>
        <p:txBody>
          <a:bodyPr wrap="square" lIns="27432" tIns="27432" rIns="27432" bIns="27432" anchor="t">
            <a:noAutofit/>
          </a:bodyPr>
          <a:lstStyle/>
          <a:p>
            <a:pPr algn="l">
              <a:lnSpc>
                <a:spcPct val="100000"/>
              </a:lnSpc>
            </a:pPr>
            <a:r>
              <a:rPr lang="fr-FR" sz="1700" b="0" noProof="0" dirty="0">
                <a:solidFill>
                  <a:srgbClr val="4A4A4A"/>
                </a:solidFill>
                <a:latin typeface="Arial"/>
              </a:rPr>
              <a:t>PSI + KS par variable si derive=true</a:t>
            </a:r>
          </a:p>
        </p:txBody>
      </p:sp>
      <p:sp>
        <p:nvSpPr>
          <p:cNvPr id="169" name="R169"/>
          <p:cNvSpPr/>
          <p:nvPr/>
        </p:nvSpPr>
        <p:spPr>
          <a:xfrm>
            <a:off x="9880600" y="5973763"/>
            <a:ext cx="7366000" cy="9525"/>
          </a:xfrm>
          <a:prstGeom prst="rect">
            <a:avLst/>
          </a:prstGeom>
          <a:solidFill>
            <a:srgbClr val="E2E8F0"/>
          </a:solidFill>
          <a:ln>
            <a:noFill/>
          </a:ln>
        </p:spPr>
        <p:txBody>
          <a:bodyPr rtlCol="0" anchor="ctr"/>
          <a:lstStyle/>
          <a:p>
            <a:endParaRPr lang="fr-FR" dirty="0"/>
          </a:p>
        </p:txBody>
      </p:sp>
      <p:sp>
        <p:nvSpPr>
          <p:cNvPr id="172" name="R172"/>
          <p:cNvSpPr/>
          <p:nvPr/>
        </p:nvSpPr>
        <p:spPr>
          <a:xfrm>
            <a:off x="1054100" y="7937500"/>
            <a:ext cx="15945900" cy="1143000"/>
          </a:xfrm>
          <a:prstGeom prst="roundRect">
            <a:avLst>
              <a:gd name="adj" fmla="val 8700"/>
            </a:avLst>
          </a:prstGeom>
          <a:solidFill>
            <a:srgbClr val="E4F3F7"/>
          </a:solidFill>
          <a:ln>
            <a:noFill/>
          </a:ln>
        </p:spPr>
        <p:txBody>
          <a:bodyPr rtlCol="0" anchor="ctr"/>
          <a:lstStyle/>
          <a:p>
            <a:endParaRPr lang="fr-FR" dirty="0"/>
          </a:p>
        </p:txBody>
      </p:sp>
      <p:sp>
        <p:nvSpPr>
          <p:cNvPr id="173" name="T173"/>
          <p:cNvSpPr txBox="1"/>
          <p:nvPr/>
        </p:nvSpPr>
        <p:spPr>
          <a:xfrm>
            <a:off x="1282700" y="8102600"/>
            <a:ext cx="15347950" cy="889000"/>
          </a:xfrm>
          <a:prstGeom prst="rect">
            <a:avLst/>
          </a:prstGeom>
          <a:noFill/>
        </p:spPr>
        <p:txBody>
          <a:bodyPr wrap="square" lIns="27432" tIns="27432" rIns="27432" bIns="27432" anchor="t">
            <a:noAutofit/>
          </a:bodyPr>
          <a:lstStyle/>
          <a:p>
            <a:pPr algn="l">
              <a:lnSpc>
                <a:spcPct val="112000"/>
              </a:lnSpc>
            </a:pPr>
            <a:r>
              <a:rPr lang="fr-FR" sz="1600" b="0" noProof="0" dirty="0">
                <a:solidFill>
                  <a:srgbClr val="1A6A77"/>
                </a:solidFill>
                <a:latin typeface="Arial"/>
              </a:rPr>
              <a:t>Probabilité seule par défaut (art. 22) : signaled n'est renvoyé que si l'établissement active l'indicateur binaire. Les dossiers invalides sont isolés dans refuses, la campagne aboutit.</a:t>
            </a:r>
          </a:p>
        </p:txBody>
      </p:sp>
      <p:sp>
        <p:nvSpPr>
          <p:cNvPr id="174" name="T174"/>
          <p:cNvSpPr txBox="1"/>
          <p:nvPr/>
        </p:nvSpPr>
        <p:spPr>
          <a:xfrm>
            <a:off x="1054100" y="9461500"/>
            <a:ext cx="13970000" cy="355600"/>
          </a:xfrm>
          <a:prstGeom prst="rect">
            <a:avLst/>
          </a:prstGeom>
          <a:noFill/>
        </p:spPr>
        <p:txBody>
          <a:bodyPr wrap="square" lIns="27432" tIns="27432" rIns="27432" bIns="27432" anchor="t">
            <a:noAutofit/>
          </a:bodyPr>
          <a:lstStyle/>
          <a:p>
            <a:pPr algn="l"/>
            <a:r>
              <a:rPr lang="fr-FR" b="0" noProof="0" dirty="0">
                <a:solidFill>
                  <a:srgbClr val="6F6F6F"/>
                </a:solidFill>
                <a:latin typeface="Arial"/>
              </a:rPr>
              <a:t>Annexe A5 · sources : io_contract.schema.json (réponse par étudiant) et </a:t>
            </a:r>
            <a:r>
              <a:rPr lang="fr-FR" b="0" noProof="0" dirty="0" err="1">
                <a:solidFill>
                  <a:srgbClr val="6F6F6F"/>
                </a:solidFill>
                <a:latin typeface="Arial"/>
              </a:rPr>
              <a:t>openapi.json</a:t>
            </a:r>
            <a:endParaRPr lang="fr-FR" b="0" noProof="0" dirty="0">
              <a:solidFill>
                <a:srgbClr val="6F6F6F"/>
              </a:solidFill>
              <a:latin typeface="Arial"/>
            </a:endParaRPr>
          </a:p>
        </p:txBody>
      </p:sp>
      <p:sp>
        <p:nvSpPr>
          <p:cNvPr id="175" name="T175"/>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49</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14648804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500000"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Annexe A6 : Supervision &amp; monitoring — alertes et seuils</a:t>
            </a:r>
          </a:p>
        </p:txBody>
      </p:sp>
      <p:sp>
        <p:nvSpPr>
          <p:cNvPr id="103" name="T103"/>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6 règles</a:t>
            </a:r>
          </a:p>
        </p:txBody>
      </p:sp>
      <p:sp>
        <p:nvSpPr>
          <p:cNvPr id="104" name="T104"/>
          <p:cNvSpPr txBox="1"/>
          <p:nvPr/>
        </p:nvSpPr>
        <p:spPr>
          <a:xfrm>
            <a:off x="1054100" y="1778000"/>
            <a:ext cx="33655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ALERTE · GROUPE</a:t>
            </a:r>
          </a:p>
        </p:txBody>
      </p:sp>
      <p:sp>
        <p:nvSpPr>
          <p:cNvPr id="105" name="T105"/>
          <p:cNvSpPr txBox="1"/>
          <p:nvPr/>
        </p:nvSpPr>
        <p:spPr>
          <a:xfrm>
            <a:off x="4572000" y="1778000"/>
            <a:ext cx="41910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CONDITION ET SEUIL</a:t>
            </a:r>
          </a:p>
        </p:txBody>
      </p:sp>
      <p:sp>
        <p:nvSpPr>
          <p:cNvPr id="106" name="T106"/>
          <p:cNvSpPr txBox="1"/>
          <p:nvPr/>
        </p:nvSpPr>
        <p:spPr>
          <a:xfrm>
            <a:off x="8890000" y="1778000"/>
            <a:ext cx="8890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POUR</a:t>
            </a:r>
          </a:p>
        </p:txBody>
      </p:sp>
      <p:sp>
        <p:nvSpPr>
          <p:cNvPr id="107" name="T107"/>
          <p:cNvSpPr txBox="1"/>
          <p:nvPr/>
        </p:nvSpPr>
        <p:spPr>
          <a:xfrm>
            <a:off x="9906000" y="1778000"/>
            <a:ext cx="17145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GRAVITÉ</a:t>
            </a:r>
          </a:p>
        </p:txBody>
      </p:sp>
      <p:sp>
        <p:nvSpPr>
          <p:cNvPr id="108" name="T108"/>
          <p:cNvSpPr txBox="1"/>
          <p:nvPr/>
        </p:nvSpPr>
        <p:spPr>
          <a:xfrm>
            <a:off x="11747500" y="1778000"/>
            <a:ext cx="5499100" cy="330200"/>
          </a:xfrm>
          <a:prstGeom prst="rect">
            <a:avLst/>
          </a:prstGeom>
          <a:noFill/>
        </p:spPr>
        <p:txBody>
          <a:bodyPr wrap="square" lIns="27432" tIns="27432" rIns="27432" bIns="27432" anchor="t">
            <a:noAutofit/>
          </a:bodyPr>
          <a:lstStyle/>
          <a:p>
            <a:pPr algn="l">
              <a:lnSpc>
                <a:spcPct val="100000"/>
              </a:lnSpc>
            </a:pPr>
            <a:r>
              <a:rPr lang="fr-FR" sz="1300" b="1" spc="100" noProof="0" dirty="0">
                <a:solidFill>
                  <a:srgbClr val="5A5A5A"/>
                </a:solidFill>
                <a:latin typeface="Arial"/>
              </a:rPr>
              <a:t>ACTION ATTENDUE</a:t>
            </a:r>
          </a:p>
        </p:txBody>
      </p:sp>
      <p:sp>
        <p:nvSpPr>
          <p:cNvPr id="109" name="R109"/>
          <p:cNvSpPr/>
          <p:nvPr/>
        </p:nvSpPr>
        <p:spPr>
          <a:xfrm>
            <a:off x="1047750" y="2133600"/>
            <a:ext cx="16192500" cy="9525"/>
          </a:xfrm>
          <a:prstGeom prst="rect">
            <a:avLst/>
          </a:prstGeom>
          <a:solidFill>
            <a:srgbClr val="E2E8F0"/>
          </a:solidFill>
          <a:ln>
            <a:noFill/>
          </a:ln>
        </p:spPr>
        <p:txBody>
          <a:bodyPr rtlCol="0" anchor="ctr"/>
          <a:lstStyle/>
          <a:p>
            <a:endParaRPr lang="fr-FR" dirty="0"/>
          </a:p>
        </p:txBody>
      </p:sp>
      <p:sp>
        <p:nvSpPr>
          <p:cNvPr id="110" name="T110"/>
          <p:cNvSpPr txBox="1"/>
          <p:nvPr/>
        </p:nvSpPr>
        <p:spPr>
          <a:xfrm>
            <a:off x="1054100" y="2286000"/>
            <a:ext cx="3365500" cy="711200"/>
          </a:xfrm>
          <a:prstGeom prst="rect">
            <a:avLst/>
          </a:prstGeom>
          <a:noFill/>
        </p:spPr>
        <p:txBody>
          <a:bodyPr wrap="square" lIns="27432" tIns="27432" rIns="27432" bIns="27432" anchor="t">
            <a:noAutofit/>
          </a:bodyPr>
          <a:lstStyle/>
          <a:p>
            <a:pPr algn="l">
              <a:lnSpc>
                <a:spcPct val="112000"/>
              </a:lnSpc>
            </a:pPr>
            <a:r>
              <a:rPr lang="fr-FR" sz="1500" b="1" noProof="0" dirty="0">
                <a:solidFill>
                  <a:srgbClr val="1A6A77"/>
                </a:solidFill>
                <a:latin typeface="Arial"/>
              </a:rPr>
              <a:t>ServiceInjoignable · disponibilité</a:t>
            </a:r>
          </a:p>
        </p:txBody>
      </p:sp>
      <p:sp>
        <p:nvSpPr>
          <p:cNvPr id="111" name="T111"/>
          <p:cNvSpPr txBox="1"/>
          <p:nvPr/>
        </p:nvSpPr>
        <p:spPr>
          <a:xfrm>
            <a:off x="4572000" y="2286000"/>
            <a:ext cx="4191000" cy="711200"/>
          </a:xfrm>
          <a:prstGeom prst="rect">
            <a:avLst/>
          </a:prstGeom>
          <a:noFill/>
        </p:spPr>
        <p:txBody>
          <a:bodyPr wrap="square" lIns="27432" tIns="27432" rIns="27432" bIns="27432" anchor="t">
            <a:noAutofit/>
          </a:bodyPr>
          <a:lstStyle/>
          <a:p>
            <a:pPr algn="l">
              <a:lnSpc>
                <a:spcPct val="112000"/>
              </a:lnSpc>
            </a:pPr>
            <a:r>
              <a:rPr lang="fr-FR" sz="1400" b="0" noProof="0" dirty="0">
                <a:solidFill>
                  <a:srgbClr val="4A4A4A"/>
                </a:solidFill>
                <a:latin typeface="Consolas"/>
              </a:rPr>
              <a:t>up{job="service-inference"} == 0</a:t>
            </a:r>
          </a:p>
        </p:txBody>
      </p:sp>
      <p:sp>
        <p:nvSpPr>
          <p:cNvPr id="112" name="T112"/>
          <p:cNvSpPr txBox="1"/>
          <p:nvPr/>
        </p:nvSpPr>
        <p:spPr>
          <a:xfrm>
            <a:off x="8890000" y="2286000"/>
            <a:ext cx="889000" cy="711200"/>
          </a:xfrm>
          <a:prstGeom prst="rect">
            <a:avLst/>
          </a:prstGeom>
          <a:noFill/>
        </p:spPr>
        <p:txBody>
          <a:bodyPr wrap="square" lIns="27432" tIns="27432" rIns="27432" bIns="27432" anchor="t">
            <a:noAutofit/>
          </a:bodyPr>
          <a:lstStyle/>
          <a:p>
            <a:pPr algn="l">
              <a:lnSpc>
                <a:spcPct val="112000"/>
              </a:lnSpc>
            </a:pPr>
            <a:r>
              <a:rPr lang="fr-FR" sz="1500" b="0" noProof="0" dirty="0">
                <a:solidFill>
                  <a:srgbClr val="4A4A4A"/>
                </a:solidFill>
                <a:latin typeface="Arial"/>
              </a:rPr>
              <a:t>2 min</a:t>
            </a:r>
          </a:p>
        </p:txBody>
      </p:sp>
      <p:sp>
        <p:nvSpPr>
          <p:cNvPr id="113" name="T113"/>
          <p:cNvSpPr txBox="1"/>
          <p:nvPr/>
        </p:nvSpPr>
        <p:spPr>
          <a:xfrm>
            <a:off x="9906000" y="2286000"/>
            <a:ext cx="1714500" cy="711200"/>
          </a:xfrm>
          <a:prstGeom prst="rect">
            <a:avLst/>
          </a:prstGeom>
          <a:noFill/>
        </p:spPr>
        <p:txBody>
          <a:bodyPr wrap="square" lIns="27432" tIns="27432" rIns="27432" bIns="27432" anchor="t">
            <a:noAutofit/>
          </a:bodyPr>
          <a:lstStyle/>
          <a:p>
            <a:pPr algn="l">
              <a:lnSpc>
                <a:spcPct val="112000"/>
              </a:lnSpc>
            </a:pPr>
            <a:r>
              <a:rPr lang="fr-FR" sz="1500" b="1" noProof="0" dirty="0">
                <a:solidFill>
                  <a:srgbClr val="B3261E"/>
                </a:solidFill>
                <a:latin typeface="Arial"/>
              </a:rPr>
              <a:t>critique</a:t>
            </a:r>
          </a:p>
        </p:txBody>
      </p:sp>
      <p:sp>
        <p:nvSpPr>
          <p:cNvPr id="114" name="T114"/>
          <p:cNvSpPr txBox="1"/>
          <p:nvPr/>
        </p:nvSpPr>
        <p:spPr>
          <a:xfrm>
            <a:off x="11747500" y="2286000"/>
            <a:ext cx="5499100" cy="711200"/>
          </a:xfrm>
          <a:prstGeom prst="rect">
            <a:avLst/>
          </a:prstGeom>
          <a:noFill/>
        </p:spPr>
        <p:txBody>
          <a:bodyPr wrap="square" lIns="27432" tIns="27432" rIns="27432" bIns="27432" anchor="t">
            <a:noAutofit/>
          </a:bodyPr>
          <a:lstStyle/>
          <a:p>
            <a:pPr algn="l">
              <a:lnSpc>
                <a:spcPct val="112000"/>
              </a:lnSpc>
            </a:pPr>
            <a:r>
              <a:rPr lang="fr-FR" sz="1500" b="0" noProof="0" dirty="0">
                <a:solidFill>
                  <a:srgbClr val="4A4A4A"/>
                </a:solidFill>
                <a:latin typeface="Arial"/>
              </a:rPr>
              <a:t>Vérifier le conteneur api et le redémarrer ; ne produire aucun score en attendant.</a:t>
            </a:r>
          </a:p>
        </p:txBody>
      </p:sp>
      <p:sp>
        <p:nvSpPr>
          <p:cNvPr id="115" name="R115"/>
          <p:cNvSpPr/>
          <p:nvPr/>
        </p:nvSpPr>
        <p:spPr>
          <a:xfrm>
            <a:off x="1047750" y="2971800"/>
            <a:ext cx="16192500" cy="9525"/>
          </a:xfrm>
          <a:prstGeom prst="rect">
            <a:avLst/>
          </a:prstGeom>
          <a:solidFill>
            <a:srgbClr val="E2E8F0"/>
          </a:solidFill>
          <a:ln>
            <a:noFill/>
          </a:ln>
        </p:spPr>
        <p:txBody>
          <a:bodyPr rtlCol="0" anchor="ctr"/>
          <a:lstStyle/>
          <a:p>
            <a:endParaRPr lang="fr-FR" dirty="0"/>
          </a:p>
        </p:txBody>
      </p:sp>
      <p:sp>
        <p:nvSpPr>
          <p:cNvPr id="116" name="T116"/>
          <p:cNvSpPr txBox="1"/>
          <p:nvPr/>
        </p:nvSpPr>
        <p:spPr>
          <a:xfrm>
            <a:off x="1054100" y="3124200"/>
            <a:ext cx="3365500" cy="711200"/>
          </a:xfrm>
          <a:prstGeom prst="rect">
            <a:avLst/>
          </a:prstGeom>
          <a:noFill/>
        </p:spPr>
        <p:txBody>
          <a:bodyPr wrap="square" lIns="27432" tIns="27432" rIns="27432" bIns="27432" anchor="t">
            <a:noAutofit/>
          </a:bodyPr>
          <a:lstStyle/>
          <a:p>
            <a:pPr algn="l">
              <a:lnSpc>
                <a:spcPct val="112000"/>
              </a:lnSpc>
            </a:pPr>
            <a:r>
              <a:rPr lang="fr-FR" sz="1500" b="1" noProof="0" dirty="0">
                <a:solidFill>
                  <a:srgbClr val="1A6A77"/>
                </a:solidFill>
                <a:latin typeface="Arial"/>
              </a:rPr>
              <a:t>ModeleNonCharge · disponibilité</a:t>
            </a:r>
          </a:p>
        </p:txBody>
      </p:sp>
      <p:sp>
        <p:nvSpPr>
          <p:cNvPr id="117" name="T117"/>
          <p:cNvSpPr txBox="1"/>
          <p:nvPr/>
        </p:nvSpPr>
        <p:spPr>
          <a:xfrm>
            <a:off x="4572000" y="3124200"/>
            <a:ext cx="4191000" cy="711200"/>
          </a:xfrm>
          <a:prstGeom prst="rect">
            <a:avLst/>
          </a:prstGeom>
          <a:noFill/>
        </p:spPr>
        <p:txBody>
          <a:bodyPr wrap="square" lIns="27432" tIns="27432" rIns="27432" bIns="27432" anchor="t">
            <a:noAutofit/>
          </a:bodyPr>
          <a:lstStyle/>
          <a:p>
            <a:pPr algn="l">
              <a:lnSpc>
                <a:spcPct val="112000"/>
              </a:lnSpc>
            </a:pPr>
            <a:r>
              <a:rPr lang="fr-FR" sz="1400" b="0" noProof="0" dirty="0">
                <a:solidFill>
                  <a:srgbClr val="4A4A4A"/>
                </a:solidFill>
                <a:latin typeface="Consolas"/>
              </a:rPr>
              <a:t>decrochage_modele_charge == 0</a:t>
            </a:r>
          </a:p>
        </p:txBody>
      </p:sp>
      <p:sp>
        <p:nvSpPr>
          <p:cNvPr id="118" name="T118"/>
          <p:cNvSpPr txBox="1"/>
          <p:nvPr/>
        </p:nvSpPr>
        <p:spPr>
          <a:xfrm>
            <a:off x="8890000" y="3124200"/>
            <a:ext cx="889000" cy="711200"/>
          </a:xfrm>
          <a:prstGeom prst="rect">
            <a:avLst/>
          </a:prstGeom>
          <a:noFill/>
        </p:spPr>
        <p:txBody>
          <a:bodyPr wrap="square" lIns="27432" tIns="27432" rIns="27432" bIns="27432" anchor="t">
            <a:noAutofit/>
          </a:bodyPr>
          <a:lstStyle/>
          <a:p>
            <a:pPr algn="l">
              <a:lnSpc>
                <a:spcPct val="112000"/>
              </a:lnSpc>
            </a:pPr>
            <a:r>
              <a:rPr lang="fr-FR" sz="1500" b="0" noProof="0" dirty="0">
                <a:solidFill>
                  <a:srgbClr val="4A4A4A"/>
                </a:solidFill>
                <a:latin typeface="Arial"/>
              </a:rPr>
              <a:t>2 min</a:t>
            </a:r>
          </a:p>
        </p:txBody>
      </p:sp>
      <p:sp>
        <p:nvSpPr>
          <p:cNvPr id="119" name="T119"/>
          <p:cNvSpPr txBox="1"/>
          <p:nvPr/>
        </p:nvSpPr>
        <p:spPr>
          <a:xfrm>
            <a:off x="9906000" y="3124200"/>
            <a:ext cx="1714500" cy="711200"/>
          </a:xfrm>
          <a:prstGeom prst="rect">
            <a:avLst/>
          </a:prstGeom>
          <a:noFill/>
        </p:spPr>
        <p:txBody>
          <a:bodyPr wrap="square" lIns="27432" tIns="27432" rIns="27432" bIns="27432" anchor="t">
            <a:noAutofit/>
          </a:bodyPr>
          <a:lstStyle/>
          <a:p>
            <a:pPr algn="l">
              <a:lnSpc>
                <a:spcPct val="112000"/>
              </a:lnSpc>
            </a:pPr>
            <a:r>
              <a:rPr lang="fr-FR" sz="1500" b="1" noProof="0" dirty="0">
                <a:solidFill>
                  <a:srgbClr val="B3261E"/>
                </a:solidFill>
                <a:latin typeface="Arial"/>
              </a:rPr>
              <a:t>critique</a:t>
            </a:r>
          </a:p>
        </p:txBody>
      </p:sp>
      <p:sp>
        <p:nvSpPr>
          <p:cNvPr id="120" name="T120"/>
          <p:cNvSpPr txBox="1"/>
          <p:nvPr/>
        </p:nvSpPr>
        <p:spPr>
          <a:xfrm>
            <a:off x="11747500" y="3124200"/>
            <a:ext cx="5499100" cy="711200"/>
          </a:xfrm>
          <a:prstGeom prst="rect">
            <a:avLst/>
          </a:prstGeom>
          <a:noFill/>
        </p:spPr>
        <p:txBody>
          <a:bodyPr wrap="square" lIns="27432" tIns="27432" rIns="27432" bIns="27432" anchor="t">
            <a:noAutofit/>
          </a:bodyPr>
          <a:lstStyle/>
          <a:p>
            <a:pPr algn="l">
              <a:lnSpc>
                <a:spcPct val="112000"/>
              </a:lnSpc>
            </a:pPr>
            <a:r>
              <a:rPr lang="fr-FR" sz="1500" b="0" noProof="0" dirty="0">
                <a:solidFill>
                  <a:srgbClr val="4A4A4A"/>
                </a:solidFill>
                <a:latin typeface="Arial"/>
              </a:rPr>
              <a:t>Vérifier l'artefact déployé ; surtout ne pas produire de score dégradé.</a:t>
            </a:r>
          </a:p>
        </p:txBody>
      </p:sp>
      <p:sp>
        <p:nvSpPr>
          <p:cNvPr id="121" name="R121"/>
          <p:cNvSpPr/>
          <p:nvPr/>
        </p:nvSpPr>
        <p:spPr>
          <a:xfrm>
            <a:off x="1047750" y="3810000"/>
            <a:ext cx="16192500" cy="9525"/>
          </a:xfrm>
          <a:prstGeom prst="rect">
            <a:avLst/>
          </a:prstGeom>
          <a:solidFill>
            <a:srgbClr val="E2E8F0"/>
          </a:solidFill>
          <a:ln>
            <a:noFill/>
          </a:ln>
        </p:spPr>
        <p:txBody>
          <a:bodyPr rtlCol="0" anchor="ctr"/>
          <a:lstStyle/>
          <a:p>
            <a:endParaRPr lang="fr-FR" dirty="0"/>
          </a:p>
        </p:txBody>
      </p:sp>
      <p:sp>
        <p:nvSpPr>
          <p:cNvPr id="122" name="T122"/>
          <p:cNvSpPr txBox="1"/>
          <p:nvPr/>
        </p:nvSpPr>
        <p:spPr>
          <a:xfrm>
            <a:off x="1054100" y="3962400"/>
            <a:ext cx="3365500" cy="711200"/>
          </a:xfrm>
          <a:prstGeom prst="rect">
            <a:avLst/>
          </a:prstGeom>
          <a:noFill/>
        </p:spPr>
        <p:txBody>
          <a:bodyPr wrap="square" lIns="27432" tIns="27432" rIns="27432" bIns="27432" anchor="t">
            <a:noAutofit/>
          </a:bodyPr>
          <a:lstStyle/>
          <a:p>
            <a:pPr algn="l">
              <a:lnSpc>
                <a:spcPct val="112000"/>
              </a:lnSpc>
            </a:pPr>
            <a:r>
              <a:rPr lang="fr-FR" sz="1500" b="1" noProof="0" dirty="0">
                <a:solidFill>
                  <a:srgbClr val="1A6A77"/>
                </a:solidFill>
                <a:latin typeface="Arial"/>
              </a:rPr>
              <a:t>ColonneHorsPerimetre · contrat</a:t>
            </a:r>
          </a:p>
        </p:txBody>
      </p:sp>
      <p:sp>
        <p:nvSpPr>
          <p:cNvPr id="123" name="T123"/>
          <p:cNvSpPr txBox="1"/>
          <p:nvPr/>
        </p:nvSpPr>
        <p:spPr>
          <a:xfrm>
            <a:off x="4572000" y="3962400"/>
            <a:ext cx="4191000" cy="711200"/>
          </a:xfrm>
          <a:prstGeom prst="rect">
            <a:avLst/>
          </a:prstGeom>
          <a:noFill/>
        </p:spPr>
        <p:txBody>
          <a:bodyPr wrap="square" lIns="27432" tIns="27432" rIns="27432" bIns="27432" anchor="t">
            <a:noAutofit/>
          </a:bodyPr>
          <a:lstStyle/>
          <a:p>
            <a:pPr algn="l">
              <a:lnSpc>
                <a:spcPct val="112000"/>
              </a:lnSpc>
            </a:pPr>
            <a:r>
              <a:rPr lang="fr-FR" sz="1400" b="0" noProof="0" dirty="0">
                <a:solidFill>
                  <a:srgbClr val="4A4A4A"/>
                </a:solidFill>
                <a:latin typeface="Consolas"/>
              </a:rPr>
              <a:t>refus de périmètre sur 24 h &gt; 0</a:t>
            </a:r>
          </a:p>
        </p:txBody>
      </p:sp>
      <p:sp>
        <p:nvSpPr>
          <p:cNvPr id="124" name="T124"/>
          <p:cNvSpPr txBox="1"/>
          <p:nvPr/>
        </p:nvSpPr>
        <p:spPr>
          <a:xfrm>
            <a:off x="8890000" y="3962400"/>
            <a:ext cx="889000" cy="711200"/>
          </a:xfrm>
          <a:prstGeom prst="rect">
            <a:avLst/>
          </a:prstGeom>
          <a:noFill/>
        </p:spPr>
        <p:txBody>
          <a:bodyPr wrap="square" lIns="27432" tIns="27432" rIns="27432" bIns="27432" anchor="t">
            <a:noAutofit/>
          </a:bodyPr>
          <a:lstStyle/>
          <a:p>
            <a:pPr algn="l">
              <a:lnSpc>
                <a:spcPct val="112000"/>
              </a:lnSpc>
            </a:pPr>
            <a:r>
              <a:rPr lang="fr-FR" sz="1500" b="0" noProof="0" dirty="0">
                <a:solidFill>
                  <a:srgbClr val="4A4A4A"/>
                </a:solidFill>
                <a:latin typeface="Arial"/>
              </a:rPr>
              <a:t>5 min</a:t>
            </a:r>
          </a:p>
        </p:txBody>
      </p:sp>
      <p:sp>
        <p:nvSpPr>
          <p:cNvPr id="125" name="T125"/>
          <p:cNvSpPr txBox="1"/>
          <p:nvPr/>
        </p:nvSpPr>
        <p:spPr>
          <a:xfrm>
            <a:off x="9906000" y="3962400"/>
            <a:ext cx="1714500" cy="711200"/>
          </a:xfrm>
          <a:prstGeom prst="rect">
            <a:avLst/>
          </a:prstGeom>
          <a:noFill/>
        </p:spPr>
        <p:txBody>
          <a:bodyPr wrap="square" lIns="27432" tIns="27432" rIns="27432" bIns="27432" anchor="t">
            <a:noAutofit/>
          </a:bodyPr>
          <a:lstStyle/>
          <a:p>
            <a:pPr algn="l">
              <a:lnSpc>
                <a:spcPct val="112000"/>
              </a:lnSpc>
            </a:pPr>
            <a:r>
              <a:rPr lang="fr-FR" sz="1500" b="1" noProof="0" dirty="0">
                <a:solidFill>
                  <a:srgbClr val="8A6100"/>
                </a:solidFill>
                <a:latin typeface="Arial"/>
              </a:rPr>
              <a:t>avertissement</a:t>
            </a:r>
          </a:p>
        </p:txBody>
      </p:sp>
      <p:sp>
        <p:nvSpPr>
          <p:cNvPr id="126" name="T126"/>
          <p:cNvSpPr txBox="1"/>
          <p:nvPr/>
        </p:nvSpPr>
        <p:spPr>
          <a:xfrm>
            <a:off x="11747500" y="3962400"/>
            <a:ext cx="5499100" cy="711200"/>
          </a:xfrm>
          <a:prstGeom prst="rect">
            <a:avLst/>
          </a:prstGeom>
          <a:noFill/>
        </p:spPr>
        <p:txBody>
          <a:bodyPr wrap="square" lIns="27432" tIns="27432" rIns="27432" bIns="27432" anchor="t">
            <a:noAutofit/>
          </a:bodyPr>
          <a:lstStyle/>
          <a:p>
            <a:pPr algn="l">
              <a:lnSpc>
                <a:spcPct val="112000"/>
              </a:lnSpc>
            </a:pPr>
            <a:r>
              <a:rPr lang="fr-FR" sz="1500" b="0" noProof="0" dirty="0">
                <a:solidFill>
                  <a:srgbClr val="4A4A4A"/>
                </a:solidFill>
                <a:latin typeface="Arial"/>
              </a:rPr>
              <a:t>Corriger l'export côté SI : la même variable reviendra à chaque campagne.</a:t>
            </a:r>
          </a:p>
        </p:txBody>
      </p:sp>
      <p:sp>
        <p:nvSpPr>
          <p:cNvPr id="127" name="R127"/>
          <p:cNvSpPr/>
          <p:nvPr/>
        </p:nvSpPr>
        <p:spPr>
          <a:xfrm>
            <a:off x="1047750" y="4648200"/>
            <a:ext cx="16192500" cy="9525"/>
          </a:xfrm>
          <a:prstGeom prst="rect">
            <a:avLst/>
          </a:prstGeom>
          <a:solidFill>
            <a:srgbClr val="E2E8F0"/>
          </a:solidFill>
          <a:ln>
            <a:noFill/>
          </a:ln>
        </p:spPr>
        <p:txBody>
          <a:bodyPr rtlCol="0" anchor="ctr"/>
          <a:lstStyle/>
          <a:p>
            <a:endParaRPr lang="fr-FR" dirty="0"/>
          </a:p>
        </p:txBody>
      </p:sp>
      <p:sp>
        <p:nvSpPr>
          <p:cNvPr id="128" name="T128"/>
          <p:cNvSpPr txBox="1"/>
          <p:nvPr/>
        </p:nvSpPr>
        <p:spPr>
          <a:xfrm>
            <a:off x="1054100" y="4800600"/>
            <a:ext cx="3365500" cy="711200"/>
          </a:xfrm>
          <a:prstGeom prst="rect">
            <a:avLst/>
          </a:prstGeom>
          <a:noFill/>
        </p:spPr>
        <p:txBody>
          <a:bodyPr wrap="square" lIns="27432" tIns="27432" rIns="27432" bIns="27432" anchor="t">
            <a:noAutofit/>
          </a:bodyPr>
          <a:lstStyle/>
          <a:p>
            <a:pPr algn="l">
              <a:lnSpc>
                <a:spcPct val="112000"/>
              </a:lnSpc>
            </a:pPr>
            <a:r>
              <a:rPr lang="fr-FR" sz="1500" b="1" noProof="0" dirty="0">
                <a:solidFill>
                  <a:srgbClr val="1A6A77"/>
                </a:solidFill>
                <a:latin typeface="Arial"/>
              </a:rPr>
              <a:t>TauxDErreurEleve · contrat</a:t>
            </a:r>
          </a:p>
        </p:txBody>
      </p:sp>
      <p:sp>
        <p:nvSpPr>
          <p:cNvPr id="129" name="T129"/>
          <p:cNvSpPr txBox="1"/>
          <p:nvPr/>
        </p:nvSpPr>
        <p:spPr>
          <a:xfrm>
            <a:off x="4572000" y="4800600"/>
            <a:ext cx="4191000" cy="711200"/>
          </a:xfrm>
          <a:prstGeom prst="rect">
            <a:avLst/>
          </a:prstGeom>
          <a:noFill/>
        </p:spPr>
        <p:txBody>
          <a:bodyPr wrap="square" lIns="27432" tIns="27432" rIns="27432" bIns="27432" anchor="t">
            <a:noAutofit/>
          </a:bodyPr>
          <a:lstStyle/>
          <a:p>
            <a:pPr algn="l">
              <a:lnSpc>
                <a:spcPct val="112000"/>
              </a:lnSpc>
            </a:pPr>
            <a:r>
              <a:rPr lang="fr-FR" sz="1400" b="0" noProof="0" dirty="0">
                <a:solidFill>
                  <a:srgbClr val="4A4A4A"/>
                </a:solidFill>
                <a:latin typeface="Consolas"/>
              </a:rPr>
              <a:t>réponses 5xx sur 10 min &gt; 1 %</a:t>
            </a:r>
          </a:p>
        </p:txBody>
      </p:sp>
      <p:sp>
        <p:nvSpPr>
          <p:cNvPr id="130" name="T130"/>
          <p:cNvSpPr txBox="1"/>
          <p:nvPr/>
        </p:nvSpPr>
        <p:spPr>
          <a:xfrm>
            <a:off x="8890000" y="4800600"/>
            <a:ext cx="889000" cy="711200"/>
          </a:xfrm>
          <a:prstGeom prst="rect">
            <a:avLst/>
          </a:prstGeom>
          <a:noFill/>
        </p:spPr>
        <p:txBody>
          <a:bodyPr wrap="square" lIns="27432" tIns="27432" rIns="27432" bIns="27432" anchor="t">
            <a:noAutofit/>
          </a:bodyPr>
          <a:lstStyle/>
          <a:p>
            <a:pPr algn="l">
              <a:lnSpc>
                <a:spcPct val="112000"/>
              </a:lnSpc>
            </a:pPr>
            <a:r>
              <a:rPr lang="fr-FR" sz="1500" b="0" noProof="0" dirty="0">
                <a:solidFill>
                  <a:srgbClr val="4A4A4A"/>
                </a:solidFill>
                <a:latin typeface="Arial"/>
              </a:rPr>
              <a:t>10 min</a:t>
            </a:r>
          </a:p>
        </p:txBody>
      </p:sp>
      <p:sp>
        <p:nvSpPr>
          <p:cNvPr id="131" name="T131"/>
          <p:cNvSpPr txBox="1"/>
          <p:nvPr/>
        </p:nvSpPr>
        <p:spPr>
          <a:xfrm>
            <a:off x="9906000" y="4800600"/>
            <a:ext cx="1714500" cy="711200"/>
          </a:xfrm>
          <a:prstGeom prst="rect">
            <a:avLst/>
          </a:prstGeom>
          <a:noFill/>
        </p:spPr>
        <p:txBody>
          <a:bodyPr wrap="square" lIns="27432" tIns="27432" rIns="27432" bIns="27432" anchor="t">
            <a:noAutofit/>
          </a:bodyPr>
          <a:lstStyle/>
          <a:p>
            <a:pPr algn="l">
              <a:lnSpc>
                <a:spcPct val="112000"/>
              </a:lnSpc>
            </a:pPr>
            <a:r>
              <a:rPr lang="fr-FR" sz="1500" b="1" noProof="0" dirty="0">
                <a:solidFill>
                  <a:srgbClr val="B3261E"/>
                </a:solidFill>
                <a:latin typeface="Arial"/>
              </a:rPr>
              <a:t>critique</a:t>
            </a:r>
          </a:p>
        </p:txBody>
      </p:sp>
      <p:sp>
        <p:nvSpPr>
          <p:cNvPr id="132" name="T132"/>
          <p:cNvSpPr txBox="1"/>
          <p:nvPr/>
        </p:nvSpPr>
        <p:spPr>
          <a:xfrm>
            <a:off x="11747500" y="4800600"/>
            <a:ext cx="5499100" cy="711200"/>
          </a:xfrm>
          <a:prstGeom prst="rect">
            <a:avLst/>
          </a:prstGeom>
          <a:noFill/>
        </p:spPr>
        <p:txBody>
          <a:bodyPr wrap="square" lIns="27432" tIns="27432" rIns="27432" bIns="27432" anchor="t">
            <a:noAutofit/>
          </a:bodyPr>
          <a:lstStyle/>
          <a:p>
            <a:pPr algn="l">
              <a:lnSpc>
                <a:spcPct val="112000"/>
              </a:lnSpc>
            </a:pPr>
            <a:r>
              <a:rPr lang="fr-FR" sz="1500" b="0" noProof="0" dirty="0">
                <a:solidFill>
                  <a:srgbClr val="4A4A4A"/>
                </a:solidFill>
                <a:latin typeface="Arial"/>
              </a:rPr>
              <a:t>Consulter les journaux ; les 4xx sont des refus légitimes, seuls les 5xx mettent le service en cause.</a:t>
            </a:r>
          </a:p>
        </p:txBody>
      </p:sp>
      <p:sp>
        <p:nvSpPr>
          <p:cNvPr id="133" name="R133"/>
          <p:cNvSpPr/>
          <p:nvPr/>
        </p:nvSpPr>
        <p:spPr>
          <a:xfrm>
            <a:off x="1047750" y="5486400"/>
            <a:ext cx="16192500" cy="9525"/>
          </a:xfrm>
          <a:prstGeom prst="rect">
            <a:avLst/>
          </a:prstGeom>
          <a:solidFill>
            <a:srgbClr val="E2E8F0"/>
          </a:solidFill>
          <a:ln>
            <a:noFill/>
          </a:ln>
        </p:spPr>
        <p:txBody>
          <a:bodyPr rtlCol="0" anchor="ctr"/>
          <a:lstStyle/>
          <a:p>
            <a:endParaRPr lang="fr-FR" dirty="0"/>
          </a:p>
        </p:txBody>
      </p:sp>
      <p:sp>
        <p:nvSpPr>
          <p:cNvPr id="134" name="T134"/>
          <p:cNvSpPr txBox="1"/>
          <p:nvPr/>
        </p:nvSpPr>
        <p:spPr>
          <a:xfrm>
            <a:off x="1054100" y="5638800"/>
            <a:ext cx="3365500" cy="711200"/>
          </a:xfrm>
          <a:prstGeom prst="rect">
            <a:avLst/>
          </a:prstGeom>
          <a:noFill/>
        </p:spPr>
        <p:txBody>
          <a:bodyPr wrap="square" lIns="27432" tIns="27432" rIns="27432" bIns="27432" anchor="t">
            <a:noAutofit/>
          </a:bodyPr>
          <a:lstStyle/>
          <a:p>
            <a:pPr algn="l">
              <a:lnSpc>
                <a:spcPct val="112000"/>
              </a:lnSpc>
            </a:pPr>
            <a:r>
              <a:rPr lang="fr-FR" sz="1500" b="1" noProof="0" dirty="0">
                <a:solidFill>
                  <a:srgbClr val="1A6A77"/>
                </a:solidFill>
                <a:latin typeface="Arial"/>
              </a:rPr>
              <a:t>LatenceDossierDegradee · performance</a:t>
            </a:r>
          </a:p>
        </p:txBody>
      </p:sp>
      <p:sp>
        <p:nvSpPr>
          <p:cNvPr id="135" name="T135"/>
          <p:cNvSpPr txBox="1"/>
          <p:nvPr/>
        </p:nvSpPr>
        <p:spPr>
          <a:xfrm>
            <a:off x="4572000" y="5638800"/>
            <a:ext cx="4191000" cy="711200"/>
          </a:xfrm>
          <a:prstGeom prst="rect">
            <a:avLst/>
          </a:prstGeom>
          <a:noFill/>
        </p:spPr>
        <p:txBody>
          <a:bodyPr wrap="square" lIns="27432" tIns="27432" rIns="27432" bIns="27432" anchor="t">
            <a:noAutofit/>
          </a:bodyPr>
          <a:lstStyle/>
          <a:p>
            <a:pPr algn="l">
              <a:lnSpc>
                <a:spcPct val="112000"/>
              </a:lnSpc>
            </a:pPr>
            <a:r>
              <a:rPr lang="fr-FR" sz="1400" b="0" noProof="0" dirty="0">
                <a:solidFill>
                  <a:srgbClr val="4A4A4A"/>
                </a:solidFill>
                <a:latin typeface="Consolas"/>
              </a:rPr>
              <a:t>p95 de /v1/predict-etudiant &gt; 1 s</a:t>
            </a:r>
          </a:p>
        </p:txBody>
      </p:sp>
      <p:sp>
        <p:nvSpPr>
          <p:cNvPr id="136" name="T136"/>
          <p:cNvSpPr txBox="1"/>
          <p:nvPr/>
        </p:nvSpPr>
        <p:spPr>
          <a:xfrm>
            <a:off x="8890000" y="5638800"/>
            <a:ext cx="889000" cy="711200"/>
          </a:xfrm>
          <a:prstGeom prst="rect">
            <a:avLst/>
          </a:prstGeom>
          <a:noFill/>
        </p:spPr>
        <p:txBody>
          <a:bodyPr wrap="square" lIns="27432" tIns="27432" rIns="27432" bIns="27432" anchor="t">
            <a:noAutofit/>
          </a:bodyPr>
          <a:lstStyle/>
          <a:p>
            <a:pPr algn="l">
              <a:lnSpc>
                <a:spcPct val="112000"/>
              </a:lnSpc>
            </a:pPr>
            <a:r>
              <a:rPr lang="fr-FR" sz="1500" b="0" noProof="0" dirty="0">
                <a:solidFill>
                  <a:srgbClr val="4A4A4A"/>
                </a:solidFill>
                <a:latin typeface="Arial"/>
              </a:rPr>
              <a:t>15 min</a:t>
            </a:r>
          </a:p>
        </p:txBody>
      </p:sp>
      <p:sp>
        <p:nvSpPr>
          <p:cNvPr id="137" name="T137"/>
          <p:cNvSpPr txBox="1"/>
          <p:nvPr/>
        </p:nvSpPr>
        <p:spPr>
          <a:xfrm>
            <a:off x="9906000" y="5638800"/>
            <a:ext cx="1714500" cy="711200"/>
          </a:xfrm>
          <a:prstGeom prst="rect">
            <a:avLst/>
          </a:prstGeom>
          <a:noFill/>
        </p:spPr>
        <p:txBody>
          <a:bodyPr wrap="square" lIns="27432" tIns="27432" rIns="27432" bIns="27432" anchor="t">
            <a:noAutofit/>
          </a:bodyPr>
          <a:lstStyle/>
          <a:p>
            <a:pPr algn="l">
              <a:lnSpc>
                <a:spcPct val="112000"/>
              </a:lnSpc>
            </a:pPr>
            <a:r>
              <a:rPr lang="fr-FR" sz="1500" b="1" noProof="0" dirty="0">
                <a:solidFill>
                  <a:srgbClr val="8A6100"/>
                </a:solidFill>
                <a:latin typeface="Arial"/>
              </a:rPr>
              <a:t>avertissement</a:t>
            </a:r>
          </a:p>
        </p:txBody>
      </p:sp>
      <p:sp>
        <p:nvSpPr>
          <p:cNvPr id="138" name="T138"/>
          <p:cNvSpPr txBox="1"/>
          <p:nvPr/>
        </p:nvSpPr>
        <p:spPr>
          <a:xfrm>
            <a:off x="11747500" y="5638800"/>
            <a:ext cx="5499100" cy="711200"/>
          </a:xfrm>
          <a:prstGeom prst="rect">
            <a:avLst/>
          </a:prstGeom>
          <a:noFill/>
        </p:spPr>
        <p:txBody>
          <a:bodyPr wrap="square" lIns="27432" tIns="27432" rIns="27432" bIns="27432" anchor="t">
            <a:noAutofit/>
          </a:bodyPr>
          <a:lstStyle/>
          <a:p>
            <a:pPr algn="l">
              <a:lnSpc>
                <a:spcPct val="112000"/>
              </a:lnSpc>
            </a:pPr>
            <a:r>
              <a:rPr lang="fr-FR" sz="1500" b="0" noProof="0" dirty="0">
                <a:solidFill>
                  <a:srgbClr val="4A4A4A"/>
                </a:solidFill>
                <a:latin typeface="Arial"/>
              </a:rPr>
              <a:t>Vérifier la charge du service et les ressources du conteneur.</a:t>
            </a:r>
          </a:p>
        </p:txBody>
      </p:sp>
      <p:sp>
        <p:nvSpPr>
          <p:cNvPr id="139" name="R139"/>
          <p:cNvSpPr/>
          <p:nvPr/>
        </p:nvSpPr>
        <p:spPr>
          <a:xfrm>
            <a:off x="1047750" y="6324600"/>
            <a:ext cx="16192500" cy="9525"/>
          </a:xfrm>
          <a:prstGeom prst="rect">
            <a:avLst/>
          </a:prstGeom>
          <a:solidFill>
            <a:srgbClr val="E2E8F0"/>
          </a:solidFill>
          <a:ln>
            <a:noFill/>
          </a:ln>
        </p:spPr>
        <p:txBody>
          <a:bodyPr rtlCol="0" anchor="ctr"/>
          <a:lstStyle/>
          <a:p>
            <a:endParaRPr lang="fr-FR" dirty="0"/>
          </a:p>
        </p:txBody>
      </p:sp>
      <p:sp>
        <p:nvSpPr>
          <p:cNvPr id="140" name="T140"/>
          <p:cNvSpPr txBox="1"/>
          <p:nvPr/>
        </p:nvSpPr>
        <p:spPr>
          <a:xfrm>
            <a:off x="1054100" y="6477000"/>
            <a:ext cx="3365500" cy="711200"/>
          </a:xfrm>
          <a:prstGeom prst="rect">
            <a:avLst/>
          </a:prstGeom>
          <a:noFill/>
        </p:spPr>
        <p:txBody>
          <a:bodyPr wrap="square" lIns="27432" tIns="27432" rIns="27432" bIns="27432" anchor="t">
            <a:noAutofit/>
          </a:bodyPr>
          <a:lstStyle/>
          <a:p>
            <a:pPr algn="l">
              <a:lnSpc>
                <a:spcPct val="112000"/>
              </a:lnSpc>
            </a:pPr>
            <a:r>
              <a:rPr lang="fr-FR" sz="1500" b="1" noProof="0" dirty="0">
                <a:solidFill>
                  <a:srgbClr val="1A6A77"/>
                </a:solidFill>
                <a:latin typeface="Arial"/>
              </a:rPr>
              <a:t>LatenceCampagneDegradee · performance</a:t>
            </a:r>
          </a:p>
        </p:txBody>
      </p:sp>
      <p:sp>
        <p:nvSpPr>
          <p:cNvPr id="141" name="T141"/>
          <p:cNvSpPr txBox="1"/>
          <p:nvPr/>
        </p:nvSpPr>
        <p:spPr>
          <a:xfrm>
            <a:off x="4572000" y="6477000"/>
            <a:ext cx="4191000" cy="711200"/>
          </a:xfrm>
          <a:prstGeom prst="rect">
            <a:avLst/>
          </a:prstGeom>
          <a:noFill/>
        </p:spPr>
        <p:txBody>
          <a:bodyPr wrap="square" lIns="27432" tIns="27432" rIns="27432" bIns="27432" anchor="t">
            <a:noAutofit/>
          </a:bodyPr>
          <a:lstStyle/>
          <a:p>
            <a:pPr algn="l">
              <a:lnSpc>
                <a:spcPct val="112000"/>
              </a:lnSpc>
            </a:pPr>
            <a:r>
              <a:rPr lang="fr-FR" sz="1400" b="0" noProof="0" dirty="0">
                <a:solidFill>
                  <a:srgbClr val="4A4A4A"/>
                </a:solidFill>
                <a:latin typeface="Consolas"/>
              </a:rPr>
              <a:t>p95 de /v1/predict-cohorte &gt; 30 s</a:t>
            </a:r>
          </a:p>
        </p:txBody>
      </p:sp>
      <p:sp>
        <p:nvSpPr>
          <p:cNvPr id="142" name="T142"/>
          <p:cNvSpPr txBox="1"/>
          <p:nvPr/>
        </p:nvSpPr>
        <p:spPr>
          <a:xfrm>
            <a:off x="8890000" y="6477000"/>
            <a:ext cx="889000" cy="711200"/>
          </a:xfrm>
          <a:prstGeom prst="rect">
            <a:avLst/>
          </a:prstGeom>
          <a:noFill/>
        </p:spPr>
        <p:txBody>
          <a:bodyPr wrap="square" lIns="27432" tIns="27432" rIns="27432" bIns="27432" anchor="t">
            <a:noAutofit/>
          </a:bodyPr>
          <a:lstStyle/>
          <a:p>
            <a:pPr algn="l">
              <a:lnSpc>
                <a:spcPct val="112000"/>
              </a:lnSpc>
            </a:pPr>
            <a:r>
              <a:rPr lang="fr-FR" sz="1500" b="0" noProof="0" dirty="0">
                <a:solidFill>
                  <a:srgbClr val="4A4A4A"/>
                </a:solidFill>
                <a:latin typeface="Arial"/>
              </a:rPr>
              <a:t>15 min</a:t>
            </a:r>
          </a:p>
        </p:txBody>
      </p:sp>
      <p:sp>
        <p:nvSpPr>
          <p:cNvPr id="143" name="T143"/>
          <p:cNvSpPr txBox="1"/>
          <p:nvPr/>
        </p:nvSpPr>
        <p:spPr>
          <a:xfrm>
            <a:off x="9906000" y="6477000"/>
            <a:ext cx="1714500" cy="711200"/>
          </a:xfrm>
          <a:prstGeom prst="rect">
            <a:avLst/>
          </a:prstGeom>
          <a:noFill/>
        </p:spPr>
        <p:txBody>
          <a:bodyPr wrap="square" lIns="27432" tIns="27432" rIns="27432" bIns="27432" anchor="t">
            <a:noAutofit/>
          </a:bodyPr>
          <a:lstStyle/>
          <a:p>
            <a:pPr algn="l">
              <a:lnSpc>
                <a:spcPct val="112000"/>
              </a:lnSpc>
            </a:pPr>
            <a:r>
              <a:rPr lang="fr-FR" sz="1500" b="1" noProof="0" dirty="0">
                <a:solidFill>
                  <a:srgbClr val="8A6100"/>
                </a:solidFill>
                <a:latin typeface="Arial"/>
              </a:rPr>
              <a:t>avertissement</a:t>
            </a:r>
          </a:p>
        </p:txBody>
      </p:sp>
      <p:sp>
        <p:nvSpPr>
          <p:cNvPr id="144" name="T144"/>
          <p:cNvSpPr txBox="1"/>
          <p:nvPr/>
        </p:nvSpPr>
        <p:spPr>
          <a:xfrm>
            <a:off x="11747500" y="6477000"/>
            <a:ext cx="5499100" cy="711200"/>
          </a:xfrm>
          <a:prstGeom prst="rect">
            <a:avLst/>
          </a:prstGeom>
          <a:noFill/>
        </p:spPr>
        <p:txBody>
          <a:bodyPr wrap="square" lIns="27432" tIns="27432" rIns="27432" bIns="27432" anchor="t">
            <a:noAutofit/>
          </a:bodyPr>
          <a:lstStyle/>
          <a:p>
            <a:pPr algn="l">
              <a:lnSpc>
                <a:spcPct val="112000"/>
              </a:lnSpc>
            </a:pPr>
            <a:r>
              <a:rPr lang="fr-FR" sz="1500" b="0" noProof="0" dirty="0">
                <a:solidFill>
                  <a:srgbClr val="4A4A4A"/>
                </a:solidFill>
                <a:latin typeface="Arial"/>
              </a:rPr>
              <a:t>Une campagne de ~5 200 dossiers se score en ~1,5 s : investiguer un facteur 20.</a:t>
            </a:r>
          </a:p>
        </p:txBody>
      </p:sp>
      <p:sp>
        <p:nvSpPr>
          <p:cNvPr id="145" name="R145"/>
          <p:cNvSpPr/>
          <p:nvPr/>
        </p:nvSpPr>
        <p:spPr>
          <a:xfrm>
            <a:off x="1047750" y="7162800"/>
            <a:ext cx="16192500" cy="9525"/>
          </a:xfrm>
          <a:prstGeom prst="rect">
            <a:avLst/>
          </a:prstGeom>
          <a:solidFill>
            <a:srgbClr val="E2E8F0"/>
          </a:solidFill>
          <a:ln>
            <a:noFill/>
          </a:ln>
        </p:spPr>
        <p:txBody>
          <a:bodyPr rtlCol="0" anchor="ctr"/>
          <a:lstStyle/>
          <a:p>
            <a:endParaRPr lang="fr-FR" dirty="0"/>
          </a:p>
        </p:txBody>
      </p:sp>
      <p:sp>
        <p:nvSpPr>
          <p:cNvPr id="152" name="R152"/>
          <p:cNvSpPr/>
          <p:nvPr/>
        </p:nvSpPr>
        <p:spPr>
          <a:xfrm>
            <a:off x="1054100" y="7543797"/>
            <a:ext cx="16192500" cy="1036637"/>
          </a:xfrm>
          <a:prstGeom prst="roundRect">
            <a:avLst>
              <a:gd name="adj" fmla="val 8700"/>
            </a:avLst>
          </a:prstGeom>
          <a:solidFill>
            <a:srgbClr val="E4F3F7"/>
          </a:solidFill>
          <a:ln>
            <a:noFill/>
          </a:ln>
        </p:spPr>
        <p:txBody>
          <a:bodyPr rtlCol="0" anchor="ctr"/>
          <a:lstStyle/>
          <a:p>
            <a:endParaRPr lang="fr-FR" dirty="0"/>
          </a:p>
        </p:txBody>
      </p:sp>
      <p:sp>
        <p:nvSpPr>
          <p:cNvPr id="153" name="T153"/>
          <p:cNvSpPr txBox="1"/>
          <p:nvPr/>
        </p:nvSpPr>
        <p:spPr>
          <a:xfrm>
            <a:off x="1282700" y="7670798"/>
            <a:ext cx="15748000" cy="933450"/>
          </a:xfrm>
          <a:prstGeom prst="rect">
            <a:avLst/>
          </a:prstGeom>
          <a:noFill/>
        </p:spPr>
        <p:txBody>
          <a:bodyPr wrap="square" lIns="27432" tIns="27432" rIns="27432" bIns="27432" anchor="t">
            <a:noAutofit/>
          </a:bodyPr>
          <a:lstStyle/>
          <a:p>
            <a:pPr algn="l">
              <a:lnSpc>
                <a:spcPct val="112000"/>
              </a:lnSpc>
            </a:pPr>
            <a:r>
              <a:rPr lang="fr-FR" sz="1500" b="0" noProof="0" dirty="0">
                <a:solidFill>
                  <a:srgbClr val="1A6A77"/>
                </a:solidFill>
                <a:latin typeface="Arial"/>
              </a:rPr>
              <a:t>Hors </a:t>
            </a:r>
            <a:r>
              <a:rPr lang="fr-FR" sz="1500" dirty="0">
                <a:solidFill>
                  <a:srgbClr val="1A6A77"/>
                </a:solidFill>
                <a:latin typeface="Arial"/>
              </a:rPr>
              <a:t>Prometheus &amp; </a:t>
            </a:r>
            <a:r>
              <a:rPr lang="fr-FR" sz="1500" dirty="0" err="1">
                <a:solidFill>
                  <a:srgbClr val="1A6A77"/>
                </a:solidFill>
                <a:latin typeface="Arial"/>
              </a:rPr>
              <a:t>Grafana</a:t>
            </a:r>
            <a:r>
              <a:rPr lang="fr-FR" sz="1500" dirty="0">
                <a:solidFill>
                  <a:srgbClr val="1A6A77"/>
                </a:solidFill>
                <a:latin typeface="Arial"/>
              </a:rPr>
              <a:t> : </a:t>
            </a:r>
          </a:p>
          <a:p>
            <a:pPr marL="285750" indent="-285750" algn="l">
              <a:lnSpc>
                <a:spcPct val="112000"/>
              </a:lnSpc>
              <a:buFont typeface="Arial" panose="020B0604020202020204" pitchFamily="34" charset="0"/>
              <a:buChar char="•"/>
            </a:pPr>
            <a:r>
              <a:rPr lang="fr-FR" sz="1500" b="0" noProof="0" dirty="0">
                <a:solidFill>
                  <a:srgbClr val="1A6A77"/>
                </a:solidFill>
                <a:latin typeface="Arial"/>
              </a:rPr>
              <a:t>La dérive des entrées est suivie hors Prometheus : PSI et KS par cohorte, 0,10 vigilance et 0,25 alerte, renvoyés dans la réponse de la route cohorte. </a:t>
            </a:r>
          </a:p>
          <a:p>
            <a:pPr marL="285750" indent="-285750" algn="l">
              <a:lnSpc>
                <a:spcPct val="112000"/>
              </a:lnSpc>
              <a:buFont typeface="Arial" panose="020B0604020202020204" pitchFamily="34" charset="0"/>
              <a:buChar char="•"/>
            </a:pPr>
            <a:r>
              <a:rPr lang="fr-FR" sz="1500" b="0" noProof="0" dirty="0">
                <a:solidFill>
                  <a:srgbClr val="1A6A77"/>
                </a:solidFill>
                <a:latin typeface="Arial"/>
              </a:rPr>
              <a:t>L'acheminement des alertes vers une personne relève de l'organisation de l'établissement.</a:t>
            </a:r>
          </a:p>
        </p:txBody>
      </p:sp>
      <p:sp>
        <p:nvSpPr>
          <p:cNvPr id="154" name="T154"/>
          <p:cNvSpPr txBox="1"/>
          <p:nvPr/>
        </p:nvSpPr>
        <p:spPr>
          <a:xfrm>
            <a:off x="1054100" y="9461500"/>
            <a:ext cx="13970000" cy="355600"/>
          </a:xfrm>
          <a:prstGeom prst="rect">
            <a:avLst/>
          </a:prstGeom>
          <a:noFill/>
        </p:spPr>
        <p:txBody>
          <a:bodyPr wrap="square" lIns="27432" tIns="27432" rIns="27432" bIns="27432" anchor="t">
            <a:noAutofit/>
          </a:bodyPr>
          <a:lstStyle/>
          <a:p>
            <a:pPr algn="l"/>
            <a:r>
              <a:rPr lang="fr-FR" b="0" noProof="0" dirty="0">
                <a:solidFill>
                  <a:srgbClr val="6F6F6F"/>
                </a:solidFill>
                <a:latin typeface="Arial"/>
              </a:rPr>
              <a:t>Annexe A6 · source : </a:t>
            </a:r>
            <a:r>
              <a:rPr lang="fr-FR" b="0" noProof="0" dirty="0" err="1">
                <a:solidFill>
                  <a:srgbClr val="6F6F6F"/>
                </a:solidFill>
                <a:latin typeface="Arial"/>
              </a:rPr>
              <a:t>regles.yml</a:t>
            </a:r>
            <a:endParaRPr lang="fr-FR" b="0" noProof="0" dirty="0">
              <a:solidFill>
                <a:srgbClr val="6F6F6F"/>
              </a:solidFill>
              <a:latin typeface="Arial"/>
            </a:endParaRPr>
          </a:p>
        </p:txBody>
      </p:sp>
      <p:sp>
        <p:nvSpPr>
          <p:cNvPr id="155" name="T155"/>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a:solidFill>
                  <a:srgbClr val="56B9CA"/>
                </a:solidFill>
                <a:latin typeface="Arial"/>
                <a:cs typeface="Arial"/>
              </a:rPr>
              <a:t>50</a:t>
            </a:r>
            <a:endParaRPr lang="fr-FR" sz="1400" b="1" noProof="0" dirty="0">
              <a:solidFill>
                <a:srgbClr val="56B9CA"/>
              </a:solidFill>
              <a:latin typeface="Arial"/>
              <a:cs typeface="Arial"/>
            </a:endParaRPr>
          </a:p>
        </p:txBody>
      </p:sp>
    </p:spTree>
    <p:extLst>
      <p:ext uri="{BB962C8B-B14F-4D97-AF65-F5344CB8AC3E}">
        <p14:creationId xmlns:p14="http://schemas.microsoft.com/office/powerpoint/2010/main" val="520198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1"/>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p:cNvSpPr txBox="1"/>
          <p:nvPr/>
        </p:nvSpPr>
        <p:spPr>
          <a:xfrm>
            <a:off x="1771650" y="995363"/>
            <a:ext cx="9500000"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Annexe A7 : Qualité logicielle — tests unitaires</a:t>
            </a:r>
          </a:p>
        </p:txBody>
      </p:sp>
      <p:sp>
        <p:nvSpPr>
          <p:cNvPr id="103" name="T103"/>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249 tests</a:t>
            </a:r>
          </a:p>
        </p:txBody>
      </p:sp>
      <p:sp>
        <p:nvSpPr>
          <p:cNvPr id="174" name="T174"/>
          <p:cNvSpPr txBox="1"/>
          <p:nvPr/>
        </p:nvSpPr>
        <p:spPr>
          <a:xfrm>
            <a:off x="1054100" y="9461500"/>
            <a:ext cx="13970000" cy="355600"/>
          </a:xfrm>
          <a:prstGeom prst="rect">
            <a:avLst/>
          </a:prstGeom>
          <a:noFill/>
        </p:spPr>
        <p:txBody>
          <a:bodyPr wrap="square" lIns="27432" tIns="27432" rIns="27432" bIns="27432" anchor="t">
            <a:noAutofit/>
          </a:bodyPr>
          <a:lstStyle/>
          <a:p>
            <a:pPr algn="l"/>
            <a:r>
              <a:rPr lang="fr-FR" b="0" noProof="0" dirty="0">
                <a:solidFill>
                  <a:srgbClr val="6F6F6F"/>
                </a:solidFill>
                <a:latin typeface="Arial"/>
              </a:rPr>
              <a:t>Annexe A7 · sources : sortie </a:t>
            </a:r>
            <a:r>
              <a:rPr lang="fr-FR" b="0" noProof="0" dirty="0" err="1">
                <a:solidFill>
                  <a:srgbClr val="6F6F6F"/>
                </a:solidFill>
                <a:latin typeface="Arial"/>
              </a:rPr>
              <a:t>pytest</a:t>
            </a:r>
            <a:r>
              <a:rPr lang="fr-FR" b="0" noProof="0" dirty="0">
                <a:solidFill>
                  <a:srgbClr val="6F6F6F"/>
                </a:solidFill>
                <a:latin typeface="Arial"/>
              </a:rPr>
              <a:t> locale</a:t>
            </a:r>
          </a:p>
        </p:txBody>
      </p:sp>
      <p:sp>
        <p:nvSpPr>
          <p:cNvPr id="175" name="T175"/>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dirty="0">
                <a:solidFill>
                  <a:srgbClr val="56B9CA"/>
                </a:solidFill>
                <a:latin typeface="Arial"/>
                <a:cs typeface="Arial"/>
              </a:rPr>
              <a:t>51</a:t>
            </a:r>
          </a:p>
        </p:txBody>
      </p:sp>
      <p:pic>
        <p:nvPicPr>
          <p:cNvPr id="2" name="Image 1">
            <a:extLst>
              <a:ext uri="{FF2B5EF4-FFF2-40B4-BE49-F238E27FC236}">
                <a16:creationId xmlns:a16="http://schemas.microsoft.com/office/drawing/2014/main" id="{4C698E25-5590-3A5B-120A-3BB92715080B}"/>
              </a:ext>
            </a:extLst>
          </p:cNvPr>
          <p:cNvPicPr>
            <a:picLocks noChangeAspect="1"/>
          </p:cNvPicPr>
          <p:nvPr/>
        </p:nvPicPr>
        <p:blipFill>
          <a:blip r:embed="rId3"/>
          <a:stretch>
            <a:fillRect/>
          </a:stretch>
        </p:blipFill>
        <p:spPr>
          <a:xfrm>
            <a:off x="1676400" y="1778000"/>
            <a:ext cx="14922500" cy="7454900"/>
          </a:xfrm>
          <a:prstGeom prst="rect">
            <a:avLst/>
          </a:prstGeom>
        </p:spPr>
      </p:pic>
    </p:spTree>
    <p:extLst>
      <p:ext uri="{BB962C8B-B14F-4D97-AF65-F5344CB8AC3E}">
        <p14:creationId xmlns:p14="http://schemas.microsoft.com/office/powerpoint/2010/main" val="15508367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FBDD9-F3FC-BBDA-0AE7-95E236C0147E}"/>
            </a:ext>
          </a:extLst>
        </p:cNvPr>
        <p:cNvGrpSpPr/>
        <p:nvPr/>
      </p:nvGrpSpPr>
      <p:grpSpPr>
        <a:xfrm>
          <a:off x="0" y="0"/>
          <a:ext cx="0" cy="0"/>
          <a:chOff x="0" y="0"/>
          <a:chExt cx="0" cy="0"/>
        </a:xfrm>
      </p:grpSpPr>
      <p:sp>
        <p:nvSpPr>
          <p:cNvPr id="101" name="R101">
            <a:extLst>
              <a:ext uri="{FF2B5EF4-FFF2-40B4-BE49-F238E27FC236}">
                <a16:creationId xmlns:a16="http://schemas.microsoft.com/office/drawing/2014/main" id="{0895FEE9-5B43-A5C5-C2A0-D0D79F840246}"/>
              </a:ext>
            </a:extLst>
          </p:cNvPr>
          <p:cNvSpPr/>
          <p:nvPr/>
        </p:nvSpPr>
        <p:spPr>
          <a:xfrm>
            <a:off x="1047750" y="800100"/>
            <a:ext cx="16192500" cy="657225"/>
          </a:xfrm>
          <a:prstGeom prst="roundRect">
            <a:avLst>
              <a:gd name="adj" fmla="val 8700"/>
            </a:avLst>
          </a:prstGeom>
          <a:solidFill>
            <a:srgbClr val="E4F3F7"/>
          </a:solidFill>
          <a:ln>
            <a:noFill/>
          </a:ln>
        </p:spPr>
        <p:txBody>
          <a:bodyPr rtlCol="0" anchor="ctr"/>
          <a:lstStyle/>
          <a:p>
            <a:endParaRPr lang="fr-FR" dirty="0"/>
          </a:p>
        </p:txBody>
      </p:sp>
      <p:sp>
        <p:nvSpPr>
          <p:cNvPr id="102" name="T102">
            <a:extLst>
              <a:ext uri="{FF2B5EF4-FFF2-40B4-BE49-F238E27FC236}">
                <a16:creationId xmlns:a16="http://schemas.microsoft.com/office/drawing/2014/main" id="{2B39CBDC-7924-F8FA-3EEF-D8ADF6630EBD}"/>
              </a:ext>
            </a:extLst>
          </p:cNvPr>
          <p:cNvSpPr txBox="1"/>
          <p:nvPr/>
        </p:nvSpPr>
        <p:spPr>
          <a:xfrm>
            <a:off x="1771650" y="995363"/>
            <a:ext cx="9500000" cy="304800"/>
          </a:xfrm>
          <a:prstGeom prst="rect">
            <a:avLst/>
          </a:prstGeom>
          <a:noFill/>
        </p:spPr>
        <p:txBody>
          <a:bodyPr wrap="square" lIns="27432" tIns="27432" rIns="27432" bIns="27432" anchor="t">
            <a:noAutofit/>
          </a:bodyPr>
          <a:lstStyle/>
          <a:p>
            <a:pPr algn="l"/>
            <a:r>
              <a:rPr lang="fr-FR" sz="1800" b="1" spc="162" noProof="0" dirty="0">
                <a:solidFill>
                  <a:srgbClr val="1A6A77"/>
                </a:solidFill>
                <a:latin typeface="Arial"/>
              </a:rPr>
              <a:t>Annexe A7 : Qualité logicielle — CI</a:t>
            </a:r>
          </a:p>
        </p:txBody>
      </p:sp>
      <p:sp>
        <p:nvSpPr>
          <p:cNvPr id="103" name="T103">
            <a:extLst>
              <a:ext uri="{FF2B5EF4-FFF2-40B4-BE49-F238E27FC236}">
                <a16:creationId xmlns:a16="http://schemas.microsoft.com/office/drawing/2014/main" id="{6AAF358F-9A82-E92F-DD0E-398E280AA5C1}"/>
              </a:ext>
            </a:extLst>
          </p:cNvPr>
          <p:cNvSpPr txBox="1"/>
          <p:nvPr/>
        </p:nvSpPr>
        <p:spPr>
          <a:xfrm>
            <a:off x="11500000" y="971550"/>
            <a:ext cx="5500000" cy="352425"/>
          </a:xfrm>
          <a:prstGeom prst="rect">
            <a:avLst/>
          </a:prstGeom>
          <a:noFill/>
        </p:spPr>
        <p:txBody>
          <a:bodyPr wrap="square" lIns="27432" tIns="27432" rIns="27432" bIns="27432" anchor="t">
            <a:noAutofit/>
          </a:bodyPr>
          <a:lstStyle/>
          <a:p>
            <a:pPr algn="r"/>
            <a:r>
              <a:rPr lang="fr-FR" sz="1800" b="0" noProof="0" dirty="0">
                <a:solidFill>
                  <a:srgbClr val="1A6A77"/>
                </a:solidFill>
                <a:latin typeface="Arial"/>
              </a:rPr>
              <a:t>2 jobs CI verts</a:t>
            </a:r>
          </a:p>
        </p:txBody>
      </p:sp>
      <p:sp>
        <p:nvSpPr>
          <p:cNvPr id="105" name="T105">
            <a:extLst>
              <a:ext uri="{FF2B5EF4-FFF2-40B4-BE49-F238E27FC236}">
                <a16:creationId xmlns:a16="http://schemas.microsoft.com/office/drawing/2014/main" id="{B694F137-EE5A-683F-2B43-1571E2015D3F}"/>
              </a:ext>
            </a:extLst>
          </p:cNvPr>
          <p:cNvSpPr txBox="1"/>
          <p:nvPr/>
        </p:nvSpPr>
        <p:spPr>
          <a:xfrm>
            <a:off x="9448799" y="1652588"/>
            <a:ext cx="7874000" cy="304800"/>
          </a:xfrm>
          <a:prstGeom prst="rect">
            <a:avLst/>
          </a:prstGeom>
          <a:noFill/>
        </p:spPr>
        <p:txBody>
          <a:bodyPr wrap="square" lIns="27432" tIns="27432" rIns="27432" bIns="27432" anchor="t">
            <a:noAutofit/>
          </a:bodyPr>
          <a:lstStyle/>
          <a:p>
            <a:pPr algn="l"/>
            <a:r>
              <a:rPr lang="fr-FR" sz="1400" b="1" spc="100" noProof="0" dirty="0">
                <a:solidFill>
                  <a:srgbClr val="5A5A5A"/>
                </a:solidFill>
                <a:latin typeface="Arial"/>
              </a:rPr>
              <a:t>CI — JOB SÉCURITÉ (TRIVY CVE HIGH/CRITIQUE)</a:t>
            </a:r>
          </a:p>
        </p:txBody>
      </p:sp>
      <p:sp>
        <p:nvSpPr>
          <p:cNvPr id="145" name="T145">
            <a:extLst>
              <a:ext uri="{FF2B5EF4-FFF2-40B4-BE49-F238E27FC236}">
                <a16:creationId xmlns:a16="http://schemas.microsoft.com/office/drawing/2014/main" id="{C610FD6C-8619-E9A1-4780-2B367E2CD81D}"/>
              </a:ext>
            </a:extLst>
          </p:cNvPr>
          <p:cNvSpPr txBox="1"/>
          <p:nvPr/>
        </p:nvSpPr>
        <p:spPr>
          <a:xfrm>
            <a:off x="1130299" y="1652588"/>
            <a:ext cx="7874000" cy="304800"/>
          </a:xfrm>
          <a:prstGeom prst="rect">
            <a:avLst/>
          </a:prstGeom>
          <a:noFill/>
        </p:spPr>
        <p:txBody>
          <a:bodyPr wrap="square" lIns="27432" tIns="27432" rIns="27432" bIns="27432" anchor="t">
            <a:noAutofit/>
          </a:bodyPr>
          <a:lstStyle/>
          <a:p>
            <a:pPr algn="l"/>
            <a:r>
              <a:rPr lang="fr-FR" sz="1400" b="1" spc="100" noProof="0" dirty="0">
                <a:solidFill>
                  <a:srgbClr val="5A5A5A"/>
                </a:solidFill>
                <a:latin typeface="Arial"/>
              </a:rPr>
              <a:t>CI — JOB QUALITÉ (RUFF, GITLEAKS, TESTS)</a:t>
            </a:r>
          </a:p>
        </p:txBody>
      </p:sp>
      <p:sp>
        <p:nvSpPr>
          <p:cNvPr id="174" name="T174">
            <a:extLst>
              <a:ext uri="{FF2B5EF4-FFF2-40B4-BE49-F238E27FC236}">
                <a16:creationId xmlns:a16="http://schemas.microsoft.com/office/drawing/2014/main" id="{5C6208E0-BF11-2F27-4687-08A8EA0CDC73}"/>
              </a:ext>
            </a:extLst>
          </p:cNvPr>
          <p:cNvSpPr txBox="1"/>
          <p:nvPr/>
        </p:nvSpPr>
        <p:spPr>
          <a:xfrm>
            <a:off x="1054100" y="9461500"/>
            <a:ext cx="13970000" cy="355600"/>
          </a:xfrm>
          <a:prstGeom prst="rect">
            <a:avLst/>
          </a:prstGeom>
          <a:noFill/>
        </p:spPr>
        <p:txBody>
          <a:bodyPr wrap="square" lIns="27432" tIns="27432" rIns="27432" bIns="27432" anchor="t">
            <a:noAutofit/>
          </a:bodyPr>
          <a:lstStyle/>
          <a:p>
            <a:pPr algn="l"/>
            <a:r>
              <a:rPr lang="fr-FR" b="0" noProof="0" dirty="0">
                <a:solidFill>
                  <a:srgbClr val="6F6F6F"/>
                </a:solidFill>
                <a:latin typeface="Arial"/>
              </a:rPr>
              <a:t>Annexe A7 · sources :Exécutions GitHub Actions (jobs Qualité et Sécurité)</a:t>
            </a:r>
          </a:p>
        </p:txBody>
      </p:sp>
      <p:sp>
        <p:nvSpPr>
          <p:cNvPr id="175" name="T175">
            <a:extLst>
              <a:ext uri="{FF2B5EF4-FFF2-40B4-BE49-F238E27FC236}">
                <a16:creationId xmlns:a16="http://schemas.microsoft.com/office/drawing/2014/main" id="{7A533F9B-E612-E8F7-44B0-0771E40E2236}"/>
              </a:ext>
            </a:extLst>
          </p:cNvPr>
          <p:cNvSpPr txBox="1"/>
          <p:nvPr/>
        </p:nvSpPr>
        <p:spPr>
          <a:xfrm>
            <a:off x="17048886" y="9309100"/>
            <a:ext cx="273913" cy="304800"/>
          </a:xfrm>
          <a:prstGeom prst="rect">
            <a:avLst/>
          </a:prstGeom>
          <a:noFill/>
        </p:spPr>
        <p:txBody>
          <a:bodyPr wrap="none" lIns="27432" tIns="27432" rIns="27432" bIns="27432" anchor="ctr" anchorCtr="0">
            <a:noAutofit/>
          </a:bodyPr>
          <a:lstStyle/>
          <a:p>
            <a:pPr algn="l"/>
            <a:r>
              <a:rPr lang="fr-FR" sz="1400" b="1" noProof="0" dirty="0">
                <a:solidFill>
                  <a:srgbClr val="56B9CA"/>
                </a:solidFill>
                <a:latin typeface="Arial"/>
                <a:cs typeface="Arial"/>
              </a:rPr>
              <a:t>52</a:t>
            </a:r>
          </a:p>
        </p:txBody>
      </p:sp>
      <p:pic>
        <p:nvPicPr>
          <p:cNvPr id="14" name="Image 13">
            <a:extLst>
              <a:ext uri="{FF2B5EF4-FFF2-40B4-BE49-F238E27FC236}">
                <a16:creationId xmlns:a16="http://schemas.microsoft.com/office/drawing/2014/main" id="{67295CF2-DDFE-FF0B-6856-882DB370BD78}"/>
              </a:ext>
            </a:extLst>
          </p:cNvPr>
          <p:cNvPicPr>
            <a:picLocks noChangeAspect="1"/>
          </p:cNvPicPr>
          <p:nvPr/>
        </p:nvPicPr>
        <p:blipFill>
          <a:blip r:embed="rId3"/>
          <a:stretch>
            <a:fillRect/>
          </a:stretch>
        </p:blipFill>
        <p:spPr>
          <a:xfrm>
            <a:off x="9482630" y="2152651"/>
            <a:ext cx="7840169" cy="5201376"/>
          </a:xfrm>
          <a:prstGeom prst="rect">
            <a:avLst/>
          </a:prstGeom>
        </p:spPr>
      </p:pic>
      <p:pic>
        <p:nvPicPr>
          <p:cNvPr id="18" name="Image 17">
            <a:extLst>
              <a:ext uri="{FF2B5EF4-FFF2-40B4-BE49-F238E27FC236}">
                <a16:creationId xmlns:a16="http://schemas.microsoft.com/office/drawing/2014/main" id="{6AC18BD6-2145-9D6E-025F-238451CD15B1}"/>
              </a:ext>
            </a:extLst>
          </p:cNvPr>
          <p:cNvPicPr>
            <a:picLocks noChangeAspect="1"/>
          </p:cNvPicPr>
          <p:nvPr/>
        </p:nvPicPr>
        <p:blipFill>
          <a:blip r:embed="rId4"/>
          <a:stretch>
            <a:fillRect/>
          </a:stretch>
        </p:blipFill>
        <p:spPr>
          <a:xfrm>
            <a:off x="1130299" y="2152651"/>
            <a:ext cx="7840169" cy="5201376"/>
          </a:xfrm>
          <a:prstGeom prst="rect">
            <a:avLst/>
          </a:prstGeom>
        </p:spPr>
      </p:pic>
    </p:spTree>
    <p:extLst>
      <p:ext uri="{BB962C8B-B14F-4D97-AF65-F5344CB8AC3E}">
        <p14:creationId xmlns:p14="http://schemas.microsoft.com/office/powerpoint/2010/main" val="3757691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33A63B5-82CB-401B-AB3F-C620F6EFC9A6}">
  <we:reference id="f5f369e5-aa35-49d7-ad7b-638152ddb008" version="1.0.0.1" store="EXCatalog" storeType="EXCatalog"/>
  <we:alternateReferences>
    <we:reference id="WA200010001" version="1.0.0.1" store="fr-FR" storeType="OMEX"/>
  </we:alternateReferences>
  <we:properties>
    <we:property name="claude.fileId" value="&quot;00601d24-e825-4960-a32b-319ca6f0767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1195</TotalTime>
  <Words>10036</Words>
  <Application>Microsoft Office PowerPoint</Application>
  <PresentationFormat>Personnalisé</PresentationFormat>
  <Paragraphs>1458</Paragraphs>
  <Slides>52</Slides>
  <Notes>40</Notes>
  <HiddenSlides>1</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52</vt:i4>
      </vt:variant>
    </vt:vector>
  </HeadingPairs>
  <TitlesOfParts>
    <vt:vector size="58" baseType="lpstr">
      <vt:lpstr>Arial</vt:lpstr>
      <vt:lpstr>Arial Black</vt:lpstr>
      <vt:lpstr>Calibri</vt:lpstr>
      <vt:lpstr>Consolas</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Julien ALBURQUERQUE</cp:lastModifiedBy>
  <cp:revision>63</cp:revision>
  <dcterms:created xsi:type="dcterms:W3CDTF">2013-01-27T09:14:16Z</dcterms:created>
  <dcterms:modified xsi:type="dcterms:W3CDTF">2026-08-24T16:34:30Z</dcterms:modified>
  <cp:category/>
</cp:coreProperties>
</file>